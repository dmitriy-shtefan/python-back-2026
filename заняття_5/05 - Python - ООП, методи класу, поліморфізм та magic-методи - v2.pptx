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86"/>
    <p:restoredTop sz="96301"/>
  </p:normalViewPr>
  <p:slideViewPr>
    <p:cSldViewPr snapToGrid="0">
      <p:cViewPr varScale="1">
        <p:scale>
          <a:sx n="127" d="100"/>
          <a:sy n="12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3 хв (3 хв)</a:t>
            </a:r>
          </a:p>
          <a:p>
            <a:endParaRPr/>
          </a:p>
          <a:p>
            <a:r>
              <a:t>Привітайтеся, перевірте звук, демонстрацію екрана, читабельність коду та камери. Власну камеру залишайте ввімкненою. Почніть відмітку присутніх. Назвіть тему без опитування про новий синтаксис. Відкрийте demo_methods.py і власні project_model.py. Не стверджуйте, що всі завершили модель на занятті 4: фактичну готовність перевіримо на наступному слайді.</a:t>
            </a:r>
          </a:p>
          <a:p>
            <a:endParaRPr/>
          </a:p>
          <a:p>
            <a:r>
              <a:t>Джерело: ООП - методи класу, поліморфізм та magic-методи; сценарій заняття 5, локальний файл від 27.10.2026.</a:t>
            </a:r>
          </a:p>
          <a:p>
            <a:br/>
            <a:br/>
            <a:r>
              <a:t>Іконка: Lucide blocks. Джерело: https://lucide.dev/icons/blocks.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7 хв (10 хв)</a:t>
            </a:r>
          </a:p>
          <a:p>
            <a:endParaRPr/>
          </a:p>
          <a:p>
            <a:r>
              <a:t>2 хв на задачі та приклад: запис студента з анкети треба перетворити на об'єкт, показати у списку і перевірити. Дані поки локальні словники, читання мережі не потрібне. Останні 10 хвилин відведено Kahoot.</a:t>
            </a:r>
          </a:p>
          <a:p>
            <a:endParaRPr/>
          </a:p>
          <a:p>
            <a:r>
              <a:t>5 хв на усну перевірку попереднього завдання в межах нотаток цього слайда. Завершіть відмітку присутніх до 10-ї хвилини. За фактичною присутністю дайте кожному коротке питання: де властивість перевіряє значення, чому перевірка стоїть до присвоєння, що викликає super(), яка поведінка перевизначена, чому обрано успадкування. Очікуйте конкретний рядок власного коду й пояснення коректного та помилкового випадків. Перед уроком перегляньте здані роботи, щоб усна перевірка вкладалася в час. Усна відповідь засвідчує розуміння, а працездатність підтверджують код і запуск.</a:t>
            </a:r>
          </a:p>
          <a:p>
            <a:endParaRPr/>
          </a:p>
          <a:p>
            <a:r>
              <a:t>Коментар до зданої роботи адресуйте за справжнім іменем і на "ви": назвіть спостережений недолік без вимоги доопрацювання і завершіть конкретною сильною стороною. Не вигадуйте імен чи результатів. Якщо роботу не здано, з'ясуйте складність і запропонуйте стартову основу для поточної практики. Перевірка завдання не є умовою допуску до уроку.</a:t>
            </a:r>
          </a:p>
          <a:p>
            <a:endParaRPr/>
          </a:p>
          <a:p>
            <a:r>
              <a:t>Джерело: Задачі заняття та зв'язок з реальним життям; сценарій заняття 5, локальний файл від 27.10.2026.</a:t>
            </a:r>
          </a:p>
          <a:p>
            <a:br/>
            <a:br/>
            <a:r>
              <a:t>Іконка: Lucide target. Джерело: https://lucide.dev/icons/target.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(15 хв)</a:t>
            </a:r>
          </a:p>
          <a:p>
            <a:endParaRPr/>
          </a:p>
          <a:p>
            <a:r>
              <a:t>Спочатку запитайте про знайому дію describe(): звідки вона бере ім'я? Очікуйте self.name. Потім покажіть словник {"name": "Олена", "age": 18}. Чи потрібно спочатку створити порожнього студента, щоб прочитати запис? Підказка за мовчання: конструктор уже створює об'єкт, метод може підготувати його аргументи. Назви from_dict та is_valid_name тут є описом потреби, їхній код ще не перевіряємо.</a:t>
            </a:r>
          </a:p>
          <a:p>
            <a:endParaRPr/>
          </a:p>
          <a:p>
            <a:r>
              <a:t>Поясніть: звичайний метод автоматично отримує екземпляр, classmethod автоматично отримує клас, staticmethod не отримує ні self, ні cls. Назви self та cls є домовленістю. Для викликів методів класу і статичних методів використовуйте ім'я класу, щоб намір читався явно. Хибна версія: staticmethod автоматично має доступ до всіх полів об'єкта. Попросіть указати, звідки тоді взявся б конкретний об'єкт.</a:t>
            </a:r>
          </a:p>
          <a:p>
            <a:endParaRPr/>
          </a:p>
          <a:p>
            <a:r>
              <a:t>Джерело: Які дані потрібні методу; сценарій заняття 5, локальний файл від 27.10.2026.</a:t>
            </a:r>
          </a:p>
          <a:p>
            <a:br/>
            <a:br/>
            <a:r>
              <a:t>Іконка: Lucide scan-search. Джерело: https://lucide.dev/icons/scan-search.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(21 хв)</a:t>
            </a:r>
          </a:p>
          <a:p>
            <a:endParaRPr/>
          </a:p>
          <a:p>
            <a:r>
              <a:t>1 хв на пояснення, 3 хв на набір, 2 хв на перевірку кожного через спільний доступ до файлів і виводу. Збережіть property age і describe з попереднього заняття. У Person замініть лише __init__, staticmethod вставте перед ним. Якщо стартового коду немає, дайте основу з додатка А без нових методів за переліком підготовки.</a:t>
            </a:r>
          </a:p>
          <a:p>
            <a:endParaRPr/>
          </a:p>
          <a:p>
            <a:r>
              <a:t>Покажіть виклики з "Олена", "   " і 7: True, False, False. and спершу перевіряє тип і не викликає strip для числа. strip прибирає пробіли по краях, bool перетворює результат на логічне значення. У конструкторі self.is_valid_name(name) викликає той самий статичний метод і не передає self автоматично. Метод можна було б зробити окремою функцією, але тут він описує правило імені Person.</a:t>
            </a:r>
          </a:p>
          <a:p>
            <a:endParaRPr/>
          </a:p>
          <a:p>
            <a:r>
              <a:t>Помилки: зайвий self у параметрах статичного методу спричиняє TypeError, прибираємо параметр; пропущений return дає None, повертаємо результат; неправильний відступ виносить метод із класу, повертаємо його на рівень інших методів. Перевірте повторний запуск після допомоги. Готово, якщо студент пояснює False для пробілів і конструктор відхиляє таке ім'я.</a:t>
            </a:r>
          </a:p>
          <a:p>
            <a:endParaRPr/>
          </a:p>
          <a:p>
            <a:r>
              <a:t>Джерело: Статична перевірка окремого значення; сценарій заняття 5, локальний файл від 27.10.2026.</a:t>
            </a:r>
          </a:p>
          <a:p>
            <a:br/>
            <a:br/>
            <a:r>
              <a:t>Іконка: Lucide shield-check. Джерело: https://lucide.dev/icons/shield-check.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(27 хв)</a:t>
            </a:r>
          </a:p>
          <a:p>
            <a:endParaRPr/>
          </a:p>
          <a:p>
            <a:r>
              <a:t>1 хв на питання, 3 хв на набір, 2 хв на перевірку. Спочатку передбачте, який клас опиниться у cls, коли метод викликають через Student. Очікуйте Student. Поясніть, що cls(...) запускає створення екземпляра вибраного класу, зокрема його __init__. Сам from_dict не є окремим механізмом Python: це обрана нами назва альтернативного способу створення.</a:t>
            </a:r>
          </a:p>
          <a:p>
            <a:endParaRPr/>
          </a:p>
          <a:p>
            <a:r>
              <a:t>Використовуємо словник із ключами name та age. Перевірку відсутніх ключів введемо у другій парі. Не подавайте цей фрагмент як універсальний імпорт довільних даних. Вивід точно: Student, далі Олена: 18 років.</a:t>
            </a:r>
          </a:p>
          <a:p>
            <a:endParaRPr/>
          </a:p>
          <a:p>
            <a:r>
              <a:t>Помилки: self замість cls уявно прив'язує фабрику до готового об'єкта, звіряємо роль параметра; return Person(...) створює Person навіть при Student.from_dict, повертаємо cls(...); відсутній @classmethod дає TypeError, повертаємо декоратор. Перегляньте тип і describe() у кожного, не лише повідомлення про завершення.</a:t>
            </a:r>
          </a:p>
          <a:p>
            <a:endParaRPr/>
          </a:p>
          <a:p>
            <a:r>
              <a:t>Джерело: Метод класу створює об'єкт; сценарій заняття 5, локальний файл від 27.10.2026.</a:t>
            </a:r>
          </a:p>
          <a:p>
            <a:br/>
            <a:br/>
            <a:r>
              <a:t>Іконка: Lucide factory. Джерело: https://lucide.dev/icons/factory.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(33 хв)</a:t>
            </a:r>
          </a:p>
          <a:p>
            <a:endParaRPr/>
          </a:p>
          <a:p>
            <a:r>
              <a:t>2 хв розбору таблиці, 2 хв індивідуального вибору в чаті, 2 хв обговорення. Усі надсилають вид методу і коротку причину для двох задач на слайді. Для перевірки назви достатньо staticmethod або окремої функції, бо даних екземпляра і класу не потрібно. Для створення дочірнього об'єкта потрібен classmethod із cls.</a:t>
            </a:r>
          </a:p>
          <a:p>
            <a:endParaRPr/>
          </a:p>
          <a:p>
            <a:r>
              <a:t>Хибна версія: classmethod змінює лише спільні атрибути класу. Поясніть на виконаному прикладі, що він також створює об'єкти. Хибна версія: @staticmethod робить перевірку автоматичною для всіх присвоєнь. Покажіть конкретний виклик у __init__, без нього правило саме не запуститься. Якщо група мовчить, підставте замість назв "конкретний студент", "Student", "рядок" і попросіть знайти відповідність. Коротко залучіть менш активного учасника за ім'ям і на "ви".</a:t>
            </a:r>
          </a:p>
          <a:p>
            <a:endParaRPr/>
          </a:p>
          <a:p>
            <a:r>
              <a:t>Джерело: Три методи мають різні ролі; сценарій заняття 5, локальний файл від 27.10.2026.</a:t>
            </a:r>
          </a:p>
          <a:p>
            <a:br/>
            <a:br/>
            <a:r>
              <a:t>Іконка: Lucide list-tree. Джерело: https://lucide.dev/icons/list-tree.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12 хв (45 хв)</a:t>
            </a:r>
          </a:p>
          <a:p>
            <a:endParaRPr/>
          </a:p>
          <a:p>
            <a:r>
              <a:t>К1. 2 хв на вибір сутності, 7 хв на самостійну роботу, 3 хв на перегляд коду й результату кожного. Власний кейс залишається частиною "Застосунку для студентського життя": подія, задача планувальника, заявка, ресурс або інша раніше спроєктована сутність. Дайте умову без готового рішення кейсу. На цьому етапі словник має всі потрібні ключі, а пропущені поля перевіримо пізніше.</a:t>
            </a:r>
          </a:p>
          <a:p>
            <a:endParaRPr/>
          </a:p>
          <a:p>
            <a:r>
              <a:t>Контрольний приклад для планувальника: словник із непорожньою назвою створює задачу з тією самою назвою, назва з пробілів відхиляється. Студент записує власні вхідні дані й очікуваний результат. Мінімум: одна фабрика, одна справді незалежна перевірка, один успішний запуск. Не вимагайте лічильників об'єктів чи читання файла.</a:t>
            </a:r>
          </a:p>
          <a:p>
            <a:endParaRPr/>
          </a:p>
          <a:p>
            <a:r>
              <a:t>Допомога поетапно: запитайте, які аргументи приймає __init__; укажіть, що їх треба взяти зі словника; покажіть один доступ data["title"] без усього рішення. Якщо немає робочої моделі, відновіть один базовий клас та один простий різновид зі збереженого опису. Не записуйте відновлення як виконаний раніше результат. Після допомоги перегляньте повторний запуск.</a:t>
            </a:r>
          </a:p>
          <a:p>
            <a:endParaRPr/>
          </a:p>
          <a:p>
            <a:r>
              <a:t>Типові симптоми: фабрика повертає None через пропущений return; словник передано одним аргументом у конструктор, який очікує окремі поля; статична перевірка є, але її ніде не викликано. Перевірте кожен випадок за кодом і виводом.</a:t>
            </a:r>
          </a:p>
          <a:p>
            <a:endParaRPr/>
          </a:p>
          <a:p>
            <a:r>
              <a:t>Джерело: Самостійно: фабрика власного кейсу; сценарій заняття 5, локальний файл від 27.10.2026.</a:t>
            </a:r>
          </a:p>
          <a:p>
            <a:br/>
            <a:br/>
            <a:r>
              <a:t>Іконка: Lucide pencil-ruler. Джерело: https://lucide.dev/icons/pencil-ruler.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(50 хв)</a:t>
            </a:r>
          </a:p>
          <a:p>
            <a:endParaRPr/>
          </a:p>
          <a:p>
            <a:r>
              <a:t>Перші 2 хв прогнозуємо результат без запуску. Student успадковує describe від Person, Educator має перевизначений describe. Наступні 3 хв демонструємо запуск і розбираємо: Олена: 18 років та Марія: 32 років; спеціальність: Python. Це фрагмент після класів у demo_methods.py, замініть ним попередній демонстраційний блок.</a:t>
            </a:r>
          </a:p>
          <a:p>
            <a:endParaRPr/>
          </a:p>
          <a:p>
            <a:r>
              <a:t>Назвіть поліморфізм після спостереження: один спосіб звернення до об'єктів дає поведінку, визначену їхніми реалізаціями. Не додавайте гілки if для кожного класу. Помилкова думка: цикл сам знає всі можливі типи. Підказка: де саме написано текст про спеціальність? Попросіть показати метод Educator.describe. Студенти поки прогнозують і пояснюють, а власний цикл пишуть на слайді 10.</a:t>
            </a:r>
          </a:p>
          <a:p>
            <a:endParaRPr/>
          </a:p>
          <a:p>
            <a:r>
              <a:t>Джерело: Один виклик для різних об'єктів; сценарій заняття 5, локальний файл від 27.10.2026.</a:t>
            </a:r>
          </a:p>
          <a:p>
            <a:br/>
            <a:br/>
            <a:r>
              <a:t>Іконка: Lucide shapes. Джерело: https://lucide.dev/icons/shapes.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(56 хв)</a:t>
            </a:r>
          </a:p>
          <a:p>
            <a:endParaRPr/>
          </a:p>
          <a:p>
            <a:r>
              <a:t>1 хв питання: чи мусить оголошення бути Person, щоб цикл показав його опис? 3 хв на набір і запуск, 2 хв на перевірку кожного. Очікуємо третій рядок Оголошення: Клуб Python. Announcement не успадковує Person. Качина типізація спирається на потрібну поведінку: об'єкт має надати сумісний виклик describe() без обов'язкових аргументів та повернути зрозумілий опис.</a:t>
            </a:r>
          </a:p>
          <a:p>
            <a:endParaRPr/>
          </a:p>
          <a:p>
            <a:r>
              <a:t>За мовчання покажіть лише вираз person.describe(): які дані про батька він запитує? Достатньо доступного методу. Це не означає, що будь-який об'єкт підійде.</a:t>
            </a:r>
          </a:p>
          <a:p>
            <a:endParaRPr/>
          </a:p>
          <a:p>
            <a:r>
              <a:t>Помилки: describe(self, prefix) потребує аргументу й дає TypeError, узгоджуємо виклик; descrіbe з іншою літерою дає AttributeError, звіряємо назву; print усередині методу без return друкує додаткове None зовнішнім print, повертаємо рядок. Перевірте, що студент пояснює відсутність спільного батька і бачить усі три описи.</a:t>
            </a:r>
          </a:p>
          <a:p>
            <a:endParaRPr/>
          </a:p>
          <a:p>
            <a:r>
              <a:t>Джерело: Качина типізація без спільного батька; сценарій заняття 5, локальний файл від 27.10.2026.</a:t>
            </a:r>
          </a:p>
          <a:p>
            <a:br/>
            <a:br/>
            <a:r>
              <a:t>Іконка: Lucide bird. Джерело: https://lucide.dev/icons/bird.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12 хв (68 хв)</a:t>
            </a:r>
          </a:p>
          <a:p>
            <a:endParaRPr/>
          </a:p>
          <a:p>
            <a:r>
              <a:t>К2. 2 хв на узгодження назви методу та його результату, 7 хв на самостійну реалізацію, 3 хв на перевірку всіх. Сутності залишаються у власному кейсі: наприклад, навчальна задача, особиста задача та оголошення можуть повертати рядок для стрічки студентського застосунку. Оберіть осмислену поведінку, не вимагайте механічно називати її describe у всіх проєктах.</a:t>
            </a:r>
          </a:p>
          <a:p>
            <a:endParaRPr/>
          </a:p>
          <a:p>
            <a:r>
              <a:t>Готово, якщо видно три різні описи і один незмінний цикл. У мінімальному варіанті два різновиди вже існують, додається лише короткий клас без батька. Якщо спадкоємці повертають однакову базову реалізацію, попросіть під час практики реалізувати відмінну поведінку одного з них.</a:t>
            </a:r>
          </a:p>
          <a:p>
            <a:endParaRPr/>
          </a:p>
          <a:p>
            <a:r>
              <a:t>Допомога: спершу перевірте кожен виклик окремо, потім список і цикл. Симптом AttributeError означає відсутність потрібного методу; TypeError часто вказує на інші обов'язкові аргументи; None у виводі може означати, що метод друкує замість return. Після допомоги перевірте повний цикл повторно. Не розширюйте вправу до абстрактних класів, протоколів чи перевірок isinstance для кожної гілки.</a:t>
            </a:r>
          </a:p>
          <a:p>
            <a:endParaRPr/>
          </a:p>
          <a:p>
            <a:r>
              <a:t>Джерело: Самостійно: спільний сценарій поведінки; сценарій заняття 5, локальний файл від 27.10.2026.</a:t>
            </a:r>
          </a:p>
          <a:p>
            <a:br/>
            <a:br/>
            <a:r>
              <a:t>Іконка: Lucide network. Джерело: https://lucide.dev/icons/network.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4 хв (84 хв)</a:t>
            </a:r>
          </a:p>
          <a:p>
            <a:endParaRPr/>
          </a:p>
          <a:p>
            <a:r>
              <a:t>Перевірте присутність і звук після перерви. За 1 хв відкрийте збережені файли, за 3 хв зберіть прогнози та зв'яжіть їх із наступним поясненням. valid створить Student. age=0 відхилить властивість age під час __init__, це ValueError. У початковій фабриці incomplete спричинить KeyError під час читання data["age"]. Ці два різні шляхи помилки треба розрізняти.</a:t>
            </a:r>
          </a:p>
          <a:p>
            <a:endParaRPr/>
          </a:p>
          <a:p>
            <a:r>
              <a:t>Не запускайте навмисний неперехоплений виняток у середині фінального сценарію. На наступному слайді узгодимо повідомлення фабрики. Якщо студент помилково вважає, що from_dict оминає конструктор, поверніться до рядка cls(...).</a:t>
            </a:r>
          </a:p>
          <a:p>
            <a:endParaRPr/>
          </a:p>
          <a:p>
            <a:r>
              <a:t>Джерело: Повернення: коректний запис і помилка; сценарій заняття 5, локальний файл від 27.10.2026.</a:t>
            </a:r>
          </a:p>
          <a:p>
            <a:br/>
            <a:br/>
            <a:r>
              <a:t>Іконка: Lucide scan. Джерело: https://lucide.dev/icons/scan.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(90 хв)</a:t>
            </a:r>
          </a:p>
          <a:p>
            <a:endParaRPr/>
          </a:p>
          <a:p>
            <a:r>
              <a:t>1 хв на потребу зрозумілого повідомлення, 3 хв на набір, 2 хв на запуск у кожного. Декоратор лишається над методом, старий from_dict замінюється цілком. Перевірка структури тепер дає ValueError для відсутнього поля. __init__ використовує is_valid_name та property age, тому фабрика не копіює правила значень.</a:t>
            </a:r>
          </a:p>
          <a:p>
            <a:endParaRPr/>
          </a:p>
          <a:p>
            <a:r>
              <a:t>У age.setter перед перевіркою меж додайте рядки if type(value) is not int: raise ValueError("Вік має бути цілим числом") із правильним відступом. Це вузьке навчальне правило: рядки "18", дроби і bool відхиляються. type(value) is int тут навмисно відсікає bool, який є підкласом int. Межі 1-120 і присвоєння self._age = value залишаються після перевірок. Повний код setter є в додатку А.</a:t>
            </a:r>
          </a:p>
          <a:p>
            <a:endParaRPr/>
          </a:p>
          <a:p>
            <a:r>
              <a:t>Для запуску обгорніть окремі виклики в try/except ValueError, як на наступному слайді. Прогнози: incomplete дає Немає поля: age; age=0 дає Вік має бути від 1 до 120; age="18" дає Вік має бути цілим числом. Симптом KeyError після зміни означає, що читання ключа лишилося до перевірки; некоректний збережений стан означає присвоєння до перевірки; помилка типу при порівнянні рядка з числом означає пропущену перевірку int. Після допомоги перегляньте повторний запуск.</a:t>
            </a:r>
          </a:p>
          <a:p>
            <a:endParaRPr/>
          </a:p>
          <a:p>
            <a:r>
              <a:t>Джерело: Фабрика повідомляє про неповний запис; сценарій заняття 5, локальний файл від 27.10.2026.</a:t>
            </a:r>
          </a:p>
          <a:p>
            <a:br/>
            <a:br/>
            <a:r>
              <a:t>Іконка: Lucide file-check. Джерело: https://lucide.dev/icons/file-check.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8 хв (98 хв)</a:t>
            </a:r>
          </a:p>
          <a:p>
            <a:endParaRPr/>
          </a:p>
          <a:p>
            <a:r>
              <a:t>2 хв на прогноз, 4 хв на набір і обробку помилки, 2 хв на перевірку всіх. Спершу порівняйте конструктори: Student не має власного __init__, Educator очікує три аргументи. Без перевизначення фабрики Educator.from_dict дістане лише name та age з батьківської реалізації і дасть TypeError через відсутню speciality, навіть якщо ключ є у словнику. Не називайте це недоліком cls: клас обрано правильно, але аргументи не відповідають його конструктору.</a:t>
            </a:r>
          </a:p>
          <a:p>
            <a:endParaRPr/>
          </a:p>
          <a:p>
            <a:r>
              <a:t>У Educator.__init__ після super().__init__(name, age) і перед self.speciality = speciality перевірте if not self.is_valid_name(speciality): raise ValueError("Спеціальність не може бути порожньою"). Присвоєння замініть на self.speciality = speciality.strip(). Це той самий незалежний предикат непорожнього рядка.</a:t>
            </a:r>
          </a:p>
          <a:p>
            <a:endParaRPr/>
          </a:p>
          <a:p>
            <a:r>
              <a:t>Після класів покажіть обробку на рівні сценарію:</a:t>
            </a:r>
          </a:p>
          <a:p>
            <a:r>
              <a:t>```python</a:t>
            </a:r>
          </a:p>
          <a:p>
            <a:r>
              <a:t>try:</a:t>
            </a:r>
          </a:p>
          <a:p>
            <a:r>
              <a:t>    educator = Educator.from_dict({"name": "Марія", "age": 32})</a:t>
            </a:r>
          </a:p>
          <a:p>
            <a:r>
              <a:t>except ValueError as error:</a:t>
            </a:r>
          </a:p>
          <a:p>
            <a:r>
              <a:t>    print(error)</a:t>
            </a:r>
          </a:p>
          <a:p>
            <a:r>
              <a:t>print("Сценарій триває")</a:t>
            </a:r>
          </a:p>
          <a:p>
            <a:r>
              <a:t>```</a:t>
            </a:r>
          </a:p>
          <a:p>
            <a:r>
              <a:t>Очікуємо Немає поля: speciality і Сценарій триває. Успішний запис із speciality="Python" створює Educator з правильним describe(). Не перехоплюйте всі Exception і не повертайте None замість об'єкта: так можна приховати помилку конструктора. Типові симптоми: TypeError через два аргументи, Person замість Educator через жорстко заданий клас, KeyError через пропущену перевірку ключа. Повторний запуск після допомоги обов'язковий.</a:t>
            </a:r>
          </a:p>
          <a:p>
            <a:endParaRPr/>
          </a:p>
          <a:p>
            <a:r>
              <a:t>Джерело: Cls і конструктор дочірнього класу; сценарій заняття 5, локальний файл від 27.10.2026.</a:t>
            </a:r>
          </a:p>
          <a:p>
            <a:br/>
            <a:br/>
            <a:r>
              <a:t>Іконка: Lucide git-branch. Джерело: https://lucide.dev/icons/git-branch.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10 хв (108 хв)</a:t>
            </a:r>
          </a:p>
          <a:p>
            <a:endParaRPr/>
          </a:p>
          <a:p>
            <a:r>
              <a:t>К4. 1 хв на власні вхідні дані, 6 хв на роботу, 3 хв на перевірку всіх. Для різновиду без нових аргументів достатньо успадкованої фабрики. Для різновиду з обов'язковим додатковим полем потрібна адаптація from_dict. Не використовуйте складний універсальний механізм **data без пояснення, краще явно назвати поля.</a:t>
            </a:r>
          </a:p>
          <a:p>
            <a:endParaRPr/>
          </a:p>
          <a:p>
            <a:r>
              <a:t>Кожен готує три записи: коректний дочірній, без потрібного поля, з порушенням правила значення. Тип об'єкта і значення додаткового поля видно у виводі. Невдала фабрика не повинна повертати частково готовий об'єкт чи змінювати вже існуючий. Додайте окремий print після except, щоб підтвердити продовження.</a:t>
            </a:r>
          </a:p>
          <a:p>
            <a:endParaRPr/>
          </a:p>
          <a:p>
            <a:r>
              <a:t>Поступова допомога: виписати параметри __init__, зіставити їх із ключами, перевірити тип поверненого результату, лише потім додавати помилковий запис. Якщо from_dict успішний лише для базового класу, перегляньте cls та кількість аргументів. Якщо помилка зупиняє весь запуск, знайдіть межі try/except і тип винятку. Якщо статична перевірка відхиляє значення, але об'єкт усе одно створено, перевірте виклик правила і raise. Перегляньте повторний запуск після допомоги.</a:t>
            </a:r>
          </a:p>
          <a:p>
            <a:endParaRPr/>
          </a:p>
          <a:p>
            <a:r>
              <a:t>Джерело: Самостійно: дочірній об'єкт і хибні дані; сценарій заняття 5, локальний файл від 27.10.2026.</a:t>
            </a:r>
          </a:p>
          <a:p>
            <a:br/>
            <a:br/>
            <a:r>
              <a:t>Іконка: Lucide shield-alert. Джерело: https://lucide.dev/icons/shield-alert.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(114 хв)</a:t>
            </a:r>
          </a:p>
          <a:p>
            <a:endParaRPr/>
          </a:p>
          <a:p>
            <a:r>
              <a:t>1 хв на проблему читабельного print, 3 хв на набір, 2 хв на перевірку. У demo_methods.py змінюємо Person, обидва різновиди успадковують ці методи. __str__ повертає рядок для людини, __repr__ повертає діагностичний рядок. Конструкція !r підставляє repr значення, тому біля рядка імені видно прямі лапки. Покажіть print(student), repr(student) і print([student]): список використовує repr елементів.</a:t>
            </a:r>
          </a:p>
          <a:p>
            <a:endParaRPr/>
          </a:p>
          <a:p>
            <a:r>
              <a:t>Educator успадковує __str__, який викликає його перевизначений describe, тому спеціальність є у звичайному виводі. Успадкований __repr__ поки не містить speciality. Прямо назвіть це стислим діагностичним описом: він не є повною серіалізацією і для Educator не відтворює виклик конструктора. Повніший __repr__ залишено в резерві.</a:t>
            </a:r>
          </a:p>
          <a:p>
            <a:endParaRPr/>
          </a:p>
          <a:p>
            <a:r>
              <a:t>Помилки: print замість return усередині __str__ дає TypeError через None; повернення словника також дає TypeError; _str_ замість __str__ не змінює print. Після допомоги перевірте знову. Готово, якщо кожен бачить обидва формати і пояснює призначення.</a:t>
            </a:r>
          </a:p>
          <a:p>
            <a:endParaRPr/>
          </a:p>
          <a:p>
            <a:r>
              <a:t>Джерело: Рядок для людини та опис для розробника; сценарій заняття 5, локальний файл від 27.10.2026.</a:t>
            </a:r>
          </a:p>
          <a:p>
            <a:br/>
            <a:br/>
            <a:r>
              <a:t>Іконка: Lucide text-cursor-input. Джерело: https://lucide.dev/icons/text-cursor-input.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6 хв (120 хв)</a:t>
            </a:r>
          </a:p>
          <a:p>
            <a:endParaRPr/>
          </a:p>
          <a:p>
            <a:r>
              <a:t>1 хв на питання про зміст довжини курсу, 3 хв на набір, 2 хв на перевірку кожного. У нашій моделі довжина означає кількість записів у students. Це навчальний вибір, його треба узгодити з предметною областю. Довжина не означає тривалість уроку чи кількість символів назви. Список students має створюватися у __init__ окремо для кожного курсу.</a:t>
            </a:r>
          </a:p>
          <a:p>
            <a:endParaRPr/>
          </a:p>
          <a:p>
            <a:r>
              <a:t>__len__ має повертати невід'ємне ціле число. Повернення рядка дасть TypeError, від'ємне число дасть ValueError. Не викликайте len(self) всередині __len__: це повторно викликає той самий метод і зрештою дасть RecursionError. Перевірте 0 і 1, а також порожній другий курс: його довжина має лишитися 0. Після допомоги повторіть запуск. Готово, якщо студент пояснює, що саме рахує його метод.</a:t>
            </a:r>
          </a:p>
          <a:p>
            <a:endParaRPr/>
          </a:p>
          <a:p>
            <a:r>
              <a:t>Джерело: Довжина курсу має зрозумілий зміст; сценарій заняття 5, локальний файл від 27.10.2026.</a:t>
            </a:r>
          </a:p>
          <a:p>
            <a:br/>
            <a:br/>
            <a:r>
              <a:t>Іконка: Lucide list-ordered. Джерело: https://lucide.dev/icons/list-ordered.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(125 хв)</a:t>
            </a:r>
          </a:p>
          <a:p>
            <a:endParaRPr/>
          </a:p>
          <a:p>
            <a:r>
              <a:t>1 хв пояснення, 2 хв на набір, 2 хв на швидку перевірку всіх. Навчальні суми передаються цілими числами. __eq__ визначає рівність сум для Money, оператор is перевіряє тотожність об'єктів. Два окремі Money(50) можуть бути рівними за == і різними за is. Для людей рівність лише за ім'ям і віком може бути хибною, тому не додаємо таку семантику в Person автоматично.</a:t>
            </a:r>
          </a:p>
          <a:p>
            <a:endParaRPr/>
          </a:p>
          <a:p>
            <a:r>
              <a:t>NotImplemented є спеціальним значенням повернення: цей метод не підтримує таку пару типів, Python може спробувати іншу реалізацію. Це не виняток і не NotImplementedError. Money(50) == 50 у нашому прикладі дасть False після стандартного резервного порівняння. Не використовуйте результат NotImplemented як логічну умову. Методи хешування та використання Money ключем словника залишаємо поза темою.</a:t>
            </a:r>
          </a:p>
          <a:p>
            <a:endParaRPr/>
          </a:p>
          <a:p>
            <a:r>
              <a:t>Помилки: other без перевірки має іншу структуру і дає AttributeError; = замість == у порівнянні є синтаксичною помилкою; return self is other порівнює тотожність замість суми. Перевірте повторний запуск після допомоги.</a:t>
            </a:r>
          </a:p>
          <a:p>
            <a:endParaRPr/>
          </a:p>
          <a:p>
            <a:r>
              <a:t>Джерело: Рівність значень на прикладі Money; сценарій заняття 5, локальний файл від 27.10.2026.</a:t>
            </a:r>
          </a:p>
          <a:p>
            <a:br/>
            <a:br/>
            <a:r>
              <a:t>Іконка: Lucide equal. Джерело: https://lucide.dev/icons/equal.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7 хв (132 хв)</a:t>
            </a:r>
          </a:p>
          <a:p>
            <a:endParaRPr/>
          </a:p>
          <a:p>
            <a:r>
              <a:t>1 хв на прогноз, 3 хв на набір, 3 хв на перевірку, включно з хибним типом. Перевантаження оператора задає зміст знайомого синтаксису для нашого класу. Тут + додає суми однієї валюти та повертає новий Money, початкові об'єкти не змінюються. Зміна self.amount у __add__ несподівано змінювала б first, тому порівняйте його значення до і після.</a:t>
            </a:r>
          </a:p>
          <a:p>
            <a:endParaRPr/>
          </a:p>
          <a:p>
            <a:r>
              <a:t>Окремо в try/except TypeError покажіть Money(50) + 10. Обидві сторони не підтримують цю операцію, тому Python дає TypeError. __radd__, sum(), інші валюти та промислові правила грошей не входять у цей приклад. Не вимагайте + у власному проєкті без природного змісту.</a:t>
            </a:r>
          </a:p>
          <a:p>
            <a:endParaRPr/>
          </a:p>
          <a:p>
            <a:r>
              <a:t>Помилки: повернуто число, тоді total.amount дає AttributeError; raise NotImplemented дає TypeError, треба return NotImplemented; присвоєння self.amount += other.amount змінює перший об'єкт. Кожен показує суму, її тип та незмінність обох доданків. Після допомоги перевірте повторний запуск.</a:t>
            </a:r>
          </a:p>
          <a:p>
            <a:endParaRPr/>
          </a:p>
          <a:p>
            <a:r>
              <a:t>Джерело: Додавання повертає нову суму; сценарій заняття 5, локальний файл від 27.10.2026.</a:t>
            </a:r>
          </a:p>
          <a:p>
            <a:br/>
            <a:br/>
            <a:r>
              <a:t>Іконка: Lucide circle-plus. Джерело: https://lucide.dev/icons/circle-plus.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10 хв (142 хв)</a:t>
            </a:r>
          </a:p>
          <a:p>
            <a:endParaRPr/>
          </a:p>
          <a:p>
            <a:r>
              <a:t>К5. 1 хв на вибір семантики, 6 хв на роботу, 3 хв на перегляд коду та запуску всіх. Для планувальника довжина може означати кількість задач, для каталогу кількість ресурсів. Якщо обрано __eq__, студент спочатку визначає, які дані означають рівність і що станеться з іншим типом. Не прирівнюйте людей лише за іменем. + лишається окремою навчальною демонстрацією Money.</a:t>
            </a:r>
          </a:p>
          <a:p>
            <a:endParaRPr/>
          </a:p>
          <a:p>
            <a:r>
              <a:t>Мінімальний підсумковий проєкт: from_dict через cls, реально використана статична перевірка, створення дочірнього об'єкта з правильними полями, поліморфний цикл із представником без спільного батька, __str__ та один обраний magic-метод, два відхилені записи з обробкою ValueError. Не вводьте нові класи понад потрібні для цього сценарію. __repr__ усі вже спробували у навчальній моделі, обов'язкового перенесення всіх методів у власний кейс немає.</a:t>
            </a:r>
          </a:p>
          <a:p>
            <a:endParaRPr/>
          </a:p>
          <a:p>
            <a:r>
              <a:t>Допомога: спершу домогтися рядка від __str__, потім додати len до вже наявного списку. Якщо бракує часу, використайте наявні сутності й один короткий цикл, скоротіть додаткові поля та повторні демонстрації. Не прибирайте перевірку, домашнє і фінальний тест. Викладач переглядає файл та вивід кожного. Позначайте незавершене фактично. Після допомоги повторно перевірте конкретну операцію. Усі зберігають файл і коротку інструкцію запуску.</a:t>
            </a:r>
          </a:p>
          <a:p>
            <a:endParaRPr/>
          </a:p>
          <a:p>
            <a:r>
              <a:t>Джерело: Самостійно: читабельна модель проєкту; сценарій заняття 5, локальний файл від 27.10.2026.</a:t>
            </a:r>
          </a:p>
          <a:p>
            <a:br/>
            <a:br/>
            <a:r>
              <a:t>Іконка: Lucide brackets. Джерело: https://lucide.dev/icons/brackets.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3 хв (145 хв)</a:t>
            </a:r>
          </a:p>
          <a:p>
            <a:endParaRPr/>
          </a:p>
          <a:p>
            <a:r>
              <a:t>К6. 1 хв на коротку рефлексію кожного в чаті, 1 хв на два пояснення за фактичною присутністю, 1 хв на збереження та анонс. Читайте відповіді всіх, не підмінюйте їх власним підсумком. Очікуйте зв'язок між обраним методом, потребою кейсу та побаченим результатом.</a:t>
            </a:r>
          </a:p>
          <a:p>
            <a:endParaRPr/>
          </a:p>
          <a:p>
            <a:r>
              <a:t>Попросіть показати збереження project_model.py і місце його запуску. Підтвердьте сильну сторону фактично переглянутого рішення, звертаючись за ім'ям і на "ви". Не оголошуйте всі результати досягнутими, якщо частину ще не перевірено. Класи й об'єкти залишаться основою майбутньої роботи з Django, а HTTP пояснить обмін між браузером і сервером.</a:t>
            </a:r>
          </a:p>
          <a:p>
            <a:endParaRPr/>
          </a:p>
          <a:p>
            <a:r>
              <a:t>Джерело: Що змінилося у вашій моделі; сценарій заняття 5, локальний файл від 27.10.2026.</a:t>
            </a:r>
          </a:p>
          <a:p>
            <a:br/>
            <a:br/>
            <a:r>
              <a:t>Іконка: Lucide message-circle. Джерело: https://lucide.dev/icons/message-circle.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(150 хв)</a:t>
            </a:r>
          </a:p>
          <a:p>
            <a:endParaRPr/>
          </a:p>
          <a:p>
            <a:r>
              <a:t>Звірте умову з чинним Домашнє завдання.md цього заняття. 2 хв поясніть результати й формат, 1 хв покажіть записи для перевірок, 1 хв дайте питання про розуміння, 1 хв на дедлайн, доступ і перехід до Kahoot. Домашня робота продовжує поточний код, починати модель заново не потрібно.</a:t>
            </a:r>
          </a:p>
          <a:p>
            <a:endParaRPr/>
          </a:p>
          <a:p>
            <a:r>
              <a:t>Приклади перевірок: коректний запис створює потрібний дочірній тип; неповний запис та недопустиме значення дають зрозуміле повідомлення; один цикл працює з різними реалізаціями; print і друга обрана операція мають очікуваний зміст. Оцінюємо працездатність, читабельність, відповідність предметній області та пояснення рішення. Перевірте доступ до опублікованої СР у logbook, назвіть фактичний канал здавання і дедлайн, нагадайте про оцінки та кристали за правилами курсу. Ці дані потрібно заповнити викладачем до уроку, сценарій не підтверджує публікацію.</a:t>
            </a:r>
          </a:p>
          <a:p>
            <a:endParaRPr/>
          </a:p>
          <a:p>
            <a:r>
              <a:t>Міксин і mro() є необов'язковим додатковим завданням із чинного файла. Увесь MRO не входить до основного мінімуму. На питання про домашню роботу дайте відповідь до старту фінальних 10 хвилин.</a:t>
            </a:r>
          </a:p>
          <a:p>
            <a:endParaRPr/>
          </a:p>
          <a:p>
            <a:r>
              <a:t>Джерело: Домашнє завдання: завершена об'єктна модель; сценарій заняття 5, локальний файл від 27.10.2026.</a:t>
            </a:r>
          </a:p>
          <a:p>
            <a:br/>
            <a:br/>
            <a:r>
              <a:t>Іконка: Lucide notebook-pen. Джерело: https://lucide.dev/icons/notebook-pen.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4 хв (160 хв основного заняття; резерв окремо)</a:t>
            </a:r>
          </a:p>
          <a:p>
            <a:endParaRPr/>
          </a:p>
          <a:p>
            <a:r>
              <a:t>Необов'язкова вправа для тих, хто завершив основне раніше. Переходьте до неї під час самостійної практики за потреби. Не забирайте час перерви, перевірки, домашнього чи фінального тесту і не подовжуйте заняття. Попросіть спочатку порівняти параметри конструкторів. Якщо параметри ті самі, перевизначення не потрібне. Якщо є додаткові, адаптуйте фабрику явно. Перевірте один неповний запис. Перегляньте код та вивід, після допомоги перевірте повторно.</a:t>
            </a:r>
          </a:p>
          <a:p>
            <a:endParaRPr/>
          </a:p>
          <a:p>
            <a:r>
              <a:t>Джерело: Резерв: Фабрика ще одного різновиду; сценарій заняття 5, локальний файл від 27.10.2026.</a:t>
            </a:r>
          </a:p>
          <a:p>
            <a:br/>
            <a:br/>
            <a:r>
              <a:t>Іконка: Lucide package-plus. Джерело: https://lucide.dev/icons/package-plus.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4 хв (160 хв основного заняття; резерв окремо)</a:t>
            </a:r>
          </a:p>
          <a:p>
            <a:endParaRPr/>
          </a:p>
          <a:p>
            <a:r>
              <a:t>Необов'язкова вправа для тих, хто завершив основне раніше. Переходьте до неї під час самостійної практики за потреби. Не забирайте час перерви, перевірки, домашнього чи фінального тесту і не подовжуйте заняття. Вставте метод у Educator після describe. Підказка: використайте !r для рядків. Порівняйте repr(educator), print(educator) і список із цим об'єктом. Не застосовуйте eval для перевірки. Перегляньте код та вивід, після допомоги перевірте повторно.</a:t>
            </a:r>
          </a:p>
          <a:p>
            <a:endParaRPr/>
          </a:p>
          <a:p>
            <a:r>
              <a:t>Джерело: Резерв: Повніший діагностичний опис; сценарій заняття 5, локальний файл від 27.10.2026.</a:t>
            </a:r>
          </a:p>
          <a:p>
            <a:br/>
            <a:br/>
            <a:r>
              <a:t>Іконка: Lucide file-text. Джерело: https://lucide.dev/icons/file-text.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(160 хв основного заняття; резерв окремо)</a:t>
            </a:r>
          </a:p>
          <a:p>
            <a:endParaRPr/>
          </a:p>
          <a:p>
            <a:r>
              <a:t>Необов'язкова вправа для тих, хто завершив основне раніше. Переходьте до неї під час самостійної практики за потреби. Не забирайте час перерви, перевірки, домашнього чи фінального тесту і не подовжуйте заняття. Не додавайте змішування типів автоматично. Попросіть пояснити return NotImplemented та відмінність від raise NotImplementedError. Перевірте тип результату і значення обох операндів. Перегляньте код та вивід, після допомоги перевірте повторно.</a:t>
            </a:r>
          </a:p>
          <a:p>
            <a:endParaRPr/>
          </a:p>
          <a:p>
            <a:r>
              <a:t>Джерело: Резерв: Межі операції додавання; сценарій заняття 5, локальний файл від 27.10.2026.</a:t>
            </a:r>
          </a:p>
          <a:p>
            <a:br/>
            <a:br/>
            <a:r>
              <a:t>Іконка: Lucide coins. Джерело: https://lucide.dev/icons/coins. Ліцензія: https://lucide.dev/license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(160 хв основного заняття; резерв окремо)</a:t>
            </a:r>
          </a:p>
          <a:p>
            <a:endParaRPr/>
          </a:p>
          <a:p>
            <a:r>
              <a:t>Необов'язкова вправа для тих, хто завершив основне раніше. Переходьте до неї під час самостійної практики за потреби. Не забирайте час перерви, перевірки, домашнього чи фінального тесту і не подовжуйте заняття. Необов'язкова демонстрація, без додавання кооперативних конструкторів. Поясніть міксин як невеликий клас додаткової поведінки. super() переходить до наступного класу в MRO. Квадратні дужки з for утворюють список назв, це допоміжний синтаксис, за потреби замініть його звичайним циклом. Не включайте цей блок до підсумкового тесту. Перегляньте код та вивід, після допомоги перевірте повторно.</a:t>
            </a:r>
          </a:p>
          <a:p>
            <a:endParaRPr/>
          </a:p>
          <a:p>
            <a:r>
              <a:t>Джерело: Резерв: Міксин і порядок пошуку методу; сценарій заняття 5, локальний файл від 27.10.2026.</a:t>
            </a:r>
          </a:p>
          <a:p>
            <a:br/>
            <a:br/>
            <a:r>
              <a:t>Іконка: Lucide layers. Джерело: https://lucide.dev/icons/layers. Ліцензія: https://lucide.dev/license</a:t>
            </a:r>
          </a:p>
          <a:p>
            <a:br/>
            <a:br/>
            <a:r>
              <a:t>ISC License</a:t>
            </a:r>
            <a:br/>
            <a:br/>
            <a:r>
              <a:t>Copyright (c) 2026 Lucide Icons and Contributors</a:t>
            </a:r>
            <a:br/>
            <a:br/>
            <a:r>
              <a:t>Permission to use, copy, modify, and/or distribute this software for any</a:t>
            </a:r>
            <a:br/>
            <a:r>
              <a:t>purpose with or without fee is hereby granted, provided that the above</a:t>
            </a:r>
            <a:br/>
            <a:r>
              <a:t>copyright notice and this permission notice appear in all copies.</a:t>
            </a:r>
            <a:br/>
            <a:br/>
            <a:r>
              <a:t>THE SOFTWARE IS PROVIDED "AS IS" AND THE AUTHOR DISCLAIMS ALL WARRANTIES</a:t>
            </a:r>
            <a:br/>
            <a:r>
              <a:t>WITH REGARD TO THIS SOFTWARE INCLUDING ALL IMPLIED WARRANTIES OF</a:t>
            </a:r>
            <a:br/>
            <a:r>
              <a:t>MERCHANTABILITY AND FITNESS. IN NO EVENT SHALL THE AUTHOR BE LIABLE FOR</a:t>
            </a:r>
            <a:br/>
            <a:r>
              <a:t>ANY SPECIAL, DIRECT, INDIRECT, OR CONSEQUENTIAL DAMAGES OR ANY DAMAGES</a:t>
            </a:r>
            <a:br/>
            <a:r>
              <a:t>WHATSOEVER RESULTING FROM LOSS OF USE, DATA OR PROFITS, WHETHER IN AN</a:t>
            </a:r>
            <a:br/>
            <a:r>
              <a:t>ACTION OF CONTRACT, NEGLIGENCE OR OTHER TORTIOUS ACTION, ARISING OUT OF</a:t>
            </a:r>
            <a:br/>
            <a:r>
              <a:t>OR IN CONNECTION WITH THE USE OR PERFORMANCE OF THIS SOFTWARE.</a:t>
            </a:r>
            <a:br/>
            <a:br/>
            <a:r>
              <a:t>---</a:t>
            </a:r>
            <a:br/>
            <a:br/>
            <a:r>
              <a:t>The following Lucide icons are derived from the Feather project:</a:t>
            </a:r>
            <a:br/>
            <a:br/>
            <a:r>
              <a:t>airplay, alert-circle, alert-octagon, alert-triangle, aperture, arrow-down-circle, arrow-down-left, arrow-down-right, arrow-down, arrow-left-circle, arrow-left, arrow-right-circle, arrow-right, arrow-up-circle, arrow-up-left, arrow-up-right, arrow-up, at-sign, calendar, cast, check, chevron-down, chevron-left, chevron-right, chevron-up, chevrons-down, chevrons-left, chevrons-right, chevrons-up, circle, clipboard, clock, code, columns, command, compass, corner-down-left, corner-down-right, corner-left-down, corner-left-up, corner-right-down, corner-right-up, corner-up-left, corner-up-right, crosshair, database, divide-circle, divide-square, dollar-sign, download, external-link, feather, frown, hash, headphones, help-circle, info, italic, key, layout, life-buoy, link-2, link, loader, lock, log-in, log-out, maximize, meh, minimize, minimize-2, minus-circle, minus-square, minus, monitor, moon, more-horizontal, more-vertical, move, music, navigation-2, navigation, octagon, pause-circle, percent, plus-circle, plus-square, plus, power, radio, rss, search, server, share, shopping-bag, sidebar, smartphone, smile, square, table-2, tablet, target, terminal, trash-2, trash, triangle, tv, type, upload, x-circle, x-octagon, x-square, x, zoom-in, zoom-out</a:t>
            </a:r>
            <a:br/>
            <a:br/>
            <a:r>
              <a:t>The MIT License (MIT) (for the icons listed above)</a:t>
            </a:r>
            <a:br/>
            <a:br/>
            <a:r>
              <a:t>Copyright (c) 2013-present Cole Bemis</a:t>
            </a:r>
            <a:br/>
            <a:br/>
            <a:r>
              <a:t>Permission is hereby granted, free of charge, to any person obtaining a copy</a:t>
            </a:r>
            <a:br/>
            <a:r>
              <a:t>of this software and associated documentation files (the "Software"), to deal</a:t>
            </a:r>
            <a:br/>
            <a:r>
              <a:t>in the Software without restriction, including without limitation the rights</a:t>
            </a:r>
            <a:br/>
            <a:r>
              <a:t>to use, copy, modify, merge, publish, distribute, sublicense, and/or sell</a:t>
            </a:r>
            <a:br/>
            <a:r>
              <a:t>copies of the Software, and to permit persons to whom the Software is</a:t>
            </a:r>
            <a:br/>
            <a:r>
              <a:t>furnished to do so, subject to the following conditions:</a:t>
            </a:r>
            <a:br/>
            <a:br/>
            <a:r>
              <a:t>The above copyright notice and this permission notice shall be included in all</a:t>
            </a:r>
            <a:br/>
            <a:r>
              <a:t>copies or substantial portions of the Software.</a:t>
            </a:r>
            <a:br/>
            <a:br/>
            <a:r>
              <a:t>THE SOFTWARE IS PROVIDED "AS IS", WITHOUT WARRANTY OF ANY KIND, EXPRESS OR</a:t>
            </a:r>
            <a:br/>
            <a:r>
              <a:t>IMPLIED, INCLUDING BUT NOT LIMITED TO THE WARRANTIES OF MERCHANTABILITY,</a:t>
            </a:r>
            <a:br/>
            <a:r>
              <a:t>FITNESS FOR A PARTICULAR PURPOSE AND NONINFRINGEMENT. IN NO EVENT SHALL THE</a:t>
            </a:r>
            <a:br/>
            <a:r>
              <a:t>AUTHORS OR COPYRIGHT HOLDERS BE LIABLE FOR ANY CLAIM, DAMAGES OR OTHER</a:t>
            </a:r>
            <a:br/>
            <a:r>
              <a:t>LIABILITY, WHETHER IN AN ACTION OF CONTRACT, TORT OR OTHERWISE, ARISING FROM,</a:t>
            </a:r>
            <a:br/>
            <a:r>
              <a:t>OUT OF OR IN CONNECTION WITH THE SOFTWARE OR THE USE OR OTHER DEALINGS IN THE</a:t>
            </a:r>
            <a:br/>
            <a:r>
              <a:t>SOFTWARE.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0F463C2-8764-49B6-BD44-1BF207588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0BC53B-D09E-4460-ABA8-30B814E11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8C46E28-8593-46A8-BA08-0758D93F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18D7F16-4EF2-438B-8860-839BB9843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5D0D0E7-2F3F-4743-901B-C5F774753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8E30C18-73A1-4C28-BFD0-BD79B980C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FC817A1-DBE8-4FEC-81B4-68209512A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38653EB-23B7-4A02-82B1-3B87196467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D9F3147-138F-4451-A6A0-D46132732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80D3667-692E-4933-AB9E-91C83EEF6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B0358003-3FE6-4D1C-AA94-2CF3F91A908C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10477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4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ООП: методи класу,</a:t>
            </a:r>
          </a:p>
          <a:p>
            <a:pPr algn="l">
              <a:lnSpc>
                <a:spcPct val="114000"/>
              </a:lnSpc>
              <a:buNone/>
              <a:defRPr sz="4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4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поліморфізм та magic-методи</a:t>
            </a:r>
          </a:p>
        </p:txBody>
      </p:sp>
      <p:sp>
        <p:nvSpPr>
          <p:cNvPr id="3" name="course">
            <a:extLst>
              <a:ext uri="{FF2B5EF4-FFF2-40B4-BE49-F238E27FC236}">
                <a16:creationId xmlns:a16="http://schemas.microsoft.com/office/drawing/2014/main" id="{046845DB-E59D-4640-8162-20CD19F47C83}"/>
              </a:ext>
            </a:extLst>
          </p:cNvPr>
          <p:cNvSpPr>
            <a:spLocks noGrp="1"/>
          </p:cNvSpPr>
          <p:nvPr/>
        </p:nvSpPr>
        <p:spPr>
          <a:xfrm>
            <a:off x="857250" y="4029075"/>
            <a:ext cx="9525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Курс "Розробка веб-додатків</a:t>
            </a:r>
          </a:p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з використанням Python"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A82EC-53DB-49B7-9BD9-8F8440E57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01300" y="638175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1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29EE18E-AF41-4804-A951-59426A608779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Задачі</a:t>
            </a:r>
            <a:r>
              <a:rPr sz="3000" b="1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заняття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CA330801-1E3E-495A-A711-B7EC007DE29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Створювати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об'єкти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зі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словників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через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from_dict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C7F0C1EA-2D5E-4B2B-B776-AED001989A41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Обирати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метод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екземпляра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,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classmethod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або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staticmethod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70AAB72B-5359-499F-8525-5DCE020278A4}"/>
              </a:ext>
            </a:extLst>
          </p:cNvPr>
          <p:cNvSpPr>
            <a:spLocks noGrp="1"/>
          </p:cNvSpPr>
          <p:nvPr/>
        </p:nvSpPr>
        <p:spPr>
          <a:xfrm>
            <a:off x="857250" y="2962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Викликати спільну поведінку різних об'єктів.</a:t>
            </a:r>
          </a:p>
        </p:txBody>
      </p:sp>
      <p:sp>
        <p:nvSpPr>
          <p:cNvPr id="6" name="item-4">
            <a:extLst>
              <a:ext uri="{FF2B5EF4-FFF2-40B4-BE49-F238E27FC236}">
                <a16:creationId xmlns:a16="http://schemas.microsoft.com/office/drawing/2014/main" id="{4CE5BCAB-4D6C-4256-8104-7EBCD2D47DB4}"/>
              </a:ext>
            </a:extLst>
          </p:cNvPr>
          <p:cNvSpPr>
            <a:spLocks noGrp="1"/>
          </p:cNvSpPr>
          <p:nvPr/>
        </p:nvSpPr>
        <p:spPr>
          <a:xfrm>
            <a:off x="857250" y="35337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Надати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зміст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print(), len() та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порівнянню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об'єктів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7A36B9FE-61F5-4BE7-85E4-0E7953B44231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Дані з анкети стають об'єктами. Різні сутності працюють в одному сценарії.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C91C7D-E9FA-425B-ACED-9A560F884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4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D027781-048E-4DC2-BA8A-80AE6CAFD1EE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Які дані потрібні методу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D847E6E-C5FA-4F13-AE24-31BF84CF955D}"/>
              </a:ext>
            </a:extLst>
          </p:cNvPr>
          <p:cNvGraphicFramePr/>
          <p:nvPr/>
        </p:nvGraphicFramePr>
        <p:xfrm>
          <a:off x="857250" y="2047875"/>
          <a:ext cx="10477500" cy="27813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3FAFB"/>
                          </a:solidFill>
                          <a:latin typeface="Onest"/>
                          <a:ea typeface="Onest"/>
                          <a:cs typeface="Onest"/>
                        </a:rPr>
                        <a:t>Виклик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A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3FAFB"/>
                          </a:solidFill>
                          <a:latin typeface="Onest"/>
                          <a:ea typeface="Onest"/>
                          <a:cs typeface="Onest"/>
                        </a:rPr>
                        <a:t>Із чим працює метод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A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student.describe()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Дані конкретного студента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Student.from_dict(data)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Клас, який створює об'єкт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2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Person.is_valid_name(value)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Лише передане значення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333CAB00-6F5E-467C-8F48-AF9A1782F857}"/>
              </a:ext>
            </a:extLst>
          </p:cNvPr>
          <p:cNvSpPr>
            <a:spLocks noGrp="1"/>
          </p:cNvSpPr>
          <p:nvPr/>
        </p:nvSpPr>
        <p:spPr>
          <a:xfrm>
            <a:off x="857250" y="5305425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Як створити студента, якщо об'єкта student ще немає?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7931D-ABD5-4352-97F9-584EC94B4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38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D8C605-B40F-4AC7-94B8-D6A081EAEC41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Статична перевірка окремого значення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98B03684-E613-40FD-BE05-9816176C79B3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dirty="0"/>
              <a:t>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Person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is_valid_name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перед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__init__.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Замініть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__init__,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збережіть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age та describe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із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заняття 4.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EE8F200A-96CD-49CA-997F-F729BAB430CB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2554951"/>
          </a:xfrm>
          <a:prstGeom prst="roundRect">
            <a:avLst>
              <a:gd name="adj" fmla="val 4474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@staticmethod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is_valid_name(value):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isinstance(value, str) </a:t>
            </a:r>
            <a:r>
              <a:rPr>
                <a:solidFill>
                  <a:srgbClr val="83D8E0"/>
                </a:solidFill>
              </a:rPr>
              <a:t>and</a:t>
            </a:r>
            <a:r>
              <a:t> bool(value.strip())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__init__(self, name, age):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self.is_valid_name(name):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raise</a:t>
            </a:r>
            <a:r>
              <a:t> ValueError(</a:t>
            </a:r>
            <a:r>
              <a:rPr>
                <a:solidFill>
                  <a:srgbClr val="F0D2AA"/>
                </a:solidFill>
              </a:rPr>
              <a:t>"Ім'я не може бути порожнім"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self.name = name.strip()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self.age = age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F4631BAC-0BCF-4834-A56E-A55E944E1215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Person.is_valid_name("   ") дає False.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B8A718-9AD0-47A4-AEDB-9F6B441B6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7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39EB71-2EEB-4960-A25A-AD5505C0AE1A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Метод класу створює об'єкт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6D0EB11B-79AB-479A-97F8-C99AA5D58EBE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Person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is_valid_name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фабрику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0B2CE757-2DE6-4705-A142-C029A7DC7079}"/>
              </a:ext>
            </a:extLst>
          </p:cNvPr>
          <p:cNvSpPr>
            <a:spLocks noGrp="1"/>
          </p:cNvSpPr>
          <p:nvPr/>
        </p:nvSpPr>
        <p:spPr>
          <a:xfrm>
            <a:off x="685800" y="1980451"/>
            <a:ext cx="10820400" cy="1067550"/>
          </a:xfrm>
          <a:prstGeom prst="roundRect">
            <a:avLst>
              <a:gd name="adj" fmla="val 10707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@classmethod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from_dict(cls, data):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cls(data[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], data[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])</a:t>
            </a:r>
          </a:p>
        </p:txBody>
      </p:sp>
      <p:sp>
        <p:nvSpPr>
          <p:cNvPr id="5" name="instruction-1">
            <a:extLst>
              <a:ext uri="{FF2B5EF4-FFF2-40B4-BE49-F238E27FC236}">
                <a16:creationId xmlns:a16="http://schemas.microsoft.com/office/drawing/2014/main" id="{4C46D164-78FA-4BE5-8D67-10E12D82F7D1}"/>
              </a:ext>
            </a:extLst>
          </p:cNvPr>
          <p:cNvSpPr>
            <a:spLocks noGrp="1"/>
          </p:cNvSpPr>
          <p:nvPr/>
        </p:nvSpPr>
        <p:spPr>
          <a:xfrm>
            <a:off x="857250" y="35510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всіх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класів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перевірку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6" name="python-2">
            <a:extLst>
              <a:ext uri="{FF2B5EF4-FFF2-40B4-BE49-F238E27FC236}">
                <a16:creationId xmlns:a16="http://schemas.microsoft.com/office/drawing/2014/main" id="{616B5B0A-A3EF-4780-B756-6CE9D931AF07}"/>
              </a:ext>
            </a:extLst>
          </p:cNvPr>
          <p:cNvSpPr>
            <a:spLocks noGrp="1"/>
          </p:cNvSpPr>
          <p:nvPr/>
        </p:nvSpPr>
        <p:spPr>
          <a:xfrm>
            <a:off x="685800" y="3971176"/>
            <a:ext cx="10820400" cy="1315451"/>
          </a:xfrm>
          <a:prstGeom prst="roundRect">
            <a:avLst>
              <a:gd name="adj" fmla="val 8689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record = {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: 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: 18}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student = Student.from_dict(record)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print(type(student).__name__)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print(student.describe())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80BD1287-E4E7-4D34-A046-17D96E1BA543}"/>
              </a:ext>
            </a:extLst>
          </p:cNvPr>
          <p:cNvSpPr>
            <a:spLocks noGrp="1"/>
          </p:cNvSpPr>
          <p:nvPr/>
        </p:nvSpPr>
        <p:spPr>
          <a:xfrm>
            <a:off x="857250" y="5789701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Очікуємо Student та "Олена: 18 років".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CC4BA0-BFE4-4520-AE9C-78A4BC30B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0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0F608BB-FA69-464B-B76B-9A8481998F9B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Три методи мають різні ролі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C7033-C98F-403A-AEC8-B99739F6F9A8}"/>
              </a:ext>
            </a:extLst>
          </p:cNvPr>
          <p:cNvGraphicFramePr/>
          <p:nvPr/>
        </p:nvGraphicFramePr>
        <p:xfrm>
          <a:off x="857250" y="2047875"/>
          <a:ext cx="10477500" cy="27813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3FAFB"/>
                          </a:solidFill>
                          <a:latin typeface="Onest"/>
                          <a:ea typeface="Onest"/>
                          <a:cs typeface="Onest"/>
                        </a:rPr>
                        <a:t>Вид методу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A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3FAFB"/>
                          </a:solidFill>
                          <a:latin typeface="Onest"/>
                          <a:ea typeface="Onest"/>
                          <a:cs typeface="Onest"/>
                        </a:rPr>
                        <a:t>Автоаргумент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A7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3FAFB"/>
                          </a:solidFill>
                          <a:latin typeface="Onest"/>
                          <a:ea typeface="Onest"/>
                          <a:cs typeface="Onest"/>
                        </a:rPr>
                        <a:t>Приклад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6A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Метод екземпляра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self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describe() читає name та age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classmethod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cls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from_dict() створює cls(...)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F2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staticmethod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Немає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3740"/>
                          </a:solidFill>
                          <a:latin typeface="Onest"/>
                          <a:ea typeface="Onest"/>
                          <a:cs typeface="Onest"/>
                        </a:rPr>
                        <a:t>is_valid_name(value) перевіряє рядок</a:t>
                      </a:r>
                    </a:p>
                  </a:txBody>
                  <a:tcPr anchor="ctr">
                    <a:lnL>
                      <a:noFill/>
                    </a:lnL>
                    <a:lnR w="0">
                      <a:noFill/>
                    </a:lnR>
                    <a:lnT>
                      <a:noFill/>
                    </a:lnT>
                    <a:lnB w="0">
                      <a:noFill/>
                    </a:lnB>
                    <a:solidFill>
                      <a:srgbClr val="E4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akeaway">
            <a:extLst>
              <a:ext uri="{FF2B5EF4-FFF2-40B4-BE49-F238E27FC236}">
                <a16:creationId xmlns:a16="http://schemas.microsoft.com/office/drawing/2014/main" id="{2BFEB520-C621-4296-A2CB-D1C113D9D893}"/>
              </a:ext>
            </a:extLst>
          </p:cNvPr>
          <p:cNvSpPr>
            <a:spLocks noGrp="1"/>
          </p:cNvSpPr>
          <p:nvPr/>
        </p:nvSpPr>
        <p:spPr>
          <a:xfrm>
            <a:off x="857250" y="5305425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Який вид потрібен для перевірки назви?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Який створює об'єкт дочірнього класу?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8F3DD-53CF-4815-826A-6E9B6FCD9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57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8F2D5A1-9748-4213-BCFC-F890F562D590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Самостійно: фабрика власного кейсу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9B8A2A00-E86B-4442-B693-6F035365482F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Оберіть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базову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сутність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і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словник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для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неї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467CCBDE-8D61-4F58-826A-9005700C7452}"/>
              </a:ext>
            </a:extLst>
          </p:cNvPr>
          <p:cNvSpPr>
            <a:spLocks noGrp="1"/>
          </p:cNvSpPr>
          <p:nvPr/>
        </p:nvSpPr>
        <p:spPr>
          <a:xfrm>
            <a:off x="857250" y="2357437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from_dict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через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cls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і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статичну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перевірку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поля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47195DBA-32EF-4241-9FE3-A1921CB90CE7}"/>
              </a:ext>
            </a:extLst>
          </p:cNvPr>
          <p:cNvSpPr>
            <a:spLocks noGrp="1"/>
          </p:cNvSpPr>
          <p:nvPr/>
        </p:nvSpPr>
        <p:spPr>
          <a:xfrm>
            <a:off x="857250" y="2793207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Викличте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перевірку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конструктора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або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властивості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6" name="item-4">
            <a:extLst>
              <a:ext uri="{FF2B5EF4-FFF2-40B4-BE49-F238E27FC236}">
                <a16:creationId xmlns:a16="http://schemas.microsoft.com/office/drawing/2014/main" id="{EDFD68E3-C4B2-4C8A-BF33-6CC857A3281E}"/>
              </a:ext>
            </a:extLst>
          </p:cNvPr>
          <p:cNvSpPr>
            <a:spLocks noGrp="1"/>
          </p:cNvSpPr>
          <p:nvPr/>
        </p:nvSpPr>
        <p:spPr>
          <a:xfrm>
            <a:off x="857250" y="3228976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Створіть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об'єкт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і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викличте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його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метод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D73AFF03-4815-4C88-AC0B-F93005505355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видно дані словника, тип об'єкта та результат дії.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380EDE-D042-46EC-BB9A-D2AF68220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8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94E9A28-F34A-42B6-AF4B-7BEC9D148E53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Один виклик для різних об'єктів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18B3283D-9A54-493E-845F-087BBDBA2690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ісля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класів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замініть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попередній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демонстраційний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блок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A54AF0A0-6EEA-47F3-BF3A-09343675D9FB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1811251"/>
          </a:xfrm>
          <a:prstGeom prst="roundRect">
            <a:avLst>
              <a:gd name="adj" fmla="val 6311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people = [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Student(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, 18),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Educator(</a:t>
            </a:r>
            <a:r>
              <a:rPr>
                <a:solidFill>
                  <a:srgbClr val="F0D2AA"/>
                </a:solidFill>
              </a:rPr>
              <a:t>"Марія"</a:t>
            </a:r>
            <a:r>
              <a:t>, 32, </a:t>
            </a:r>
            <a:r>
              <a:rPr>
                <a:solidFill>
                  <a:srgbClr val="F0D2AA"/>
                </a:solidFill>
              </a:rPr>
              <a:t>"Python"</a:t>
            </a:r>
            <a: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for</a:t>
            </a:r>
            <a:r>
              <a:t> person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people: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print(person.describe())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65D40CE1-978C-43A0-A765-11B4DB711ADB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Цикл однаковий. Реалізацію describe() визначає об'єкт.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537A0-77A7-4E20-B375-781EE854E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5B68CD-ED7F-4988-8119-BE08DABA07D0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Качина типізація без спільного батька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3C418D23-133C-42BD-B6C0-2876B8AEE661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dirty="0" err="1"/>
              <a:t>П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еред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списком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people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окремий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клас: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CF6A408D-99C6-485A-BCD2-F0E70ABA4756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1811251"/>
          </a:xfrm>
          <a:prstGeom prst="roundRect">
            <a:avLst>
              <a:gd name="adj" fmla="val 6311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class</a:t>
            </a:r>
            <a:r>
              <a:t> Announcement: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__init__(self, title):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self.title = title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describe(self):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</a:t>
            </a:r>
            <a:r>
              <a:rPr>
                <a:solidFill>
                  <a:srgbClr val="F0D2AA"/>
                </a:solidFill>
              </a:rPr>
              <a:t>f"Оголошення: {self.title}"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BC344E89-E279-4210-A75F-D2354A33377A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 Announcement("Клуб Python") до people.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Цикл із describe() залишається тим самим.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B19A4A-6A5E-43F7-8805-3110B85D1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15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7F481E0-7EEC-4F11-BD09-0E8BA78EE72E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Самостійно: спільна поведінка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5D300668-F699-469E-BAC3-AE0602F5F69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Оберіть спільний метод двох різновидів.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7CE14B7E-8181-46CD-AD3E-6EE6896FCCC3}"/>
              </a:ext>
            </a:extLst>
          </p:cNvPr>
          <p:cNvSpPr>
            <a:spLocks noGrp="1"/>
          </p:cNvSpPr>
          <p:nvPr/>
        </p:nvSpPr>
        <p:spPr>
          <a:xfrm>
            <a:off x="857250" y="2438400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Викличте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його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одному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циклі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F209DCA3-D25D-413C-AC4B-40563231C4C6}"/>
              </a:ext>
            </a:extLst>
          </p:cNvPr>
          <p:cNvSpPr>
            <a:spLocks noGrp="1"/>
          </p:cNvSpPr>
          <p:nvPr/>
        </p:nvSpPr>
        <p:spPr>
          <a:xfrm>
            <a:off x="857250" y="292417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третю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сутність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із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таким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самим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методом</a:t>
            </a:r>
            <a:endParaRPr sz="1800" b="0" dirty="0">
              <a:solidFill>
                <a:srgbClr val="163740"/>
              </a:solidFill>
              <a:latin typeface="Onest"/>
              <a:ea typeface="Onest"/>
              <a:cs typeface="Onest"/>
            </a:endParaRP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без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спільного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батька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6" name="takeaway">
            <a:extLst>
              <a:ext uri="{FF2B5EF4-FFF2-40B4-BE49-F238E27FC236}">
                <a16:creationId xmlns:a16="http://schemas.microsoft.com/office/drawing/2014/main" id="{37593407-6156-4313-B8C4-6319429F8495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цикл працює для трьох об'єктів і не перевіряє їхні класи.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DEE55F-266D-4A5D-903A-EEC9020F5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1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1A65F-662D-419F-81E8-98014AFCF468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Повернення: коректний запис і помилка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AA1F827A-882C-4B43-9860-E9C3F095C1C3}"/>
              </a:ext>
            </a:extLst>
          </p:cNvPr>
          <p:cNvSpPr>
            <a:spLocks noGrp="1"/>
          </p:cNvSpPr>
          <p:nvPr/>
        </p:nvSpPr>
        <p:spPr>
          <a:xfrm>
            <a:off x="857250" y="1607717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Прогноз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перед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запуском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5B243479-77B1-4B56-8C2C-B8CB943C9F9B}"/>
              </a:ext>
            </a:extLst>
          </p:cNvPr>
          <p:cNvSpPr>
            <a:spLocks noGrp="1"/>
          </p:cNvSpPr>
          <p:nvPr/>
        </p:nvSpPr>
        <p:spPr>
          <a:xfrm>
            <a:off x="685800" y="2255417"/>
            <a:ext cx="10820400" cy="1067550"/>
          </a:xfrm>
          <a:prstGeom prst="roundRect">
            <a:avLst>
              <a:gd name="adj" fmla="val 10707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valid = {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: 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: 18}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invalid = {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: 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: 0}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incomplete = {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: 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}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A5DA7CE7-6728-4043-9E9A-AE041A832BA6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Який запис створить Student?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На якому етапі відхиляться інші?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38C33-3ECB-473C-9997-126A616CC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9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0D55CD3-1244-4CDB-942F-05848FFE8071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Фабрика повідомляє про неповний запис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FA08759A-C0D5-45FA-BCCA-916B7A975FF8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dirty="0"/>
              <a:t>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Person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повністю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замініть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from_dict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4F917883-46E9-480D-8D41-0934D5DFB7CC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2307051"/>
          </a:xfrm>
          <a:prstGeom prst="roundRect">
            <a:avLst>
              <a:gd name="adj" fmla="val 4954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@classmethod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from_dict(cls, data):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isinstance(data, dict):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raise</a:t>
            </a:r>
            <a:r>
              <a:t> ValueError(</a:t>
            </a:r>
            <a:r>
              <a:rPr>
                <a:solidFill>
                  <a:srgbClr val="F0D2AA"/>
                </a:solidFill>
              </a:rPr>
              <a:t>"Очікується словник"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for</a:t>
            </a:r>
            <a:r>
              <a:t> key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(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key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data: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    </a:t>
            </a:r>
            <a:r>
              <a:rPr>
                <a:solidFill>
                  <a:srgbClr val="83D8E0"/>
                </a:solidFill>
              </a:rPr>
              <a:t>raise</a:t>
            </a:r>
            <a:r>
              <a:t> ValueError(</a:t>
            </a:r>
            <a:r>
              <a:rPr>
                <a:solidFill>
                  <a:srgbClr val="F0D2AA"/>
                </a:solidFill>
              </a:rPr>
              <a:t>f"Немає поля: {key}"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cls(data[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], data[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])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1C83E943-A34C-4C30-BE9F-9DE3D539DA50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Поля перевіряє фабрика. Значення перевіряє модель.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F5A2C8-812D-4817-8183-A8A019FA5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43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5DCAAC3-5AF9-4F90-9D2C-1BF17B03C231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cls і конструктор дочірнього класу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ADEDFF69-05E7-404E-B013-2A534EABCB4A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Student успадковує from_dict без змін. Educator потребує speciality.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У Educator додайте власну фабрику: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EC178BDA-E852-43D3-A5C0-33E98A526A2F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2307051"/>
          </a:xfrm>
          <a:prstGeom prst="roundRect">
            <a:avLst>
              <a:gd name="adj" fmla="val 4954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@classmethod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from_dict(cls, data):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isinstance(data, dict):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raise</a:t>
            </a:r>
            <a:r>
              <a:t> ValueError(</a:t>
            </a:r>
            <a:r>
              <a:rPr>
                <a:solidFill>
                  <a:srgbClr val="F0D2AA"/>
                </a:solidFill>
              </a:rPr>
              <a:t>"Очікується словник"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for</a:t>
            </a:r>
            <a:r>
              <a:t> key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(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, </a:t>
            </a:r>
            <a:r>
              <a:rPr>
                <a:solidFill>
                  <a:srgbClr val="F0D2AA"/>
                </a:solidFill>
              </a:rPr>
              <a:t>"speciality"</a:t>
            </a:r>
            <a:r>
              <a:t>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key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data: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    </a:t>
            </a:r>
            <a:r>
              <a:rPr>
                <a:solidFill>
                  <a:srgbClr val="83D8E0"/>
                </a:solidFill>
              </a:rPr>
              <a:t>raise</a:t>
            </a:r>
            <a:r>
              <a:t> ValueError(</a:t>
            </a:r>
            <a:r>
              <a:rPr>
                <a:solidFill>
                  <a:srgbClr val="F0D2AA"/>
                </a:solidFill>
              </a:rPr>
              <a:t>f"Немає поля: {key}"</a:t>
            </a:r>
            <a: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cls(data[</a:t>
            </a:r>
            <a:r>
              <a:rPr>
                <a:solidFill>
                  <a:srgbClr val="F0D2AA"/>
                </a:solidFill>
              </a:rPr>
              <a:t>"name"</a:t>
            </a:r>
            <a:r>
              <a:t>], data[</a:t>
            </a:r>
            <a:r>
              <a:rPr>
                <a:solidFill>
                  <a:srgbClr val="F0D2AA"/>
                </a:solidFill>
              </a:rPr>
              <a:t>"age"</a:t>
            </a:r>
            <a:r>
              <a:t>], data[</a:t>
            </a:r>
            <a:r>
              <a:rPr>
                <a:solidFill>
                  <a:srgbClr val="F0D2AA"/>
                </a:solidFill>
              </a:rPr>
              <a:t>"speciality"</a:t>
            </a:r>
            <a:r>
              <a:t>])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B9EA6631-8C04-4FC3-9997-404CD322CBED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cls зберігає клас виклику. Аргументи мають відповідати його __init__.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0810B-EE85-4F5D-AC1E-104B297C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4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93E478F-A0C4-4006-93ED-7A046F1EF0FF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Самостійно: дочірній об'єкт і помилки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A372D449-200B-437D-92EA-D349A238D27C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Створіть дочірній об'єкт через from_dict і покажіть тип.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6A65CB78-9835-45DE-B99D-9E56B0CB5DFA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Узгодьте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фабрику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додатковими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полями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конструктора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4289AE87-13DD-43F3-A124-8B7563AF5EA7}"/>
              </a:ext>
            </a:extLst>
          </p:cNvPr>
          <p:cNvSpPr>
            <a:spLocks noGrp="1"/>
          </p:cNvSpPr>
          <p:nvPr/>
        </p:nvSpPr>
        <p:spPr>
          <a:xfrm>
            <a:off x="857250" y="29622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Перевірте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неповний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запис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і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недопустиме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значення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6" name="item-4">
            <a:extLst>
              <a:ext uri="{FF2B5EF4-FFF2-40B4-BE49-F238E27FC236}">
                <a16:creationId xmlns:a16="http://schemas.microsoft.com/office/drawing/2014/main" id="{AF0F1572-0A94-4631-9795-87FC501B5C07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Перехопіть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ValueError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коді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запуску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6F55499E-007E-41E6-B334-9C5336A25560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після повідомлення про помилку сценарій продовжується.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9E35EB-33A2-460C-B720-AEAA3A99A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04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27EBF6-28A6-4BD7-86CD-5A3A7FB52D8E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Рядок для людини та опис для розробника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8BFD12E3-4097-4BE6-B24F-3CE34B1165AE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dirty="0"/>
              <a:t>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Person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describe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9D7B4F60-AA69-4844-8449-22A833D5D1AD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0820400" cy="1563351"/>
          </a:xfrm>
          <a:prstGeom prst="roundRect">
            <a:avLst>
              <a:gd name="adj" fmla="val 7311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 dirty="0">
                <a:solidFill>
                  <a:srgbClr val="83D8E0"/>
                </a:solidFill>
              </a:rPr>
              <a:t>def</a:t>
            </a:r>
            <a:r>
              <a:rPr dirty="0"/>
              <a:t> __str__(self):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    </a:t>
            </a:r>
            <a:r>
              <a:rPr dirty="0">
                <a:solidFill>
                  <a:srgbClr val="83D8E0"/>
                </a:solidFill>
              </a:rPr>
              <a:t>return</a:t>
            </a:r>
            <a:r>
              <a:rPr dirty="0"/>
              <a:t> </a:t>
            </a:r>
            <a:r>
              <a:rPr dirty="0" err="1"/>
              <a:t>self.describe</a:t>
            </a:r>
            <a:r>
              <a:rPr dirty="0"/>
              <a:t>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 dirty="0">
                <a:solidFill>
                  <a:srgbClr val="83D8E0"/>
                </a:solidFill>
              </a:rPr>
              <a:t>def</a:t>
            </a:r>
            <a:r>
              <a:rPr dirty="0"/>
              <a:t> __</a:t>
            </a:r>
            <a:r>
              <a:rPr dirty="0" err="1"/>
              <a:t>repr</a:t>
            </a:r>
            <a:r>
              <a:rPr dirty="0"/>
              <a:t>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 dirty="0"/>
              <a:t>    </a:t>
            </a:r>
            <a:r>
              <a:rPr dirty="0">
                <a:solidFill>
                  <a:srgbClr val="83D8E0"/>
                </a:solidFill>
              </a:rPr>
              <a:t>return</a:t>
            </a:r>
            <a:r>
              <a:rPr dirty="0"/>
              <a:t> </a:t>
            </a:r>
            <a:r>
              <a:rPr dirty="0">
                <a:solidFill>
                  <a:srgbClr val="F0D2AA"/>
                </a:solidFill>
              </a:rPr>
              <a:t>f"{type(self).__name__}(name={</a:t>
            </a:r>
            <a:r>
              <a:rPr dirty="0" err="1">
                <a:solidFill>
                  <a:srgbClr val="F0D2AA"/>
                </a:solidFill>
              </a:rPr>
              <a:t>self.name!r</a:t>
            </a:r>
            <a:r>
              <a:rPr dirty="0">
                <a:solidFill>
                  <a:srgbClr val="F0D2AA"/>
                </a:solidFill>
              </a:rPr>
              <a:t>}, age={</a:t>
            </a:r>
            <a:r>
              <a:rPr dirty="0" err="1">
                <a:solidFill>
                  <a:srgbClr val="F0D2AA"/>
                </a:solidFill>
              </a:rPr>
              <a:t>self.age!r</a:t>
            </a:r>
            <a:r>
              <a:rPr dirty="0">
                <a:solidFill>
                  <a:srgbClr val="F0D2AA"/>
                </a:solidFill>
              </a:rPr>
              <a:t>})"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CD4B9639-BD10-446B-9472-6676F4031E1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print(student): Олена: 18 років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repr(student): Student(name='Олена', age=18)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892CA-8CA1-4F44-B26B-EA5F26C34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004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42A8230-DAF7-48E6-A9FE-9A6A6B0FE2BB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Довжина курсу має зрозумілий зміст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596C889D-6F9E-4F22-ABC9-7F441E1C74A5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ru-RU"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У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Course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EDB385A8-4E99-4E31-9ABE-B002ED5DA373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10820400" cy="819650"/>
          </a:xfrm>
          <a:prstGeom prst="roundRect">
            <a:avLst>
              <a:gd name="adj" fmla="val 13945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__len__(self):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len(self.students)</a:t>
            </a:r>
          </a:p>
        </p:txBody>
      </p:sp>
      <p:sp>
        <p:nvSpPr>
          <p:cNvPr id="5" name="instruction-1">
            <a:extLst>
              <a:ext uri="{FF2B5EF4-FFF2-40B4-BE49-F238E27FC236}">
                <a16:creationId xmlns:a16="http://schemas.microsoft.com/office/drawing/2014/main" id="{6B4592C9-6000-4807-B0C6-1C79B39EDF80}"/>
              </a:ext>
            </a:extLst>
          </p:cNvPr>
          <p:cNvSpPr>
            <a:spLocks noGrp="1"/>
          </p:cNvSpPr>
          <p:nvPr/>
        </p:nvSpPr>
        <p:spPr>
          <a:xfrm>
            <a:off x="857250" y="295325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 класів виконайте:</a:t>
            </a:r>
          </a:p>
        </p:txBody>
      </p:sp>
      <p:sp>
        <p:nvSpPr>
          <p:cNvPr id="6" name="python-2">
            <a:extLst>
              <a:ext uri="{FF2B5EF4-FFF2-40B4-BE49-F238E27FC236}">
                <a16:creationId xmlns:a16="http://schemas.microsoft.com/office/drawing/2014/main" id="{9FE78422-E79F-4BEB-BDF2-B1650982D542}"/>
              </a:ext>
            </a:extLst>
          </p:cNvPr>
          <p:cNvSpPr>
            <a:spLocks noGrp="1"/>
          </p:cNvSpPr>
          <p:nvPr/>
        </p:nvSpPr>
        <p:spPr>
          <a:xfrm>
            <a:off x="685800" y="3267575"/>
            <a:ext cx="10820400" cy="1315451"/>
          </a:xfrm>
          <a:prstGeom prst="roundRect">
            <a:avLst>
              <a:gd name="adj" fmla="val 8689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course = Course(</a:t>
            </a:r>
            <a:r>
              <a:rPr>
                <a:solidFill>
                  <a:srgbClr val="F0D2AA"/>
                </a:solidFill>
              </a:rPr>
              <a:t>"Python"</a:t>
            </a:r>
            <a:r>
              <a:t>, Educator(</a:t>
            </a:r>
            <a:r>
              <a:rPr>
                <a:solidFill>
                  <a:srgbClr val="F0D2AA"/>
                </a:solidFill>
              </a:rPr>
              <a:t>"Марія"</a:t>
            </a:r>
            <a:r>
              <a:t>, 32, </a:t>
            </a:r>
            <a:r>
              <a:rPr>
                <a:solidFill>
                  <a:srgbClr val="F0D2AA"/>
                </a:solidFill>
              </a:rPr>
              <a:t>"Python"</a:t>
            </a:r>
            <a:r>
              <a:t>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print(len(course))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course.enroll(Student(</a:t>
            </a:r>
            <a:r>
              <a:rPr>
                <a:solidFill>
                  <a:srgbClr val="F0D2AA"/>
                </a:solidFill>
              </a:rPr>
              <a:t>"Олена"</a:t>
            </a:r>
            <a:r>
              <a:t>, 18))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print(len(course))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B707DAF3-6BBC-4D30-A5AA-33D72941F0B4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Очікуємо 0 та 1. Довжина курсу означає кількість студентів.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37D87-D2FA-477F-9E7B-BCF6DC417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94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E288A9-7D71-4689-AE85-3CB6EC237105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Рівність значень на прикладі Money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CD337473-CA16-402F-BD54-8B6CF4F6AD08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Новий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файл. Цілі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гривні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,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одна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валюта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F60C2393-587C-4781-94C1-9753C6E7B543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10820400" cy="3050751"/>
          </a:xfrm>
          <a:prstGeom prst="roundRect">
            <a:avLst>
              <a:gd name="adj" fmla="val 3747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class</a:t>
            </a:r>
            <a:r>
              <a:t> Money: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__init__(self, amount):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self.amount = 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__eq__(self, other):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isinstance(other, Money):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NotImplemented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self.amount == other.amount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print(Money(50) == Money(50))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print(Money(50) == Money(30))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EC5A5726-2D27-4681-ABFB-461C79890575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Очікуємо True та False. __eq__ порівнює значення сум.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B1C28-BACE-4796-8BD2-8CD529433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71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6F3736-3521-401F-985B-96744D7D7238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Додавання повертає нову суму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EDE75BBC-C42C-421A-818F-DFCE102B2AE6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lang="uk-UA"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В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Money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 __eq__ </a:t>
            </a:r>
            <a:r>
              <a:rPr sz="1500" b="0" dirty="0" err="1">
                <a:solidFill>
                  <a:srgbClr val="BAD5D8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500" b="0" dirty="0">
                <a:solidFill>
                  <a:srgbClr val="BAD5D8"/>
                </a:solidFill>
                <a:latin typeface="Onest"/>
                <a:ea typeface="Onest"/>
                <a:cs typeface="Onest"/>
              </a:rPr>
              <a:t>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023AAD7E-30F0-4FC6-849B-BF854B54F3EC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10820400" cy="1315451"/>
          </a:xfrm>
          <a:prstGeom prst="roundRect">
            <a:avLst>
              <a:gd name="adj" fmla="val 8689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def</a:t>
            </a:r>
            <a:r>
              <a:t> __add__(self, other):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if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</a:t>
            </a:r>
            <a:r>
              <a:t> isinstance(other, Money):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</a:t>
            </a:r>
            <a:r>
              <a:rPr>
                <a:solidFill>
                  <a:srgbClr val="83D8E0"/>
                </a:solidFill>
              </a:rPr>
              <a:t>NotImplemented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Money(self.amount + other.amount)</a:t>
            </a:r>
          </a:p>
        </p:txBody>
      </p:sp>
      <p:sp>
        <p:nvSpPr>
          <p:cNvPr id="5" name="instruction-1">
            <a:extLst>
              <a:ext uri="{FF2B5EF4-FFF2-40B4-BE49-F238E27FC236}">
                <a16:creationId xmlns:a16="http://schemas.microsoft.com/office/drawing/2014/main" id="{EC6B73AD-5F84-4659-BDAD-0914DDFA8CB8}"/>
              </a:ext>
            </a:extLst>
          </p:cNvPr>
          <p:cNvSpPr>
            <a:spLocks noGrp="1"/>
          </p:cNvSpPr>
          <p:nvPr/>
        </p:nvSpPr>
        <p:spPr>
          <a:xfrm>
            <a:off x="857250" y="3449051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Після класу перевірте:</a:t>
            </a:r>
          </a:p>
        </p:txBody>
      </p:sp>
      <p:sp>
        <p:nvSpPr>
          <p:cNvPr id="6" name="python-2">
            <a:extLst>
              <a:ext uri="{FF2B5EF4-FFF2-40B4-BE49-F238E27FC236}">
                <a16:creationId xmlns:a16="http://schemas.microsoft.com/office/drawing/2014/main" id="{6628D150-C620-4708-AC4F-FC806A93F900}"/>
              </a:ext>
            </a:extLst>
          </p:cNvPr>
          <p:cNvSpPr>
            <a:spLocks noGrp="1"/>
          </p:cNvSpPr>
          <p:nvPr/>
        </p:nvSpPr>
        <p:spPr>
          <a:xfrm>
            <a:off x="685800" y="3763376"/>
            <a:ext cx="10820400" cy="1315451"/>
          </a:xfrm>
          <a:prstGeom prst="roundRect">
            <a:avLst>
              <a:gd name="adj" fmla="val 8689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first, second = Money(50), Money(30)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total = first + second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print(type(total).__name__, total.amount)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print(first.amount, second.amount)</a:t>
            </a:r>
          </a:p>
        </p:txBody>
      </p:sp>
      <p:sp>
        <p:nvSpPr>
          <p:cNvPr id="7" name="takeaway">
            <a:extLst>
              <a:ext uri="{FF2B5EF4-FFF2-40B4-BE49-F238E27FC236}">
                <a16:creationId xmlns:a16="http://schemas.microsoft.com/office/drawing/2014/main" id="{2A81087E-954D-4244-9B5D-C5EB7E8D7A26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Очікуємо "Money 80" та "50 30". Доданки зберігають свої значення.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1419EC-7832-4879-8777-330BFC99C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151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10DBB9-D4A7-40C8-B39C-95C4CFF35CE1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Самостійно: читабельна модель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62552BA1-4DDA-4A42-B56A-19FF22A6D9D2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 __str__ для основної сутності.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907E937F-194E-4F21-A39A-E4E3DA14D00B}"/>
              </a:ext>
            </a:extLst>
          </p:cNvPr>
          <p:cNvSpPr>
            <a:spLocks noGrp="1"/>
          </p:cNvSpPr>
          <p:nvPr/>
        </p:nvSpPr>
        <p:spPr>
          <a:xfrm>
            <a:off x="857250" y="288607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 __len__ для контейнера або __eq__</a:t>
            </a:r>
          </a:p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для сутності з осмисленою рівністю.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3502E243-A3CD-44D6-B0F0-0199CC97E2F5}"/>
              </a:ext>
            </a:extLst>
          </p:cNvPr>
          <p:cNvSpPr>
            <a:spLocks noGrp="1"/>
          </p:cNvSpPr>
          <p:nvPr/>
        </p:nvSpPr>
        <p:spPr>
          <a:xfrm>
            <a:off x="857250" y="3819525"/>
            <a:ext cx="104775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Покажіть запуск фабрики та спільної поведінки.</a:t>
            </a:r>
          </a:p>
        </p:txBody>
      </p:sp>
      <p:sp>
        <p:nvSpPr>
          <p:cNvPr id="6" name="takeaway">
            <a:extLst>
              <a:ext uri="{FF2B5EF4-FFF2-40B4-BE49-F238E27FC236}">
                <a16:creationId xmlns:a16="http://schemas.microsoft.com/office/drawing/2014/main" id="{5BBBC67A-EE3B-45CD-943F-82D374EB0B66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показано очікуваний результат кожної операції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і помилковий ввід.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F0312B-2897-43E8-AA36-0BFF3B1B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17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AAEA946-CB38-4B50-9768-160D15636F7C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Що змінилося у вашій моделі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BBBB97C5-63F9-48F4-A64B-DACDC308DD6C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Який метод отримує self, а який cls?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40F2FF58-9939-462A-9C00-D0C1CCEA7B02}"/>
              </a:ext>
            </a:extLst>
          </p:cNvPr>
          <p:cNvSpPr>
            <a:spLocks noGrp="1"/>
          </p:cNvSpPr>
          <p:nvPr/>
        </p:nvSpPr>
        <p:spPr>
          <a:xfrm>
            <a:off x="857250" y="239077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Чому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ваш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цикл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приймає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різні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об'єкти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?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EC9C3594-C6E3-472B-AA7A-FEF1077D329D}"/>
              </a:ext>
            </a:extLst>
          </p:cNvPr>
          <p:cNvSpPr>
            <a:spLocks noGrp="1"/>
          </p:cNvSpPr>
          <p:nvPr/>
        </p:nvSpPr>
        <p:spPr>
          <a:xfrm>
            <a:off x="857250" y="2828925"/>
            <a:ext cx="10477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8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Який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зміст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має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ваш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magic-</a:t>
            </a:r>
            <a:r>
              <a:rPr sz="1800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метод</a:t>
            </a:r>
            <a:r>
              <a:rPr sz="1800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?</a:t>
            </a:r>
          </a:p>
        </p:txBody>
      </p:sp>
      <p:sp>
        <p:nvSpPr>
          <p:cNvPr id="6" name="takeaway">
            <a:extLst>
              <a:ext uri="{FF2B5EF4-FFF2-40B4-BE49-F238E27FC236}">
                <a16:creationId xmlns:a16="http://schemas.microsoft.com/office/drawing/2014/main" id="{45C88D37-EC31-44C2-BF39-903982C68836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Назвіть одну перевірку, яка виявила помилку.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Наступне заняття: HTTP, MVC/MVT та старт із Django.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31EF8D-1B4A-4208-9F14-93613D064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56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C93E4C7-A2A9-49F2-A2F0-A48EDD570BD5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Домашнє завдання: об'єктна модель</a:t>
            </a:r>
          </a:p>
        </p:txBody>
      </p:sp>
      <p:sp>
        <p:nvSpPr>
          <p:cNvPr id="3" name="item-1">
            <a:extLst>
              <a:ext uri="{FF2B5EF4-FFF2-40B4-BE49-F238E27FC236}">
                <a16:creationId xmlns:a16="http://schemas.microsoft.com/office/drawing/2014/main" id="{FE69D451-E9B9-47D8-9F3D-7D92B8C05B41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1. Завершіть модель власного кейсу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та покажіть поліморфний сценарій.</a:t>
            </a:r>
          </a:p>
        </p:txBody>
      </p:sp>
      <p:sp>
        <p:nvSpPr>
          <p:cNvPr id="4" name="item-2">
            <a:extLst>
              <a:ext uri="{FF2B5EF4-FFF2-40B4-BE49-F238E27FC236}">
                <a16:creationId xmlns:a16="http://schemas.microsoft.com/office/drawing/2014/main" id="{6FE43927-F407-466A-A676-96EC3F95724C}"/>
              </a:ext>
            </a:extLst>
          </p:cNvPr>
          <p:cNvSpPr>
            <a:spLocks noGrp="1"/>
          </p:cNvSpPr>
          <p:nvPr/>
        </p:nvSpPr>
        <p:spPr>
          <a:xfrm>
            <a:off x="857250" y="2617198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2.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__str__ і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ще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один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доречний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magic-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метод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5" name="item-3">
            <a:extLst>
              <a:ext uri="{FF2B5EF4-FFF2-40B4-BE49-F238E27FC236}">
                <a16:creationId xmlns:a16="http://schemas.microsoft.com/office/drawing/2014/main" id="{3AA8AE51-37F0-4BD7-9126-F04162EECEA5}"/>
              </a:ext>
            </a:extLst>
          </p:cNvPr>
          <p:cNvSpPr>
            <a:spLocks noGrp="1"/>
          </p:cNvSpPr>
          <p:nvPr/>
        </p:nvSpPr>
        <p:spPr>
          <a:xfrm>
            <a:off x="857250" y="3076576"/>
            <a:ext cx="10477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3.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Реалізуйте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from_dict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через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classmethod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і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статичну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перевірку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  <a:p>
            <a:pPr algn="l">
              <a:lnSpc>
                <a:spcPct val="114000"/>
              </a:lnSpc>
              <a:buNone/>
              <a:defRPr sz="1725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Покажіть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дочірній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об'єкт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та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помилковий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63740"/>
                </a:solidFill>
                <a:latin typeface="Onest"/>
                <a:ea typeface="Onest"/>
                <a:cs typeface="Onest"/>
              </a:rPr>
              <a:t>ввід</a:t>
            </a:r>
            <a:r>
              <a:rPr sz="1725" b="0" dirty="0">
                <a:solidFill>
                  <a:srgbClr val="163740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6" name="takeaway">
            <a:extLst>
              <a:ext uri="{FF2B5EF4-FFF2-40B4-BE49-F238E27FC236}">
                <a16:creationId xmlns:a16="http://schemas.microsoft.com/office/drawing/2014/main" id="{4C2C7087-C234-46FE-AF98-002EA42D0FB6}"/>
              </a:ext>
            </a:extLst>
          </p:cNvPr>
          <p:cNvSpPr>
            <a:spLocks noGrp="1"/>
          </p:cNvSpPr>
          <p:nvPr/>
        </p:nvSpPr>
        <p:spPr>
          <a:xfrm>
            <a:off x="857250" y="57721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Результат для здавання: Python-файл із рішенням.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4E96E8-59F0-4A52-96A5-106921749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0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8D1772-76E0-41BD-9C37-AE195C6C97E2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Резерв: фабрика ще одного різновиду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0FBC869B-9943-484E-9725-36D37CDE8660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Додайте ще один осмислений різновид власної базової сутності.</a:t>
            </a:r>
          </a:p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Створіть його через from_dict.</a:t>
            </a: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BC690E3F-5FCF-45F5-892E-15F2CAA9C6E8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тип результату відповідає різновиду,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усі обов'язкові поля заповнені.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6025FF-65B9-4AD9-98DB-2CAC3372D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768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38049AB-1AEE-4305-A4AC-ED60DAB3C429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Резерв: повніший діагностичний опис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D840783A-BDDB-4877-91AA-56301356A08E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У Educator визначте власний __repr__ із name, age та speciality.</a:t>
            </a: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2BACB562-7FB1-4D4A-9BC0-8CCCD79F1F13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repr містить усі три поля,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а print зберігає зрозумілий опис людини.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A5E18-B04E-4EC0-B653-C9D968030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5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E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97425E1-9940-4CB6-A89A-89A346A0DF62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3000" b="1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3000" b="1">
                <a:solidFill>
                  <a:srgbClr val="163740"/>
                </a:solidFill>
                <a:latin typeface="Onest"/>
                <a:ea typeface="Onest"/>
                <a:cs typeface="Onest"/>
              </a:rPr>
              <a:t>Резерв: межі додавання</a:t>
            </a:r>
          </a:p>
        </p:txBody>
      </p:sp>
      <p:sp>
        <p:nvSpPr>
          <p:cNvPr id="3" name="intro">
            <a:extLst>
              <a:ext uri="{FF2B5EF4-FFF2-40B4-BE49-F238E27FC236}">
                <a16:creationId xmlns:a16="http://schemas.microsoft.com/office/drawing/2014/main" id="{7C4596EA-4728-4114-9BAC-803DEDFE4092}"/>
              </a:ext>
            </a:extLst>
          </p:cNvPr>
          <p:cNvSpPr>
            <a:spLocks noGrp="1"/>
          </p:cNvSpPr>
          <p:nvPr/>
        </p:nvSpPr>
        <p:spPr>
          <a:xfrm>
            <a:off x="857250" y="1885950"/>
            <a:ext cx="10477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defPPr>
            <a:lvl1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1pPr>
            <a:lvl2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2pPr>
            <a:lvl3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3pPr>
            <a:lvl4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4pPr>
            <a:lvl5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5pPr>
            <a:lvl6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6pPr>
            <a:lvl7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7pPr>
            <a:lvl8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8pPr>
            <a:lvl9pPr algn="l"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У money_demo.py порівняйте Money(50) + Money(30)</a:t>
            </a:r>
          </a:p>
          <a:p>
            <a:pPr algn="l">
              <a:lnSpc>
                <a:spcPct val="114000"/>
              </a:lnSpc>
              <a:buNone/>
              <a:defRPr sz="2000" b="0">
                <a:solidFill>
                  <a:srgbClr val="163740"/>
                </a:solidFill>
                <a:latin typeface="Onest"/>
                <a:ea typeface="Onest"/>
                <a:cs typeface="Onest"/>
              </a:defRPr>
            </a:pPr>
            <a:r>
              <a:rPr sz="2000" b="0">
                <a:solidFill>
                  <a:srgbClr val="163740"/>
                </a:solidFill>
                <a:latin typeface="Onest"/>
                <a:ea typeface="Onest"/>
                <a:cs typeface="Onest"/>
              </a:rPr>
              <a:t>та Money(50) + 10. Перехопіть очікуваний TypeError.</a:t>
            </a:r>
          </a:p>
        </p:txBody>
      </p:sp>
      <p:sp>
        <p:nvSpPr>
          <p:cNvPr id="4" name="takeaway">
            <a:extLst>
              <a:ext uri="{FF2B5EF4-FFF2-40B4-BE49-F238E27FC236}">
                <a16:creationId xmlns:a16="http://schemas.microsoft.com/office/drawing/2014/main" id="{4F88FC6D-7152-42AA-B72F-B13B8EEA436C}"/>
              </a:ext>
            </a:extLst>
          </p:cNvPr>
          <p:cNvSpPr>
            <a:spLocks noGrp="1"/>
          </p:cNvSpPr>
          <p:nvPr/>
        </p:nvSpPr>
        <p:spPr>
          <a:xfrm>
            <a:off x="857250" y="552450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defPPr>
            <a:lvl1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1pPr>
            <a:lvl2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2pPr>
            <a:lvl3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3pPr>
            <a:lvl4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4pPr>
            <a:lvl5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5pPr>
            <a:lvl6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6pPr>
            <a:lvl7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7pPr>
            <a:lvl8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8pPr>
            <a:lvl9pPr algn="l"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Готово, якщо перша операція дає новий Money(80),</a:t>
            </a:r>
          </a:p>
          <a:p>
            <a:pPr algn="l">
              <a:lnSpc>
                <a:spcPct val="114000"/>
              </a:lnSpc>
              <a:buNone/>
              <a:defRPr sz="1575" b="0">
                <a:solidFill>
                  <a:srgbClr val="006A75"/>
                </a:solidFill>
                <a:latin typeface="Onest"/>
                <a:ea typeface="Onest"/>
                <a:cs typeface="Onest"/>
              </a:defRPr>
            </a:pPr>
            <a:r>
              <a:rPr sz="1575" b="0">
                <a:solidFill>
                  <a:srgbClr val="006A75"/>
                </a:solidFill>
                <a:latin typeface="Onest"/>
                <a:ea typeface="Onest"/>
                <a:cs typeface="Onest"/>
              </a:rPr>
              <a:t>друга повідомляє про непідтримувану операцію. Доданки не змінюються.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3D737-EA79-4E6F-A6F0-5CA100A51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70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7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AC04F76-2C0D-4D55-8C80-836B445AE073}"/>
              </a:ext>
            </a:extLst>
          </p:cNvPr>
          <p:cNvSpPr>
            <a:spLocks noGrp="1"/>
          </p:cNvSpPr>
          <p:nvPr/>
        </p:nvSpPr>
        <p:spPr>
          <a:xfrm>
            <a:off x="857250" y="533400"/>
            <a:ext cx="104775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defPPr>
            <a:lvl1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1pPr>
            <a:lvl2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2pPr>
            <a:lvl3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3pPr>
            <a:lvl4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4pPr>
            <a:lvl5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5pPr>
            <a:lvl6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6pPr>
            <a:lvl7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7pPr>
            <a:lvl8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8pPr>
            <a:lvl9pPr algn="l"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2700" b="1">
                <a:solidFill>
                  <a:srgbClr val="F3FAF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3FAFB"/>
                </a:solidFill>
                <a:latin typeface="Onest"/>
                <a:ea typeface="Onest"/>
                <a:cs typeface="Onest"/>
              </a:rPr>
              <a:t>Резерв: міксин і пошук методу</a:t>
            </a:r>
          </a:p>
        </p:txBody>
      </p:sp>
      <p:sp>
        <p:nvSpPr>
          <p:cNvPr id="3" name="instruction">
            <a:extLst>
              <a:ext uri="{FF2B5EF4-FFF2-40B4-BE49-F238E27FC236}">
                <a16:creationId xmlns:a16="http://schemas.microsoft.com/office/drawing/2014/main" id="{25714A13-AB00-4D4F-8EA2-795817DE5070}"/>
              </a:ext>
            </a:extLst>
          </p:cNvPr>
          <p:cNvSpPr>
            <a:spLocks noGrp="1"/>
          </p:cNvSpPr>
          <p:nvPr/>
        </p:nvSpPr>
        <p:spPr>
          <a:xfrm>
            <a:off x="857250" y="1533525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Окремий файл mixin_demo.py:</a:t>
            </a:r>
          </a:p>
        </p:txBody>
      </p:sp>
      <p:sp>
        <p:nvSpPr>
          <p:cNvPr id="4" name="python-1">
            <a:extLst>
              <a:ext uri="{FF2B5EF4-FFF2-40B4-BE49-F238E27FC236}">
                <a16:creationId xmlns:a16="http://schemas.microsoft.com/office/drawing/2014/main" id="{110B6382-401D-41E8-8333-4842BDEDDE6C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10820400" cy="3546552"/>
          </a:xfrm>
          <a:prstGeom prst="roundRect">
            <a:avLst>
              <a:gd name="adj" fmla="val 3223"/>
            </a:avLst>
          </a:prstGeom>
          <a:solidFill>
            <a:srgbClr val="254E59"/>
          </a:solidFill>
          <a:ln w="0">
            <a:noFill/>
          </a:ln>
        </p:spPr>
        <p:txBody>
          <a:bodyPr wrap="none" lIns="171450" tIns="114300" rIns="171450" bIns="114300" anchor="t">
            <a:noAutofit/>
          </a:bodyPr>
          <a:lstStyle>
            <a:def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defPPr>
            <a:lvl1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class</a:t>
            </a:r>
            <a:r>
              <a:t> Named: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describe(self):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</a:t>
            </a:r>
            <a:r>
              <a:rPr>
                <a:solidFill>
                  <a:srgbClr val="F0D2AA"/>
                </a:solidFill>
              </a:rPr>
              <a:t>"Базовий опис"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class</a:t>
            </a:r>
            <a:r>
              <a:t> LabelMixin: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def</a:t>
            </a:r>
            <a:r>
              <a:t> describe(self):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    </a:t>
            </a:r>
            <a:r>
              <a:rPr>
                <a:solidFill>
                  <a:srgbClr val="83D8E0"/>
                </a:solidFill>
              </a:rPr>
              <a:t>return</a:t>
            </a:r>
            <a:r>
              <a:t> </a:t>
            </a:r>
            <a:r>
              <a:rPr>
                <a:solidFill>
                  <a:srgbClr val="F0D2AA"/>
                </a:solidFill>
              </a:rPr>
              <a:t>"Мітка: "</a:t>
            </a:r>
            <a:r>
              <a:t> + super().describe()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83D8E0"/>
                </a:solidFill>
              </a:rPr>
              <a:t>class</a:t>
            </a:r>
            <a:r>
              <a:t> LabeledItem(LabelMixin, Named):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   </a:t>
            </a:r>
            <a:r>
              <a:rPr>
                <a:solidFill>
                  <a:srgbClr val="83D8E0"/>
                </a:solidFill>
              </a:rPr>
              <a:t>pass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print(LabeledItem().describe())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AFB"/>
                </a:solidFill>
                <a:latin typeface="Courier New"/>
                <a:ea typeface="Courier New"/>
                <a:cs typeface="Courier New"/>
              </a:defRPr>
            </a:pPr>
            <a:r>
              <a:t>print([cls.__name__ </a:t>
            </a:r>
            <a:r>
              <a:rPr>
                <a:solidFill>
                  <a:srgbClr val="83D8E0"/>
                </a:solidFill>
              </a:rPr>
              <a:t>for</a:t>
            </a:r>
            <a:r>
              <a:t> cls </a:t>
            </a:r>
            <a:r>
              <a:rPr>
                <a:solidFill>
                  <a:srgbClr val="83D8E0"/>
                </a:solidFill>
              </a:rPr>
              <a:t>in</a:t>
            </a:r>
            <a:r>
              <a:t> LabeledItem.mro()])</a:t>
            </a:r>
          </a:p>
        </p:txBody>
      </p:sp>
      <p:sp>
        <p:nvSpPr>
          <p:cNvPr id="5" name="takeaway">
            <a:extLst>
              <a:ext uri="{FF2B5EF4-FFF2-40B4-BE49-F238E27FC236}">
                <a16:creationId xmlns:a16="http://schemas.microsoft.com/office/drawing/2014/main" id="{D2ABC040-9F05-4BB6-AD5F-45C0FB2A7403}"/>
              </a:ext>
            </a:extLst>
          </p:cNvPr>
          <p:cNvSpPr>
            <a:spLocks noGrp="1"/>
          </p:cNvSpPr>
          <p:nvPr/>
        </p:nvSpPr>
        <p:spPr>
          <a:xfrm>
            <a:off x="857250" y="5591175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defPPr>
            <a:lvl1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1pPr>
            <a:lvl2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2pPr>
            <a:lvl3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3pPr>
            <a:lvl4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4pPr>
            <a:lvl5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5pPr>
            <a:lvl6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6pPr>
            <a:lvl7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7pPr>
            <a:lvl8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8pPr>
            <a:lvl9pPr algn="l"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lvl9pPr>
          </a:lstStyle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Рядок: "Мітка: Базовий опис".</a:t>
            </a:r>
          </a:p>
          <a:p>
            <a:pPr algn="l">
              <a:lnSpc>
                <a:spcPct val="114000"/>
              </a:lnSpc>
              <a:buNone/>
              <a:defRPr sz="1500" b="0">
                <a:solidFill>
                  <a:srgbClr val="BAD5D8"/>
                </a:solidFill>
                <a:latin typeface="Onest"/>
                <a:ea typeface="Onest"/>
                <a:cs typeface="Onest"/>
              </a:defRPr>
            </a:pPr>
            <a:r>
              <a:rPr sz="1500" b="0">
                <a:solidFill>
                  <a:srgbClr val="BAD5D8"/>
                </a:solidFill>
                <a:latin typeface="Onest"/>
                <a:ea typeface="Onest"/>
                <a:cs typeface="Onest"/>
              </a:rPr>
              <a:t>Порядок: LabeledItem, LabelMixin, Named, object.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661F3-4B2A-4D98-934F-0ED42020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39450" y="561975"/>
            <a:ext cx="495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589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2635</TotalTime>
  <Words>7401</Words>
  <Application>Microsoft Macintosh PowerPoint</Application>
  <DocSecurity>0</DocSecurity>
  <PresentationFormat>Widescreen</PresentationFormat>
  <Paragraphs>451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Onest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Дмитро Штефан</cp:lastModifiedBy>
  <cp:revision>4</cp:revision>
  <dcterms:created xsi:type="dcterms:W3CDTF">2026-10-25T17:10:33Z</dcterms:created>
  <dcterms:modified xsi:type="dcterms:W3CDTF">2026-10-27T13:17:56Z</dcterms:modified>
</cp:coreProperties>
</file>