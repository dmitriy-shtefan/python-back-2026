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ступ" id="{C9CD5AF6-497E-7ED0-08F5-1ABE8D0B7E4B}">
          <p14:sldIdLst>
            <p14:sldId id="256"/>
          </p14:sldIdLst>
        </p14:section>
        <p14:section name="MVC" id="{92C76905-8595-EA40-DE84-7E3A63DD8D86}">
          <p14:sldIdLst>
            <p14:sldId id="257"/>
            <p14:sldId id="258"/>
            <p14:sldId id="259"/>
            <p14:sldId id="260"/>
          </p14:sldIdLst>
        </p14:section>
        <p14:section name="MVT" id="{28573C4A-8EFA-C146-CA47-9CFD2196EA90}">
          <p14:sldIdLst>
            <p14:sldId id="261"/>
            <p14:sldId id="262"/>
            <p14:sldId id="263"/>
          </p14:sldIdLst>
        </p14:section>
        <p14:section name="Завершення" id="{B9CF5A98-6576-9A76-0DEA-66FDD98407F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949"/>
  </p:normalViewPr>
  <p:slideViewPr>
    <p:cSldViewPr snapToGrid="0" snapToObjects="1">
      <p:cViewPr>
        <p:scale>
          <a:sx n="150" d="100"/>
          <a:sy n="150" d="100"/>
        </p:scale>
        <p:origin x="90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189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7 хв (7 хв)
Перші 2 хв привітайтеся, перевірте звук, демонстрацію, читабельність і камери, відмітьте присутніх. </a:t>
            </a:r>
            <a:r>
              <a:rPr lang="en-US" dirty="0" err="1"/>
              <a:t>Назвіть</a:t>
            </a:r>
            <a:r>
              <a:rPr lang="en-US" dirty="0"/>
              <a:t> </a:t>
            </a:r>
            <a:r>
              <a:rPr lang="en-US" dirty="0" err="1"/>
              <a:t>порядок</a:t>
            </a:r>
            <a:r>
              <a:rPr lang="en-US" dirty="0"/>
              <a:t> </a:t>
            </a:r>
            <a:r>
              <a:rPr lang="uk-UA" dirty="0"/>
              <a:t>роботи</a:t>
            </a:r>
            <a:r>
              <a:rPr lang="en-US" dirty="0"/>
              <a:t>: короткий розбір MVC, 25 хвилин самостійної роботи, потім викладацький приклад MVT.
2 хв на </a:t>
            </a:r>
            <a:r>
              <a:rPr lang="en-US" dirty="0" err="1"/>
              <a:t>фідбек</a:t>
            </a:r>
            <a:r>
              <a:rPr lang="en-US" dirty="0"/>
              <a:t> </a:t>
            </a:r>
            <a:r>
              <a:rPr lang="uk-UA" dirty="0"/>
              <a:t>по </a:t>
            </a:r>
            <a:r>
              <a:rPr lang="uk-UA" dirty="0" err="1"/>
              <a:t>дз</a:t>
            </a:r>
            <a:r>
              <a:rPr lang="en-US" dirty="0"/>
              <a:t>. Покажіть один завчасно переглянутий фрагмент і назвіть конкретну сильну сторону. Типову </a:t>
            </a:r>
            <a:r>
              <a:rPr lang="en-US" dirty="0" err="1"/>
              <a:t>помилку</a:t>
            </a:r>
            <a:r>
              <a:rPr lang="en-US" dirty="0"/>
              <a:t> </a:t>
            </a:r>
            <a:r>
              <a:rPr lang="en-US" dirty="0" err="1"/>
              <a:t>поясніть</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8 хв (15 хв)
2 хв на проблему: один великий фрагмент одночасно додає книги, перевіряє назви й формує текст. </a:t>
            </a:r>
            <a:endParaRPr lang="uk-UA" dirty="0"/>
          </a:p>
          <a:p>
            <a:r>
              <a:rPr lang="en-US" dirty="0" err="1"/>
              <a:t>Запитайте</a:t>
            </a:r>
            <a:r>
              <a:rPr lang="en-US" dirty="0"/>
              <a:t>, що станеться, якщо перевірку назви сховати в друці списку. </a:t>
            </a:r>
            <a:endParaRPr lang="uk-UA" dirty="0"/>
          </a:p>
          <a:p>
            <a:r>
              <a:rPr lang="en-US" dirty="0" err="1"/>
              <a:t>Очікуємо</a:t>
            </a:r>
            <a:r>
              <a:rPr lang="en-US" dirty="0"/>
              <a:t>: інший шлях додавання може обійти правило. Патерн допомагає розподілити обов'язки; сам факт його використання не гарантує якості.
3 хв розберіть таблицю. У нашому прикладі BooksModel зберігає список і відхиляє порожню назву; BooksConsoleView формує рядок; BooksController координує дії. Достатньо трьох класів в одному навчальному файлі. Поділ на файли сам по собі не створює правильних меж відповідальності.
2 хв дайте всім три короткі ситуації для усної відповіді: </a:t>
            </a:r>
            <a:endParaRPr lang="uk-UA" dirty="0"/>
          </a:p>
          <a:p>
            <a:r>
              <a:rPr lang="uk-UA" dirty="0"/>
              <a:t>-</a:t>
            </a:r>
            <a:r>
              <a:rPr lang="en-US" dirty="0" err="1"/>
              <a:t>перевірити</a:t>
            </a:r>
            <a:r>
              <a:rPr lang="en-US" dirty="0"/>
              <a:t> порожню назву, </a:t>
            </a:r>
            <a:endParaRPr lang="uk-UA" dirty="0"/>
          </a:p>
          <a:p>
            <a:r>
              <a:rPr lang="uk-UA" dirty="0"/>
              <a:t>-</a:t>
            </a:r>
            <a:r>
              <a:rPr lang="en-US" dirty="0" err="1"/>
              <a:t>змінити</a:t>
            </a:r>
            <a:r>
              <a:rPr lang="en-US" dirty="0"/>
              <a:t> розділювач, </a:t>
            </a:r>
            <a:endParaRPr lang="uk-UA" dirty="0"/>
          </a:p>
          <a:p>
            <a:r>
              <a:rPr lang="uk-UA" dirty="0"/>
              <a:t>-</a:t>
            </a:r>
            <a:r>
              <a:rPr lang="en-US" dirty="0"/>
              <a:t>за дією показу отримати дані й передати їх поданню. </a:t>
            </a:r>
            <a:endParaRPr lang="uk-UA" dirty="0"/>
          </a:p>
          <a:p>
            <a:r>
              <a:rPr lang="en-US" dirty="0" err="1"/>
              <a:t>Очікуємо</a:t>
            </a:r>
            <a:r>
              <a:rPr lang="en-US" dirty="0"/>
              <a:t> відповідно Model, View, Controller. За мовчання запитайте, чи дія визначає правило даних, вигляд або послідовність викликів.
1 хв уточніть: модель не обов'язково є базою даних, у нас це список у пам'яті. Послідовність викликів описує обраний навчальний MVC-приклад, а не всі можливі реалізації патерну. MVC та MVT розглядаємо як архітектурні підходи; історію й каталог патернів GoF окремо не розгортаємо.</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8 хв (23 хв)
Працюйте з готовою основою з додатка А. Це розбір двох класів у редакторі, повний файл на слайд не переносимо. Студенти відкривають той самий код, знаходять зазначені методи й можуть повторювати показаний запуск. 3 хв присвятіть моделі, 2 хв поданню, 3 хв прогнозам і перевірці.
У BooksModel покажіть strip, перевірку перед append і get_books із copy. Назви у цій вправі вже є рядками, довільні типи не перевіряємо. Для короткої демонстрації викладач запускає фрагмент зі слайда окремо від основного нижнього блоку. Не додавайте другий демонстраційний блок у студентський файл.
Покажіть знайомий render: порожній список дає "Книг поки немає", непорожній дає по одному рядку з дефісом. return повертає текст, зовнішній print показує його. Перед запуском кожен прогнозує результат для однієї книги та нового порожнього об'єкта.
У викладацькій консолі спробуйте model.add_book("   ") у try/except ValueError. Очікуємо "Порожня назва", раніше додані книги залишаються. Поясніть: copy повертає новий список; це допомагає не передати внутрішній список моделі напряму. Це не універсальний захист від усіх змін об'єкта.
Типові труднощі: None у виводі через print замість return; AttributeError через book замість books; неправильний результат через append до перевірки. Покажіть відповідні рядки та перевірте повторний запуск у тих, кому знадобилася допомога.</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7 хв (30 хв)
2 хв простежте конструктор і два методи. Це третій окремий клас на тому самому рівні відступів, не клас усередині View. Контролер використовує передані об'єкти, не успадковує їх і не створює другий список книг.
2 хв разом запустіть готовий </a:t>
            </a:r>
            <a:r>
              <a:rPr lang="en-US" dirty="0" err="1"/>
              <a:t>нижній</a:t>
            </a:r>
            <a:r>
              <a:rPr lang="en-US" dirty="0"/>
              <a:t> </a:t>
            </a:r>
            <a:r>
              <a:rPr lang="en-US" dirty="0" err="1"/>
              <a:t>блок</a:t>
            </a:r>
            <a:r>
              <a:rPr lang="en-US" dirty="0"/>
              <a:t>: спочатку порожній показ, потім додавання "Кобзар" та "Місто" через контролер, потім повторний показ. Очікуємо:
Книг поки немає
- Кобзар
- Місто
3 хв на перевірку запуску кожного й пояснення ланцюжка show_books, get_books, render, зовнішній print. Запитайте: "[Ім'я], який метод відхиляє порожню назву?" Очікуємо BooksModel.add_book. Для показу іншого формату потрібна зміна подання, а не правила моделі.
Типові помилки: передано клас BooksModel замість екземпляра BooksModel(); у show_books створюється нова порожня модель замість використання self.model; пропущено return; збито відступи. За технічної проблеми відновіть стартовий файл. Методи підрахунку поки не показуйте, вони є зміною для єдиної самостійної роботи.</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25 хв (55 хв)
К2. Це єдина самостійна практична робота пари. 2 хв на розуміння умови й план, 16 хв на написання коду та допомогу, 5 хв на завершальний перегляд кожного, 2 хв на короткий розбір. Не заповнюйте ці 25 хвилин лекцією: під час роботи викладач переглядає проміжні результати й відповідає на питання. Рішення з додатка В до спроби не відкривайте.
Початковий стан: робочий mvc_demo.py зі слайда 4. Додайте по одному методу всередину відповідного класу після наявних методів. Збережіть конструктори, add_book, get_books, render та show_books. У нижньому демонстраційному блоці додайте print(controller.show_count()) до першого додавання і після додавання другої книги. Показ списку теж лишається.
Перед набором кожен коротко записує, який тип результату повертають три нові методи: число, рядок, рядок. У середині роботи перевірте хоча б один завершений метод у кожного. Приблизно на 45-й хвилині заняття нагадайте, що до завершення блоку лишається 10 хвилин, і допоможіть дійти до мінімуму тим, хто ще не отримав перший результат.
Очікуваний фінальний вивід:
Книг поки немає
Книг: 0
- Кобзар
- Місто
Книг: 2
Кількість обчислюється зі списку, не зберігається окремим лічильником і не підміняється константою. Подання отримує готове число. Контролер звертається до методів об'єктів, не рахує через прямий доступ до model.books. Після допомоги студент повторно запускає порожній і заповнений випадки, викладач переглядає результат.
Підказки давайте поступово: де зберігається список; яка відома функція повертає його довжину; який метод має отримати число для оформлення; як повернути результат виклику. Якщо цього недостатньо, покажіть лише self.model.count_books(), без цілого рішення.
Типові помилки: None через відсутній return в одному з методів; модель повертає текст замість числа; число обчислюється всередині подання; значення завжди 2 через константу; метод вставлено поза класом. Пов'язуйте симптом із конкретним рядком. Для тих, хто завершив раніше, достатньо перевірити той самий метод із третьою книгою та пояснити шлях даних. Це додатковий випадок перевірки цієї самої роботи, окремого завдання не додавайте.
На завершальному перегляді попросіть кожного показати три нові методи й два значення кількості. Запитайте: "[Ім'я], чому інший напис кількості змінюється в поданні?" Очікуємо: число визначає модель, формулювання визначає подання. Зафіксуйте код, вивід і надану допомогу. Незавершений результат не записуйте як виконаний.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4 хв (59 хв)
2 хв поясніть таблицю без набору коду. У MVC-прикладі View формує вигляд. У MVT за вигляд відповідає Template, а View готує дані та відповідь. Правила предметної області залишаються біля даних, усю бізнес-логіку не потрібно переносити у View.
1 хв уточніть роль Django: фреймворк за URL-конфігурацією спрямовує запит до view, view визначає дані й відповідь, для HTML часто залучає шаблон. Контролер не просто зникає. MVT у матеріалі та MTV в офіційному поясненні називають ті самі три компоненти. 
1 хв запитайте усно: який компонент змінює оформлення, а який готує відповідь? Очікуємо відповідно Template і View. Студентам не потрібно відкривати новий файл. Викладач відкриває свій готовий mvt_demo.py з додатка Б. Це консольна аналогія, не готовий Django-застосунок: тут немає HTTP-запиту, ORM чи HTML-</a:t>
            </a:r>
            <a:r>
              <a:rPr lang="en-US" dirty="0" err="1"/>
              <a:t>шаблону</a:t>
            </a:r>
            <a:r>
              <a:rPr lang="en-US" dirty="0"/>
              <a:t>.</a:t>
            </a:r>
            <a:endParaRPr lang="uk-UA" dirty="0"/>
          </a:p>
          <a:p>
            <a:endParaRPr lang="uk-UA" dirty="0"/>
          </a:p>
          <a:p>
            <a:endParaRPr lang="uk-UA" dirty="0"/>
          </a:p>
          <a:p>
            <a:r>
              <a:rPr lang="uk-UA" dirty="0"/>
              <a:t>Резерв. За наявності часу.</a:t>
            </a:r>
            <a:endParaRPr lang="en-US" dirty="0"/>
          </a:p>
          <a:p>
            <a:r>
              <a:rPr lang="ru-RU" dirty="0"/>
              <a:t>Н</a:t>
            </a:r>
            <a:r>
              <a:rPr lang="uk-UA" dirty="0"/>
              <a:t>аписати </a:t>
            </a:r>
            <a:r>
              <a:rPr lang="en-US" dirty="0" err="1"/>
              <a:t>mvt_demo.py</a:t>
            </a:r>
            <a:endParaRPr lang="en-US" dirty="0"/>
          </a:p>
          <a:p>
            <a:r>
              <a:rPr lang="uk-UA" dirty="0"/>
              <a:t>Практика: студенти пишуть свій </a:t>
            </a:r>
            <a:r>
              <a:rPr lang="en-US" dirty="0"/>
              <a:t>Template.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7 хв (66 хв)
Увесь блок є демонстрацією викладача. Студенти спостерігають, прогнозують і відповідають усно; копіювання, дописування або запуск MVT-коду студентами не задаються.
Перші 2 хв покажіть готові BooksModel, BooksPageView та два класи шаблонів у редакторі. Model має ту саму відповідальність, що й у MVC. BooksPageView отримує список і передає шаблону. BooksTemplateList формує рядки з дефісами, BooksTemplateCompact поєднує назви через " | ". Повний код є в додатку Б, на слайді лише два фінальні виклики.
Наступні 2 хв перед запуском попросіть спрогнозувати вивід двох викликів зі слайда. У викладацькому файлі модель уже містить "Кобзар" і "Місто". Запустіть приклад, виділіть обидва формати й виконайте в консолі print(model.get_books()). Очікуємо ['Кобзар', 'Місто']. Дані не змінилися, шаблони повернули різний текст.
Ще 2 хв самі створіть у викладацькій консолі empty_page = BooksPageView(BooksModel()). Покажіть empty_page.render(BooksTemplateList()) та empty_page.render(BooksTemplateCompact()) через print. В обох випадках очікуємо "Книг поки немає". Залучіть двох студентів усно: "[Ім'я], хто отримує дані?", "[Ім'я], хто визначає розділювач?" Очікуємо View і Template.
Останню 1 хв поясніть межу аналогії. Тут шаблон є Python-об'єктом, переданим аргументом; у Django view зазвичай обирає файл шаблону у своєму коді. Django view може повернути відповідь і без шаблону. Жодного власного шаблону кількості чи іншої MVT-вправи на цій парі не додаємо.</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Тривалість: 3 хв (69 хв)
1 хв зіставте таблицю. Це порівняння двох навчальних реалізацій, не твердження, що Django View повністю дорівнює MVC Controller. Частину спрямування запиту виконує сам фреймворк.
1 хв усно простежте виклик із готової MVT-демонстрації: View отримує список від моделі, передає шаблону, шаблон повертає рядок, View повертає цей рядок, зовнішній print показує результат. Студенти нічого не набирають.
1 хв запитайте менш активних учасників: "[Ім'я], чи обов'язкова база даних для Model?" Очікуємо: ні. "[Ім'я], чи змінює інший шаблон правило порожньої назви?" Очікуємо: ні. Виправте хибні міркування на показаному прикладі перед тестом.</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rtlCol="0"/>
          <a:lstStyle>
            <a:lvl1pPr marL="0" indent="0" algn="l">
              <a:buNone/>
              <a:defRPr lang="en-US" sz="3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le M"/>
          <p:cNvSpPr/>
          <p:nvPr/>
        </p:nvSpPr>
        <p:spPr>
          <a:xfrm>
            <a:off x="8001000" y="1051560"/>
            <a:ext cx="1554480" cy="1554480"/>
          </a:xfrm>
          <a:prstGeom prst="roundRect">
            <a:avLst>
              <a:gd name="adj" fmla="val 18000"/>
            </a:avLst>
          </a:prstGeom>
          <a:solidFill>
            <a:schemeClr val="accent1"/>
          </a:solidFill>
          <a:ln/>
        </p:spPr>
        <p:txBody>
          <a:bodyPr/>
          <a:lstStyle/>
          <a:p>
            <a:endParaRPr lang="en-UA"/>
          </a:p>
        </p:txBody>
      </p:sp>
      <p:sp>
        <p:nvSpPr>
          <p:cNvPr id="3" name="Text 1"/>
          <p:cNvSpPr txBox="1"/>
          <p:nvPr/>
        </p:nvSpPr>
        <p:spPr>
          <a:xfrm>
            <a:off x="8001000" y="1051560"/>
            <a:ext cx="1554480" cy="1554480"/>
          </a:xfrm>
          <a:prstGeom prst="rect">
            <a:avLst/>
          </a:prstGeom>
          <a:noFill/>
          <a:ln/>
        </p:spPr>
        <p:txBody>
          <a:bodyPr wrap="square" lIns="0" tIns="0" rIns="0" bIns="0" rtlCol="0" anchor="ctr"/>
          <a:lstStyle/>
          <a:p>
            <a:pPr marL="0" indent="0" algn="ctr">
              <a:buNone/>
            </a:pPr>
            <a:r>
              <a:rPr lang="en-US" sz="5800" b="1" dirty="0">
                <a:solidFill>
                  <a:schemeClr val="bg1"/>
                </a:solidFill>
                <a:latin typeface="Cambria" pitchFamily="34" charset="0"/>
                <a:ea typeface="Cambria" pitchFamily="34" charset="-122"/>
                <a:cs typeface="Cambria" pitchFamily="34" charset="-120"/>
              </a:rPr>
              <a:t>M</a:t>
            </a:r>
            <a:endParaRPr lang="en-US" sz="5800" dirty="0"/>
          </a:p>
        </p:txBody>
      </p:sp>
      <p:sp>
        <p:nvSpPr>
          <p:cNvPr id="4" name="tile V"/>
          <p:cNvSpPr/>
          <p:nvPr/>
        </p:nvSpPr>
        <p:spPr>
          <a:xfrm>
            <a:off x="8732520" y="2697480"/>
            <a:ext cx="1554480" cy="1554480"/>
          </a:xfrm>
          <a:prstGeom prst="roundRect">
            <a:avLst>
              <a:gd name="adj" fmla="val 18000"/>
            </a:avLst>
          </a:prstGeom>
          <a:solidFill>
            <a:schemeClr val="accent2"/>
          </a:solidFill>
          <a:ln/>
        </p:spPr>
        <p:txBody>
          <a:bodyPr/>
          <a:lstStyle/>
          <a:p>
            <a:endParaRPr lang="en-UA"/>
          </a:p>
        </p:txBody>
      </p:sp>
      <p:sp>
        <p:nvSpPr>
          <p:cNvPr id="5" name="Text 3"/>
          <p:cNvSpPr txBox="1"/>
          <p:nvPr/>
        </p:nvSpPr>
        <p:spPr>
          <a:xfrm>
            <a:off x="8732520" y="2697480"/>
            <a:ext cx="1554480" cy="1554480"/>
          </a:xfrm>
          <a:prstGeom prst="rect">
            <a:avLst/>
          </a:prstGeom>
          <a:noFill/>
          <a:ln/>
        </p:spPr>
        <p:txBody>
          <a:bodyPr wrap="square" lIns="0" tIns="0" rIns="0" bIns="0" rtlCol="0" anchor="ctr"/>
          <a:lstStyle/>
          <a:p>
            <a:pPr marL="0" indent="0" algn="ctr">
              <a:buNone/>
            </a:pPr>
            <a:r>
              <a:rPr lang="en-US" sz="5800" b="1" dirty="0">
                <a:solidFill>
                  <a:schemeClr val="bg1"/>
                </a:solidFill>
                <a:latin typeface="Cambria" pitchFamily="34" charset="0"/>
                <a:ea typeface="Cambria" pitchFamily="34" charset="-122"/>
                <a:cs typeface="Cambria" pitchFamily="34" charset="-120"/>
              </a:rPr>
              <a:t>V</a:t>
            </a:r>
            <a:endParaRPr lang="en-US" sz="5800" dirty="0"/>
          </a:p>
        </p:txBody>
      </p:sp>
      <p:sp>
        <p:nvSpPr>
          <p:cNvPr id="6" name="tile C"/>
          <p:cNvSpPr/>
          <p:nvPr/>
        </p:nvSpPr>
        <p:spPr>
          <a:xfrm>
            <a:off x="9464040" y="4343400"/>
            <a:ext cx="1554480" cy="1554480"/>
          </a:xfrm>
          <a:prstGeom prst="roundRect">
            <a:avLst>
              <a:gd name="adj" fmla="val 18000"/>
            </a:avLst>
          </a:prstGeom>
          <a:solidFill>
            <a:schemeClr val="accent3"/>
          </a:solidFill>
          <a:ln/>
        </p:spPr>
        <p:txBody>
          <a:bodyPr/>
          <a:lstStyle/>
          <a:p>
            <a:endParaRPr lang="en-UA"/>
          </a:p>
        </p:txBody>
      </p:sp>
      <p:sp>
        <p:nvSpPr>
          <p:cNvPr id="7" name="Text 5"/>
          <p:cNvSpPr txBox="1"/>
          <p:nvPr/>
        </p:nvSpPr>
        <p:spPr>
          <a:xfrm>
            <a:off x="9464040" y="4343400"/>
            <a:ext cx="1554480" cy="1554480"/>
          </a:xfrm>
          <a:prstGeom prst="rect">
            <a:avLst/>
          </a:prstGeom>
          <a:noFill/>
          <a:ln/>
        </p:spPr>
        <p:txBody>
          <a:bodyPr wrap="square" lIns="0" tIns="0" rIns="0" bIns="0" rtlCol="0" anchor="ctr"/>
          <a:lstStyle/>
          <a:p>
            <a:pPr marL="0" indent="0" algn="ctr">
              <a:buNone/>
            </a:pPr>
            <a:r>
              <a:rPr lang="en-US" sz="5800" b="1" dirty="0">
                <a:solidFill>
                  <a:schemeClr val="bg1"/>
                </a:solidFill>
                <a:latin typeface="Cambria" pitchFamily="34" charset="0"/>
                <a:ea typeface="Cambria" pitchFamily="34" charset="-122"/>
                <a:cs typeface="Cambria" pitchFamily="34" charset="-120"/>
              </a:rPr>
              <a:t>C</a:t>
            </a:r>
            <a:endParaRPr lang="en-US" sz="5800" dirty="0"/>
          </a:p>
        </p:txBody>
      </p:sp>
      <p:sp>
        <p:nvSpPr>
          <p:cNvPr id="9" name="Text 7"/>
          <p:cNvSpPr txBox="1"/>
          <p:nvPr/>
        </p:nvSpPr>
        <p:spPr>
          <a:xfrm>
            <a:off x="548640" y="1188720"/>
            <a:ext cx="7132320" cy="914400"/>
          </a:xfrm>
          <a:prstGeom prst="rect">
            <a:avLst/>
          </a:prstGeom>
          <a:noFill/>
          <a:ln/>
        </p:spPr>
        <p:txBody>
          <a:bodyPr wrap="square" lIns="0" tIns="0" rIns="0" bIns="0" rtlCol="0" anchor="t"/>
          <a:lstStyle/>
          <a:p>
            <a:pPr marL="0" indent="0">
              <a:buNone/>
            </a:pPr>
            <a:r>
              <a:rPr lang="en-US" sz="5400" b="1" dirty="0">
                <a:solidFill>
                  <a:schemeClr val="bg1"/>
                </a:solidFill>
                <a:latin typeface="Cambria" pitchFamily="34" charset="0"/>
                <a:ea typeface="Cambria" pitchFamily="34" charset="-122"/>
                <a:cs typeface="Cambria" pitchFamily="34" charset="-120"/>
              </a:rPr>
              <a:t>Патерни MVC та MVT</a:t>
            </a:r>
            <a:endParaRPr lang="en-US" sz="5400" dirty="0"/>
          </a:p>
        </p:txBody>
      </p:sp>
      <p:sp>
        <p:nvSpPr>
          <p:cNvPr id="10" name="Text 8"/>
          <p:cNvSpPr txBox="1"/>
          <p:nvPr/>
        </p:nvSpPr>
        <p:spPr>
          <a:xfrm>
            <a:off x="548640" y="2240280"/>
            <a:ext cx="6949440" cy="457200"/>
          </a:xfrm>
          <a:prstGeom prst="rect">
            <a:avLst/>
          </a:prstGeom>
          <a:noFill/>
          <a:ln/>
        </p:spPr>
        <p:txBody>
          <a:bodyPr wrap="square" lIns="0" tIns="0" rIns="0" bIns="0" rtlCol="0" anchor="ctr"/>
          <a:lstStyle/>
          <a:p>
            <a:pPr marL="0" indent="0">
              <a:buNone/>
            </a:pPr>
            <a:r>
              <a:rPr lang="en-US" sz="2200" dirty="0">
                <a:solidFill>
                  <a:schemeClr val="accent5"/>
                </a:solidFill>
              </a:rPr>
              <a:t>Від класів Python до структури застосунку</a:t>
            </a:r>
            <a:endParaRPr lang="en-US" sz="2200" dirty="0"/>
          </a:p>
        </p:txBody>
      </p:sp>
      <p:sp>
        <p:nvSpPr>
          <p:cNvPr id="11" name="Text 9"/>
          <p:cNvSpPr txBox="1"/>
          <p:nvPr/>
        </p:nvSpPr>
        <p:spPr>
          <a:xfrm>
            <a:off x="548640" y="3246120"/>
            <a:ext cx="6766560" cy="13716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Розділити дані, </a:t>
            </a:r>
            <a:r>
              <a:rPr lang="en-US" sz="1800" dirty="0" err="1">
                <a:solidFill>
                  <a:schemeClr val="bg1"/>
                </a:solidFill>
              </a:rPr>
              <a:t>показ</a:t>
            </a:r>
            <a:r>
              <a:rPr lang="en-US" sz="1800" dirty="0">
                <a:solidFill>
                  <a:schemeClr val="bg1"/>
                </a:solidFill>
              </a:rPr>
              <a:t> і керування у MVC</a:t>
            </a:r>
            <a:endParaRPr lang="en-US" sz="1800" dirty="0"/>
          </a:p>
          <a:p>
            <a:pPr marL="342900" indent="-342900">
              <a:spcAft>
                <a:spcPts val="800"/>
              </a:spcAft>
              <a:buSzPct val="100000"/>
              <a:buChar char="•"/>
            </a:pPr>
            <a:r>
              <a:rPr lang="uk-UA" sz="1800" dirty="0" err="1">
                <a:solidFill>
                  <a:schemeClr val="bg1"/>
                </a:solidFill>
              </a:rPr>
              <a:t>Д</a:t>
            </a:r>
            <a:r>
              <a:rPr lang="en-US" sz="1800" dirty="0" err="1">
                <a:solidFill>
                  <a:schemeClr val="bg1"/>
                </a:solidFill>
              </a:rPr>
              <a:t>одати</a:t>
            </a:r>
            <a:r>
              <a:rPr lang="en-US" sz="1800" dirty="0">
                <a:solidFill>
                  <a:schemeClr val="bg1"/>
                </a:solidFill>
              </a:rPr>
              <a:t> нову дію до MVC-програми</a:t>
            </a:r>
            <a:endParaRPr lang="en-US" sz="1800" dirty="0"/>
          </a:p>
          <a:p>
            <a:pPr marL="342900" indent="-342900">
              <a:spcAft>
                <a:spcPts val="800"/>
              </a:spcAft>
              <a:buSzPct val="100000"/>
              <a:buChar char="•"/>
            </a:pPr>
            <a:r>
              <a:rPr lang="en-US" sz="1800" dirty="0">
                <a:solidFill>
                  <a:schemeClr val="bg1"/>
                </a:solidFill>
              </a:rPr>
              <a:t>Розпізнати ролі MVT у готовому прикладі</a:t>
            </a:r>
            <a:endParaRPr lang="en-US" sz="1800" dirty="0"/>
          </a:p>
        </p:txBody>
      </p:sp>
      <p:sp>
        <p:nvSpPr>
          <p:cNvPr id="12" name="Text 10"/>
          <p:cNvSpPr txBox="1"/>
          <p:nvPr/>
        </p:nvSpPr>
        <p:spPr>
          <a:xfrm>
            <a:off x="548640" y="5760720"/>
            <a:ext cx="6766560" cy="411480"/>
          </a:xfrm>
          <a:prstGeom prst="rect">
            <a:avLst/>
          </a:prstGeom>
          <a:noFill/>
          <a:ln/>
        </p:spPr>
        <p:txBody>
          <a:bodyPr wrap="square" lIns="0" tIns="0" rIns="0" bIns="0" rtlCol="0" anchor="ctr"/>
          <a:lstStyle/>
          <a:p>
            <a:pPr marL="0" indent="0">
              <a:buNone/>
            </a:pPr>
            <a:r>
              <a:rPr lang="en-US" sz="1600" i="1" dirty="0">
                <a:solidFill>
                  <a:schemeClr val="accent6"/>
                </a:solidFill>
              </a:rPr>
              <a:t>Один каталог може мати різні способи показу даних.</a:t>
            </a:r>
            <a:endParaRPr lang="en-US" sz="16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6"/>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MVC розділяє три відповідальності</a:t>
            </a:r>
            <a:endParaRPr lang="en-US" sz="3400" dirty="0"/>
          </a:p>
        </p:txBody>
      </p:sp>
      <p:sp>
        <p:nvSpPr>
          <p:cNvPr id="3" name="Text 1"/>
          <p:cNvSpPr txBox="1"/>
          <p:nvPr/>
        </p:nvSpPr>
        <p:spPr>
          <a:xfrm>
            <a:off x="548640" y="1188720"/>
            <a:ext cx="9144000" cy="411480"/>
          </a:xfrm>
          <a:prstGeom prst="rect">
            <a:avLst/>
          </a:prstGeom>
          <a:noFill/>
          <a:ln/>
        </p:spPr>
        <p:txBody>
          <a:bodyPr wrap="square" lIns="0" tIns="0" rIns="0" bIns="0" rtlCol="0" anchor="ctr"/>
          <a:lstStyle/>
          <a:p>
            <a:pPr marL="0" indent="0">
              <a:buNone/>
            </a:pPr>
            <a:r>
              <a:rPr lang="en-US" sz="1800" dirty="0">
                <a:solidFill>
                  <a:schemeClr val="tx2"/>
                </a:solidFill>
              </a:rPr>
              <a:t>Патерн описує повторюване рішення типової проблеми.</a:t>
            </a:r>
            <a:endParaRPr lang="en-US" sz="1800" dirty="0"/>
          </a:p>
        </p:txBody>
      </p:sp>
      <p:sp>
        <p:nvSpPr>
          <p:cNvPr id="4" name="card Model"/>
          <p:cNvSpPr/>
          <p:nvPr/>
        </p:nvSpPr>
        <p:spPr>
          <a:xfrm>
            <a:off x="548640" y="2011680"/>
            <a:ext cx="3429000" cy="3429000"/>
          </a:xfrm>
          <a:prstGeom prst="roundRect">
            <a:avLst>
              <a:gd name="adj" fmla="val 4000"/>
            </a:avLst>
          </a:prstGeom>
          <a:solidFill>
            <a:schemeClr val="bg2"/>
          </a:solidFill>
          <a:ln/>
        </p:spPr>
        <p:txBody>
          <a:bodyPr/>
          <a:lstStyle/>
          <a:p>
            <a:endParaRPr lang="en-UA"/>
          </a:p>
        </p:txBody>
      </p:sp>
      <p:sp>
        <p:nvSpPr>
          <p:cNvPr id="5" name="tile M"/>
          <p:cNvSpPr/>
          <p:nvPr/>
        </p:nvSpPr>
        <p:spPr>
          <a:xfrm>
            <a:off x="868680" y="2331720"/>
            <a:ext cx="914400" cy="914400"/>
          </a:xfrm>
          <a:prstGeom prst="roundRect">
            <a:avLst>
              <a:gd name="adj" fmla="val 18000"/>
            </a:avLst>
          </a:prstGeom>
          <a:solidFill>
            <a:schemeClr val="accent1"/>
          </a:solidFill>
          <a:ln/>
        </p:spPr>
        <p:txBody>
          <a:bodyPr/>
          <a:lstStyle/>
          <a:p>
            <a:endParaRPr lang="en-UA"/>
          </a:p>
        </p:txBody>
      </p:sp>
      <p:sp>
        <p:nvSpPr>
          <p:cNvPr id="6" name="Text 4"/>
          <p:cNvSpPr txBox="1"/>
          <p:nvPr/>
        </p:nvSpPr>
        <p:spPr>
          <a:xfrm>
            <a:off x="868680" y="2331720"/>
            <a:ext cx="914400" cy="91440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M</a:t>
            </a:r>
            <a:endParaRPr lang="en-US" sz="3400" dirty="0"/>
          </a:p>
        </p:txBody>
      </p:sp>
      <p:sp>
        <p:nvSpPr>
          <p:cNvPr id="7" name="Text 5"/>
          <p:cNvSpPr txBox="1"/>
          <p:nvPr/>
        </p:nvSpPr>
        <p:spPr>
          <a:xfrm>
            <a:off x="868680" y="3474720"/>
            <a:ext cx="278892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Model</a:t>
            </a:r>
            <a:endParaRPr lang="en-US" sz="2400" dirty="0"/>
          </a:p>
        </p:txBody>
      </p:sp>
      <p:sp>
        <p:nvSpPr>
          <p:cNvPr id="8" name="Text 6"/>
          <p:cNvSpPr txBox="1"/>
          <p:nvPr/>
        </p:nvSpPr>
        <p:spPr>
          <a:xfrm>
            <a:off x="868680" y="3977640"/>
            <a:ext cx="2788920" cy="822960"/>
          </a:xfrm>
          <a:prstGeom prst="rect">
            <a:avLst/>
          </a:prstGeom>
          <a:noFill/>
          <a:ln/>
        </p:spPr>
        <p:txBody>
          <a:bodyPr wrap="square" lIns="0" tIns="0" rIns="0" bIns="0" rtlCol="0" anchor="t"/>
          <a:lstStyle/>
          <a:p>
            <a:pPr marL="0" indent="0">
              <a:buNone/>
            </a:pPr>
            <a:r>
              <a:rPr lang="en-US" sz="1800" dirty="0">
                <a:solidFill>
                  <a:schemeClr val="tx1"/>
                </a:solidFill>
              </a:rPr>
              <a:t>Дані та правила роботи з ними</a:t>
            </a:r>
            <a:endParaRPr lang="en-US" sz="1800" dirty="0"/>
          </a:p>
        </p:txBody>
      </p:sp>
      <p:sp>
        <p:nvSpPr>
          <p:cNvPr id="9" name="Text 7"/>
          <p:cNvSpPr txBox="1"/>
          <p:nvPr/>
        </p:nvSpPr>
        <p:spPr>
          <a:xfrm>
            <a:off x="868680" y="4892040"/>
            <a:ext cx="2788920" cy="32004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BooksModel</a:t>
            </a:r>
            <a:endParaRPr lang="en-US" sz="1400" dirty="0"/>
          </a:p>
        </p:txBody>
      </p:sp>
      <p:sp>
        <p:nvSpPr>
          <p:cNvPr id="10" name="card View"/>
          <p:cNvSpPr/>
          <p:nvPr/>
        </p:nvSpPr>
        <p:spPr>
          <a:xfrm>
            <a:off x="4242816" y="2011680"/>
            <a:ext cx="3429000" cy="3429000"/>
          </a:xfrm>
          <a:prstGeom prst="roundRect">
            <a:avLst>
              <a:gd name="adj" fmla="val 4000"/>
            </a:avLst>
          </a:prstGeom>
          <a:solidFill>
            <a:schemeClr val="bg2"/>
          </a:solidFill>
          <a:ln/>
        </p:spPr>
        <p:txBody>
          <a:bodyPr/>
          <a:lstStyle/>
          <a:p>
            <a:endParaRPr lang="en-UA"/>
          </a:p>
        </p:txBody>
      </p:sp>
      <p:sp>
        <p:nvSpPr>
          <p:cNvPr id="11" name="tile V"/>
          <p:cNvSpPr/>
          <p:nvPr/>
        </p:nvSpPr>
        <p:spPr>
          <a:xfrm>
            <a:off x="4562856" y="2331720"/>
            <a:ext cx="914400" cy="914400"/>
          </a:xfrm>
          <a:prstGeom prst="roundRect">
            <a:avLst>
              <a:gd name="adj" fmla="val 18000"/>
            </a:avLst>
          </a:prstGeom>
          <a:solidFill>
            <a:schemeClr val="accent2"/>
          </a:solidFill>
          <a:ln/>
        </p:spPr>
        <p:txBody>
          <a:bodyPr/>
          <a:lstStyle/>
          <a:p>
            <a:endParaRPr lang="en-UA"/>
          </a:p>
        </p:txBody>
      </p:sp>
      <p:sp>
        <p:nvSpPr>
          <p:cNvPr id="12" name="Text 10"/>
          <p:cNvSpPr txBox="1"/>
          <p:nvPr/>
        </p:nvSpPr>
        <p:spPr>
          <a:xfrm>
            <a:off x="4562856" y="2331720"/>
            <a:ext cx="914400" cy="91440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V</a:t>
            </a:r>
            <a:endParaRPr lang="en-US" sz="3400" dirty="0"/>
          </a:p>
        </p:txBody>
      </p:sp>
      <p:sp>
        <p:nvSpPr>
          <p:cNvPr id="13" name="Text 11"/>
          <p:cNvSpPr txBox="1"/>
          <p:nvPr/>
        </p:nvSpPr>
        <p:spPr>
          <a:xfrm>
            <a:off x="4562856" y="3474720"/>
            <a:ext cx="278892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View</a:t>
            </a:r>
            <a:endParaRPr lang="en-US" sz="2400" dirty="0"/>
          </a:p>
        </p:txBody>
      </p:sp>
      <p:sp>
        <p:nvSpPr>
          <p:cNvPr id="14" name="Text 12"/>
          <p:cNvSpPr txBox="1"/>
          <p:nvPr/>
        </p:nvSpPr>
        <p:spPr>
          <a:xfrm>
            <a:off x="4562856" y="3977640"/>
            <a:ext cx="2788920" cy="822960"/>
          </a:xfrm>
          <a:prstGeom prst="rect">
            <a:avLst/>
          </a:prstGeom>
          <a:noFill/>
          <a:ln/>
        </p:spPr>
        <p:txBody>
          <a:bodyPr wrap="square" lIns="0" tIns="0" rIns="0" bIns="0" rtlCol="0" anchor="t"/>
          <a:lstStyle/>
          <a:p>
            <a:pPr marL="0" indent="0">
              <a:buNone/>
            </a:pPr>
            <a:r>
              <a:rPr lang="en-US" sz="1800" dirty="0">
                <a:solidFill>
                  <a:schemeClr val="tx1"/>
                </a:solidFill>
              </a:rPr>
              <a:t>Представлення даних користувачу</a:t>
            </a:r>
            <a:endParaRPr lang="en-US" sz="1800" dirty="0"/>
          </a:p>
        </p:txBody>
      </p:sp>
      <p:sp>
        <p:nvSpPr>
          <p:cNvPr id="15" name="Text 13"/>
          <p:cNvSpPr txBox="1"/>
          <p:nvPr/>
        </p:nvSpPr>
        <p:spPr>
          <a:xfrm>
            <a:off x="4562856" y="4892040"/>
            <a:ext cx="2788920" cy="32004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BooksConsoleView</a:t>
            </a:r>
            <a:endParaRPr lang="en-US" sz="1400" dirty="0"/>
          </a:p>
        </p:txBody>
      </p:sp>
      <p:sp>
        <p:nvSpPr>
          <p:cNvPr id="16" name="card Controller"/>
          <p:cNvSpPr/>
          <p:nvPr/>
        </p:nvSpPr>
        <p:spPr>
          <a:xfrm>
            <a:off x="7936992" y="2011680"/>
            <a:ext cx="3429000" cy="3429000"/>
          </a:xfrm>
          <a:prstGeom prst="roundRect">
            <a:avLst>
              <a:gd name="adj" fmla="val 4000"/>
            </a:avLst>
          </a:prstGeom>
          <a:solidFill>
            <a:schemeClr val="bg2"/>
          </a:solidFill>
          <a:ln/>
        </p:spPr>
        <p:txBody>
          <a:bodyPr/>
          <a:lstStyle/>
          <a:p>
            <a:endParaRPr lang="en-UA"/>
          </a:p>
        </p:txBody>
      </p:sp>
      <p:sp>
        <p:nvSpPr>
          <p:cNvPr id="17" name="tile C"/>
          <p:cNvSpPr/>
          <p:nvPr/>
        </p:nvSpPr>
        <p:spPr>
          <a:xfrm>
            <a:off x="8257032" y="2331720"/>
            <a:ext cx="914400" cy="914400"/>
          </a:xfrm>
          <a:prstGeom prst="roundRect">
            <a:avLst>
              <a:gd name="adj" fmla="val 18000"/>
            </a:avLst>
          </a:prstGeom>
          <a:solidFill>
            <a:schemeClr val="accent3"/>
          </a:solidFill>
          <a:ln/>
        </p:spPr>
        <p:txBody>
          <a:bodyPr/>
          <a:lstStyle/>
          <a:p>
            <a:endParaRPr lang="en-UA"/>
          </a:p>
        </p:txBody>
      </p:sp>
      <p:sp>
        <p:nvSpPr>
          <p:cNvPr id="18" name="Text 16"/>
          <p:cNvSpPr txBox="1"/>
          <p:nvPr/>
        </p:nvSpPr>
        <p:spPr>
          <a:xfrm>
            <a:off x="8257032" y="2331720"/>
            <a:ext cx="914400" cy="914400"/>
          </a:xfrm>
          <a:prstGeom prst="rect">
            <a:avLst/>
          </a:prstGeom>
          <a:noFill/>
          <a:ln/>
        </p:spPr>
        <p:txBody>
          <a:bodyPr wrap="square" lIns="0" tIns="0" rIns="0" bIns="0" rtlCol="0" anchor="ctr"/>
          <a:lstStyle/>
          <a:p>
            <a:pPr marL="0" indent="0" algn="ctr">
              <a:buNone/>
            </a:pPr>
            <a:r>
              <a:rPr lang="en-US" sz="3400" b="1" dirty="0">
                <a:solidFill>
                  <a:schemeClr val="bg1"/>
                </a:solidFill>
                <a:latin typeface="Cambria" pitchFamily="34" charset="0"/>
                <a:ea typeface="Cambria" pitchFamily="34" charset="-122"/>
                <a:cs typeface="Cambria" pitchFamily="34" charset="-120"/>
              </a:rPr>
              <a:t>C</a:t>
            </a:r>
            <a:endParaRPr lang="en-US" sz="3400" dirty="0"/>
          </a:p>
        </p:txBody>
      </p:sp>
      <p:sp>
        <p:nvSpPr>
          <p:cNvPr id="19" name="Text 17"/>
          <p:cNvSpPr txBox="1"/>
          <p:nvPr/>
        </p:nvSpPr>
        <p:spPr>
          <a:xfrm>
            <a:off x="8257032" y="3474720"/>
            <a:ext cx="2788920" cy="457200"/>
          </a:xfrm>
          <a:prstGeom prst="rect">
            <a:avLst/>
          </a:prstGeom>
          <a:noFill/>
          <a:ln/>
        </p:spPr>
        <p:txBody>
          <a:bodyPr wrap="square" lIns="0" tIns="0" rIns="0" bIns="0" rtlCol="0" anchor="ctr"/>
          <a:lstStyle/>
          <a:p>
            <a:pPr marL="0" indent="0">
              <a:buNone/>
            </a:pPr>
            <a:r>
              <a:rPr lang="en-US" sz="2400" b="1" dirty="0">
                <a:solidFill>
                  <a:schemeClr val="tx1"/>
                </a:solidFill>
                <a:latin typeface="Cambria" pitchFamily="34" charset="0"/>
                <a:ea typeface="Cambria" pitchFamily="34" charset="-122"/>
                <a:cs typeface="Cambria" pitchFamily="34" charset="-120"/>
              </a:rPr>
              <a:t>Controller</a:t>
            </a:r>
            <a:endParaRPr lang="en-US" sz="2400" dirty="0"/>
          </a:p>
        </p:txBody>
      </p:sp>
      <p:sp>
        <p:nvSpPr>
          <p:cNvPr id="20" name="Text 18"/>
          <p:cNvSpPr txBox="1"/>
          <p:nvPr/>
        </p:nvSpPr>
        <p:spPr>
          <a:xfrm>
            <a:off x="8257032" y="3977640"/>
            <a:ext cx="2788920" cy="822960"/>
          </a:xfrm>
          <a:prstGeom prst="rect">
            <a:avLst/>
          </a:prstGeom>
          <a:noFill/>
          <a:ln/>
        </p:spPr>
        <p:txBody>
          <a:bodyPr wrap="square" lIns="0" tIns="0" rIns="0" bIns="0" rtlCol="0" anchor="t"/>
          <a:lstStyle/>
          <a:p>
            <a:pPr marL="0" indent="0">
              <a:buNone/>
            </a:pPr>
            <a:r>
              <a:rPr lang="en-US" sz="1800" dirty="0">
                <a:solidFill>
                  <a:schemeClr val="tx1"/>
                </a:solidFill>
              </a:rPr>
              <a:t>Обробка дії та координація компонентів</a:t>
            </a:r>
            <a:endParaRPr lang="en-US" sz="1800" dirty="0"/>
          </a:p>
        </p:txBody>
      </p:sp>
      <p:sp>
        <p:nvSpPr>
          <p:cNvPr id="21" name="Text 19"/>
          <p:cNvSpPr txBox="1"/>
          <p:nvPr/>
        </p:nvSpPr>
        <p:spPr>
          <a:xfrm>
            <a:off x="8257032" y="4892040"/>
            <a:ext cx="2788920" cy="32004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BooksController</a:t>
            </a:r>
            <a:endParaRPr lang="en-US" sz="1400" dirty="0"/>
          </a:p>
        </p:txBody>
      </p:sp>
      <p:sp>
        <p:nvSpPr>
          <p:cNvPr id="22" name="Text 20"/>
          <p:cNvSpPr txBox="1"/>
          <p:nvPr/>
        </p:nvSpPr>
        <p:spPr>
          <a:xfrm>
            <a:off x="548640" y="5897880"/>
            <a:ext cx="10362895" cy="457200"/>
          </a:xfrm>
          <a:prstGeom prst="rect">
            <a:avLst/>
          </a:prstGeom>
          <a:noFill/>
          <a:ln/>
        </p:spPr>
        <p:txBody>
          <a:bodyPr wrap="square" lIns="0" tIns="0" rIns="0" bIns="0" rtlCol="0" anchor="ctr"/>
          <a:lstStyle/>
          <a:p>
            <a:pPr marL="0" indent="0">
              <a:buNone/>
            </a:pPr>
            <a:r>
              <a:rPr lang="en-US" sz="1800" i="1" dirty="0">
                <a:solidFill>
                  <a:schemeClr val="tx2"/>
                </a:solidFill>
              </a:rPr>
              <a:t>Де має бути правило порожньої назви, а де формат списку?</a:t>
            </a:r>
            <a:endParaRPr lang="en-US" sz="18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MVC: дані окремо від вигляду</a:t>
            </a:r>
            <a:endParaRPr lang="en-US" sz="3400" dirty="0"/>
          </a:p>
        </p:txBody>
      </p:sp>
      <p:sp>
        <p:nvSpPr>
          <p:cNvPr id="3" name="Text 1"/>
          <p:cNvSpPr txBox="1"/>
          <p:nvPr/>
        </p:nvSpPr>
        <p:spPr>
          <a:xfrm>
            <a:off x="548640" y="1188720"/>
            <a:ext cx="10058400" cy="411480"/>
          </a:xfrm>
          <a:prstGeom prst="rect">
            <a:avLst/>
          </a:prstGeom>
          <a:noFill/>
          <a:ln/>
        </p:spPr>
        <p:txBody>
          <a:bodyPr wrap="square" lIns="0" tIns="0" rIns="0" bIns="0" rtlCol="0" anchor="ctr"/>
          <a:lstStyle/>
          <a:p>
            <a:pPr marL="0" indent="0">
              <a:buNone/>
            </a:pPr>
            <a:r>
              <a:rPr lang="en-US" sz="1800" dirty="0">
                <a:solidFill>
                  <a:schemeClr val="tx2"/>
                </a:solidFill>
              </a:rPr>
              <a:t>Відкрийте готові BooksModel і BooksConsoleView у mvc_demo.py.</a:t>
            </a:r>
            <a:endParaRPr lang="en-US" sz="1800" dirty="0"/>
          </a:p>
        </p:txBody>
      </p:sp>
      <p:sp>
        <p:nvSpPr>
          <p:cNvPr id="4" name="tile M"/>
          <p:cNvSpPr/>
          <p:nvPr/>
        </p:nvSpPr>
        <p:spPr>
          <a:xfrm>
            <a:off x="548640" y="2011680"/>
            <a:ext cx="685800" cy="685800"/>
          </a:xfrm>
          <a:prstGeom prst="roundRect">
            <a:avLst>
              <a:gd name="adj" fmla="val 18000"/>
            </a:avLst>
          </a:prstGeom>
          <a:solidFill>
            <a:schemeClr val="accent1"/>
          </a:solidFill>
          <a:ln/>
        </p:spPr>
        <p:txBody>
          <a:bodyPr/>
          <a:lstStyle/>
          <a:p>
            <a:endParaRPr lang="en-UA"/>
          </a:p>
        </p:txBody>
      </p:sp>
      <p:sp>
        <p:nvSpPr>
          <p:cNvPr id="5" name="Text 3"/>
          <p:cNvSpPr txBox="1"/>
          <p:nvPr/>
        </p:nvSpPr>
        <p:spPr>
          <a:xfrm>
            <a:off x="548640" y="201168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M</a:t>
            </a:r>
            <a:endParaRPr lang="en-US" sz="2600" dirty="0"/>
          </a:p>
        </p:txBody>
      </p:sp>
      <p:sp>
        <p:nvSpPr>
          <p:cNvPr id="6" name="Text 4"/>
          <p:cNvSpPr txBox="1"/>
          <p:nvPr/>
        </p:nvSpPr>
        <p:spPr>
          <a:xfrm>
            <a:off x="1508760" y="1993392"/>
            <a:ext cx="4206240" cy="365760"/>
          </a:xfrm>
          <a:prstGeom prst="rect">
            <a:avLst/>
          </a:prstGeom>
          <a:noFill/>
          <a:ln/>
        </p:spPr>
        <p:txBody>
          <a:bodyPr wrap="square" lIns="0" tIns="0" rIns="0" bIns="0" rtlCol="0" anchor="ctr"/>
          <a:lstStyle/>
          <a:p>
            <a:pPr marL="0" indent="0">
              <a:buNone/>
            </a:pPr>
            <a:r>
              <a:rPr lang="en-US" sz="1800" b="1" dirty="0">
                <a:solidFill>
                  <a:schemeClr val="tx1"/>
                </a:solidFill>
                <a:latin typeface="Courier New" pitchFamily="34" charset="0"/>
                <a:ea typeface="Courier New" pitchFamily="34" charset="-122"/>
                <a:cs typeface="Courier New" pitchFamily="34" charset="-120"/>
              </a:rPr>
              <a:t>add_book(title)</a:t>
            </a:r>
            <a:endParaRPr lang="en-US" sz="1800" dirty="0"/>
          </a:p>
        </p:txBody>
      </p:sp>
      <p:sp>
        <p:nvSpPr>
          <p:cNvPr id="7" name="Text 5"/>
          <p:cNvSpPr txBox="1"/>
          <p:nvPr/>
        </p:nvSpPr>
        <p:spPr>
          <a:xfrm>
            <a:off x="1508760" y="2359152"/>
            <a:ext cx="4206240" cy="365760"/>
          </a:xfrm>
          <a:prstGeom prst="rect">
            <a:avLst/>
          </a:prstGeom>
          <a:noFill/>
          <a:ln/>
        </p:spPr>
        <p:txBody>
          <a:bodyPr wrap="square" lIns="0" tIns="0" rIns="0" bIns="0" rtlCol="0" anchor="ctr"/>
          <a:lstStyle/>
          <a:p>
            <a:pPr marL="0" indent="0">
              <a:buNone/>
            </a:pPr>
            <a:r>
              <a:rPr lang="en-US" sz="1700" dirty="0">
                <a:solidFill>
                  <a:schemeClr val="tx1"/>
                </a:solidFill>
              </a:rPr>
              <a:t>перевіряє та додає назву</a:t>
            </a:r>
            <a:endParaRPr lang="en-US" sz="1700" dirty="0"/>
          </a:p>
        </p:txBody>
      </p:sp>
      <p:sp>
        <p:nvSpPr>
          <p:cNvPr id="8" name="tile M"/>
          <p:cNvSpPr/>
          <p:nvPr/>
        </p:nvSpPr>
        <p:spPr>
          <a:xfrm>
            <a:off x="548640" y="3063240"/>
            <a:ext cx="685800" cy="685800"/>
          </a:xfrm>
          <a:prstGeom prst="roundRect">
            <a:avLst>
              <a:gd name="adj" fmla="val 18000"/>
            </a:avLst>
          </a:prstGeom>
          <a:solidFill>
            <a:schemeClr val="accent1"/>
          </a:solidFill>
          <a:ln/>
        </p:spPr>
        <p:txBody>
          <a:bodyPr/>
          <a:lstStyle/>
          <a:p>
            <a:endParaRPr lang="en-UA"/>
          </a:p>
        </p:txBody>
      </p:sp>
      <p:sp>
        <p:nvSpPr>
          <p:cNvPr id="9" name="Text 7"/>
          <p:cNvSpPr txBox="1"/>
          <p:nvPr/>
        </p:nvSpPr>
        <p:spPr>
          <a:xfrm>
            <a:off x="548640" y="306324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M</a:t>
            </a:r>
            <a:endParaRPr lang="en-US" sz="2600" dirty="0"/>
          </a:p>
        </p:txBody>
      </p:sp>
      <p:sp>
        <p:nvSpPr>
          <p:cNvPr id="10" name="Text 8"/>
          <p:cNvSpPr txBox="1"/>
          <p:nvPr/>
        </p:nvSpPr>
        <p:spPr>
          <a:xfrm>
            <a:off x="1508760" y="3044952"/>
            <a:ext cx="4206240" cy="365760"/>
          </a:xfrm>
          <a:prstGeom prst="rect">
            <a:avLst/>
          </a:prstGeom>
          <a:noFill/>
          <a:ln/>
        </p:spPr>
        <p:txBody>
          <a:bodyPr wrap="square" lIns="0" tIns="0" rIns="0" bIns="0" rtlCol="0" anchor="ctr"/>
          <a:lstStyle/>
          <a:p>
            <a:pPr marL="0" indent="0">
              <a:buNone/>
            </a:pPr>
            <a:r>
              <a:rPr lang="en-US" sz="1800" b="1" dirty="0">
                <a:solidFill>
                  <a:schemeClr val="tx1"/>
                </a:solidFill>
                <a:latin typeface="Courier New" pitchFamily="34" charset="0"/>
                <a:ea typeface="Courier New" pitchFamily="34" charset="-122"/>
                <a:cs typeface="Courier New" pitchFamily="34" charset="-120"/>
              </a:rPr>
              <a:t>get_books()</a:t>
            </a:r>
            <a:endParaRPr lang="en-US" sz="1800" dirty="0"/>
          </a:p>
        </p:txBody>
      </p:sp>
      <p:sp>
        <p:nvSpPr>
          <p:cNvPr id="11" name="Text 9"/>
          <p:cNvSpPr txBox="1"/>
          <p:nvPr/>
        </p:nvSpPr>
        <p:spPr>
          <a:xfrm>
            <a:off x="1508760" y="3410712"/>
            <a:ext cx="4206240" cy="365760"/>
          </a:xfrm>
          <a:prstGeom prst="rect">
            <a:avLst/>
          </a:prstGeom>
          <a:noFill/>
          <a:ln/>
        </p:spPr>
        <p:txBody>
          <a:bodyPr wrap="square" lIns="0" tIns="0" rIns="0" bIns="0" rtlCol="0" anchor="ctr"/>
          <a:lstStyle/>
          <a:p>
            <a:pPr marL="0" indent="0">
              <a:buNone/>
            </a:pPr>
            <a:r>
              <a:rPr lang="en-US" sz="1700" dirty="0">
                <a:solidFill>
                  <a:schemeClr val="tx1"/>
                </a:solidFill>
              </a:rPr>
              <a:t>повертає копію списку</a:t>
            </a:r>
            <a:endParaRPr lang="en-US" sz="1700" dirty="0"/>
          </a:p>
        </p:txBody>
      </p:sp>
      <p:sp>
        <p:nvSpPr>
          <p:cNvPr id="12" name="tile V"/>
          <p:cNvSpPr/>
          <p:nvPr/>
        </p:nvSpPr>
        <p:spPr>
          <a:xfrm>
            <a:off x="548640" y="4114800"/>
            <a:ext cx="685800" cy="685800"/>
          </a:xfrm>
          <a:prstGeom prst="roundRect">
            <a:avLst>
              <a:gd name="adj" fmla="val 18000"/>
            </a:avLst>
          </a:prstGeom>
          <a:solidFill>
            <a:schemeClr val="accent2"/>
          </a:solidFill>
          <a:ln/>
        </p:spPr>
        <p:txBody>
          <a:bodyPr/>
          <a:lstStyle/>
          <a:p>
            <a:endParaRPr lang="en-UA"/>
          </a:p>
        </p:txBody>
      </p:sp>
      <p:sp>
        <p:nvSpPr>
          <p:cNvPr id="13" name="Text 11"/>
          <p:cNvSpPr txBox="1"/>
          <p:nvPr/>
        </p:nvSpPr>
        <p:spPr>
          <a:xfrm>
            <a:off x="548640" y="411480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V</a:t>
            </a:r>
            <a:endParaRPr lang="en-US" sz="2600" dirty="0"/>
          </a:p>
        </p:txBody>
      </p:sp>
      <p:sp>
        <p:nvSpPr>
          <p:cNvPr id="14" name="Text 12"/>
          <p:cNvSpPr txBox="1"/>
          <p:nvPr/>
        </p:nvSpPr>
        <p:spPr>
          <a:xfrm>
            <a:off x="1508760" y="4096512"/>
            <a:ext cx="4206240" cy="365760"/>
          </a:xfrm>
          <a:prstGeom prst="rect">
            <a:avLst/>
          </a:prstGeom>
          <a:noFill/>
          <a:ln/>
        </p:spPr>
        <p:txBody>
          <a:bodyPr wrap="square" lIns="0" tIns="0" rIns="0" bIns="0" rtlCol="0" anchor="ctr"/>
          <a:lstStyle/>
          <a:p>
            <a:pPr marL="0" indent="0">
              <a:buNone/>
            </a:pPr>
            <a:r>
              <a:rPr lang="en-US" sz="1800" b="1" dirty="0">
                <a:solidFill>
                  <a:schemeClr val="tx1"/>
                </a:solidFill>
                <a:latin typeface="Courier New" pitchFamily="34" charset="0"/>
                <a:ea typeface="Courier New" pitchFamily="34" charset="-122"/>
                <a:cs typeface="Courier New" pitchFamily="34" charset="-120"/>
              </a:rPr>
              <a:t>render(books)</a:t>
            </a:r>
            <a:endParaRPr lang="en-US" sz="1800" dirty="0"/>
          </a:p>
        </p:txBody>
      </p:sp>
      <p:sp>
        <p:nvSpPr>
          <p:cNvPr id="15" name="Text 13"/>
          <p:cNvSpPr txBox="1"/>
          <p:nvPr/>
        </p:nvSpPr>
        <p:spPr>
          <a:xfrm>
            <a:off x="1508760" y="4462272"/>
            <a:ext cx="4206240" cy="365760"/>
          </a:xfrm>
          <a:prstGeom prst="rect">
            <a:avLst/>
          </a:prstGeom>
          <a:noFill/>
          <a:ln/>
        </p:spPr>
        <p:txBody>
          <a:bodyPr wrap="square" lIns="0" tIns="0" rIns="0" bIns="0" rtlCol="0" anchor="ctr"/>
          <a:lstStyle/>
          <a:p>
            <a:pPr marL="0" indent="0">
              <a:buNone/>
            </a:pPr>
            <a:r>
              <a:rPr lang="en-US" sz="1700" dirty="0">
                <a:solidFill>
                  <a:schemeClr val="tx1"/>
                </a:solidFill>
              </a:rPr>
              <a:t>повертає текст для показу</a:t>
            </a:r>
            <a:endParaRPr lang="en-US" sz="1700" dirty="0"/>
          </a:p>
        </p:txBody>
      </p:sp>
      <p:sp>
        <p:nvSpPr>
          <p:cNvPr id="16" name="code"/>
          <p:cNvSpPr/>
          <p:nvPr/>
        </p:nvSpPr>
        <p:spPr>
          <a:xfrm>
            <a:off x="6172200" y="1920240"/>
            <a:ext cx="5470855" cy="1600200"/>
          </a:xfrm>
          <a:prstGeom prst="roundRect">
            <a:avLst>
              <a:gd name="adj" fmla="val 6857"/>
            </a:avLst>
          </a:prstGeom>
          <a:solidFill>
            <a:schemeClr val="accent4"/>
          </a:solidFill>
          <a:ln/>
        </p:spPr>
        <p:txBody>
          <a:bodyPr/>
          <a:lstStyle/>
          <a:p>
            <a:endParaRPr lang="en-UA"/>
          </a:p>
        </p:txBody>
      </p:sp>
      <p:sp>
        <p:nvSpPr>
          <p:cNvPr id="17" name="Text 15"/>
          <p:cNvSpPr txBox="1"/>
          <p:nvPr/>
        </p:nvSpPr>
        <p:spPr>
          <a:xfrm>
            <a:off x="6446520" y="2121408"/>
            <a:ext cx="4922215" cy="1197864"/>
          </a:xfrm>
          <a:prstGeom prst="rect">
            <a:avLst/>
          </a:prstGeom>
          <a:noFill/>
          <a:ln/>
        </p:spPr>
        <p:txBody>
          <a:bodyPr wrap="square" lIns="0" tIns="0" rIns="0" bIns="0" rtlCol="0" anchor="t"/>
          <a:lstStyle/>
          <a:p>
            <a:pPr marL="0" indent="0">
              <a:lnSpc>
                <a:spcPct val="110000"/>
              </a:lnSpc>
              <a:buNone/>
            </a:pPr>
            <a:r>
              <a:rPr lang="en-US" sz="1600" dirty="0">
                <a:solidFill>
                  <a:schemeClr val="accent5"/>
                </a:solidFill>
                <a:latin typeface="Courier New" pitchFamily="34" charset="0"/>
                <a:ea typeface="Courier New" pitchFamily="34" charset="-122"/>
                <a:cs typeface="Courier New" pitchFamily="34" charset="-120"/>
              </a:rPr>
              <a:t>model = BooksModel()</a:t>
            </a:r>
            <a:endParaRPr lang="en-US" sz="1600" dirty="0"/>
          </a:p>
          <a:p>
            <a:pPr marL="0" indent="0">
              <a:lnSpc>
                <a:spcPct val="110000"/>
              </a:lnSpc>
              <a:buNone/>
            </a:pPr>
            <a:r>
              <a:rPr lang="en-US" sz="1600" dirty="0">
                <a:solidFill>
                  <a:schemeClr val="accent5"/>
                </a:solidFill>
                <a:latin typeface="Courier New" pitchFamily="34" charset="0"/>
                <a:ea typeface="Courier New" pitchFamily="34" charset="-122"/>
                <a:cs typeface="Courier New" pitchFamily="34" charset="-120"/>
              </a:rPr>
              <a:t>model.add_book("Кобзар")</a:t>
            </a:r>
            <a:endParaRPr lang="en-US" sz="1600" dirty="0"/>
          </a:p>
          <a:p>
            <a:pPr marL="0" indent="0">
              <a:lnSpc>
                <a:spcPct val="110000"/>
              </a:lnSpc>
              <a:buNone/>
            </a:pPr>
            <a:r>
              <a:rPr lang="en-US" sz="1600" dirty="0">
                <a:solidFill>
                  <a:schemeClr val="accent5"/>
                </a:solidFill>
                <a:latin typeface="Courier New" pitchFamily="34" charset="0"/>
                <a:ea typeface="Courier New" pitchFamily="34" charset="-122"/>
                <a:cs typeface="Courier New" pitchFamily="34" charset="-120"/>
              </a:rPr>
              <a:t>view = BooksConsoleView()</a:t>
            </a:r>
            <a:endParaRPr lang="en-US" sz="1600" dirty="0"/>
          </a:p>
          <a:p>
            <a:pPr marL="0" indent="0">
              <a:lnSpc>
                <a:spcPct val="110000"/>
              </a:lnSpc>
              <a:buNone/>
            </a:pPr>
            <a:r>
              <a:rPr lang="en-US" sz="1600" dirty="0">
                <a:solidFill>
                  <a:schemeClr val="accent5"/>
                </a:solidFill>
                <a:latin typeface="Courier New" pitchFamily="34" charset="0"/>
                <a:ea typeface="Courier New" pitchFamily="34" charset="-122"/>
                <a:cs typeface="Courier New" pitchFamily="34" charset="-120"/>
              </a:rPr>
              <a:t>print(view.render(model.get_books()))</a:t>
            </a:r>
            <a:endParaRPr lang="en-US" sz="1600" dirty="0"/>
          </a:p>
        </p:txBody>
      </p:sp>
      <p:sp>
        <p:nvSpPr>
          <p:cNvPr id="18" name="output"/>
          <p:cNvSpPr/>
          <p:nvPr/>
        </p:nvSpPr>
        <p:spPr>
          <a:xfrm>
            <a:off x="6172200" y="3794760"/>
            <a:ext cx="5470855" cy="1051560"/>
          </a:xfrm>
          <a:prstGeom prst="roundRect">
            <a:avLst>
              <a:gd name="adj" fmla="val 10435"/>
            </a:avLst>
          </a:prstGeom>
          <a:solidFill>
            <a:schemeClr val="bg2"/>
          </a:solidFill>
          <a:ln/>
        </p:spPr>
        <p:txBody>
          <a:bodyPr/>
          <a:lstStyle/>
          <a:p>
            <a:endParaRPr lang="en-UA"/>
          </a:p>
        </p:txBody>
      </p:sp>
      <p:sp>
        <p:nvSpPr>
          <p:cNvPr id="19" name="Text 17"/>
          <p:cNvSpPr txBox="1"/>
          <p:nvPr/>
        </p:nvSpPr>
        <p:spPr>
          <a:xfrm>
            <a:off x="6446520" y="3959352"/>
            <a:ext cx="4922215" cy="274320"/>
          </a:xfrm>
          <a:prstGeom prst="rect">
            <a:avLst/>
          </a:prstGeom>
          <a:noFill/>
          <a:ln/>
        </p:spPr>
        <p:txBody>
          <a:bodyPr wrap="square" lIns="0" tIns="0" rIns="0" bIns="0" rtlCol="0" anchor="ctr"/>
          <a:lstStyle/>
          <a:p>
            <a:pPr marL="0" indent="0">
              <a:buNone/>
            </a:pPr>
            <a:r>
              <a:rPr lang="en-US" sz="1200" dirty="0">
                <a:solidFill>
                  <a:schemeClr val="tx2"/>
                </a:solidFill>
              </a:rPr>
              <a:t>Очікуємо</a:t>
            </a:r>
            <a:endParaRPr lang="en-US" sz="1200" dirty="0"/>
          </a:p>
        </p:txBody>
      </p:sp>
      <p:sp>
        <p:nvSpPr>
          <p:cNvPr id="20" name="Text 18"/>
          <p:cNvSpPr txBox="1"/>
          <p:nvPr/>
        </p:nvSpPr>
        <p:spPr>
          <a:xfrm>
            <a:off x="6446520" y="4270248"/>
            <a:ext cx="4922215" cy="411480"/>
          </a:xfrm>
          <a:prstGeom prst="rect">
            <a:avLst/>
          </a:prstGeom>
          <a:noFill/>
          <a:ln/>
        </p:spPr>
        <p:txBody>
          <a:bodyPr wrap="square" lIns="0" tIns="0" rIns="0" bIns="0" rtlCol="0" anchor="t"/>
          <a:lstStyle/>
          <a:p>
            <a:pPr marL="0" indent="0">
              <a:lnSpc>
                <a:spcPct val="110000"/>
              </a:lnSpc>
              <a:buNone/>
            </a:pPr>
            <a:r>
              <a:rPr lang="en-US" sz="1700" dirty="0">
                <a:solidFill>
                  <a:schemeClr val="tx1"/>
                </a:solidFill>
                <a:latin typeface="Courier New" pitchFamily="34" charset="0"/>
                <a:ea typeface="Courier New" pitchFamily="34" charset="-122"/>
                <a:cs typeface="Courier New" pitchFamily="34" charset="-120"/>
              </a:rPr>
              <a:t>- Кобзар</a:t>
            </a:r>
            <a:endParaRPr lang="en-US" sz="17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Контролер узгоджує дію</a:t>
            </a:r>
            <a:endParaRPr lang="en-US" sz="3400" dirty="0"/>
          </a:p>
        </p:txBody>
      </p:sp>
      <p:sp>
        <p:nvSpPr>
          <p:cNvPr id="3" name="Text 1"/>
          <p:cNvSpPr txBox="1"/>
          <p:nvPr/>
        </p:nvSpPr>
        <p:spPr>
          <a:xfrm>
            <a:off x="548640" y="1188720"/>
            <a:ext cx="9144000" cy="411480"/>
          </a:xfrm>
          <a:prstGeom prst="rect">
            <a:avLst/>
          </a:prstGeom>
          <a:noFill/>
          <a:ln/>
        </p:spPr>
        <p:txBody>
          <a:bodyPr wrap="square" lIns="0" tIns="0" rIns="0" bIns="0" rtlCol="0" anchor="ctr"/>
          <a:lstStyle/>
          <a:p>
            <a:pPr marL="0" indent="0">
              <a:buNone/>
            </a:pPr>
            <a:r>
              <a:rPr lang="en-US" sz="1800" dirty="0">
                <a:solidFill>
                  <a:schemeClr val="tx2"/>
                </a:solidFill>
              </a:rPr>
              <a:t>У mvc_demo.py знайдіть BooksController.</a:t>
            </a:r>
            <a:endParaRPr lang="en-US" sz="1800" dirty="0"/>
          </a:p>
        </p:txBody>
      </p:sp>
      <p:sp>
        <p:nvSpPr>
          <p:cNvPr id="4" name="code"/>
          <p:cNvSpPr/>
          <p:nvPr/>
        </p:nvSpPr>
        <p:spPr>
          <a:xfrm>
            <a:off x="548640" y="1828800"/>
            <a:ext cx="6035040" cy="3474720"/>
          </a:xfrm>
          <a:prstGeom prst="roundRect">
            <a:avLst>
              <a:gd name="adj" fmla="val 3158"/>
            </a:avLst>
          </a:prstGeom>
          <a:solidFill>
            <a:schemeClr val="accent4"/>
          </a:solidFill>
          <a:ln/>
        </p:spPr>
        <p:txBody>
          <a:bodyPr/>
          <a:lstStyle/>
          <a:p>
            <a:endParaRPr lang="en-UA"/>
          </a:p>
        </p:txBody>
      </p:sp>
      <p:sp>
        <p:nvSpPr>
          <p:cNvPr id="5" name="Text 3"/>
          <p:cNvSpPr txBox="1"/>
          <p:nvPr/>
        </p:nvSpPr>
        <p:spPr>
          <a:xfrm>
            <a:off x="822960" y="2029968"/>
            <a:ext cx="5486400" cy="3072384"/>
          </a:xfrm>
          <a:prstGeom prst="rect">
            <a:avLst/>
          </a:prstGeom>
          <a:noFill/>
          <a:ln/>
        </p:spPr>
        <p:txBody>
          <a:bodyPr wrap="square" lIns="0" tIns="0" rIns="0" bIns="0" rtlCol="0" anchor="t"/>
          <a:lstStyle/>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class BooksController:</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def __init__(self, model, view):</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self.model = model</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self.view = view</a:t>
            </a:r>
            <a:endParaRPr lang="en-US" sz="1500" dirty="0"/>
          </a:p>
          <a:p>
            <a:pPr marL="0" indent="0">
              <a:lnSpc>
                <a:spcPct val="110000"/>
              </a:lnSpc>
              <a:buNone/>
            </a:pP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def add_book(self, title):</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self.model.add_book(title)</a:t>
            </a:r>
            <a:endParaRPr lang="en-US" sz="1500" dirty="0"/>
          </a:p>
          <a:p>
            <a:pPr marL="0" indent="0">
              <a:lnSpc>
                <a:spcPct val="110000"/>
              </a:lnSpc>
              <a:buNone/>
            </a:pP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def show_books(self):</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books = self.model.get_books()</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        return self.view.render(books)</a:t>
            </a:r>
            <a:endParaRPr lang="en-US" sz="1500" dirty="0"/>
          </a:p>
        </p:txBody>
      </p:sp>
      <p:sp>
        <p:nvSpPr>
          <p:cNvPr id="6" name="tile C"/>
          <p:cNvSpPr/>
          <p:nvPr/>
        </p:nvSpPr>
        <p:spPr>
          <a:xfrm>
            <a:off x="7086600" y="1828800"/>
            <a:ext cx="685800" cy="685800"/>
          </a:xfrm>
          <a:prstGeom prst="roundRect">
            <a:avLst>
              <a:gd name="adj" fmla="val 18000"/>
            </a:avLst>
          </a:prstGeom>
          <a:solidFill>
            <a:schemeClr val="accent3"/>
          </a:solidFill>
          <a:ln/>
        </p:spPr>
        <p:txBody>
          <a:bodyPr/>
          <a:lstStyle/>
          <a:p>
            <a:endParaRPr lang="en-UA"/>
          </a:p>
        </p:txBody>
      </p:sp>
      <p:sp>
        <p:nvSpPr>
          <p:cNvPr id="7" name="Text 5"/>
          <p:cNvSpPr txBox="1"/>
          <p:nvPr/>
        </p:nvSpPr>
        <p:spPr>
          <a:xfrm>
            <a:off x="7086600" y="182880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8001000" y="1810512"/>
            <a:ext cx="3642055" cy="365760"/>
          </a:xfrm>
          <a:prstGeom prst="rect">
            <a:avLst/>
          </a:prstGeom>
          <a:noFill/>
          <a:ln/>
        </p:spPr>
        <p:txBody>
          <a:bodyPr wrap="square" lIns="0" tIns="0" rIns="0" bIns="0" rtlCol="0" anchor="ctr"/>
          <a:lstStyle/>
          <a:p>
            <a:pPr marL="0" indent="0">
              <a:buNone/>
            </a:pPr>
            <a:r>
              <a:rPr lang="en-US" sz="1500" b="1" dirty="0">
                <a:solidFill>
                  <a:schemeClr val="tx1"/>
                </a:solidFill>
                <a:latin typeface="Courier New" pitchFamily="34" charset="0"/>
                <a:ea typeface="Courier New" pitchFamily="34" charset="-122"/>
                <a:cs typeface="Courier New" pitchFamily="34" charset="-120"/>
              </a:rPr>
              <a:t>controller.show_books()</a:t>
            </a:r>
            <a:endParaRPr lang="en-US" sz="1500" dirty="0"/>
          </a:p>
        </p:txBody>
      </p:sp>
      <p:sp>
        <p:nvSpPr>
          <p:cNvPr id="9" name="Text 7"/>
          <p:cNvSpPr txBox="1"/>
          <p:nvPr/>
        </p:nvSpPr>
        <p:spPr>
          <a:xfrm>
            <a:off x="8001000" y="2176272"/>
            <a:ext cx="3642055" cy="320040"/>
          </a:xfrm>
          <a:prstGeom prst="rect">
            <a:avLst/>
          </a:prstGeom>
          <a:noFill/>
          <a:ln/>
        </p:spPr>
        <p:txBody>
          <a:bodyPr wrap="square" lIns="0" tIns="0" rIns="0" bIns="0" rtlCol="0" anchor="ctr"/>
          <a:lstStyle/>
          <a:p>
            <a:pPr marL="0" indent="0">
              <a:buNone/>
            </a:pPr>
            <a:r>
              <a:rPr lang="en-US" sz="1600" dirty="0">
                <a:solidFill>
                  <a:schemeClr val="tx2"/>
                </a:solidFill>
              </a:rPr>
              <a:t>приймає дію</a:t>
            </a:r>
            <a:endParaRPr lang="en-US" sz="1600" dirty="0"/>
          </a:p>
        </p:txBody>
      </p:sp>
      <p:sp>
        <p:nvSpPr>
          <p:cNvPr id="10" name="Shape 8"/>
          <p:cNvSpPr/>
          <p:nvPr/>
        </p:nvSpPr>
        <p:spPr>
          <a:xfrm>
            <a:off x="7429500" y="2578608"/>
            <a:ext cx="0" cy="393192"/>
          </a:xfrm>
          <a:prstGeom prst="line">
            <a:avLst/>
          </a:prstGeom>
          <a:noFill/>
          <a:ln w="22225">
            <a:solidFill>
              <a:schemeClr val="tx2"/>
            </a:solidFill>
            <a:prstDash val="solid"/>
            <a:tailEnd type="triangle"/>
          </a:ln>
        </p:spPr>
        <p:txBody>
          <a:bodyPr/>
          <a:lstStyle/>
          <a:p>
            <a:endParaRPr lang="en-UA"/>
          </a:p>
        </p:txBody>
      </p:sp>
      <p:sp>
        <p:nvSpPr>
          <p:cNvPr id="11" name="tile M"/>
          <p:cNvSpPr/>
          <p:nvPr/>
        </p:nvSpPr>
        <p:spPr>
          <a:xfrm>
            <a:off x="7086600" y="3017520"/>
            <a:ext cx="685800" cy="685800"/>
          </a:xfrm>
          <a:prstGeom prst="roundRect">
            <a:avLst>
              <a:gd name="adj" fmla="val 18000"/>
            </a:avLst>
          </a:prstGeom>
          <a:solidFill>
            <a:schemeClr val="accent1"/>
          </a:solidFill>
          <a:ln/>
        </p:spPr>
        <p:txBody>
          <a:bodyPr/>
          <a:lstStyle/>
          <a:p>
            <a:endParaRPr lang="en-UA"/>
          </a:p>
        </p:txBody>
      </p:sp>
      <p:sp>
        <p:nvSpPr>
          <p:cNvPr id="12" name="Text 10"/>
          <p:cNvSpPr txBox="1"/>
          <p:nvPr/>
        </p:nvSpPr>
        <p:spPr>
          <a:xfrm>
            <a:off x="7086600" y="301752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M</a:t>
            </a:r>
            <a:endParaRPr lang="en-US" sz="2600" dirty="0"/>
          </a:p>
        </p:txBody>
      </p:sp>
      <p:sp>
        <p:nvSpPr>
          <p:cNvPr id="13" name="Text 11"/>
          <p:cNvSpPr txBox="1"/>
          <p:nvPr/>
        </p:nvSpPr>
        <p:spPr>
          <a:xfrm>
            <a:off x="8001000" y="2999232"/>
            <a:ext cx="3642055" cy="365760"/>
          </a:xfrm>
          <a:prstGeom prst="rect">
            <a:avLst/>
          </a:prstGeom>
          <a:noFill/>
          <a:ln/>
        </p:spPr>
        <p:txBody>
          <a:bodyPr wrap="square" lIns="0" tIns="0" rIns="0" bIns="0" rtlCol="0" anchor="ctr"/>
          <a:lstStyle/>
          <a:p>
            <a:pPr marL="0" indent="0">
              <a:buNone/>
            </a:pPr>
            <a:r>
              <a:rPr lang="en-US" sz="1500" b="1" dirty="0">
                <a:solidFill>
                  <a:schemeClr val="tx1"/>
                </a:solidFill>
                <a:latin typeface="Courier New" pitchFamily="34" charset="0"/>
                <a:ea typeface="Courier New" pitchFamily="34" charset="-122"/>
                <a:cs typeface="Courier New" pitchFamily="34" charset="-120"/>
              </a:rPr>
              <a:t>model.get_books()</a:t>
            </a:r>
            <a:endParaRPr lang="en-US" sz="1500" dirty="0"/>
          </a:p>
        </p:txBody>
      </p:sp>
      <p:sp>
        <p:nvSpPr>
          <p:cNvPr id="14" name="Text 12"/>
          <p:cNvSpPr txBox="1"/>
          <p:nvPr/>
        </p:nvSpPr>
        <p:spPr>
          <a:xfrm>
            <a:off x="8001000" y="3364992"/>
            <a:ext cx="3642055" cy="320040"/>
          </a:xfrm>
          <a:prstGeom prst="rect">
            <a:avLst/>
          </a:prstGeom>
          <a:noFill/>
          <a:ln/>
        </p:spPr>
        <p:txBody>
          <a:bodyPr wrap="square" lIns="0" tIns="0" rIns="0" bIns="0" rtlCol="0" anchor="ctr"/>
          <a:lstStyle/>
          <a:p>
            <a:pPr marL="0" indent="0">
              <a:buNone/>
            </a:pPr>
            <a:r>
              <a:rPr lang="en-US" sz="1600" dirty="0">
                <a:solidFill>
                  <a:schemeClr val="tx2"/>
                </a:solidFill>
              </a:rPr>
              <a:t>віддає список</a:t>
            </a:r>
            <a:endParaRPr lang="en-US" sz="1600" dirty="0"/>
          </a:p>
        </p:txBody>
      </p:sp>
      <p:sp>
        <p:nvSpPr>
          <p:cNvPr id="15" name="Shape 13"/>
          <p:cNvSpPr/>
          <p:nvPr/>
        </p:nvSpPr>
        <p:spPr>
          <a:xfrm>
            <a:off x="7429500" y="3767328"/>
            <a:ext cx="0" cy="393192"/>
          </a:xfrm>
          <a:prstGeom prst="line">
            <a:avLst/>
          </a:prstGeom>
          <a:noFill/>
          <a:ln w="22225">
            <a:solidFill>
              <a:schemeClr val="tx2"/>
            </a:solidFill>
            <a:prstDash val="solid"/>
            <a:tailEnd type="triangle"/>
          </a:ln>
        </p:spPr>
        <p:txBody>
          <a:bodyPr/>
          <a:lstStyle/>
          <a:p>
            <a:endParaRPr lang="en-UA"/>
          </a:p>
        </p:txBody>
      </p:sp>
      <p:sp>
        <p:nvSpPr>
          <p:cNvPr id="16" name="tile V"/>
          <p:cNvSpPr/>
          <p:nvPr/>
        </p:nvSpPr>
        <p:spPr>
          <a:xfrm>
            <a:off x="7086600" y="4206240"/>
            <a:ext cx="685800" cy="685800"/>
          </a:xfrm>
          <a:prstGeom prst="roundRect">
            <a:avLst>
              <a:gd name="adj" fmla="val 18000"/>
            </a:avLst>
          </a:prstGeom>
          <a:solidFill>
            <a:schemeClr val="accent2"/>
          </a:solidFill>
          <a:ln/>
        </p:spPr>
        <p:txBody>
          <a:bodyPr/>
          <a:lstStyle/>
          <a:p>
            <a:endParaRPr lang="en-UA"/>
          </a:p>
        </p:txBody>
      </p:sp>
      <p:sp>
        <p:nvSpPr>
          <p:cNvPr id="17" name="Text 15"/>
          <p:cNvSpPr txBox="1"/>
          <p:nvPr/>
        </p:nvSpPr>
        <p:spPr>
          <a:xfrm>
            <a:off x="7086600" y="420624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V</a:t>
            </a:r>
            <a:endParaRPr lang="en-US" sz="2600" dirty="0"/>
          </a:p>
        </p:txBody>
      </p:sp>
      <p:sp>
        <p:nvSpPr>
          <p:cNvPr id="18" name="Text 16"/>
          <p:cNvSpPr txBox="1"/>
          <p:nvPr/>
        </p:nvSpPr>
        <p:spPr>
          <a:xfrm>
            <a:off x="8001000" y="4187952"/>
            <a:ext cx="3642055" cy="365760"/>
          </a:xfrm>
          <a:prstGeom prst="rect">
            <a:avLst/>
          </a:prstGeom>
          <a:noFill/>
          <a:ln/>
        </p:spPr>
        <p:txBody>
          <a:bodyPr wrap="square" lIns="0" tIns="0" rIns="0" bIns="0" rtlCol="0" anchor="ctr"/>
          <a:lstStyle/>
          <a:p>
            <a:pPr marL="0" indent="0">
              <a:buNone/>
            </a:pPr>
            <a:r>
              <a:rPr lang="en-US" sz="1500" b="1" dirty="0">
                <a:solidFill>
                  <a:schemeClr val="tx1"/>
                </a:solidFill>
                <a:latin typeface="Courier New" pitchFamily="34" charset="0"/>
                <a:ea typeface="Courier New" pitchFamily="34" charset="-122"/>
                <a:cs typeface="Courier New" pitchFamily="34" charset="-120"/>
              </a:rPr>
              <a:t>view.render(books)</a:t>
            </a:r>
            <a:endParaRPr lang="en-US" sz="1500" dirty="0"/>
          </a:p>
        </p:txBody>
      </p:sp>
      <p:sp>
        <p:nvSpPr>
          <p:cNvPr id="19" name="Text 17"/>
          <p:cNvSpPr txBox="1"/>
          <p:nvPr/>
        </p:nvSpPr>
        <p:spPr>
          <a:xfrm>
            <a:off x="8001000" y="4553712"/>
            <a:ext cx="3642055" cy="320040"/>
          </a:xfrm>
          <a:prstGeom prst="rect">
            <a:avLst/>
          </a:prstGeom>
          <a:noFill/>
          <a:ln/>
        </p:spPr>
        <p:txBody>
          <a:bodyPr wrap="square" lIns="0" tIns="0" rIns="0" bIns="0" rtlCol="0" anchor="ctr"/>
          <a:lstStyle/>
          <a:p>
            <a:pPr marL="0" indent="0">
              <a:buNone/>
            </a:pPr>
            <a:r>
              <a:rPr lang="en-US" sz="1600" dirty="0">
                <a:solidFill>
                  <a:schemeClr val="tx2"/>
                </a:solidFill>
              </a:rPr>
              <a:t>повертає текст</a:t>
            </a:r>
            <a:endParaRPr lang="en-US" sz="1600" dirty="0"/>
          </a:p>
        </p:txBody>
      </p:sp>
      <p:sp>
        <p:nvSpPr>
          <p:cNvPr id="20" name="Text 18"/>
          <p:cNvSpPr txBox="1"/>
          <p:nvPr/>
        </p:nvSpPr>
        <p:spPr>
          <a:xfrm>
            <a:off x="7086600" y="5349240"/>
            <a:ext cx="4556455" cy="320040"/>
          </a:xfrm>
          <a:prstGeom prst="rect">
            <a:avLst/>
          </a:prstGeom>
          <a:noFill/>
          <a:ln/>
        </p:spPr>
        <p:txBody>
          <a:bodyPr wrap="square" lIns="0" tIns="0" rIns="0" bIns="0" rtlCol="0" anchor="ctr"/>
          <a:lstStyle/>
          <a:p>
            <a:pPr marL="0" indent="0">
              <a:buNone/>
            </a:pPr>
            <a:r>
              <a:rPr lang="en-US" sz="1400" dirty="0">
                <a:solidFill>
                  <a:schemeClr val="tx2"/>
                </a:solidFill>
                <a:latin typeface="Courier New" pitchFamily="34" charset="0"/>
                <a:ea typeface="Courier New" pitchFamily="34" charset="-122"/>
                <a:cs typeface="Courier New" pitchFamily="34" charset="-120"/>
              </a:rPr>
              <a:t>print(...) показує результат</a:t>
            </a:r>
            <a:endParaRPr lang="en-US" sz="1400" dirty="0"/>
          </a:p>
        </p:txBody>
      </p:sp>
      <p:sp>
        <p:nvSpPr>
          <p:cNvPr id="21" name="Text 19"/>
          <p:cNvSpPr txBox="1"/>
          <p:nvPr/>
        </p:nvSpPr>
        <p:spPr>
          <a:xfrm>
            <a:off x="548640" y="5897880"/>
            <a:ext cx="10362895" cy="457200"/>
          </a:xfrm>
          <a:prstGeom prst="rect">
            <a:avLst/>
          </a:prstGeom>
          <a:noFill/>
          <a:ln/>
        </p:spPr>
        <p:txBody>
          <a:bodyPr wrap="square" lIns="0" tIns="0" rIns="0" bIns="0" rtlCol="0" anchor="ctr"/>
          <a:lstStyle/>
          <a:p>
            <a:pPr marL="0" indent="0">
              <a:buNone/>
            </a:pPr>
            <a:r>
              <a:rPr lang="en-US" sz="1800" i="1" dirty="0">
                <a:solidFill>
                  <a:schemeClr val="tx2"/>
                </a:solidFill>
              </a:rPr>
              <a:t>Де зберігаються дані, а де створюється текст?</a:t>
            </a:r>
            <a:endParaRPr lang="en-US" sz="18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Самостійно: нова дія у MVC</a:t>
            </a:r>
            <a:endParaRPr lang="en-US" sz="3400" dirty="0"/>
          </a:p>
        </p:txBody>
      </p:sp>
      <p:sp>
        <p:nvSpPr>
          <p:cNvPr id="3" name="Text 1"/>
          <p:cNvSpPr txBox="1"/>
          <p:nvPr/>
        </p:nvSpPr>
        <p:spPr>
          <a:xfrm>
            <a:off x="548640" y="1188720"/>
            <a:ext cx="7315200" cy="411480"/>
          </a:xfrm>
          <a:prstGeom prst="rect">
            <a:avLst/>
          </a:prstGeom>
          <a:noFill/>
          <a:ln/>
        </p:spPr>
        <p:txBody>
          <a:bodyPr wrap="square" lIns="0" tIns="0" rIns="0" bIns="0" rtlCol="0" anchor="ctr"/>
          <a:lstStyle/>
          <a:p>
            <a:pPr marL="0" indent="0">
              <a:buNone/>
            </a:pPr>
            <a:r>
              <a:rPr lang="en-US" sz="1800" dirty="0">
                <a:solidFill>
                  <a:schemeClr val="tx2"/>
                </a:solidFill>
              </a:rPr>
              <a:t>Додайте підрахунок книг у mvc_demo.py.</a:t>
            </a:r>
            <a:endParaRPr lang="en-US" sz="1800" dirty="0"/>
          </a:p>
        </p:txBody>
      </p:sp>
      <p:sp>
        <p:nvSpPr>
          <p:cNvPr id="6" name="tile M"/>
          <p:cNvSpPr/>
          <p:nvPr/>
        </p:nvSpPr>
        <p:spPr>
          <a:xfrm>
            <a:off x="548640" y="1965960"/>
            <a:ext cx="777240" cy="777240"/>
          </a:xfrm>
          <a:prstGeom prst="roundRect">
            <a:avLst>
              <a:gd name="adj" fmla="val 18000"/>
            </a:avLst>
          </a:prstGeom>
          <a:solidFill>
            <a:schemeClr val="accent1"/>
          </a:solidFill>
          <a:ln/>
        </p:spPr>
        <p:txBody>
          <a:bodyPr/>
          <a:lstStyle/>
          <a:p>
            <a:endParaRPr lang="en-UA"/>
          </a:p>
        </p:txBody>
      </p:sp>
      <p:sp>
        <p:nvSpPr>
          <p:cNvPr id="7" name="Text 5"/>
          <p:cNvSpPr txBox="1"/>
          <p:nvPr/>
        </p:nvSpPr>
        <p:spPr>
          <a:xfrm>
            <a:off x="548640" y="1965960"/>
            <a:ext cx="777240" cy="777240"/>
          </a:xfrm>
          <a:prstGeom prst="rect">
            <a:avLst/>
          </a:prstGeom>
          <a:noFill/>
          <a:ln/>
        </p:spPr>
        <p:txBody>
          <a:bodyPr wrap="square" lIns="0" tIns="0" rIns="0" bIns="0" rtlCol="0" anchor="ctr"/>
          <a:lstStyle/>
          <a:p>
            <a:pPr marL="0" indent="0" algn="ctr">
              <a:buNone/>
            </a:pPr>
            <a:r>
              <a:rPr lang="en-US" sz="2900" b="1" dirty="0">
                <a:solidFill>
                  <a:schemeClr val="bg1"/>
                </a:solidFill>
                <a:latin typeface="Cambria" pitchFamily="34" charset="0"/>
                <a:ea typeface="Cambria" pitchFamily="34" charset="-122"/>
                <a:cs typeface="Cambria" pitchFamily="34" charset="-120"/>
              </a:rPr>
              <a:t>M</a:t>
            </a:r>
            <a:endParaRPr lang="en-US" sz="2900" dirty="0"/>
          </a:p>
        </p:txBody>
      </p:sp>
      <p:sp>
        <p:nvSpPr>
          <p:cNvPr id="8" name="Text 6"/>
          <p:cNvSpPr txBox="1"/>
          <p:nvPr/>
        </p:nvSpPr>
        <p:spPr>
          <a:xfrm>
            <a:off x="1600200" y="1984248"/>
            <a:ext cx="5120640" cy="384048"/>
          </a:xfrm>
          <a:prstGeom prst="rect">
            <a:avLst/>
          </a:prstGeom>
          <a:noFill/>
          <a:ln/>
        </p:spPr>
        <p:txBody>
          <a:bodyPr wrap="square" lIns="0" tIns="0" rIns="0" bIns="0" rtlCol="0" anchor="ctr"/>
          <a:lstStyle/>
          <a:p>
            <a:pPr marL="0" indent="0">
              <a:buNone/>
            </a:pPr>
            <a:r>
              <a:rPr lang="en-US" sz="1900" b="1" dirty="0">
                <a:solidFill>
                  <a:schemeClr val="tx1"/>
                </a:solidFill>
                <a:latin typeface="Courier New" pitchFamily="34" charset="0"/>
                <a:ea typeface="Courier New" pitchFamily="34" charset="-122"/>
                <a:cs typeface="Courier New" pitchFamily="34" charset="-120"/>
              </a:rPr>
              <a:t>count_books()</a:t>
            </a:r>
            <a:endParaRPr lang="en-US" sz="1900" dirty="0"/>
          </a:p>
        </p:txBody>
      </p:sp>
      <p:sp>
        <p:nvSpPr>
          <p:cNvPr id="9" name="Text 7"/>
          <p:cNvSpPr txBox="1"/>
          <p:nvPr/>
        </p:nvSpPr>
        <p:spPr>
          <a:xfrm>
            <a:off x="1600200" y="2377440"/>
            <a:ext cx="5120640" cy="347472"/>
          </a:xfrm>
          <a:prstGeom prst="rect">
            <a:avLst/>
          </a:prstGeom>
          <a:noFill/>
          <a:ln/>
        </p:spPr>
        <p:txBody>
          <a:bodyPr wrap="square" lIns="0" tIns="0" rIns="0" bIns="0" rtlCol="0" anchor="ctr"/>
          <a:lstStyle/>
          <a:p>
            <a:pPr marL="0" indent="0">
              <a:buNone/>
            </a:pPr>
            <a:r>
              <a:rPr lang="en-US" sz="1700" dirty="0">
                <a:solidFill>
                  <a:schemeClr val="tx2"/>
                </a:solidFill>
              </a:rPr>
              <a:t>Model: повертає число</a:t>
            </a:r>
            <a:endParaRPr lang="en-US" sz="1700" dirty="0"/>
          </a:p>
        </p:txBody>
      </p:sp>
      <p:sp>
        <p:nvSpPr>
          <p:cNvPr id="10" name="tile V"/>
          <p:cNvSpPr/>
          <p:nvPr/>
        </p:nvSpPr>
        <p:spPr>
          <a:xfrm>
            <a:off x="548640" y="3063240"/>
            <a:ext cx="777240" cy="777240"/>
          </a:xfrm>
          <a:prstGeom prst="roundRect">
            <a:avLst>
              <a:gd name="adj" fmla="val 18000"/>
            </a:avLst>
          </a:prstGeom>
          <a:solidFill>
            <a:schemeClr val="accent2"/>
          </a:solidFill>
          <a:ln/>
        </p:spPr>
        <p:txBody>
          <a:bodyPr/>
          <a:lstStyle/>
          <a:p>
            <a:endParaRPr lang="en-UA"/>
          </a:p>
        </p:txBody>
      </p:sp>
      <p:sp>
        <p:nvSpPr>
          <p:cNvPr id="11" name="Text 9"/>
          <p:cNvSpPr txBox="1"/>
          <p:nvPr/>
        </p:nvSpPr>
        <p:spPr>
          <a:xfrm>
            <a:off x="548640" y="3063240"/>
            <a:ext cx="777240" cy="777240"/>
          </a:xfrm>
          <a:prstGeom prst="rect">
            <a:avLst/>
          </a:prstGeom>
          <a:noFill/>
          <a:ln/>
        </p:spPr>
        <p:txBody>
          <a:bodyPr wrap="square" lIns="0" tIns="0" rIns="0" bIns="0" rtlCol="0" anchor="ctr"/>
          <a:lstStyle/>
          <a:p>
            <a:pPr marL="0" indent="0" algn="ctr">
              <a:buNone/>
            </a:pPr>
            <a:r>
              <a:rPr lang="en-US" sz="2900" b="1" dirty="0">
                <a:solidFill>
                  <a:schemeClr val="bg1"/>
                </a:solidFill>
                <a:latin typeface="Cambria" pitchFamily="34" charset="0"/>
                <a:ea typeface="Cambria" pitchFamily="34" charset="-122"/>
                <a:cs typeface="Cambria" pitchFamily="34" charset="-120"/>
              </a:rPr>
              <a:t>V</a:t>
            </a:r>
            <a:endParaRPr lang="en-US" sz="2900" dirty="0"/>
          </a:p>
        </p:txBody>
      </p:sp>
      <p:sp>
        <p:nvSpPr>
          <p:cNvPr id="12" name="Text 10"/>
          <p:cNvSpPr txBox="1"/>
          <p:nvPr/>
        </p:nvSpPr>
        <p:spPr>
          <a:xfrm>
            <a:off x="1600200" y="3081528"/>
            <a:ext cx="5120640" cy="384048"/>
          </a:xfrm>
          <a:prstGeom prst="rect">
            <a:avLst/>
          </a:prstGeom>
          <a:noFill/>
          <a:ln/>
        </p:spPr>
        <p:txBody>
          <a:bodyPr wrap="square" lIns="0" tIns="0" rIns="0" bIns="0" rtlCol="0" anchor="ctr"/>
          <a:lstStyle/>
          <a:p>
            <a:pPr marL="0" indent="0">
              <a:buNone/>
            </a:pPr>
            <a:r>
              <a:rPr lang="en-US" sz="1900" b="1" dirty="0">
                <a:solidFill>
                  <a:schemeClr val="tx1"/>
                </a:solidFill>
                <a:latin typeface="Courier New" pitchFamily="34" charset="0"/>
                <a:ea typeface="Courier New" pitchFamily="34" charset="-122"/>
                <a:cs typeface="Courier New" pitchFamily="34" charset="-120"/>
              </a:rPr>
              <a:t>render_count(count)</a:t>
            </a:r>
            <a:endParaRPr lang="en-US" sz="1900" dirty="0"/>
          </a:p>
        </p:txBody>
      </p:sp>
      <p:sp>
        <p:nvSpPr>
          <p:cNvPr id="13" name="Text 11"/>
          <p:cNvSpPr txBox="1"/>
          <p:nvPr/>
        </p:nvSpPr>
        <p:spPr>
          <a:xfrm>
            <a:off x="1600200" y="3474720"/>
            <a:ext cx="5120640" cy="347472"/>
          </a:xfrm>
          <a:prstGeom prst="rect">
            <a:avLst/>
          </a:prstGeom>
          <a:noFill/>
          <a:ln/>
        </p:spPr>
        <p:txBody>
          <a:bodyPr wrap="square" lIns="0" tIns="0" rIns="0" bIns="0" rtlCol="0" anchor="ctr"/>
          <a:lstStyle/>
          <a:p>
            <a:pPr marL="0" indent="0">
              <a:buNone/>
            </a:pPr>
            <a:r>
              <a:rPr lang="en-US" sz="1700" dirty="0">
                <a:solidFill>
                  <a:schemeClr val="tx2"/>
                </a:solidFill>
              </a:rPr>
              <a:t>View: повертає "Книг: N"</a:t>
            </a:r>
            <a:endParaRPr lang="en-US" sz="1700" dirty="0"/>
          </a:p>
        </p:txBody>
      </p:sp>
      <p:sp>
        <p:nvSpPr>
          <p:cNvPr id="14" name="tile C"/>
          <p:cNvSpPr/>
          <p:nvPr/>
        </p:nvSpPr>
        <p:spPr>
          <a:xfrm>
            <a:off x="548640" y="4160520"/>
            <a:ext cx="777240" cy="777240"/>
          </a:xfrm>
          <a:prstGeom prst="roundRect">
            <a:avLst>
              <a:gd name="adj" fmla="val 18000"/>
            </a:avLst>
          </a:prstGeom>
          <a:solidFill>
            <a:schemeClr val="accent3"/>
          </a:solidFill>
          <a:ln/>
        </p:spPr>
        <p:txBody>
          <a:bodyPr/>
          <a:lstStyle/>
          <a:p>
            <a:endParaRPr lang="en-UA"/>
          </a:p>
        </p:txBody>
      </p:sp>
      <p:sp>
        <p:nvSpPr>
          <p:cNvPr id="15" name="Text 13"/>
          <p:cNvSpPr txBox="1"/>
          <p:nvPr/>
        </p:nvSpPr>
        <p:spPr>
          <a:xfrm>
            <a:off x="548640" y="4160520"/>
            <a:ext cx="777240" cy="777240"/>
          </a:xfrm>
          <a:prstGeom prst="rect">
            <a:avLst/>
          </a:prstGeom>
          <a:noFill/>
          <a:ln/>
        </p:spPr>
        <p:txBody>
          <a:bodyPr wrap="square" lIns="0" tIns="0" rIns="0" bIns="0" rtlCol="0" anchor="ctr"/>
          <a:lstStyle/>
          <a:p>
            <a:pPr marL="0" indent="0" algn="ctr">
              <a:buNone/>
            </a:pPr>
            <a:r>
              <a:rPr lang="en-US" sz="2900" b="1" dirty="0">
                <a:solidFill>
                  <a:schemeClr val="bg1"/>
                </a:solidFill>
                <a:latin typeface="Cambria" pitchFamily="34" charset="0"/>
                <a:ea typeface="Cambria" pitchFamily="34" charset="-122"/>
                <a:cs typeface="Cambria" pitchFamily="34" charset="-120"/>
              </a:rPr>
              <a:t>C</a:t>
            </a:r>
            <a:endParaRPr lang="en-US" sz="2900" dirty="0"/>
          </a:p>
        </p:txBody>
      </p:sp>
      <p:sp>
        <p:nvSpPr>
          <p:cNvPr id="16" name="Text 14"/>
          <p:cNvSpPr txBox="1"/>
          <p:nvPr/>
        </p:nvSpPr>
        <p:spPr>
          <a:xfrm>
            <a:off x="1600200" y="4178808"/>
            <a:ext cx="5120640" cy="384048"/>
          </a:xfrm>
          <a:prstGeom prst="rect">
            <a:avLst/>
          </a:prstGeom>
          <a:noFill/>
          <a:ln/>
        </p:spPr>
        <p:txBody>
          <a:bodyPr wrap="square" lIns="0" tIns="0" rIns="0" bIns="0" rtlCol="0" anchor="ctr"/>
          <a:lstStyle/>
          <a:p>
            <a:pPr marL="0" indent="0">
              <a:buNone/>
            </a:pPr>
            <a:r>
              <a:rPr lang="en-US" sz="1900" b="1" dirty="0">
                <a:solidFill>
                  <a:schemeClr val="tx1"/>
                </a:solidFill>
                <a:latin typeface="Courier New" pitchFamily="34" charset="0"/>
                <a:ea typeface="Courier New" pitchFamily="34" charset="-122"/>
                <a:cs typeface="Courier New" pitchFamily="34" charset="-120"/>
              </a:rPr>
              <a:t>show_count()</a:t>
            </a:r>
            <a:endParaRPr lang="en-US" sz="1900" dirty="0"/>
          </a:p>
        </p:txBody>
      </p:sp>
      <p:sp>
        <p:nvSpPr>
          <p:cNvPr id="17" name="Text 15"/>
          <p:cNvSpPr txBox="1"/>
          <p:nvPr/>
        </p:nvSpPr>
        <p:spPr>
          <a:xfrm>
            <a:off x="1600200" y="4572000"/>
            <a:ext cx="5120640" cy="347472"/>
          </a:xfrm>
          <a:prstGeom prst="rect">
            <a:avLst/>
          </a:prstGeom>
          <a:noFill/>
          <a:ln/>
        </p:spPr>
        <p:txBody>
          <a:bodyPr wrap="square" lIns="0" tIns="0" rIns="0" bIns="0" rtlCol="0" anchor="ctr"/>
          <a:lstStyle/>
          <a:p>
            <a:pPr marL="0" indent="0">
              <a:buNone/>
            </a:pPr>
            <a:r>
              <a:rPr lang="en-US" sz="1700" dirty="0">
                <a:solidFill>
                  <a:schemeClr val="tx2"/>
                </a:solidFill>
              </a:rPr>
              <a:t>Controller: узгоджує ці виклики</a:t>
            </a:r>
            <a:endParaRPr lang="en-US" sz="1700" dirty="0"/>
          </a:p>
        </p:txBody>
      </p:sp>
      <p:sp>
        <p:nvSpPr>
          <p:cNvPr id="18" name="output"/>
          <p:cNvSpPr/>
          <p:nvPr/>
        </p:nvSpPr>
        <p:spPr>
          <a:xfrm>
            <a:off x="7086600" y="1874520"/>
            <a:ext cx="4556455" cy="2331720"/>
          </a:xfrm>
          <a:prstGeom prst="roundRect">
            <a:avLst>
              <a:gd name="adj" fmla="val 4706"/>
            </a:avLst>
          </a:prstGeom>
          <a:solidFill>
            <a:schemeClr val="bg2"/>
          </a:solidFill>
          <a:ln/>
        </p:spPr>
        <p:txBody>
          <a:bodyPr/>
          <a:lstStyle/>
          <a:p>
            <a:endParaRPr lang="en-UA"/>
          </a:p>
        </p:txBody>
      </p:sp>
      <p:sp>
        <p:nvSpPr>
          <p:cNvPr id="19" name="Text 17"/>
          <p:cNvSpPr txBox="1"/>
          <p:nvPr/>
        </p:nvSpPr>
        <p:spPr>
          <a:xfrm>
            <a:off x="7360920" y="2039112"/>
            <a:ext cx="4007815" cy="274320"/>
          </a:xfrm>
          <a:prstGeom prst="rect">
            <a:avLst/>
          </a:prstGeom>
          <a:noFill/>
          <a:ln/>
        </p:spPr>
        <p:txBody>
          <a:bodyPr wrap="square" lIns="0" tIns="0" rIns="0" bIns="0" rtlCol="0" anchor="ctr"/>
          <a:lstStyle/>
          <a:p>
            <a:pPr marL="0" indent="0">
              <a:buNone/>
            </a:pPr>
            <a:r>
              <a:rPr lang="en-US" sz="1200" dirty="0">
                <a:solidFill>
                  <a:schemeClr val="tx2"/>
                </a:solidFill>
              </a:rPr>
              <a:t>Очікуваний вивід</a:t>
            </a:r>
            <a:endParaRPr lang="en-US" sz="1200" dirty="0"/>
          </a:p>
        </p:txBody>
      </p:sp>
      <p:sp>
        <p:nvSpPr>
          <p:cNvPr id="20" name="Text 18"/>
          <p:cNvSpPr txBox="1"/>
          <p:nvPr/>
        </p:nvSpPr>
        <p:spPr>
          <a:xfrm>
            <a:off x="7360920" y="2350008"/>
            <a:ext cx="4007815" cy="1691640"/>
          </a:xfrm>
          <a:prstGeom prst="rect">
            <a:avLst/>
          </a:prstGeom>
          <a:noFill/>
          <a:ln/>
        </p:spPr>
        <p:txBody>
          <a:bodyPr wrap="square" lIns="0" tIns="0" rIns="0" bIns="0" rtlCol="0" anchor="t"/>
          <a:lstStyle/>
          <a:p>
            <a:pPr marL="0" indent="0">
              <a:lnSpc>
                <a:spcPct val="110000"/>
              </a:lnSpc>
              <a:buNone/>
            </a:pPr>
            <a:r>
              <a:rPr lang="en-US" sz="1700" dirty="0">
                <a:solidFill>
                  <a:schemeClr val="tx1"/>
                </a:solidFill>
                <a:latin typeface="Courier New" pitchFamily="34" charset="0"/>
                <a:ea typeface="Courier New" pitchFamily="34" charset="-122"/>
                <a:cs typeface="Courier New" pitchFamily="34" charset="-120"/>
              </a:rPr>
              <a:t>Книг поки немає</a:t>
            </a:r>
            <a:endParaRPr lang="en-US" sz="1700" dirty="0"/>
          </a:p>
          <a:p>
            <a:pPr marL="0" indent="0">
              <a:lnSpc>
                <a:spcPct val="110000"/>
              </a:lnSpc>
              <a:buNone/>
            </a:pPr>
            <a:r>
              <a:rPr lang="en-US" sz="1700" dirty="0">
                <a:solidFill>
                  <a:schemeClr val="tx1"/>
                </a:solidFill>
                <a:latin typeface="Courier New" pitchFamily="34" charset="0"/>
                <a:ea typeface="Courier New" pitchFamily="34" charset="-122"/>
                <a:cs typeface="Courier New" pitchFamily="34" charset="-120"/>
              </a:rPr>
              <a:t>Книг: 0</a:t>
            </a:r>
            <a:endParaRPr lang="en-US" sz="1700" dirty="0"/>
          </a:p>
          <a:p>
            <a:pPr marL="0" indent="0">
              <a:lnSpc>
                <a:spcPct val="110000"/>
              </a:lnSpc>
              <a:buNone/>
            </a:pPr>
            <a:r>
              <a:rPr lang="en-US" sz="1700" dirty="0">
                <a:solidFill>
                  <a:schemeClr val="tx1"/>
                </a:solidFill>
                <a:latin typeface="Courier New" pitchFamily="34" charset="0"/>
                <a:ea typeface="Courier New" pitchFamily="34" charset="-122"/>
                <a:cs typeface="Courier New" pitchFamily="34" charset="-120"/>
              </a:rPr>
              <a:t>- Кобзар</a:t>
            </a:r>
            <a:endParaRPr lang="en-US" sz="1700" dirty="0"/>
          </a:p>
          <a:p>
            <a:pPr marL="0" indent="0">
              <a:lnSpc>
                <a:spcPct val="110000"/>
              </a:lnSpc>
              <a:buNone/>
            </a:pPr>
            <a:r>
              <a:rPr lang="en-US" sz="1700" dirty="0">
                <a:solidFill>
                  <a:schemeClr val="tx1"/>
                </a:solidFill>
                <a:latin typeface="Courier New" pitchFamily="34" charset="0"/>
                <a:ea typeface="Courier New" pitchFamily="34" charset="-122"/>
                <a:cs typeface="Courier New" pitchFamily="34" charset="-120"/>
              </a:rPr>
              <a:t>- Місто</a:t>
            </a:r>
            <a:endParaRPr lang="en-US" sz="1700" dirty="0"/>
          </a:p>
          <a:p>
            <a:pPr marL="0" indent="0">
              <a:lnSpc>
                <a:spcPct val="110000"/>
              </a:lnSpc>
              <a:buNone/>
            </a:pPr>
            <a:r>
              <a:rPr lang="en-US" sz="1700" dirty="0">
                <a:solidFill>
                  <a:schemeClr val="tx1"/>
                </a:solidFill>
                <a:latin typeface="Courier New" pitchFamily="34" charset="0"/>
                <a:ea typeface="Courier New" pitchFamily="34" charset="-122"/>
                <a:cs typeface="Courier New" pitchFamily="34" charset="-120"/>
              </a:rPr>
              <a:t>Книг: 2</a:t>
            </a:r>
            <a:endParaRPr lang="en-US" sz="1700" dirty="0"/>
          </a:p>
        </p:txBody>
      </p:sp>
      <p:sp>
        <p:nvSpPr>
          <p:cNvPr id="21" name="Text 19"/>
          <p:cNvSpPr txBox="1"/>
          <p:nvPr/>
        </p:nvSpPr>
        <p:spPr>
          <a:xfrm>
            <a:off x="7086600" y="4434840"/>
            <a:ext cx="4556455" cy="320040"/>
          </a:xfrm>
          <a:prstGeom prst="rect">
            <a:avLst/>
          </a:prstGeom>
          <a:noFill/>
          <a:ln/>
        </p:spPr>
        <p:txBody>
          <a:bodyPr wrap="square" lIns="0" tIns="0" rIns="0" bIns="0" rtlCol="0" anchor="ctr"/>
          <a:lstStyle/>
          <a:p>
            <a:pPr marL="0" indent="0">
              <a:buNone/>
            </a:pPr>
            <a:r>
              <a:rPr lang="en-US" sz="1600" b="1" dirty="0">
                <a:solidFill>
                  <a:schemeClr val="tx1"/>
                </a:solidFill>
              </a:rPr>
              <a:t>Готово, коли:</a:t>
            </a:r>
            <a:endParaRPr lang="en-US" sz="1600" dirty="0"/>
          </a:p>
        </p:txBody>
      </p:sp>
      <p:sp>
        <p:nvSpPr>
          <p:cNvPr id="22" name="Text 20"/>
          <p:cNvSpPr txBox="1"/>
          <p:nvPr/>
        </p:nvSpPr>
        <p:spPr>
          <a:xfrm>
            <a:off x="7086600" y="4800600"/>
            <a:ext cx="4556455" cy="109728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0 до додавання, 2 після двох книг</a:t>
            </a:r>
            <a:endParaRPr lang="en-US" sz="1600" dirty="0"/>
          </a:p>
          <a:p>
            <a:pPr marL="342900" indent="-342900">
              <a:spcAft>
                <a:spcPts val="400"/>
              </a:spcAft>
              <a:buSzPct val="100000"/>
              <a:buChar char="•"/>
            </a:pPr>
            <a:r>
              <a:rPr lang="en-US" sz="1600" dirty="0">
                <a:solidFill>
                  <a:schemeClr val="tx1"/>
                </a:solidFill>
              </a:rPr>
              <a:t>Показ списку працює</a:t>
            </a:r>
            <a:endParaRPr lang="en-US" sz="1600" dirty="0"/>
          </a:p>
          <a:p>
            <a:pPr marL="342900" indent="-342900">
              <a:spcAft>
                <a:spcPts val="400"/>
              </a:spcAft>
              <a:buSzPct val="100000"/>
              <a:buChar char="•"/>
            </a:pPr>
            <a:r>
              <a:rPr lang="en-US" sz="1600" dirty="0">
                <a:solidFill>
                  <a:schemeClr val="tx1"/>
                </a:solidFill>
              </a:rPr>
              <a:t>Файл збережено</a:t>
            </a:r>
            <a:endParaRPr lang="en-US" sz="1600" dirty="0"/>
          </a:p>
        </p:txBody>
      </p:sp>
      <p:sp>
        <p:nvSpPr>
          <p:cNvPr id="25"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MVT: ті самі межі, інші ролі</a:t>
            </a:r>
            <a:endParaRPr lang="en-US" sz="3400" dirty="0"/>
          </a:p>
        </p:txBody>
      </p:sp>
      <p:sp>
        <p:nvSpPr>
          <p:cNvPr id="3" name="Text 1"/>
          <p:cNvSpPr txBox="1"/>
          <p:nvPr/>
        </p:nvSpPr>
        <p:spPr>
          <a:xfrm>
            <a:off x="548640" y="1188720"/>
            <a:ext cx="9144000" cy="411480"/>
          </a:xfrm>
          <a:prstGeom prst="rect">
            <a:avLst/>
          </a:prstGeom>
          <a:noFill/>
          <a:ln/>
        </p:spPr>
        <p:txBody>
          <a:bodyPr wrap="square" lIns="0" tIns="0" rIns="0" bIns="0" rtlCol="0" anchor="ctr"/>
          <a:lstStyle/>
          <a:p>
            <a:pPr marL="0" indent="0">
              <a:buNone/>
            </a:pPr>
            <a:r>
              <a:rPr lang="uk-UA" sz="1800" dirty="0">
                <a:solidFill>
                  <a:schemeClr val="tx2"/>
                </a:solidFill>
              </a:rPr>
              <a:t>С</a:t>
            </a:r>
            <a:r>
              <a:rPr lang="en-US" sz="1800" dirty="0" err="1">
                <a:solidFill>
                  <a:schemeClr val="tx2"/>
                </a:solidFill>
              </a:rPr>
              <a:t>постерігаємо</a:t>
            </a:r>
            <a:r>
              <a:rPr lang="en-US" sz="1800" dirty="0">
                <a:solidFill>
                  <a:schemeClr val="tx2"/>
                </a:solidFill>
              </a:rPr>
              <a:t> за </a:t>
            </a:r>
            <a:r>
              <a:rPr lang="en-US" sz="1800" dirty="0" err="1">
                <a:solidFill>
                  <a:schemeClr val="tx2"/>
                </a:solidFill>
              </a:rPr>
              <a:t>готовим</a:t>
            </a:r>
            <a:r>
              <a:rPr lang="en-US" sz="1800" dirty="0">
                <a:solidFill>
                  <a:schemeClr val="tx2"/>
                </a:solidFill>
              </a:rPr>
              <a:t> </a:t>
            </a:r>
            <a:r>
              <a:rPr lang="en-US" sz="1800" dirty="0" err="1">
                <a:solidFill>
                  <a:schemeClr val="tx2"/>
                </a:solidFill>
              </a:rPr>
              <a:t>прикладом</a:t>
            </a:r>
            <a:r>
              <a:rPr lang="en-US" sz="1800" dirty="0">
                <a:solidFill>
                  <a:schemeClr val="tx2"/>
                </a:solidFill>
              </a:rPr>
              <a:t>.</a:t>
            </a:r>
            <a:endParaRPr lang="en-US" sz="1800" dirty="0"/>
          </a:p>
        </p:txBody>
      </p:sp>
      <p:sp>
        <p:nvSpPr>
          <p:cNvPr id="4" name="row Model"/>
          <p:cNvSpPr/>
          <p:nvPr/>
        </p:nvSpPr>
        <p:spPr>
          <a:xfrm>
            <a:off x="548640" y="1920240"/>
            <a:ext cx="6949440" cy="960120"/>
          </a:xfrm>
          <a:prstGeom prst="roundRect">
            <a:avLst>
              <a:gd name="adj" fmla="val 11429"/>
            </a:avLst>
          </a:prstGeom>
          <a:solidFill>
            <a:schemeClr val="bg2"/>
          </a:solidFill>
          <a:ln/>
        </p:spPr>
        <p:txBody>
          <a:bodyPr/>
          <a:lstStyle/>
          <a:p>
            <a:endParaRPr lang="en-UA"/>
          </a:p>
        </p:txBody>
      </p:sp>
      <p:sp>
        <p:nvSpPr>
          <p:cNvPr id="5" name="tile M"/>
          <p:cNvSpPr/>
          <p:nvPr/>
        </p:nvSpPr>
        <p:spPr>
          <a:xfrm>
            <a:off x="685800" y="2057400"/>
            <a:ext cx="685800" cy="685800"/>
          </a:xfrm>
          <a:prstGeom prst="roundRect">
            <a:avLst>
              <a:gd name="adj" fmla="val 18000"/>
            </a:avLst>
          </a:prstGeom>
          <a:solidFill>
            <a:schemeClr val="accent1"/>
          </a:solidFill>
          <a:ln/>
        </p:spPr>
        <p:txBody>
          <a:bodyPr/>
          <a:lstStyle/>
          <a:p>
            <a:endParaRPr lang="en-UA"/>
          </a:p>
        </p:txBody>
      </p:sp>
      <p:sp>
        <p:nvSpPr>
          <p:cNvPr id="6" name="Text 4"/>
          <p:cNvSpPr txBox="1"/>
          <p:nvPr/>
        </p:nvSpPr>
        <p:spPr>
          <a:xfrm>
            <a:off x="685800" y="205740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M</a:t>
            </a:r>
            <a:endParaRPr lang="en-US" sz="2600" dirty="0"/>
          </a:p>
        </p:txBody>
      </p:sp>
      <p:sp>
        <p:nvSpPr>
          <p:cNvPr id="7" name="Text 5"/>
          <p:cNvSpPr txBox="1"/>
          <p:nvPr/>
        </p:nvSpPr>
        <p:spPr>
          <a:xfrm>
            <a:off x="1645920" y="2011680"/>
            <a:ext cx="2011680" cy="7772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Model</a:t>
            </a:r>
            <a:endParaRPr lang="en-US" sz="2200" dirty="0"/>
          </a:p>
        </p:txBody>
      </p:sp>
      <p:sp>
        <p:nvSpPr>
          <p:cNvPr id="8" name="Text 6"/>
          <p:cNvSpPr txBox="1"/>
          <p:nvPr/>
        </p:nvSpPr>
        <p:spPr>
          <a:xfrm>
            <a:off x="3566160" y="2011680"/>
            <a:ext cx="3749040" cy="777240"/>
          </a:xfrm>
          <a:prstGeom prst="rect">
            <a:avLst/>
          </a:prstGeom>
          <a:noFill/>
          <a:ln/>
        </p:spPr>
        <p:txBody>
          <a:bodyPr wrap="square" lIns="0" tIns="0" rIns="0" bIns="0" rtlCol="0" anchor="ctr"/>
          <a:lstStyle/>
          <a:p>
            <a:pPr marL="0" indent="0">
              <a:buNone/>
            </a:pPr>
            <a:r>
              <a:rPr lang="en-US" sz="1700" dirty="0">
                <a:solidFill>
                  <a:schemeClr val="tx1"/>
                </a:solidFill>
              </a:rPr>
              <a:t>Дані та правила роботи з ними</a:t>
            </a:r>
            <a:endParaRPr lang="en-US" sz="1700" dirty="0"/>
          </a:p>
        </p:txBody>
      </p:sp>
      <p:sp>
        <p:nvSpPr>
          <p:cNvPr id="9" name="row View"/>
          <p:cNvSpPr/>
          <p:nvPr/>
        </p:nvSpPr>
        <p:spPr>
          <a:xfrm>
            <a:off x="548640" y="3063240"/>
            <a:ext cx="6949440" cy="960120"/>
          </a:xfrm>
          <a:prstGeom prst="roundRect">
            <a:avLst>
              <a:gd name="adj" fmla="val 11429"/>
            </a:avLst>
          </a:prstGeom>
          <a:solidFill>
            <a:schemeClr val="bg2"/>
          </a:solidFill>
          <a:ln/>
        </p:spPr>
        <p:txBody>
          <a:bodyPr/>
          <a:lstStyle/>
          <a:p>
            <a:endParaRPr lang="en-UA"/>
          </a:p>
        </p:txBody>
      </p:sp>
      <p:sp>
        <p:nvSpPr>
          <p:cNvPr id="10" name="tile V"/>
          <p:cNvSpPr/>
          <p:nvPr/>
        </p:nvSpPr>
        <p:spPr>
          <a:xfrm>
            <a:off x="685800" y="3200400"/>
            <a:ext cx="685800" cy="685800"/>
          </a:xfrm>
          <a:prstGeom prst="roundRect">
            <a:avLst>
              <a:gd name="adj" fmla="val 18000"/>
            </a:avLst>
          </a:prstGeom>
          <a:solidFill>
            <a:schemeClr val="accent3"/>
          </a:solidFill>
          <a:ln/>
        </p:spPr>
        <p:txBody>
          <a:bodyPr/>
          <a:lstStyle/>
          <a:p>
            <a:endParaRPr lang="en-UA"/>
          </a:p>
        </p:txBody>
      </p:sp>
      <p:sp>
        <p:nvSpPr>
          <p:cNvPr id="11" name="Text 9"/>
          <p:cNvSpPr txBox="1"/>
          <p:nvPr/>
        </p:nvSpPr>
        <p:spPr>
          <a:xfrm>
            <a:off x="685800" y="320040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V</a:t>
            </a:r>
            <a:endParaRPr lang="en-US" sz="2600" dirty="0"/>
          </a:p>
        </p:txBody>
      </p:sp>
      <p:sp>
        <p:nvSpPr>
          <p:cNvPr id="12" name="Text 10"/>
          <p:cNvSpPr txBox="1"/>
          <p:nvPr/>
        </p:nvSpPr>
        <p:spPr>
          <a:xfrm>
            <a:off x="1645920" y="3154680"/>
            <a:ext cx="2011680" cy="7772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View</a:t>
            </a:r>
            <a:endParaRPr lang="en-US" sz="2200" dirty="0"/>
          </a:p>
        </p:txBody>
      </p:sp>
      <p:sp>
        <p:nvSpPr>
          <p:cNvPr id="13" name="Text 11"/>
          <p:cNvSpPr txBox="1"/>
          <p:nvPr/>
        </p:nvSpPr>
        <p:spPr>
          <a:xfrm>
            <a:off x="3566160" y="3154680"/>
            <a:ext cx="3749040" cy="777240"/>
          </a:xfrm>
          <a:prstGeom prst="rect">
            <a:avLst/>
          </a:prstGeom>
          <a:noFill/>
          <a:ln/>
        </p:spPr>
        <p:txBody>
          <a:bodyPr wrap="square" lIns="0" tIns="0" rIns="0" bIns="0" rtlCol="0" anchor="ctr"/>
          <a:lstStyle/>
          <a:p>
            <a:pPr marL="0" indent="0">
              <a:buNone/>
            </a:pPr>
            <a:r>
              <a:rPr lang="en-US" sz="1700" dirty="0">
                <a:solidFill>
                  <a:schemeClr val="tx1"/>
                </a:solidFill>
              </a:rPr>
              <a:t>Обробка запиту й підготовка відповіді</a:t>
            </a:r>
            <a:endParaRPr lang="en-US" sz="1700" dirty="0"/>
          </a:p>
        </p:txBody>
      </p:sp>
      <p:sp>
        <p:nvSpPr>
          <p:cNvPr id="14" name="row Template"/>
          <p:cNvSpPr/>
          <p:nvPr/>
        </p:nvSpPr>
        <p:spPr>
          <a:xfrm>
            <a:off x="548640" y="4206240"/>
            <a:ext cx="6949440" cy="960120"/>
          </a:xfrm>
          <a:prstGeom prst="roundRect">
            <a:avLst>
              <a:gd name="adj" fmla="val 11429"/>
            </a:avLst>
          </a:prstGeom>
          <a:solidFill>
            <a:schemeClr val="bg2"/>
          </a:solidFill>
          <a:ln/>
        </p:spPr>
        <p:txBody>
          <a:bodyPr/>
          <a:lstStyle/>
          <a:p>
            <a:endParaRPr lang="en-UA"/>
          </a:p>
        </p:txBody>
      </p:sp>
      <p:sp>
        <p:nvSpPr>
          <p:cNvPr id="15" name="tile T"/>
          <p:cNvSpPr/>
          <p:nvPr/>
        </p:nvSpPr>
        <p:spPr>
          <a:xfrm>
            <a:off x="685800" y="4343400"/>
            <a:ext cx="685800" cy="685800"/>
          </a:xfrm>
          <a:prstGeom prst="roundRect">
            <a:avLst>
              <a:gd name="adj" fmla="val 18000"/>
            </a:avLst>
          </a:prstGeom>
          <a:solidFill>
            <a:schemeClr val="accent2"/>
          </a:solidFill>
          <a:ln/>
        </p:spPr>
        <p:txBody>
          <a:bodyPr/>
          <a:lstStyle/>
          <a:p>
            <a:endParaRPr lang="en-UA"/>
          </a:p>
        </p:txBody>
      </p:sp>
      <p:sp>
        <p:nvSpPr>
          <p:cNvPr id="16" name="Text 14"/>
          <p:cNvSpPr txBox="1"/>
          <p:nvPr/>
        </p:nvSpPr>
        <p:spPr>
          <a:xfrm>
            <a:off x="685800" y="4343400"/>
            <a:ext cx="685800" cy="685800"/>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T</a:t>
            </a:r>
            <a:endParaRPr lang="en-US" sz="2600" dirty="0"/>
          </a:p>
        </p:txBody>
      </p:sp>
      <p:sp>
        <p:nvSpPr>
          <p:cNvPr id="17" name="Text 15"/>
          <p:cNvSpPr txBox="1"/>
          <p:nvPr/>
        </p:nvSpPr>
        <p:spPr>
          <a:xfrm>
            <a:off x="1645920" y="4297680"/>
            <a:ext cx="2011680" cy="777240"/>
          </a:xfrm>
          <a:prstGeom prst="rect">
            <a:avLst/>
          </a:prstGeom>
          <a:noFill/>
          <a:ln/>
        </p:spPr>
        <p:txBody>
          <a:bodyPr wrap="square" lIns="0" tIns="0" rIns="0" bIns="0" rtlCol="0" anchor="ctr"/>
          <a:lstStyle/>
          <a:p>
            <a:pPr marL="0" indent="0">
              <a:buNone/>
            </a:pPr>
            <a:r>
              <a:rPr lang="en-US" sz="2200" b="1" dirty="0">
                <a:solidFill>
                  <a:schemeClr val="tx1"/>
                </a:solidFill>
                <a:latin typeface="Cambria" pitchFamily="34" charset="0"/>
                <a:ea typeface="Cambria" pitchFamily="34" charset="-122"/>
                <a:cs typeface="Cambria" pitchFamily="34" charset="-120"/>
              </a:rPr>
              <a:t>Template</a:t>
            </a:r>
            <a:endParaRPr lang="en-US" sz="2200" dirty="0"/>
          </a:p>
        </p:txBody>
      </p:sp>
      <p:sp>
        <p:nvSpPr>
          <p:cNvPr id="18" name="Text 16"/>
          <p:cNvSpPr txBox="1"/>
          <p:nvPr/>
        </p:nvSpPr>
        <p:spPr>
          <a:xfrm>
            <a:off x="3566160" y="4297680"/>
            <a:ext cx="3749040" cy="777240"/>
          </a:xfrm>
          <a:prstGeom prst="rect">
            <a:avLst/>
          </a:prstGeom>
          <a:noFill/>
          <a:ln/>
        </p:spPr>
        <p:txBody>
          <a:bodyPr wrap="square" lIns="0" tIns="0" rIns="0" bIns="0" rtlCol="0" anchor="ctr"/>
          <a:lstStyle/>
          <a:p>
            <a:pPr marL="0" indent="0">
              <a:buNone/>
            </a:pPr>
            <a:r>
              <a:rPr lang="en-US" sz="1700" dirty="0">
                <a:solidFill>
                  <a:schemeClr val="tx1"/>
                </a:solidFill>
              </a:rPr>
              <a:t>Оформлення результату</a:t>
            </a:r>
            <a:endParaRPr lang="en-US" sz="1700" dirty="0"/>
          </a:p>
        </p:txBody>
      </p:sp>
      <p:sp>
        <p:nvSpPr>
          <p:cNvPr id="19" name="Text 17"/>
          <p:cNvSpPr txBox="1"/>
          <p:nvPr/>
        </p:nvSpPr>
        <p:spPr>
          <a:xfrm>
            <a:off x="8092440" y="1920240"/>
            <a:ext cx="3550615" cy="365760"/>
          </a:xfrm>
          <a:prstGeom prst="rect">
            <a:avLst/>
          </a:prstGeom>
          <a:noFill/>
          <a:ln/>
        </p:spPr>
        <p:txBody>
          <a:bodyPr wrap="square" lIns="0" tIns="0" rIns="0" bIns="0" rtlCol="0" anchor="ctr"/>
          <a:lstStyle/>
          <a:p>
            <a:pPr marL="0" indent="0">
              <a:buNone/>
            </a:pPr>
            <a:r>
              <a:rPr lang="en-US" sz="1600" b="1" dirty="0">
                <a:solidFill>
                  <a:schemeClr val="tx1"/>
                </a:solidFill>
              </a:rPr>
              <a:t>Та сама літера, інший обов'язок</a:t>
            </a:r>
            <a:endParaRPr lang="en-US" sz="1600" dirty="0"/>
          </a:p>
        </p:txBody>
      </p:sp>
      <p:sp>
        <p:nvSpPr>
          <p:cNvPr id="20" name="tile V"/>
          <p:cNvSpPr/>
          <p:nvPr/>
        </p:nvSpPr>
        <p:spPr>
          <a:xfrm>
            <a:off x="8092440" y="2468880"/>
            <a:ext cx="822960" cy="822960"/>
          </a:xfrm>
          <a:prstGeom prst="roundRect">
            <a:avLst>
              <a:gd name="adj" fmla="val 18000"/>
            </a:avLst>
          </a:prstGeom>
          <a:solidFill>
            <a:schemeClr val="accent2"/>
          </a:solidFill>
          <a:ln/>
        </p:spPr>
        <p:txBody>
          <a:bodyPr/>
          <a:lstStyle/>
          <a:p>
            <a:endParaRPr lang="en-UA"/>
          </a:p>
        </p:txBody>
      </p:sp>
      <p:sp>
        <p:nvSpPr>
          <p:cNvPr id="21" name="Text 19"/>
          <p:cNvSpPr txBox="1"/>
          <p:nvPr/>
        </p:nvSpPr>
        <p:spPr>
          <a:xfrm>
            <a:off x="8092440" y="2468880"/>
            <a:ext cx="822960" cy="822960"/>
          </a:xfrm>
          <a:prstGeom prst="rect">
            <a:avLst/>
          </a:prstGeom>
          <a:noFill/>
          <a:ln/>
        </p:spPr>
        <p:txBody>
          <a:bodyPr wrap="square" lIns="0" tIns="0" rIns="0" bIns="0" rtlCol="0" anchor="ctr"/>
          <a:lstStyle/>
          <a:p>
            <a:pPr marL="0" indent="0" algn="ctr">
              <a:buNone/>
            </a:pPr>
            <a:r>
              <a:rPr lang="en-US" sz="3100" b="1" dirty="0">
                <a:solidFill>
                  <a:schemeClr val="bg1"/>
                </a:solidFill>
                <a:latin typeface="Cambria" pitchFamily="34" charset="0"/>
                <a:ea typeface="Cambria" pitchFamily="34" charset="-122"/>
                <a:cs typeface="Cambria" pitchFamily="34" charset="-120"/>
              </a:rPr>
              <a:t>V</a:t>
            </a:r>
            <a:endParaRPr lang="en-US" sz="3100" dirty="0"/>
          </a:p>
        </p:txBody>
      </p:sp>
      <p:sp>
        <p:nvSpPr>
          <p:cNvPr id="22" name="Text 20"/>
          <p:cNvSpPr txBox="1"/>
          <p:nvPr/>
        </p:nvSpPr>
        <p:spPr>
          <a:xfrm>
            <a:off x="9098280" y="2468880"/>
            <a:ext cx="2544775" cy="822960"/>
          </a:xfrm>
          <a:prstGeom prst="rect">
            <a:avLst/>
          </a:prstGeom>
          <a:noFill/>
          <a:ln/>
        </p:spPr>
        <p:txBody>
          <a:bodyPr wrap="square" lIns="0" tIns="0" rIns="0" bIns="0" rtlCol="0" anchor="ctr"/>
          <a:lstStyle/>
          <a:p>
            <a:pPr marL="0" indent="0">
              <a:buNone/>
            </a:pPr>
            <a:r>
              <a:rPr lang="en-US" sz="1600" dirty="0">
                <a:solidFill>
                  <a:schemeClr val="tx1"/>
                </a:solidFill>
              </a:rPr>
              <a:t>MVC View: вигляд</a:t>
            </a:r>
            <a:endParaRPr lang="en-US" sz="1600" dirty="0"/>
          </a:p>
        </p:txBody>
      </p:sp>
      <p:sp>
        <p:nvSpPr>
          <p:cNvPr id="23" name="tile V"/>
          <p:cNvSpPr/>
          <p:nvPr/>
        </p:nvSpPr>
        <p:spPr>
          <a:xfrm>
            <a:off x="8092440" y="3520440"/>
            <a:ext cx="822960" cy="822960"/>
          </a:xfrm>
          <a:prstGeom prst="roundRect">
            <a:avLst>
              <a:gd name="adj" fmla="val 18000"/>
            </a:avLst>
          </a:prstGeom>
          <a:solidFill>
            <a:schemeClr val="accent3"/>
          </a:solidFill>
          <a:ln/>
        </p:spPr>
        <p:txBody>
          <a:bodyPr/>
          <a:lstStyle/>
          <a:p>
            <a:endParaRPr lang="en-UA"/>
          </a:p>
        </p:txBody>
      </p:sp>
      <p:sp>
        <p:nvSpPr>
          <p:cNvPr id="24" name="Text 22"/>
          <p:cNvSpPr txBox="1"/>
          <p:nvPr/>
        </p:nvSpPr>
        <p:spPr>
          <a:xfrm>
            <a:off x="8092440" y="3520440"/>
            <a:ext cx="822960" cy="822960"/>
          </a:xfrm>
          <a:prstGeom prst="rect">
            <a:avLst/>
          </a:prstGeom>
          <a:noFill/>
          <a:ln/>
        </p:spPr>
        <p:txBody>
          <a:bodyPr wrap="square" lIns="0" tIns="0" rIns="0" bIns="0" rtlCol="0" anchor="ctr"/>
          <a:lstStyle/>
          <a:p>
            <a:pPr marL="0" indent="0" algn="ctr">
              <a:buNone/>
            </a:pPr>
            <a:r>
              <a:rPr lang="en-US" sz="3100" b="1" dirty="0">
                <a:solidFill>
                  <a:schemeClr val="bg1"/>
                </a:solidFill>
                <a:latin typeface="Cambria" pitchFamily="34" charset="0"/>
                <a:ea typeface="Cambria" pitchFamily="34" charset="-122"/>
                <a:cs typeface="Cambria" pitchFamily="34" charset="-120"/>
              </a:rPr>
              <a:t>V</a:t>
            </a:r>
            <a:endParaRPr lang="en-US" sz="3100" dirty="0"/>
          </a:p>
        </p:txBody>
      </p:sp>
      <p:sp>
        <p:nvSpPr>
          <p:cNvPr id="25" name="Text 23"/>
          <p:cNvSpPr txBox="1"/>
          <p:nvPr/>
        </p:nvSpPr>
        <p:spPr>
          <a:xfrm>
            <a:off x="9098280" y="3520440"/>
            <a:ext cx="2544775" cy="822960"/>
          </a:xfrm>
          <a:prstGeom prst="rect">
            <a:avLst/>
          </a:prstGeom>
          <a:noFill/>
          <a:ln/>
        </p:spPr>
        <p:txBody>
          <a:bodyPr wrap="square" lIns="0" tIns="0" rIns="0" bIns="0" rtlCol="0" anchor="ctr"/>
          <a:lstStyle/>
          <a:p>
            <a:pPr marL="0" indent="0">
              <a:buNone/>
            </a:pPr>
            <a:r>
              <a:rPr lang="en-US" sz="1600" dirty="0">
                <a:solidFill>
                  <a:schemeClr val="tx1"/>
                </a:solidFill>
              </a:rPr>
              <a:t>Django View: запит і відповідь</a:t>
            </a:r>
            <a:endParaRPr lang="en-US" sz="1600" dirty="0"/>
          </a:p>
        </p:txBody>
      </p:sp>
      <p:sp>
        <p:nvSpPr>
          <p:cNvPr id="26" name="Text 24"/>
          <p:cNvSpPr txBox="1"/>
          <p:nvPr/>
        </p:nvSpPr>
        <p:spPr>
          <a:xfrm>
            <a:off x="8092440" y="4572000"/>
            <a:ext cx="3550615" cy="685800"/>
          </a:xfrm>
          <a:prstGeom prst="rect">
            <a:avLst/>
          </a:prstGeom>
          <a:noFill/>
          <a:ln/>
        </p:spPr>
        <p:txBody>
          <a:bodyPr wrap="square" lIns="0" tIns="0" rIns="0" bIns="0" rtlCol="0" anchor="t"/>
          <a:lstStyle/>
          <a:p>
            <a:pPr marL="0" indent="0">
              <a:buNone/>
            </a:pPr>
            <a:r>
              <a:rPr lang="en-US" sz="1500" i="1" dirty="0">
                <a:solidFill>
                  <a:schemeClr val="tx2"/>
                </a:solidFill>
              </a:rPr>
              <a:t>У Django View і MVC View мають різні обов'язки.</a:t>
            </a:r>
            <a:endParaRPr lang="en-US" sz="1500" dirty="0"/>
          </a:p>
        </p:txBody>
      </p:sp>
      <p:sp>
        <p:nvSpPr>
          <p:cNvPr id="27"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MVT: готовий приклад каталогу</a:t>
            </a:r>
            <a:endParaRPr lang="en-US" sz="3400" dirty="0"/>
          </a:p>
        </p:txBody>
      </p:sp>
      <p:sp>
        <p:nvSpPr>
          <p:cNvPr id="3" name="Text 1"/>
          <p:cNvSpPr txBox="1"/>
          <p:nvPr/>
        </p:nvSpPr>
        <p:spPr>
          <a:xfrm>
            <a:off x="548640" y="1188720"/>
            <a:ext cx="10058400" cy="411480"/>
          </a:xfrm>
          <a:prstGeom prst="rect">
            <a:avLst/>
          </a:prstGeom>
          <a:noFill/>
          <a:ln/>
        </p:spPr>
        <p:txBody>
          <a:bodyPr wrap="square" lIns="0" tIns="0" rIns="0" bIns="0" rtlCol="0" anchor="ctr"/>
          <a:lstStyle/>
          <a:p>
            <a:pPr marL="0" indent="0">
              <a:buNone/>
            </a:pPr>
            <a:r>
              <a:rPr lang="uk-UA" dirty="0" err="1">
                <a:solidFill>
                  <a:schemeClr val="tx2"/>
                </a:solidFill>
              </a:rPr>
              <a:t>Д</a:t>
            </a:r>
            <a:r>
              <a:rPr lang="en-US" sz="1800" dirty="0" err="1">
                <a:solidFill>
                  <a:schemeClr val="tx2"/>
                </a:solidFill>
              </a:rPr>
              <a:t>ва</a:t>
            </a:r>
            <a:r>
              <a:rPr lang="en-US" sz="1800" dirty="0">
                <a:solidFill>
                  <a:schemeClr val="tx2"/>
                </a:solidFill>
              </a:rPr>
              <a:t> шаблони для одних даних.</a:t>
            </a:r>
            <a:endParaRPr lang="en-US" sz="1800" dirty="0"/>
          </a:p>
        </p:txBody>
      </p:sp>
      <p:sp>
        <p:nvSpPr>
          <p:cNvPr id="4" name="tile M"/>
          <p:cNvSpPr/>
          <p:nvPr/>
        </p:nvSpPr>
        <p:spPr>
          <a:xfrm>
            <a:off x="548640" y="2697480"/>
            <a:ext cx="822960" cy="822960"/>
          </a:xfrm>
          <a:prstGeom prst="roundRect">
            <a:avLst>
              <a:gd name="adj" fmla="val 18000"/>
            </a:avLst>
          </a:prstGeom>
          <a:solidFill>
            <a:schemeClr val="accent1"/>
          </a:solidFill>
          <a:ln/>
        </p:spPr>
        <p:txBody>
          <a:bodyPr/>
          <a:lstStyle/>
          <a:p>
            <a:endParaRPr lang="en-UA"/>
          </a:p>
        </p:txBody>
      </p:sp>
      <p:sp>
        <p:nvSpPr>
          <p:cNvPr id="5" name="Text 3"/>
          <p:cNvSpPr txBox="1"/>
          <p:nvPr/>
        </p:nvSpPr>
        <p:spPr>
          <a:xfrm>
            <a:off x="548640" y="2697480"/>
            <a:ext cx="822960" cy="822960"/>
          </a:xfrm>
          <a:prstGeom prst="rect">
            <a:avLst/>
          </a:prstGeom>
          <a:noFill/>
          <a:ln/>
        </p:spPr>
        <p:txBody>
          <a:bodyPr wrap="square" lIns="0" tIns="0" rIns="0" bIns="0" rtlCol="0" anchor="ctr"/>
          <a:lstStyle/>
          <a:p>
            <a:pPr marL="0" indent="0" algn="ctr">
              <a:buNone/>
            </a:pPr>
            <a:r>
              <a:rPr lang="en-US" sz="3100" b="1" dirty="0">
                <a:solidFill>
                  <a:schemeClr val="bg1"/>
                </a:solidFill>
                <a:latin typeface="Cambria" pitchFamily="34" charset="0"/>
                <a:ea typeface="Cambria" pitchFamily="34" charset="-122"/>
                <a:cs typeface="Cambria" pitchFamily="34" charset="-120"/>
              </a:rPr>
              <a:t>M</a:t>
            </a:r>
            <a:endParaRPr lang="en-US" sz="3100" dirty="0"/>
          </a:p>
        </p:txBody>
      </p:sp>
      <p:sp>
        <p:nvSpPr>
          <p:cNvPr id="6" name="Text 4"/>
          <p:cNvSpPr txBox="1"/>
          <p:nvPr/>
        </p:nvSpPr>
        <p:spPr>
          <a:xfrm>
            <a:off x="548640" y="2286000"/>
            <a:ext cx="2011680" cy="320040"/>
          </a:xfrm>
          <a:prstGeom prst="rect">
            <a:avLst/>
          </a:prstGeom>
          <a:noFill/>
          <a:ln/>
        </p:spPr>
        <p:txBody>
          <a:bodyPr wrap="square" lIns="0" tIns="0" rIns="0" bIns="0" rtlCol="0" anchor="ctr"/>
          <a:lstStyle/>
          <a:p>
            <a:pPr marL="0" indent="0">
              <a:buNone/>
            </a:pPr>
            <a:r>
              <a:rPr lang="en-US" sz="1200" dirty="0">
                <a:solidFill>
                  <a:schemeClr val="tx2"/>
                </a:solidFill>
                <a:latin typeface="Courier New" pitchFamily="34" charset="0"/>
                <a:ea typeface="Courier New" pitchFamily="34" charset="-122"/>
                <a:cs typeface="Courier New" pitchFamily="34" charset="-120"/>
              </a:rPr>
              <a:t>['Кобзар', 'Місто']</a:t>
            </a:r>
            <a:endParaRPr lang="en-US" sz="1200" dirty="0"/>
          </a:p>
        </p:txBody>
      </p:sp>
      <p:sp>
        <p:nvSpPr>
          <p:cNvPr id="7" name="Shape 5"/>
          <p:cNvSpPr/>
          <p:nvPr/>
        </p:nvSpPr>
        <p:spPr>
          <a:xfrm>
            <a:off x="1463040" y="3108960"/>
            <a:ext cx="822960" cy="0"/>
          </a:xfrm>
          <a:prstGeom prst="line">
            <a:avLst/>
          </a:prstGeom>
          <a:noFill/>
          <a:ln w="22225">
            <a:solidFill>
              <a:schemeClr val="tx2"/>
            </a:solidFill>
            <a:prstDash val="solid"/>
            <a:tailEnd type="triangle"/>
          </a:ln>
        </p:spPr>
        <p:txBody>
          <a:bodyPr/>
          <a:lstStyle/>
          <a:p>
            <a:endParaRPr lang="en-UA"/>
          </a:p>
        </p:txBody>
      </p:sp>
      <p:sp>
        <p:nvSpPr>
          <p:cNvPr id="8" name="tile V"/>
          <p:cNvSpPr/>
          <p:nvPr/>
        </p:nvSpPr>
        <p:spPr>
          <a:xfrm>
            <a:off x="2377440" y="2697480"/>
            <a:ext cx="822960" cy="822960"/>
          </a:xfrm>
          <a:prstGeom prst="roundRect">
            <a:avLst>
              <a:gd name="adj" fmla="val 18000"/>
            </a:avLst>
          </a:prstGeom>
          <a:solidFill>
            <a:schemeClr val="accent3"/>
          </a:solidFill>
          <a:ln/>
        </p:spPr>
        <p:txBody>
          <a:bodyPr/>
          <a:lstStyle/>
          <a:p>
            <a:endParaRPr lang="en-UA"/>
          </a:p>
        </p:txBody>
      </p:sp>
      <p:sp>
        <p:nvSpPr>
          <p:cNvPr id="9" name="Text 7"/>
          <p:cNvSpPr txBox="1"/>
          <p:nvPr/>
        </p:nvSpPr>
        <p:spPr>
          <a:xfrm>
            <a:off x="2377440" y="2697480"/>
            <a:ext cx="822960" cy="822960"/>
          </a:xfrm>
          <a:prstGeom prst="rect">
            <a:avLst/>
          </a:prstGeom>
          <a:noFill/>
          <a:ln/>
        </p:spPr>
        <p:txBody>
          <a:bodyPr wrap="square" lIns="0" tIns="0" rIns="0" bIns="0" rtlCol="0" anchor="ctr"/>
          <a:lstStyle/>
          <a:p>
            <a:pPr marL="0" indent="0" algn="ctr">
              <a:buNone/>
            </a:pPr>
            <a:r>
              <a:rPr lang="en-US" sz="3100" b="1" dirty="0">
                <a:solidFill>
                  <a:schemeClr val="bg1"/>
                </a:solidFill>
                <a:latin typeface="Cambria" pitchFamily="34" charset="0"/>
                <a:ea typeface="Cambria" pitchFamily="34" charset="-122"/>
                <a:cs typeface="Cambria" pitchFamily="34" charset="-120"/>
              </a:rPr>
              <a:t>V</a:t>
            </a:r>
            <a:endParaRPr lang="en-US" sz="3100" dirty="0"/>
          </a:p>
        </p:txBody>
      </p:sp>
      <p:sp>
        <p:nvSpPr>
          <p:cNvPr id="10" name="Text 8"/>
          <p:cNvSpPr txBox="1"/>
          <p:nvPr/>
        </p:nvSpPr>
        <p:spPr>
          <a:xfrm>
            <a:off x="2148840" y="3611880"/>
            <a:ext cx="1463040" cy="320040"/>
          </a:xfrm>
          <a:prstGeom prst="rect">
            <a:avLst/>
          </a:prstGeom>
          <a:noFill/>
          <a:ln/>
        </p:spPr>
        <p:txBody>
          <a:bodyPr wrap="square" lIns="0" tIns="0" rIns="0" bIns="0" rtlCol="0" anchor="ctr"/>
          <a:lstStyle/>
          <a:p>
            <a:pPr marL="0" indent="0" algn="ctr">
              <a:buNone/>
            </a:pPr>
            <a:r>
              <a:rPr lang="en-US" sz="1200" dirty="0">
                <a:solidFill>
                  <a:schemeClr val="tx2"/>
                </a:solidFill>
                <a:latin typeface="Courier New" pitchFamily="34" charset="0"/>
                <a:ea typeface="Courier New" pitchFamily="34" charset="-122"/>
                <a:cs typeface="Courier New" pitchFamily="34" charset="-120"/>
              </a:rPr>
              <a:t>BooksPageView</a:t>
            </a:r>
            <a:endParaRPr lang="en-US" sz="1200" dirty="0"/>
          </a:p>
        </p:txBody>
      </p:sp>
      <p:sp>
        <p:nvSpPr>
          <p:cNvPr id="11" name="Shape 9"/>
          <p:cNvSpPr/>
          <p:nvPr/>
        </p:nvSpPr>
        <p:spPr>
          <a:xfrm flipV="1">
            <a:off x="3291840" y="2286000"/>
            <a:ext cx="822960" cy="640080"/>
          </a:xfrm>
          <a:prstGeom prst="line">
            <a:avLst/>
          </a:prstGeom>
          <a:noFill/>
          <a:ln w="22225">
            <a:solidFill>
              <a:schemeClr val="tx2"/>
            </a:solidFill>
            <a:prstDash val="solid"/>
            <a:tailEnd type="triangle"/>
          </a:ln>
        </p:spPr>
        <p:txBody>
          <a:bodyPr/>
          <a:lstStyle/>
          <a:p>
            <a:endParaRPr lang="en-UA"/>
          </a:p>
        </p:txBody>
      </p:sp>
      <p:sp>
        <p:nvSpPr>
          <p:cNvPr id="12" name="Shape 10"/>
          <p:cNvSpPr/>
          <p:nvPr/>
        </p:nvSpPr>
        <p:spPr>
          <a:xfrm>
            <a:off x="3291840" y="3291840"/>
            <a:ext cx="822960" cy="640080"/>
          </a:xfrm>
          <a:prstGeom prst="line">
            <a:avLst/>
          </a:prstGeom>
          <a:noFill/>
          <a:ln w="22225">
            <a:solidFill>
              <a:schemeClr val="tx2"/>
            </a:solidFill>
            <a:prstDash val="solid"/>
            <a:tailEnd type="triangle"/>
          </a:ln>
        </p:spPr>
        <p:txBody>
          <a:bodyPr/>
          <a:lstStyle/>
          <a:p>
            <a:endParaRPr lang="en-UA"/>
          </a:p>
        </p:txBody>
      </p:sp>
      <p:sp>
        <p:nvSpPr>
          <p:cNvPr id="13" name="tile T"/>
          <p:cNvSpPr/>
          <p:nvPr/>
        </p:nvSpPr>
        <p:spPr>
          <a:xfrm>
            <a:off x="4206240" y="1874520"/>
            <a:ext cx="731520" cy="731520"/>
          </a:xfrm>
          <a:prstGeom prst="roundRect">
            <a:avLst>
              <a:gd name="adj" fmla="val 18000"/>
            </a:avLst>
          </a:prstGeom>
          <a:solidFill>
            <a:schemeClr val="accent2"/>
          </a:solidFill>
          <a:ln/>
        </p:spPr>
        <p:txBody>
          <a:bodyPr/>
          <a:lstStyle/>
          <a:p>
            <a:endParaRPr lang="en-UA"/>
          </a:p>
        </p:txBody>
      </p:sp>
      <p:sp>
        <p:nvSpPr>
          <p:cNvPr id="14" name="Text 12"/>
          <p:cNvSpPr txBox="1"/>
          <p:nvPr/>
        </p:nvSpPr>
        <p:spPr>
          <a:xfrm>
            <a:off x="4206240" y="1874520"/>
            <a:ext cx="731520" cy="731520"/>
          </a:xfrm>
          <a:prstGeom prst="rect">
            <a:avLst/>
          </a:prstGeom>
          <a:noFill/>
          <a:ln/>
        </p:spPr>
        <p:txBody>
          <a:bodyPr wrap="square" lIns="0" tIns="0" rIns="0" bIns="0" rtlCol="0" anchor="ctr"/>
          <a:lstStyle/>
          <a:p>
            <a:pPr marL="0" indent="0" algn="ctr">
              <a:buNone/>
            </a:pPr>
            <a:r>
              <a:rPr lang="en-US" sz="2700" b="1" dirty="0">
                <a:solidFill>
                  <a:schemeClr val="bg1"/>
                </a:solidFill>
                <a:latin typeface="Cambria" pitchFamily="34" charset="0"/>
                <a:ea typeface="Cambria" pitchFamily="34" charset="-122"/>
                <a:cs typeface="Cambria" pitchFamily="34" charset="-120"/>
              </a:rPr>
              <a:t>T</a:t>
            </a:r>
            <a:endParaRPr lang="en-US" sz="2700" dirty="0"/>
          </a:p>
        </p:txBody>
      </p:sp>
      <p:sp>
        <p:nvSpPr>
          <p:cNvPr id="15" name="tile T"/>
          <p:cNvSpPr/>
          <p:nvPr/>
        </p:nvSpPr>
        <p:spPr>
          <a:xfrm>
            <a:off x="4206240" y="3611880"/>
            <a:ext cx="731520" cy="731520"/>
          </a:xfrm>
          <a:prstGeom prst="roundRect">
            <a:avLst>
              <a:gd name="adj" fmla="val 18000"/>
            </a:avLst>
          </a:prstGeom>
          <a:solidFill>
            <a:schemeClr val="accent2"/>
          </a:solidFill>
          <a:ln/>
        </p:spPr>
        <p:txBody>
          <a:bodyPr/>
          <a:lstStyle/>
          <a:p>
            <a:endParaRPr lang="en-UA"/>
          </a:p>
        </p:txBody>
      </p:sp>
      <p:sp>
        <p:nvSpPr>
          <p:cNvPr id="16" name="Text 14"/>
          <p:cNvSpPr txBox="1"/>
          <p:nvPr/>
        </p:nvSpPr>
        <p:spPr>
          <a:xfrm>
            <a:off x="4206240" y="3611880"/>
            <a:ext cx="731520" cy="731520"/>
          </a:xfrm>
          <a:prstGeom prst="rect">
            <a:avLst/>
          </a:prstGeom>
          <a:noFill/>
          <a:ln/>
        </p:spPr>
        <p:txBody>
          <a:bodyPr wrap="square" lIns="0" tIns="0" rIns="0" bIns="0" rtlCol="0" anchor="ctr"/>
          <a:lstStyle/>
          <a:p>
            <a:pPr marL="0" indent="0" algn="ctr">
              <a:buNone/>
            </a:pPr>
            <a:r>
              <a:rPr lang="en-US" sz="2700" b="1" dirty="0">
                <a:solidFill>
                  <a:schemeClr val="bg1"/>
                </a:solidFill>
                <a:latin typeface="Cambria" pitchFamily="34" charset="0"/>
                <a:ea typeface="Cambria" pitchFamily="34" charset="-122"/>
                <a:cs typeface="Cambria" pitchFamily="34" charset="-120"/>
              </a:rPr>
              <a:t>T</a:t>
            </a:r>
            <a:endParaRPr lang="en-US" sz="2700" dirty="0"/>
          </a:p>
        </p:txBody>
      </p:sp>
      <p:sp>
        <p:nvSpPr>
          <p:cNvPr id="17" name="Text 15"/>
          <p:cNvSpPr txBox="1"/>
          <p:nvPr/>
        </p:nvSpPr>
        <p:spPr>
          <a:xfrm>
            <a:off x="5074920" y="1874520"/>
            <a:ext cx="2194560" cy="731520"/>
          </a:xfrm>
          <a:prstGeom prst="rect">
            <a:avLst/>
          </a:prstGeom>
          <a:noFill/>
          <a:ln/>
        </p:spPr>
        <p:txBody>
          <a:bodyPr wrap="square" lIns="0" tIns="0" rIns="0" bIns="0" rtlCol="0" anchor="ctr"/>
          <a:lstStyle/>
          <a:p>
            <a:pPr marL="0" indent="0">
              <a:buNone/>
            </a:pPr>
            <a:r>
              <a:rPr lang="en-US" sz="1300" dirty="0">
                <a:solidFill>
                  <a:schemeClr val="tx1"/>
                </a:solidFill>
                <a:latin typeface="Courier New" pitchFamily="34" charset="0"/>
                <a:ea typeface="Courier New" pitchFamily="34" charset="-122"/>
                <a:cs typeface="Courier New" pitchFamily="34" charset="-120"/>
              </a:rPr>
              <a:t>BooksTemplateList</a:t>
            </a:r>
            <a:endParaRPr lang="en-US" sz="1300" dirty="0"/>
          </a:p>
        </p:txBody>
      </p:sp>
      <p:sp>
        <p:nvSpPr>
          <p:cNvPr id="18" name="Text 16"/>
          <p:cNvSpPr txBox="1"/>
          <p:nvPr/>
        </p:nvSpPr>
        <p:spPr>
          <a:xfrm>
            <a:off x="5074920" y="3611880"/>
            <a:ext cx="2194560" cy="731520"/>
          </a:xfrm>
          <a:prstGeom prst="rect">
            <a:avLst/>
          </a:prstGeom>
          <a:noFill/>
          <a:ln/>
        </p:spPr>
        <p:txBody>
          <a:bodyPr wrap="square" lIns="0" tIns="0" rIns="0" bIns="0" rtlCol="0" anchor="ctr"/>
          <a:lstStyle/>
          <a:p>
            <a:pPr marL="0" indent="0">
              <a:buNone/>
            </a:pPr>
            <a:r>
              <a:rPr lang="en-US" sz="1300" dirty="0">
                <a:solidFill>
                  <a:schemeClr val="tx1"/>
                </a:solidFill>
                <a:latin typeface="Courier New" pitchFamily="34" charset="0"/>
                <a:ea typeface="Courier New" pitchFamily="34" charset="-122"/>
                <a:cs typeface="Courier New" pitchFamily="34" charset="-120"/>
              </a:rPr>
              <a:t>BooksTemplateCompact</a:t>
            </a:r>
            <a:endParaRPr lang="en-US" sz="1300" dirty="0"/>
          </a:p>
        </p:txBody>
      </p:sp>
      <p:sp>
        <p:nvSpPr>
          <p:cNvPr id="19" name="output"/>
          <p:cNvSpPr/>
          <p:nvPr/>
        </p:nvSpPr>
        <p:spPr>
          <a:xfrm>
            <a:off x="7543800" y="1783080"/>
            <a:ext cx="4099255" cy="1188720"/>
          </a:xfrm>
          <a:prstGeom prst="roundRect">
            <a:avLst>
              <a:gd name="adj" fmla="val 9231"/>
            </a:avLst>
          </a:prstGeom>
          <a:solidFill>
            <a:schemeClr val="bg2"/>
          </a:solidFill>
          <a:ln/>
        </p:spPr>
        <p:txBody>
          <a:bodyPr/>
          <a:lstStyle/>
          <a:p>
            <a:endParaRPr lang="en-UA"/>
          </a:p>
        </p:txBody>
      </p:sp>
      <p:sp>
        <p:nvSpPr>
          <p:cNvPr id="20" name="Text 18"/>
          <p:cNvSpPr txBox="1"/>
          <p:nvPr/>
        </p:nvSpPr>
        <p:spPr>
          <a:xfrm>
            <a:off x="7818120" y="1947672"/>
            <a:ext cx="3550615" cy="274320"/>
          </a:xfrm>
          <a:prstGeom prst="rect">
            <a:avLst/>
          </a:prstGeom>
          <a:noFill/>
          <a:ln/>
        </p:spPr>
        <p:txBody>
          <a:bodyPr wrap="square" lIns="0" tIns="0" rIns="0" bIns="0" rtlCol="0" anchor="ctr"/>
          <a:lstStyle/>
          <a:p>
            <a:pPr marL="0" indent="0">
              <a:buNone/>
            </a:pPr>
            <a:r>
              <a:rPr lang="en-US" sz="1200" dirty="0">
                <a:solidFill>
                  <a:schemeClr val="tx2"/>
                </a:solidFill>
              </a:rPr>
              <a:t>Шаблон-список</a:t>
            </a:r>
            <a:endParaRPr lang="en-US" sz="1200" dirty="0"/>
          </a:p>
        </p:txBody>
      </p:sp>
      <p:sp>
        <p:nvSpPr>
          <p:cNvPr id="21" name="Text 19"/>
          <p:cNvSpPr txBox="1"/>
          <p:nvPr/>
        </p:nvSpPr>
        <p:spPr>
          <a:xfrm>
            <a:off x="7818120" y="2258568"/>
            <a:ext cx="3550615" cy="548640"/>
          </a:xfrm>
          <a:prstGeom prst="rect">
            <a:avLst/>
          </a:prstGeom>
          <a:noFill/>
          <a:ln/>
        </p:spPr>
        <p:txBody>
          <a:bodyPr wrap="square" lIns="0" tIns="0" rIns="0" bIns="0" rtlCol="0" anchor="t"/>
          <a:lstStyle/>
          <a:p>
            <a:pPr marL="0" indent="0">
              <a:lnSpc>
                <a:spcPct val="110000"/>
              </a:lnSpc>
              <a:buNone/>
            </a:pPr>
            <a:r>
              <a:rPr lang="en-US" sz="1600" dirty="0">
                <a:solidFill>
                  <a:schemeClr val="tx1"/>
                </a:solidFill>
                <a:latin typeface="Courier New" pitchFamily="34" charset="0"/>
                <a:ea typeface="Courier New" pitchFamily="34" charset="-122"/>
                <a:cs typeface="Courier New" pitchFamily="34" charset="-120"/>
              </a:rPr>
              <a:t>- Кобзар</a:t>
            </a:r>
            <a:endParaRPr lang="en-US" sz="1600" dirty="0"/>
          </a:p>
          <a:p>
            <a:pPr marL="0" indent="0">
              <a:lnSpc>
                <a:spcPct val="110000"/>
              </a:lnSpc>
              <a:buNone/>
            </a:pPr>
            <a:r>
              <a:rPr lang="en-US" sz="1600" dirty="0">
                <a:solidFill>
                  <a:schemeClr val="tx1"/>
                </a:solidFill>
                <a:latin typeface="Courier New" pitchFamily="34" charset="0"/>
                <a:ea typeface="Courier New" pitchFamily="34" charset="-122"/>
                <a:cs typeface="Courier New" pitchFamily="34" charset="-120"/>
              </a:rPr>
              <a:t>- Місто</a:t>
            </a:r>
            <a:endParaRPr lang="en-US" sz="1600" dirty="0"/>
          </a:p>
        </p:txBody>
      </p:sp>
      <p:sp>
        <p:nvSpPr>
          <p:cNvPr id="22" name="output"/>
          <p:cNvSpPr/>
          <p:nvPr/>
        </p:nvSpPr>
        <p:spPr>
          <a:xfrm>
            <a:off x="7543800" y="3474720"/>
            <a:ext cx="4099255" cy="914400"/>
          </a:xfrm>
          <a:prstGeom prst="roundRect">
            <a:avLst>
              <a:gd name="adj" fmla="val 12000"/>
            </a:avLst>
          </a:prstGeom>
          <a:solidFill>
            <a:schemeClr val="bg2"/>
          </a:solidFill>
          <a:ln/>
        </p:spPr>
        <p:txBody>
          <a:bodyPr/>
          <a:lstStyle/>
          <a:p>
            <a:endParaRPr lang="en-UA"/>
          </a:p>
        </p:txBody>
      </p:sp>
      <p:sp>
        <p:nvSpPr>
          <p:cNvPr id="23" name="Text 21"/>
          <p:cNvSpPr txBox="1"/>
          <p:nvPr/>
        </p:nvSpPr>
        <p:spPr>
          <a:xfrm>
            <a:off x="7818120" y="3639312"/>
            <a:ext cx="3550615" cy="274320"/>
          </a:xfrm>
          <a:prstGeom prst="rect">
            <a:avLst/>
          </a:prstGeom>
          <a:noFill/>
          <a:ln/>
        </p:spPr>
        <p:txBody>
          <a:bodyPr wrap="square" lIns="0" tIns="0" rIns="0" bIns="0" rtlCol="0" anchor="ctr"/>
          <a:lstStyle/>
          <a:p>
            <a:pPr marL="0" indent="0">
              <a:buNone/>
            </a:pPr>
            <a:r>
              <a:rPr lang="en-US" sz="1200" dirty="0">
                <a:solidFill>
                  <a:schemeClr val="tx2"/>
                </a:solidFill>
              </a:rPr>
              <a:t>Компактний шаблон</a:t>
            </a:r>
            <a:endParaRPr lang="en-US" sz="1200" dirty="0"/>
          </a:p>
        </p:txBody>
      </p:sp>
      <p:sp>
        <p:nvSpPr>
          <p:cNvPr id="24" name="Text 22"/>
          <p:cNvSpPr txBox="1"/>
          <p:nvPr/>
        </p:nvSpPr>
        <p:spPr>
          <a:xfrm>
            <a:off x="7818120" y="3950208"/>
            <a:ext cx="3550615" cy="274320"/>
          </a:xfrm>
          <a:prstGeom prst="rect">
            <a:avLst/>
          </a:prstGeom>
          <a:noFill/>
          <a:ln/>
        </p:spPr>
        <p:txBody>
          <a:bodyPr wrap="square" lIns="0" tIns="0" rIns="0" bIns="0" rtlCol="0" anchor="t"/>
          <a:lstStyle/>
          <a:p>
            <a:pPr marL="0" indent="0">
              <a:lnSpc>
                <a:spcPct val="110000"/>
              </a:lnSpc>
              <a:buNone/>
            </a:pPr>
            <a:r>
              <a:rPr lang="en-US" sz="1600" dirty="0">
                <a:solidFill>
                  <a:schemeClr val="tx1"/>
                </a:solidFill>
                <a:latin typeface="Courier New" pitchFamily="34" charset="0"/>
                <a:ea typeface="Courier New" pitchFamily="34" charset="-122"/>
                <a:cs typeface="Courier New" pitchFamily="34" charset="-120"/>
              </a:rPr>
              <a:t>Кобзар | Місто</a:t>
            </a:r>
            <a:endParaRPr lang="en-US" sz="1600" dirty="0"/>
          </a:p>
        </p:txBody>
      </p:sp>
      <p:sp>
        <p:nvSpPr>
          <p:cNvPr id="25" name="code"/>
          <p:cNvSpPr/>
          <p:nvPr/>
        </p:nvSpPr>
        <p:spPr>
          <a:xfrm>
            <a:off x="548640" y="4572000"/>
            <a:ext cx="6675120" cy="960120"/>
          </a:xfrm>
          <a:prstGeom prst="roundRect">
            <a:avLst>
              <a:gd name="adj" fmla="val 11429"/>
            </a:avLst>
          </a:prstGeom>
          <a:solidFill>
            <a:schemeClr val="accent4"/>
          </a:solidFill>
          <a:ln/>
        </p:spPr>
        <p:txBody>
          <a:bodyPr/>
          <a:lstStyle/>
          <a:p>
            <a:endParaRPr lang="en-UA"/>
          </a:p>
        </p:txBody>
      </p:sp>
      <p:sp>
        <p:nvSpPr>
          <p:cNvPr id="26" name="Text 24"/>
          <p:cNvSpPr txBox="1"/>
          <p:nvPr/>
        </p:nvSpPr>
        <p:spPr>
          <a:xfrm>
            <a:off x="822960" y="4773168"/>
            <a:ext cx="6126480" cy="557784"/>
          </a:xfrm>
          <a:prstGeom prst="rect">
            <a:avLst/>
          </a:prstGeom>
          <a:noFill/>
          <a:ln/>
        </p:spPr>
        <p:txBody>
          <a:bodyPr wrap="square" lIns="0" tIns="0" rIns="0" bIns="0" rtlCol="0" anchor="t"/>
          <a:lstStyle/>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print(page.render(BooksTemplateList()))</a:t>
            </a:r>
            <a:endParaRPr lang="en-US" sz="1500" dirty="0"/>
          </a:p>
          <a:p>
            <a:pPr marL="0" indent="0">
              <a:lnSpc>
                <a:spcPct val="110000"/>
              </a:lnSpc>
              <a:buNone/>
            </a:pPr>
            <a:r>
              <a:rPr lang="en-US" sz="1500" dirty="0">
                <a:solidFill>
                  <a:schemeClr val="accent5"/>
                </a:solidFill>
                <a:latin typeface="Courier New" pitchFamily="34" charset="0"/>
                <a:ea typeface="Courier New" pitchFamily="34" charset="-122"/>
                <a:cs typeface="Courier New" pitchFamily="34" charset="-120"/>
              </a:rPr>
              <a:t>print(page.render(BooksTemplateCompact()))</a:t>
            </a:r>
            <a:endParaRPr lang="en-US" sz="1500" dirty="0"/>
          </a:p>
        </p:txBody>
      </p:sp>
      <p:sp>
        <p:nvSpPr>
          <p:cNvPr id="27" name="Text 25"/>
          <p:cNvSpPr txBox="1"/>
          <p:nvPr/>
        </p:nvSpPr>
        <p:spPr>
          <a:xfrm>
            <a:off x="7543800" y="4572000"/>
            <a:ext cx="4099255" cy="960120"/>
          </a:xfrm>
          <a:prstGeom prst="rect">
            <a:avLst/>
          </a:prstGeom>
          <a:noFill/>
          <a:ln/>
        </p:spPr>
        <p:txBody>
          <a:bodyPr wrap="square" lIns="0" tIns="0" rIns="0" bIns="0" rtlCol="0" anchor="ctr"/>
          <a:lstStyle/>
          <a:p>
            <a:pPr marL="0" indent="0">
              <a:buNone/>
            </a:pPr>
            <a:r>
              <a:rPr lang="en-US" sz="1700" i="1" dirty="0">
                <a:solidFill>
                  <a:schemeClr val="tx2"/>
                </a:solidFill>
              </a:rPr>
              <a:t>Який компонент змінив вигляд? </a:t>
            </a:r>
            <a:endParaRPr lang="uk-UA" sz="1700" i="1" dirty="0">
              <a:solidFill>
                <a:schemeClr val="tx2"/>
              </a:solidFill>
            </a:endParaRPr>
          </a:p>
          <a:p>
            <a:pPr marL="0" indent="0">
              <a:buNone/>
            </a:pPr>
            <a:r>
              <a:rPr lang="en-US" sz="1700" i="1" dirty="0" err="1">
                <a:solidFill>
                  <a:schemeClr val="tx2"/>
                </a:solidFill>
              </a:rPr>
              <a:t>Чи</a:t>
            </a:r>
            <a:r>
              <a:rPr lang="en-US" sz="1700" i="1" dirty="0">
                <a:solidFill>
                  <a:schemeClr val="tx2"/>
                </a:solidFill>
              </a:rPr>
              <a:t> змінився список книг?</a:t>
            </a:r>
            <a:endParaRPr lang="en-US" sz="1700" dirty="0"/>
          </a:p>
        </p:txBody>
      </p:sp>
      <p:sp>
        <p:nvSpPr>
          <p:cNvPr id="28"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8778240" cy="731520"/>
          </a:xfrm>
          <a:prstGeom prst="rect">
            <a:avLst/>
          </a:prstGeom>
          <a:noFill/>
          <a:ln/>
        </p:spPr>
        <p:txBody>
          <a:bodyPr wrap="square" lIns="0" tIns="0" rIns="0" bIns="0" rtlCol="0" anchor="t"/>
          <a:lstStyle/>
          <a:p>
            <a:pPr marL="0" indent="0" algn="l">
              <a:buNone/>
            </a:pPr>
            <a:r>
              <a:rPr lang="en-US" sz="3400" b="1" dirty="0">
                <a:solidFill>
                  <a:schemeClr val="tx1"/>
                </a:solidFill>
                <a:latin typeface="Cambria" pitchFamily="34" charset="0"/>
                <a:ea typeface="Cambria" pitchFamily="34" charset="-122"/>
                <a:cs typeface="Cambria" pitchFamily="34" charset="-120"/>
              </a:rPr>
              <a:t>Порівнюємо відповідальності</a:t>
            </a:r>
            <a:endParaRPr lang="en-US" sz="3400" dirty="0"/>
          </a:p>
        </p:txBody>
      </p:sp>
      <p:sp>
        <p:nvSpPr>
          <p:cNvPr id="3" name="Text 1"/>
          <p:cNvSpPr txBox="1"/>
          <p:nvPr/>
        </p:nvSpPr>
        <p:spPr>
          <a:xfrm>
            <a:off x="548640" y="1371600"/>
            <a:ext cx="3931920" cy="411480"/>
          </a:xfrm>
          <a:prstGeom prst="rect">
            <a:avLst/>
          </a:prstGeom>
          <a:noFill/>
          <a:ln/>
        </p:spPr>
        <p:txBody>
          <a:bodyPr wrap="square" lIns="0" tIns="0" rIns="0" bIns="0" rtlCol="0" anchor="ctr"/>
          <a:lstStyle/>
          <a:p>
            <a:pPr marL="0" indent="0">
              <a:buNone/>
            </a:pPr>
            <a:r>
              <a:rPr lang="en-US" sz="1600" b="1" dirty="0">
                <a:solidFill>
                  <a:schemeClr val="tx2"/>
                </a:solidFill>
              </a:rPr>
              <a:t>Обов'язок</a:t>
            </a:r>
            <a:endParaRPr lang="en-US" sz="1600" dirty="0"/>
          </a:p>
        </p:txBody>
      </p:sp>
      <p:sp>
        <p:nvSpPr>
          <p:cNvPr id="4" name="Text 2"/>
          <p:cNvSpPr txBox="1"/>
          <p:nvPr/>
        </p:nvSpPr>
        <p:spPr>
          <a:xfrm>
            <a:off x="4754880" y="1371600"/>
            <a:ext cx="3200400" cy="411480"/>
          </a:xfrm>
          <a:prstGeom prst="rect">
            <a:avLst/>
          </a:prstGeom>
          <a:noFill/>
          <a:ln/>
        </p:spPr>
        <p:txBody>
          <a:bodyPr wrap="square" lIns="0" tIns="0" rIns="0" bIns="0" rtlCol="0" anchor="ctr"/>
          <a:lstStyle/>
          <a:p>
            <a:pPr marL="0" indent="0">
              <a:buNone/>
            </a:pPr>
            <a:r>
              <a:rPr lang="en-US" sz="1600" b="1" dirty="0">
                <a:solidFill>
                  <a:schemeClr val="tx2"/>
                </a:solidFill>
              </a:rPr>
              <a:t>MVC-приклад</a:t>
            </a:r>
            <a:endParaRPr lang="en-US" sz="1600" dirty="0"/>
          </a:p>
        </p:txBody>
      </p:sp>
      <p:sp>
        <p:nvSpPr>
          <p:cNvPr id="5" name="Text 3"/>
          <p:cNvSpPr txBox="1"/>
          <p:nvPr/>
        </p:nvSpPr>
        <p:spPr>
          <a:xfrm>
            <a:off x="8229600" y="1371600"/>
            <a:ext cx="3200400" cy="411480"/>
          </a:xfrm>
          <a:prstGeom prst="rect">
            <a:avLst/>
          </a:prstGeom>
          <a:noFill/>
          <a:ln/>
        </p:spPr>
        <p:txBody>
          <a:bodyPr wrap="square" lIns="0" tIns="0" rIns="0" bIns="0" rtlCol="0" anchor="ctr"/>
          <a:lstStyle/>
          <a:p>
            <a:pPr marL="0" indent="0">
              <a:buNone/>
            </a:pPr>
            <a:r>
              <a:rPr lang="en-US" sz="1600" b="1" dirty="0">
                <a:solidFill>
                  <a:schemeClr val="tx2"/>
                </a:solidFill>
              </a:rPr>
              <a:t>MVT-приклад</a:t>
            </a:r>
            <a:endParaRPr lang="en-US" sz="1600" dirty="0"/>
          </a:p>
        </p:txBody>
      </p:sp>
      <p:sp>
        <p:nvSpPr>
          <p:cNvPr id="6" name="row Дані та правила"/>
          <p:cNvSpPr/>
          <p:nvPr/>
        </p:nvSpPr>
        <p:spPr>
          <a:xfrm>
            <a:off x="548640" y="1965960"/>
            <a:ext cx="11094415" cy="1005840"/>
          </a:xfrm>
          <a:prstGeom prst="roundRect">
            <a:avLst>
              <a:gd name="adj" fmla="val 10909"/>
            </a:avLst>
          </a:prstGeom>
          <a:solidFill>
            <a:schemeClr val="bg2"/>
          </a:solidFill>
          <a:ln/>
        </p:spPr>
        <p:txBody>
          <a:bodyPr/>
          <a:lstStyle/>
          <a:p>
            <a:endParaRPr lang="en-UA"/>
          </a:p>
        </p:txBody>
      </p:sp>
      <p:sp>
        <p:nvSpPr>
          <p:cNvPr id="7" name="Text 5"/>
          <p:cNvSpPr txBox="1"/>
          <p:nvPr/>
        </p:nvSpPr>
        <p:spPr>
          <a:xfrm>
            <a:off x="822960" y="1965960"/>
            <a:ext cx="3657600" cy="100584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Дані та правила</a:t>
            </a:r>
            <a:endParaRPr lang="en-US" sz="2100" dirty="0"/>
          </a:p>
        </p:txBody>
      </p:sp>
      <p:sp>
        <p:nvSpPr>
          <p:cNvPr id="8" name="tile M"/>
          <p:cNvSpPr/>
          <p:nvPr/>
        </p:nvSpPr>
        <p:spPr>
          <a:xfrm>
            <a:off x="4754880" y="2121408"/>
            <a:ext cx="694944" cy="694944"/>
          </a:xfrm>
          <a:prstGeom prst="roundRect">
            <a:avLst>
              <a:gd name="adj" fmla="val 18000"/>
            </a:avLst>
          </a:prstGeom>
          <a:solidFill>
            <a:schemeClr val="accent1"/>
          </a:solidFill>
          <a:ln/>
        </p:spPr>
        <p:txBody>
          <a:bodyPr/>
          <a:lstStyle/>
          <a:p>
            <a:endParaRPr lang="en-UA"/>
          </a:p>
        </p:txBody>
      </p:sp>
      <p:sp>
        <p:nvSpPr>
          <p:cNvPr id="9" name="Text 7"/>
          <p:cNvSpPr txBox="1"/>
          <p:nvPr/>
        </p:nvSpPr>
        <p:spPr>
          <a:xfrm>
            <a:off x="4754880" y="2121408"/>
            <a:ext cx="694944" cy="694944"/>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M</a:t>
            </a:r>
            <a:endParaRPr lang="en-US" sz="2600" dirty="0"/>
          </a:p>
        </p:txBody>
      </p:sp>
      <p:sp>
        <p:nvSpPr>
          <p:cNvPr id="10" name="Text 8"/>
          <p:cNvSpPr txBox="1"/>
          <p:nvPr/>
        </p:nvSpPr>
        <p:spPr>
          <a:xfrm>
            <a:off x="5669280" y="1965960"/>
            <a:ext cx="2286000" cy="1005840"/>
          </a:xfrm>
          <a:prstGeom prst="rect">
            <a:avLst/>
          </a:prstGeom>
          <a:noFill/>
          <a:ln/>
        </p:spPr>
        <p:txBody>
          <a:bodyPr wrap="square" lIns="0" tIns="0" rIns="0" bIns="0" rtlCol="0" anchor="ctr"/>
          <a:lstStyle/>
          <a:p>
            <a:pPr marL="0" indent="0">
              <a:buNone/>
            </a:pPr>
            <a:r>
              <a:rPr lang="en-US" sz="2000" dirty="0">
                <a:solidFill>
                  <a:schemeClr val="tx1"/>
                </a:solidFill>
              </a:rPr>
              <a:t>Model</a:t>
            </a:r>
            <a:endParaRPr lang="en-US" sz="2000" dirty="0"/>
          </a:p>
        </p:txBody>
      </p:sp>
      <p:sp>
        <p:nvSpPr>
          <p:cNvPr id="11" name="tile M"/>
          <p:cNvSpPr/>
          <p:nvPr/>
        </p:nvSpPr>
        <p:spPr>
          <a:xfrm>
            <a:off x="8229600" y="2121408"/>
            <a:ext cx="694944" cy="694944"/>
          </a:xfrm>
          <a:prstGeom prst="roundRect">
            <a:avLst>
              <a:gd name="adj" fmla="val 18000"/>
            </a:avLst>
          </a:prstGeom>
          <a:solidFill>
            <a:schemeClr val="accent1"/>
          </a:solidFill>
          <a:ln/>
        </p:spPr>
        <p:txBody>
          <a:bodyPr/>
          <a:lstStyle/>
          <a:p>
            <a:endParaRPr lang="en-UA"/>
          </a:p>
        </p:txBody>
      </p:sp>
      <p:sp>
        <p:nvSpPr>
          <p:cNvPr id="12" name="Text 10"/>
          <p:cNvSpPr txBox="1"/>
          <p:nvPr/>
        </p:nvSpPr>
        <p:spPr>
          <a:xfrm>
            <a:off x="8229600" y="2121408"/>
            <a:ext cx="694944" cy="694944"/>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M</a:t>
            </a:r>
            <a:endParaRPr lang="en-US" sz="2600" dirty="0"/>
          </a:p>
        </p:txBody>
      </p:sp>
      <p:sp>
        <p:nvSpPr>
          <p:cNvPr id="13" name="Text 11"/>
          <p:cNvSpPr txBox="1"/>
          <p:nvPr/>
        </p:nvSpPr>
        <p:spPr>
          <a:xfrm>
            <a:off x="9144000" y="1965960"/>
            <a:ext cx="2286000" cy="1005840"/>
          </a:xfrm>
          <a:prstGeom prst="rect">
            <a:avLst/>
          </a:prstGeom>
          <a:noFill/>
          <a:ln/>
        </p:spPr>
        <p:txBody>
          <a:bodyPr wrap="square" lIns="0" tIns="0" rIns="0" bIns="0" rtlCol="0" anchor="ctr"/>
          <a:lstStyle/>
          <a:p>
            <a:pPr marL="0" indent="0">
              <a:buNone/>
            </a:pPr>
            <a:r>
              <a:rPr lang="en-US" sz="2000" dirty="0">
                <a:solidFill>
                  <a:schemeClr val="tx1"/>
                </a:solidFill>
              </a:rPr>
              <a:t>Model</a:t>
            </a:r>
            <a:endParaRPr lang="en-US" sz="2000" dirty="0"/>
          </a:p>
        </p:txBody>
      </p:sp>
      <p:sp>
        <p:nvSpPr>
          <p:cNvPr id="14" name="row Координація показу"/>
          <p:cNvSpPr/>
          <p:nvPr/>
        </p:nvSpPr>
        <p:spPr>
          <a:xfrm>
            <a:off x="548640" y="3154680"/>
            <a:ext cx="11094415" cy="1005840"/>
          </a:xfrm>
          <a:prstGeom prst="roundRect">
            <a:avLst>
              <a:gd name="adj" fmla="val 10909"/>
            </a:avLst>
          </a:prstGeom>
          <a:solidFill>
            <a:schemeClr val="bg2"/>
          </a:solidFill>
          <a:ln/>
        </p:spPr>
        <p:txBody>
          <a:bodyPr/>
          <a:lstStyle/>
          <a:p>
            <a:endParaRPr lang="en-UA"/>
          </a:p>
        </p:txBody>
      </p:sp>
      <p:sp>
        <p:nvSpPr>
          <p:cNvPr id="15" name="Text 13"/>
          <p:cNvSpPr txBox="1"/>
          <p:nvPr/>
        </p:nvSpPr>
        <p:spPr>
          <a:xfrm>
            <a:off x="822960" y="3154680"/>
            <a:ext cx="3657600" cy="100584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Координація показу</a:t>
            </a:r>
            <a:endParaRPr lang="en-US" sz="2100" dirty="0"/>
          </a:p>
        </p:txBody>
      </p:sp>
      <p:sp>
        <p:nvSpPr>
          <p:cNvPr id="16" name="tile C"/>
          <p:cNvSpPr/>
          <p:nvPr/>
        </p:nvSpPr>
        <p:spPr>
          <a:xfrm>
            <a:off x="4754880" y="3310128"/>
            <a:ext cx="694944" cy="694944"/>
          </a:xfrm>
          <a:prstGeom prst="roundRect">
            <a:avLst>
              <a:gd name="adj" fmla="val 18000"/>
            </a:avLst>
          </a:prstGeom>
          <a:solidFill>
            <a:schemeClr val="accent3"/>
          </a:solidFill>
          <a:ln/>
        </p:spPr>
        <p:txBody>
          <a:bodyPr/>
          <a:lstStyle/>
          <a:p>
            <a:endParaRPr lang="en-UA"/>
          </a:p>
        </p:txBody>
      </p:sp>
      <p:sp>
        <p:nvSpPr>
          <p:cNvPr id="17" name="Text 15"/>
          <p:cNvSpPr txBox="1"/>
          <p:nvPr/>
        </p:nvSpPr>
        <p:spPr>
          <a:xfrm>
            <a:off x="4754880" y="3310128"/>
            <a:ext cx="694944" cy="694944"/>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18" name="Text 16"/>
          <p:cNvSpPr txBox="1"/>
          <p:nvPr/>
        </p:nvSpPr>
        <p:spPr>
          <a:xfrm>
            <a:off x="5669280" y="3154680"/>
            <a:ext cx="2286000" cy="1005840"/>
          </a:xfrm>
          <a:prstGeom prst="rect">
            <a:avLst/>
          </a:prstGeom>
          <a:noFill/>
          <a:ln/>
        </p:spPr>
        <p:txBody>
          <a:bodyPr wrap="square" lIns="0" tIns="0" rIns="0" bIns="0" rtlCol="0" anchor="ctr"/>
          <a:lstStyle/>
          <a:p>
            <a:pPr marL="0" indent="0">
              <a:buNone/>
            </a:pPr>
            <a:r>
              <a:rPr lang="en-US" sz="2000" dirty="0">
                <a:solidFill>
                  <a:schemeClr val="tx1"/>
                </a:solidFill>
              </a:rPr>
              <a:t>Controller</a:t>
            </a:r>
            <a:endParaRPr lang="en-US" sz="2000" dirty="0"/>
          </a:p>
        </p:txBody>
      </p:sp>
      <p:sp>
        <p:nvSpPr>
          <p:cNvPr id="19" name="tile V"/>
          <p:cNvSpPr/>
          <p:nvPr/>
        </p:nvSpPr>
        <p:spPr>
          <a:xfrm>
            <a:off x="8229600" y="3310128"/>
            <a:ext cx="694944" cy="694944"/>
          </a:xfrm>
          <a:prstGeom prst="roundRect">
            <a:avLst>
              <a:gd name="adj" fmla="val 18000"/>
            </a:avLst>
          </a:prstGeom>
          <a:solidFill>
            <a:schemeClr val="accent3"/>
          </a:solidFill>
          <a:ln/>
        </p:spPr>
        <p:txBody>
          <a:bodyPr/>
          <a:lstStyle/>
          <a:p>
            <a:endParaRPr lang="en-UA"/>
          </a:p>
        </p:txBody>
      </p:sp>
      <p:sp>
        <p:nvSpPr>
          <p:cNvPr id="20" name="Text 18"/>
          <p:cNvSpPr txBox="1"/>
          <p:nvPr/>
        </p:nvSpPr>
        <p:spPr>
          <a:xfrm>
            <a:off x="8229600" y="3310128"/>
            <a:ext cx="694944" cy="694944"/>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V</a:t>
            </a:r>
            <a:endParaRPr lang="en-US" sz="2600" dirty="0"/>
          </a:p>
        </p:txBody>
      </p:sp>
      <p:sp>
        <p:nvSpPr>
          <p:cNvPr id="21" name="Text 19"/>
          <p:cNvSpPr txBox="1"/>
          <p:nvPr/>
        </p:nvSpPr>
        <p:spPr>
          <a:xfrm>
            <a:off x="9144000" y="3154680"/>
            <a:ext cx="2286000" cy="1005840"/>
          </a:xfrm>
          <a:prstGeom prst="rect">
            <a:avLst/>
          </a:prstGeom>
          <a:noFill/>
          <a:ln/>
        </p:spPr>
        <p:txBody>
          <a:bodyPr wrap="square" lIns="0" tIns="0" rIns="0" bIns="0" rtlCol="0" anchor="ctr"/>
          <a:lstStyle/>
          <a:p>
            <a:pPr marL="0" indent="0">
              <a:buNone/>
            </a:pPr>
            <a:r>
              <a:rPr lang="en-US" sz="2000" dirty="0">
                <a:solidFill>
                  <a:schemeClr val="tx1"/>
                </a:solidFill>
              </a:rPr>
              <a:t>View</a:t>
            </a:r>
            <a:endParaRPr lang="en-US" sz="2000" dirty="0"/>
          </a:p>
        </p:txBody>
      </p:sp>
      <p:sp>
        <p:nvSpPr>
          <p:cNvPr id="22" name="row Вигляд результату"/>
          <p:cNvSpPr/>
          <p:nvPr/>
        </p:nvSpPr>
        <p:spPr>
          <a:xfrm>
            <a:off x="548640" y="4343400"/>
            <a:ext cx="11094415" cy="1005840"/>
          </a:xfrm>
          <a:prstGeom prst="roundRect">
            <a:avLst>
              <a:gd name="adj" fmla="val 10909"/>
            </a:avLst>
          </a:prstGeom>
          <a:solidFill>
            <a:schemeClr val="bg2"/>
          </a:solidFill>
          <a:ln/>
        </p:spPr>
        <p:txBody>
          <a:bodyPr/>
          <a:lstStyle/>
          <a:p>
            <a:endParaRPr lang="en-UA"/>
          </a:p>
        </p:txBody>
      </p:sp>
      <p:sp>
        <p:nvSpPr>
          <p:cNvPr id="23" name="Text 21"/>
          <p:cNvSpPr txBox="1"/>
          <p:nvPr/>
        </p:nvSpPr>
        <p:spPr>
          <a:xfrm>
            <a:off x="822960" y="4343400"/>
            <a:ext cx="3657600" cy="1005840"/>
          </a:xfrm>
          <a:prstGeom prst="rect">
            <a:avLst/>
          </a:prstGeom>
          <a:noFill/>
          <a:ln/>
        </p:spPr>
        <p:txBody>
          <a:bodyPr wrap="square" lIns="0" tIns="0" rIns="0" bIns="0" rtlCol="0" anchor="ctr"/>
          <a:lstStyle/>
          <a:p>
            <a:pPr marL="0" indent="0">
              <a:buNone/>
            </a:pPr>
            <a:r>
              <a:rPr lang="en-US" sz="2100" b="1" dirty="0">
                <a:solidFill>
                  <a:schemeClr val="tx1"/>
                </a:solidFill>
                <a:latin typeface="Cambria" pitchFamily="34" charset="0"/>
                <a:ea typeface="Cambria" pitchFamily="34" charset="-122"/>
                <a:cs typeface="Cambria" pitchFamily="34" charset="-120"/>
              </a:rPr>
              <a:t>Вигляд результату</a:t>
            </a:r>
            <a:endParaRPr lang="en-US" sz="2100" dirty="0"/>
          </a:p>
        </p:txBody>
      </p:sp>
      <p:sp>
        <p:nvSpPr>
          <p:cNvPr id="24" name="tile V"/>
          <p:cNvSpPr/>
          <p:nvPr/>
        </p:nvSpPr>
        <p:spPr>
          <a:xfrm>
            <a:off x="4754880" y="4498848"/>
            <a:ext cx="694944" cy="694944"/>
          </a:xfrm>
          <a:prstGeom prst="roundRect">
            <a:avLst>
              <a:gd name="adj" fmla="val 18000"/>
            </a:avLst>
          </a:prstGeom>
          <a:solidFill>
            <a:schemeClr val="accent2"/>
          </a:solidFill>
          <a:ln/>
        </p:spPr>
        <p:txBody>
          <a:bodyPr/>
          <a:lstStyle/>
          <a:p>
            <a:endParaRPr lang="en-UA"/>
          </a:p>
        </p:txBody>
      </p:sp>
      <p:sp>
        <p:nvSpPr>
          <p:cNvPr id="25" name="Text 23"/>
          <p:cNvSpPr txBox="1"/>
          <p:nvPr/>
        </p:nvSpPr>
        <p:spPr>
          <a:xfrm>
            <a:off x="4754880" y="4498848"/>
            <a:ext cx="694944" cy="694944"/>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V</a:t>
            </a:r>
            <a:endParaRPr lang="en-US" sz="2600" dirty="0"/>
          </a:p>
        </p:txBody>
      </p:sp>
      <p:sp>
        <p:nvSpPr>
          <p:cNvPr id="26" name="Text 24"/>
          <p:cNvSpPr txBox="1"/>
          <p:nvPr/>
        </p:nvSpPr>
        <p:spPr>
          <a:xfrm>
            <a:off x="5669280" y="4343400"/>
            <a:ext cx="2286000" cy="1005840"/>
          </a:xfrm>
          <a:prstGeom prst="rect">
            <a:avLst/>
          </a:prstGeom>
          <a:noFill/>
          <a:ln/>
        </p:spPr>
        <p:txBody>
          <a:bodyPr wrap="square" lIns="0" tIns="0" rIns="0" bIns="0" rtlCol="0" anchor="ctr"/>
          <a:lstStyle/>
          <a:p>
            <a:pPr marL="0" indent="0">
              <a:buNone/>
            </a:pPr>
            <a:r>
              <a:rPr lang="en-US" sz="2000" dirty="0">
                <a:solidFill>
                  <a:schemeClr val="tx1"/>
                </a:solidFill>
              </a:rPr>
              <a:t>View</a:t>
            </a:r>
            <a:endParaRPr lang="en-US" sz="2000" dirty="0"/>
          </a:p>
        </p:txBody>
      </p:sp>
      <p:sp>
        <p:nvSpPr>
          <p:cNvPr id="27" name="tile T"/>
          <p:cNvSpPr/>
          <p:nvPr/>
        </p:nvSpPr>
        <p:spPr>
          <a:xfrm>
            <a:off x="8229600" y="4498848"/>
            <a:ext cx="694944" cy="694944"/>
          </a:xfrm>
          <a:prstGeom prst="roundRect">
            <a:avLst>
              <a:gd name="adj" fmla="val 18000"/>
            </a:avLst>
          </a:prstGeom>
          <a:solidFill>
            <a:schemeClr val="accent2"/>
          </a:solidFill>
          <a:ln/>
        </p:spPr>
        <p:txBody>
          <a:bodyPr/>
          <a:lstStyle/>
          <a:p>
            <a:endParaRPr lang="en-UA"/>
          </a:p>
        </p:txBody>
      </p:sp>
      <p:sp>
        <p:nvSpPr>
          <p:cNvPr id="28" name="Text 26"/>
          <p:cNvSpPr txBox="1"/>
          <p:nvPr/>
        </p:nvSpPr>
        <p:spPr>
          <a:xfrm>
            <a:off x="8229600" y="4498848"/>
            <a:ext cx="694944" cy="694944"/>
          </a:xfrm>
          <a:prstGeom prst="rect">
            <a:avLst/>
          </a:prstGeom>
          <a:noFill/>
          <a:ln/>
        </p:spPr>
        <p:txBody>
          <a:bodyPr wrap="square" lIns="0" tIns="0" rIns="0" bIns="0" rtlCol="0" anchor="ctr"/>
          <a:lstStyle/>
          <a:p>
            <a:pPr marL="0" indent="0" algn="ctr">
              <a:buNone/>
            </a:pPr>
            <a:r>
              <a:rPr lang="en-US" sz="2600" b="1" dirty="0">
                <a:solidFill>
                  <a:schemeClr val="bg1"/>
                </a:solidFill>
                <a:latin typeface="Cambria" pitchFamily="34" charset="0"/>
                <a:ea typeface="Cambria" pitchFamily="34" charset="-122"/>
                <a:cs typeface="Cambria" pitchFamily="34" charset="-120"/>
              </a:rPr>
              <a:t>T</a:t>
            </a:r>
            <a:endParaRPr lang="en-US" sz="2600" dirty="0"/>
          </a:p>
        </p:txBody>
      </p:sp>
      <p:sp>
        <p:nvSpPr>
          <p:cNvPr id="29" name="Text 27"/>
          <p:cNvSpPr txBox="1"/>
          <p:nvPr/>
        </p:nvSpPr>
        <p:spPr>
          <a:xfrm>
            <a:off x="9144000" y="4343400"/>
            <a:ext cx="2286000" cy="1005840"/>
          </a:xfrm>
          <a:prstGeom prst="rect">
            <a:avLst/>
          </a:prstGeom>
          <a:noFill/>
          <a:ln/>
        </p:spPr>
        <p:txBody>
          <a:bodyPr wrap="square" lIns="0" tIns="0" rIns="0" bIns="0" rtlCol="0" anchor="ctr"/>
          <a:lstStyle/>
          <a:p>
            <a:pPr marL="0" indent="0">
              <a:buNone/>
            </a:pPr>
            <a:r>
              <a:rPr lang="en-US" sz="2000" dirty="0">
                <a:solidFill>
                  <a:schemeClr val="tx1"/>
                </a:solidFill>
              </a:rPr>
              <a:t>Template</a:t>
            </a:r>
            <a:endParaRPr lang="en-US" sz="2000" dirty="0"/>
          </a:p>
        </p:txBody>
      </p:sp>
      <p:sp>
        <p:nvSpPr>
          <p:cNvPr id="30" name="Text 28"/>
          <p:cNvSpPr txBox="1"/>
          <p:nvPr/>
        </p:nvSpPr>
        <p:spPr>
          <a:xfrm>
            <a:off x="548640" y="5577840"/>
            <a:ext cx="10362895" cy="685800"/>
          </a:xfrm>
          <a:prstGeom prst="rect">
            <a:avLst/>
          </a:prstGeom>
          <a:noFill/>
          <a:ln/>
        </p:spPr>
        <p:txBody>
          <a:bodyPr wrap="square" lIns="0" tIns="0" rIns="0" bIns="0" rtlCol="0" anchor="ctr"/>
          <a:lstStyle/>
          <a:p>
            <a:pPr marL="0" indent="0">
              <a:buNone/>
            </a:pPr>
            <a:r>
              <a:rPr lang="en-US" sz="1700" i="1" dirty="0">
                <a:solidFill>
                  <a:schemeClr val="tx2"/>
                </a:solidFill>
              </a:rPr>
              <a:t>Колір позначає обов'язок. Зіставляємо обов'язки конкретних прикладів, а не просто перейменовуємо класи.</a:t>
            </a:r>
            <a:endParaRPr lang="en-US" sz="1700" dirty="0"/>
          </a:p>
        </p:txBody>
      </p:sp>
      <p:sp>
        <p:nvSpPr>
          <p:cNvPr id="31" name="Slide Number Placeholder 0"/>
          <p:cNvSpPr>
            <a:spLocks noGrp="1"/>
          </p:cNvSpPr>
          <p:nvPr>
            <p:ph type="sldNum" sz="quarter" idx="4294967295"/>
          </p:nvPr>
        </p:nvSpPr>
        <p:spPr>
          <a:xfrm>
            <a:off x="11185855" y="6263640"/>
            <a:ext cx="45720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tx2"/>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MVC MVT">
  <a:themeElements>
    <a:clrScheme name="MVC MVT">
      <a:dk1>
        <a:srgbClr val="23302C"/>
      </a:dk1>
      <a:lt1>
        <a:srgbClr val="FFFFFF"/>
      </a:lt1>
      <a:dk2>
        <a:srgbClr val="5F6E69"/>
      </a:dk2>
      <a:lt2>
        <a:srgbClr val="EEF3F0"/>
      </a:lt2>
      <a:accent1>
        <a:srgbClr val="2A9D78"/>
      </a:accent1>
      <a:accent2>
        <a:srgbClr val="D99A1E"/>
      </a:accent2>
      <a:accent3>
        <a:srgbClr val="8A4FB5"/>
      </a:accent3>
      <a:accent4>
        <a:srgbClr val="1B2622"/>
      </a:accent4>
      <a:accent5>
        <a:srgbClr val="E6EEEA"/>
      </a:accent5>
      <a:accent6>
        <a:srgbClr val="C9D4CF"/>
      </a:accent6>
      <a:hlink>
        <a:srgbClr val="8A4FB5"/>
      </a:hlink>
      <a:folHlink>
        <a:srgbClr val="5F6E69"/>
      </a:folHlink>
    </a:clrScheme>
    <a:fontScheme name="MVC MV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44AF584-933B-E645-AD6A-50A3A98E47BE}">
  <we:reference id="wa200005566" version="3.0.1.2" store="en-US" storeType="OMEX"/>
  <we:alternateReferences>
    <we:reference id="wa200005566" version="3.0.1.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9725C91A-8D04-EC40-8094-94159FF5C050}">
  <we:reference id="wa200010215" version="2.0.0.1" store="en-US" storeType="OMEX"/>
  <we:alternateReferences>
    <we:reference id="WA200010215" version="2.0.0.1" store="WA200010215" storeType="OMEX"/>
  </we:alternateReferences>
  <we:properties>
    <we:property name="bps.codex_control.document_id" value="&quot;51aa36cb-0b45-462b-b043-a9debdfd6b4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696</TotalTime>
  <Words>2337</Words>
  <Application>Microsoft Macintosh PowerPoint</Application>
  <PresentationFormat>Widescreen</PresentationFormat>
  <Paragraphs>177</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MVC MVT</vt:lpstr>
      <vt:lpstr>PowerPoint Presentation</vt:lpstr>
      <vt:lpstr>MVC розділяє три відповідальності</vt:lpstr>
      <vt:lpstr>MVC: дані окремо від вигляду</vt:lpstr>
      <vt:lpstr>Контролер узгоджує дію</vt:lpstr>
      <vt:lpstr>Самостійно: нова дія у MVC</vt:lpstr>
      <vt:lpstr>MVT: ті самі межі, інші ролі</vt:lpstr>
      <vt:lpstr>MVT: готовий приклад каталогу</vt:lpstr>
      <vt:lpstr>Порівнюємо відповідальності</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Патерни MVC та MVT</dc:title>
  <dc:subject>PptxGenJS Presentation</dc:subject>
  <dc:creator>Dmitriy Shtefan</dc:creator>
  <cp:lastModifiedBy>Дмитро Штефан</cp:lastModifiedBy>
  <cp:revision>5</cp:revision>
  <dcterms:created xsi:type="dcterms:W3CDTF">2026-10-30T20:51:11Z</dcterms:created>
  <dcterms:modified xsi:type="dcterms:W3CDTF">2026-10-31T08:30:02Z</dcterms:modified>
</cp:coreProperties>
</file>