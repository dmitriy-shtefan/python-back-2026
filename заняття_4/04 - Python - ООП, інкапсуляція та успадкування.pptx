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9" r:id="rId21"/>
    <p:sldId id="275" r:id="rId22"/>
    <p:sldId id="277" r:id="rId23"/>
    <p:sldId id="278" r:id="rId24"/>
    <p:sldId id="279" r:id="rId25"/>
    <p:sldId id="280" r:id="rId26"/>
  </p:sldIdLst>
  <p:sldSz cx="12192000" cy="6858000"/>
  <p:notesSz cx="6858000" cy="9144000"/>
  <p:defaultTextStyle>
    <a:defPPr>
      <a:defRPr lang="en-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68"/>
    <p:restoredTop sz="94685"/>
  </p:normalViewPr>
  <p:slideViewPr>
    <p:cSldViewPr snapToGrid="0">
      <p:cViewPr varScale="1">
        <p:scale>
          <a:sx n="149" d="100"/>
          <a:sy n="149" d="100"/>
        </p:scale>
        <p:origin x="192"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3 хв (3 хв)</a:t>
            </a:r>
          </a:p>
          <a:p>
            <a:endParaRPr/>
          </a:p>
          <a:p>
            <a:r>
              <a:t>Привітайтеся, перевірте звук, читабельність редактора та камери; власну камеру залишайте ввімкненою. Почніть відмітку присутніх. Назвіть тему та курс. На титульному слайді не проводьте опитування про моделі; пригадування власного кейсу заплановане перед практикою на слайді 8.</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7 хв (10 хв)</a:t>
            </a:r>
          </a:p>
          <a:p>
            <a:endParaRPr/>
          </a:p>
          <a:p>
            <a:r>
              <a:t>Окресліть задачі як заплановані навчальні дії, без обіцянок індивідуального результату. Поясніть зв'язок із реальним життям: студент і викладач мають спільні дані людини та різні ролі; курс поєднує їх, а правило коректного віку має діяти для обох. Послідовність: успадкування, перша реалізація власного кейсу, інкапсуляція та валідація. Останні 10 хвилин відведено Kahoot.</a:t>
            </a:r>
          </a:p>
          <a:p>
            <a:endParaRPr/>
          </a:p>
          <a:p>
            <a:r>
              <a:t>Усна перевірка ДЗ з попереднього заняття, 5 хвилин у межах цього слайда. Завершіть відмітку присутніх. Попросіть кожного стисло повідомити стан роботи й дайте короткі питання за фактичною присутністю: які два класи реалізовано, як пов'язані об'єкти, які три сценарії перевірено та чому стан двох екземплярів незалежний. Персонально звертайтеся за справжнім іменем і на "ви". Очікуйте пояснення конструктора, методів, зв'язку об'єктів та окремого списку в __init__. Назвіть конкретну сильну сторону та наступний крок за раніше переглянутими роботами. Усна відповідь перевіряє розуміння, але не підтверджує працездатність коду без його перегляду та запуску. Якщо роботу не здано, з'ясуйте складність і визначте найближчу дію без вигаданих результатів. Не пригадуйте тут командну модель: це заплановано перед практикою на слайді 8. Нездане ДЗ не блокує подальшу роботу з нуля.</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(15 хв)</a:t>
            </a:r>
          </a:p>
          <a:p>
            <a:endParaRPr/>
          </a:p>
          <a:p>
            <a:r>
              <a:t>Спочатку попросіть описати ці зв'язки словами. Чи доречний Course(Person)? Очікуйте: ні, курс не є людиною. Student та Educator успадковують спільні дані людини, Course зберігає посилання на них. Тут композицію вживаємо в широкому сенсі поєднання об'єктів; час життя людини не залежить від курсу. Запитайте, де зберігати спільне правило віку, щоб не копіювати його у два класи. Очікуйте: у Person; саму перевірку додамо в другій парі.</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7 хв (22 хв)</a:t>
            </a:r>
          </a:p>
          <a:p>
            <a:endParaRPr/>
          </a:p>
          <a:p>
            <a:r>
              <a:t>1 хв на прогноз, 4 хв на набір, 2 хв на запуск і перегляд результатів усіх присутніх. Очікуємо "Олена: 18 років". Імена в коді позначають вигадані об'єкти, а не фактичних студентів. pass означає порожнє тіло; Student успадковує __init__, атрибути, які він створює, та describe. Властивостей і перевірок поки немає. Помилки: NameError, дочірній клас вище базового, змініть порядок; TypeError, пропущений аргумент, звірте виклик; None замість рядка, відновіть return. Збережіть робочу копію.</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7 хв (29 хв)</a:t>
            </a:r>
          </a:p>
          <a:p>
            <a:endParaRPr/>
          </a:p>
          <a:p>
            <a:r>
              <a:t>У demo_learning.py додайте Educator після Student. 1 хв на пояснення super(), 4 хв на набір, 2 хв на прогноз та перевірку всіх. У цій ієрархії super().__init__ викликає ініціалізацію Person для того самого об'єкта; self явно не передаємо. Очікуємо 32 Python. Якщо пропустити super(), name та age не створяться. Помилки: TypeError, зайвий self або неправильні аргументи, звірте сигнатуру; AttributeError, немає базового __init__, додайте; NameError, звірте назву класу. На цьому етапі від'ємний вік ще дозволено: валідація буде у другій парі.</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6 хв (35 хв)</a:t>
            </a:r>
          </a:p>
          <a:p>
            <a:endParaRPr/>
          </a:p>
          <a:p>
            <a:r>
              <a:t>У demo_learning.py додайте метод усередині Educator. 1 хв на пояснення, 3 хв на набір, 2 хв на перевірку всіх. Student зберігає базову поведінку, Educator розширює її. Очікуємо "Марія: 32 років; спеціальність: Python"; для простоти не реалізуємо відмінювання слова "років". Помилки: None, немає return, відновіть; RecursionError, self.describe() замість super().describe(), виправте; AttributeError щодо speciality, перевірте __init__. Окрему тему поліморфізму залиште на заняття 5.</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(40 хв)</a:t>
            </a:r>
          </a:p>
          <a:p>
            <a:endParaRPr/>
          </a:p>
          <a:p>
            <a:r>
              <a:t>Перші 2 хвилини покажіть коротку основу Course, 2 хвилини студенти самостійно створюють student = Student("Олена", 18), course = Course("Python", educator), викликають course.enroll(student) та друкують course.title, course.educator.name, len(course.students). Остання хвилина на одночасний перегляд коду та виводу кожного. Очікуємо "Python Марія 1". До спроби готовий блок запуску не показуйте. Course не успадковує Person: він зберігає посилання на Educator та Student. Список створюється у __init__. Помилки: спільний список, перенесіть [] до __init__; AttributeError, замість об'єкта передали рядок, передайте educator або student; кількість 0, перевірте enroll. За потреби перевірку незалежності другого курсу продовжіть як резерв. Навчальний enroll поки дозволяє повторний запис; це обмеження спрощеного прикладу.</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(45 хв)</a:t>
            </a:r>
          </a:p>
          <a:p>
            <a:endParaRPr/>
          </a:p>
          <a:p>
            <a:r>
              <a:t>Перші 2 хвилини відновіть власну модель за описом або картками: назви сутностей, їх дані та одну дію. Наступну хвилину визначте базову сутність і два осмислені різновиди, останні 2 хвилини перегляньте плани кожного. Збережіть зв'язки вихідної моделі; не робіть пов'язані сутності штучно батьком і нащадком. Наприклад, для планувальника можливі різновиди завдання. Не замінюйте студентський кейс навчальними Person і Course. Зафіксуйте дію й очікуваний результат у domain.md. Якщо опис відсутній, допоможіть відновити мінімум трьома реченнями. На занятті 3 модель спроєктували без коду: за відсутності реалізації створюємо project_model.py з нуля; якщо хтось уже написав код удома, він звіряє його з планом і продовжує власний файл.</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20 хв (65 хв)</a:t>
            </a:r>
          </a:p>
          <a:p>
            <a:endParaRPr/>
          </a:p>
          <a:p>
            <a:r>
              <a:t>3 хв на перенесення назв і даних з domain.md, 12 хв на самостійний код, 5 хв на К1 та індивідуальну допомогу. Це перша реалізація власного кейсу з нуля. Поки реалізуйте базовий і пов'язаний класи, без property. Спільна ідея допустима, кожен пише особистий файл. Покажіть порожній стан, одну дію і її результат, незалежність двох контейнерів. Помилки: спільний список, перенесіть [] в __init__; AttributeError, звірте назви; стан не змінюється, перевірте об'єкт-власник даних. Допомога: питання, місце зміни, потім частковий приклад на моделі студента. К1 підтверджується файлом і виводом кожного.</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15 хв (80 хв)</a:t>
            </a:r>
          </a:p>
          <a:p>
            <a:endParaRPr/>
          </a:p>
          <a:p>
            <a:r>
              <a:t>10 хв на реалізацію, 4 хв на К2 та допомогу, 1 хв на збереження й оголошення фактичного часу повернення. Один різновид може поки містити pass, якщо його роль обґрунтована. Інший додає атрибут та перевизначає метод. Валідація ще не вимагається. Очікуємо базову інформацію та особливу деталь у результаті другого різновиду. Помилки: немає базових полів, додайте super; TypeError, звірте аргументи; None, відновіть return. Кожен надсилає код та вивід, пояснює, чому це різновиди. На перерві обов'язкових завдань немає. Перша пара завершується на 80-й навчальній хвилині.</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(85 хв)</a:t>
            </a:r>
          </a:p>
          <a:p>
            <a:endParaRPr/>
          </a:p>
          <a:p>
            <a:r>
              <a:t>Після перерви перевірте присутність і звук. Прогноз, запуск: -2. Дайте сформулювати потребу в перевірці, потім назвіть інкапсуляцію: стан і дії, що підтримують його коректність, об'єднано в класі. Очікуйте, що спільне правило має бути у Person. Приберіть навмисно помилкове присвоєння після демонстрації, щоб воно не зупинило подальший запуск. Course та його зв'язки збережіть. Власні кейси продовжимо після демонстрації нового синтаксису.</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(90 хв)</a:t>
            </a:r>
          </a:p>
          <a:p>
            <a:endParaRPr/>
          </a:p>
          <a:p>
            <a:r>
              <a:t>Порівняйте публічний інтерфейс та внутрішні деталі Person. Запитайте, чи заборонить _ пряме присвоєння. Очікуйте: ні. Не перейменовуйте age у поточному файлі до слайда 15, інакше describe звертатиметься до відсутнього атрибута. Для ілюстрації використайте окрему копію або усне порівняння. Правила підтримує код класу, _ не є абсолютним захистом. Course звертатиметься до людей через публічні атрибути та методи.</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(95 хв)</a:t>
            </a:r>
          </a:p>
          <a:p>
            <a:endParaRPr/>
          </a:p>
          <a:p>
            <a:r>
              <a:t>Це окрема ізольована демонстрація, не заміна Person у demo_learning.py. Прогноз і запуск: Олена. Окремо покажіть print(person.__name): AttributeError. Поясніть перетворення на _Person__name. Це не шифрування й не абсолютна приватність; звертання через перетворене ім'я у звичайному коді не потрібне. Запитайте, чи зникає можливість доступу. Очікуйте: ні. Поверніться до одного _ у навчальній моделі.</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7 хв (102 хв)</a:t>
            </a:r>
          </a:p>
          <a:p>
            <a:endParaRPr/>
          </a:p>
          <a:p>
            <a:r>
              <a:t>Це окремий навчальний фрагмент для розбору, не заміна Person у поточному файлі. Поясніть raise ValueError та перевірку до зміни поля. Покажіть метод на ізольованій копії. До практики поясніть try/except: у try виконуємо ризиковану дію, except ValueError перехоплює саме очікувану помилку, виконання продовжується. Що буде, якщо присвоїти перед raise? Очікуйте: некоректний стан уже збережеться. У наступному кроці правило оформлюємо властивістю, цей метод у фінальний Person не додаємо. Для прикладу вік передається цілим числом; правило віку є навчальним припущенням.</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8 хв (110 хв)</a:t>
            </a:r>
          </a:p>
          <a:p>
            <a:endParaRPr/>
          </a:p>
          <a:p>
            <a:r>
              <a:t>Присвоєння self.age = age в __init__ тепер викликає setter. 2 хв на пояснення, 4 хв на набір, 2 хв на К3 у всіх. Getter читає, setter перевіряє запис, _age зберігає значення; age читається без дужок. Setter визначається після getter, назва однакова. Student і Educator не змінюємо: вони успадкують правило; Course також не потребує змін. Помилки: RecursionError, self.age всередині getter або setter, використайте _age; NameError, setter раніше getter, переставте; відсутні базові поля в Educator, перевірте super. Прочитайте вік двох коректно створених різновидів.</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8 хв (118 хв)</a:t>
            </a:r>
          </a:p>
          <a:p>
            <a:endParaRPr/>
          </a:p>
          <a:p>
            <a:r>
              <a:t>5 хв на самостійну роботу, 3 хв на К4 та допомогу. Межі 1-120 є умовою цієї навчальної моделі, а не універсальним правилом для людей. Не показуйте готовий setter до спроби. Підказки: єдина перевірка у Person, умова з or, присвоєння після перевірки. Кожен показує допустиме й помилкове створення, допустиму й помилкову зміну Student та Educator, попередній стан після відхилення. Після невдалого створення не звертайтеся до змінної, якій об'єкт не присвоєно. Якщо правило працює лише під час зміни, перевірте __init__; якщо програма зупиняється, помилковий виклик має бути всередині try. Перевірте код, вивід усіх та повторний запуск після допомоги.</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15 хв (133 хв)</a:t>
            </a:r>
          </a:p>
          <a:p>
            <a:endParaRPr/>
          </a:p>
          <a:p>
            <a:r>
              <a:t>2 хв на вибір правила з domain.md, 8 хв на код, 5 хв на К5 та повторні перевірки. Продовжуйте власний project_model.py з першої пари, не підміняйте свій кейс навчальними Person і Course. Оберіть додатне числове значення або непорожню назву, якщо це природніше для моделі. Getter і setter додайте в базову сутність, в __init__ присвоюйте через властивість. Обидва різновиди мають успадковувати правило. Потрібні допустиме створення, зміна, помилкове створення й зміна без втрати попереднього стану. Помилки: RecursionError, звірте внутрішнє поле; валідація обходиться, перевірте __init__; перевірка лише в одному різновиді, перенесіть до бази. Збережіть початкову дію кейсу та перевірте, що вона працює після змін. Кожен надсилає код і вивід.</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7 хв (140 хв)</a:t>
            </a:r>
          </a:p>
          <a:p>
            <a:endParaRPr/>
          </a:p>
          <a:p>
            <a:r>
              <a:t>К6. 2 хв на обмін поясненнями в парах: один пояснює вибір успадкування, інший знаходить перевірку, потім міняються. За непарної кількості працює трійка з ротацією, за одного присутнього співрозмовником є викладач. 5 хв на перегляд результатів усіх через одночасний доступ. Потрібні дія користувача, помилкова зміна без втрати стану, відмінність різновидів та зв'язок композиції. Збережіть project_model.py і domain.md. Попросіть: "[Ім'я], поясніть, будь ласка, чому ви обрали цей базовий клас". Замініть позначення справжнім іменем. Неперевірений чи незавершений результат позначте явно, визначте наступний крок.</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(145 хв)</a:t>
            </a:r>
          </a:p>
          <a:p>
            <a:endParaRPr/>
          </a:p>
          <a:p>
            <a:r>
              <a:t>Зіставте результат із цілями на початку. Запросіть менш активного учасника за ім'ям і на "ви". Очікуйте конкретне правило, перевірку й застосування у власному кейсі. Звірте файли з К1-К6, позначте невиконане. Покажіть користь наступної теми: ті самі об'єкти отримають зручніше текстове представлення та спільний спосіб виклику поведінки. Оцінки й кристали в logbook фіксуйте лише за фактичними результатами, називаючи конкретну дію.</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(150 хв)</a:t>
            </a:r>
          </a:p>
          <a:p>
            <a:endParaRPr/>
          </a:p>
          <a:p>
            <a:r>
              <a:t>Відкрийте чинне Домашнє завдання.md заняття 4. Це завершення сьогоднішньої реалізації, а не нова предметна область. Поясніть перевірки: допустиме створення, допустима зміна, помилкове створення, помилкова зміна без втрати стану, перевизначений метод. Некоректні операції перехоплюються через ValueError. У README вкажіть назву файла, команду python3 project_model.py, очікувані результати своїх прикладів і причину відношення "є різновидом". Назвіть фактичний дедлайн, канал і посилання logbook, заповнені до уроку; в цій чернетці вони невідомі. Дайте час на запитання та визначення першого наступного кроку. Резерв не є обов'язковим ДЗ. Поясніть ДЗ до початку Kahoot. Завершіть цей слайд на 150-й навчальній хвилині.</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4 хв (160 хв основного заняття; резерв окремо)</a:t>
            </a:r>
          </a:p>
          <a:p>
            <a:endParaRPr/>
          </a:p>
          <a:p>
            <a:r>
              <a:t>Необов'язкова задача на власному кейсі для тих, хто завершив основну роботу раніше. Не забирайте час підсумку, ДЗ чи перерви. Підказка: список створюється в __init__. Перевірте прогноз, код і вивід обох станів. Попросіть пояснити результат; після допомоги перевірте повторно.</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4 хв (160 хв основного заняття; резерв окремо)</a:t>
            </a:r>
          </a:p>
          <a:p>
            <a:endParaRPr/>
          </a:p>
          <a:p>
            <a:r>
              <a:t>Необов'язкова задача на власному кейсі для тих, хто завершив основну роботу раніше. Не забирайте час підсумку, ДЗ чи перерви. Використайте відоме try/except. Порівняйте стан після однакової відхиленої зміни у двох версіях. Попросіть пояснити результат; після допомоги перевірте повторно.</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4 хв (160 хв основного заняття; резерв окремо)</a:t>
            </a:r>
          </a:p>
          <a:p>
            <a:endParaRPr/>
          </a:p>
          <a:p>
            <a:r>
              <a:t>Необов'язкова задача на власному кейсі для тих, хто завершив основну роботу раніше. Не забирайте час підсумку, ДЗ чи перерви. Якщо предметна область не має природного третього різновиду, оберіть інший резерв. Перевірте допустиме й заборонене значення. Попросіть пояснити результат; після допомоги перевірте повторно.</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Тривалість: 5 хв (160 хв основного заняття; резерв окремо)</a:t>
            </a:r>
          </a:p>
          <a:p>
            <a:endParaRPr/>
          </a:p>
          <a:p>
            <a:r>
              <a:t>Необов'язкова задача на власному кейсі для тих, хто завершив основну роботу раніше. Не забирайте час підсумку, ДЗ чи перерви. Не вводьте новий синтаксис. Використайте знайомий список і метод додавання; перевірте типи об'єктів та результат дії. Попросіть пояснити результат; після допомоги перевірте повторно.</a:t>
            </a:r>
          </a:p>
          <a:p>
            <a:endParaRPr/>
          </a:p>
          <a:p>
            <a:r>
              <a:t>Джерело: сценарій заняття 04. Оформлення: презентація заняття 03, v2.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70E2B34-0C87-4865-9D4B-880754AF6403}"/>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8E35080F-515B-4512-BB39-75D7BFDD0AE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F2B15D0-AB5E-4DD6-9B42-7CB86168D9B1}"/>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8587D0F9-CDE7-4408-87B0-47686B649CF1}"/>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329E3D3A-6904-4755-BCFC-14DCB8CE52BD}"/>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2149129A-EF4E-4108-92F3-2F78C0F6D78C}"/>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8ED811C3-A72C-470B-84C5-F56E1469A2F8}"/>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B3A816FF-CF0F-4FC9-9270-4051EFE4BBF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8535D0E-CE33-4D1D-AE9D-233232FE515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2F3ECB7-E9B1-45F7-8D87-1C0BBC7C4E9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C40"/>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289A8C4D-A00F-42EE-A606-22D4EBFBB084}"/>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762000" y="666750"/>
            <a:ext cx="666750" cy="666750"/>
          </a:xfrm>
          <a:prstGeom prst="rect">
            <a:avLst/>
          </a:prstGeom>
        </p:spPr>
      </p:pic>
      <p:sp>
        <p:nvSpPr>
          <p:cNvPr id="3" name="Rectangle 2">
            <a:extLst>
              <a:ext uri="{FF2B5EF4-FFF2-40B4-BE49-F238E27FC236}">
                <a16:creationId xmlns:a16="http://schemas.microsoft.com/office/drawing/2014/main" id="{340B3061-4241-48E6-B0CE-6D9926A1D621}"/>
              </a:ext>
            </a:extLst>
          </p:cNvPr>
          <p:cNvSpPr>
            <a:spLocks noGrp="1"/>
          </p:cNvSpPr>
          <p:nvPr/>
        </p:nvSpPr>
        <p:spPr>
          <a:xfrm>
            <a:off x="723900" y="1905000"/>
            <a:ext cx="9715500" cy="1762125"/>
          </a:xfrm>
          <a:prstGeom prst="rect">
            <a:avLst/>
          </a:prstGeom>
          <a:noFill/>
          <a:ln w="0">
            <a:noFill/>
          </a:ln>
        </p:spPr>
        <p:txBody>
          <a:bodyPr anchor="ctr"/>
          <a:lstStyle>
            <a:defPPr>
              <a:defRPr sz="4800" b="1">
                <a:solidFill>
                  <a:srgbClr val="FFFFFF"/>
                </a:solidFill>
                <a:latin typeface="Onest"/>
                <a:ea typeface="Onest"/>
                <a:cs typeface="Onest"/>
              </a:defRPr>
            </a:defPPr>
            <a:lvl1pPr>
              <a:defRPr sz="4800" b="1">
                <a:solidFill>
                  <a:srgbClr val="FFFFFF"/>
                </a:solidFill>
                <a:latin typeface="Onest"/>
                <a:ea typeface="Onest"/>
                <a:cs typeface="Onest"/>
              </a:defRPr>
            </a:lvl1pPr>
            <a:lvl2pPr>
              <a:defRPr sz="4800" b="1">
                <a:solidFill>
                  <a:srgbClr val="FFFFFF"/>
                </a:solidFill>
                <a:latin typeface="Onest"/>
                <a:ea typeface="Onest"/>
                <a:cs typeface="Onest"/>
              </a:defRPr>
            </a:lvl2pPr>
            <a:lvl3pPr>
              <a:defRPr sz="4800" b="1">
                <a:solidFill>
                  <a:srgbClr val="FFFFFF"/>
                </a:solidFill>
                <a:latin typeface="Onest"/>
                <a:ea typeface="Onest"/>
                <a:cs typeface="Onest"/>
              </a:defRPr>
            </a:lvl3pPr>
            <a:lvl4pPr>
              <a:defRPr sz="4800" b="1">
                <a:solidFill>
                  <a:srgbClr val="FFFFFF"/>
                </a:solidFill>
                <a:latin typeface="Onest"/>
                <a:ea typeface="Onest"/>
                <a:cs typeface="Onest"/>
              </a:defRPr>
            </a:lvl4pPr>
            <a:lvl5pPr>
              <a:defRPr sz="4800" b="1">
                <a:solidFill>
                  <a:srgbClr val="FFFFFF"/>
                </a:solidFill>
                <a:latin typeface="Onest"/>
                <a:ea typeface="Onest"/>
                <a:cs typeface="Onest"/>
              </a:defRPr>
            </a:lvl5pPr>
            <a:lvl6pPr>
              <a:defRPr sz="4800" b="1">
                <a:solidFill>
                  <a:srgbClr val="FFFFFF"/>
                </a:solidFill>
                <a:latin typeface="Onest"/>
                <a:ea typeface="Onest"/>
                <a:cs typeface="Onest"/>
              </a:defRPr>
            </a:lvl6pPr>
            <a:lvl7pPr>
              <a:defRPr sz="4800" b="1">
                <a:solidFill>
                  <a:srgbClr val="FFFFFF"/>
                </a:solidFill>
                <a:latin typeface="Onest"/>
                <a:ea typeface="Onest"/>
                <a:cs typeface="Onest"/>
              </a:defRPr>
            </a:lvl7pPr>
            <a:lvl8pPr>
              <a:defRPr sz="4800" b="1">
                <a:solidFill>
                  <a:srgbClr val="FFFFFF"/>
                </a:solidFill>
                <a:latin typeface="Onest"/>
                <a:ea typeface="Onest"/>
                <a:cs typeface="Onest"/>
              </a:defRPr>
            </a:lvl8pPr>
            <a:lvl9pPr>
              <a:defRPr sz="4800" b="1">
                <a:solidFill>
                  <a:srgbClr val="FFFFFF"/>
                </a:solidFill>
                <a:latin typeface="Onest"/>
                <a:ea typeface="Onest"/>
                <a:cs typeface="Onest"/>
              </a:defRPr>
            </a:lvl9pPr>
          </a:lstStyle>
          <a:p>
            <a:pPr>
              <a:defRPr sz="4800" b="1">
                <a:solidFill>
                  <a:srgbClr val="FFFFFF"/>
                </a:solidFill>
                <a:latin typeface="Onest"/>
                <a:ea typeface="Onest"/>
                <a:cs typeface="Onest"/>
              </a:defRPr>
            </a:pPr>
            <a:r>
              <a:rPr sz="4800" b="1">
                <a:solidFill>
                  <a:srgbClr val="FFFFFF"/>
                </a:solidFill>
                <a:latin typeface="Onest"/>
                <a:ea typeface="Onest"/>
                <a:cs typeface="Onest"/>
              </a:rPr>
              <a:t>Успадкування</a:t>
            </a:r>
          </a:p>
          <a:p>
            <a:pPr>
              <a:defRPr sz="4800" b="1">
                <a:solidFill>
                  <a:srgbClr val="FFFFFF"/>
                </a:solidFill>
                <a:latin typeface="Onest"/>
                <a:ea typeface="Onest"/>
                <a:cs typeface="Onest"/>
              </a:defRPr>
            </a:pPr>
            <a:r>
              <a:rPr sz="4800" b="1">
                <a:solidFill>
                  <a:srgbClr val="FFFFFF"/>
                </a:solidFill>
                <a:latin typeface="Onest"/>
                <a:ea typeface="Onest"/>
                <a:cs typeface="Onest"/>
              </a:rPr>
              <a:t>та інкапсуляція</a:t>
            </a:r>
          </a:p>
        </p:txBody>
      </p:sp>
      <p:sp>
        <p:nvSpPr>
          <p:cNvPr id="4" name="Rectangle 3">
            <a:extLst>
              <a:ext uri="{FF2B5EF4-FFF2-40B4-BE49-F238E27FC236}">
                <a16:creationId xmlns:a16="http://schemas.microsoft.com/office/drawing/2014/main" id="{E727B4CA-667E-40CD-8293-28A73C5B3B57}"/>
              </a:ext>
            </a:extLst>
          </p:cNvPr>
          <p:cNvSpPr>
            <a:spLocks noGrp="1"/>
          </p:cNvSpPr>
          <p:nvPr/>
        </p:nvSpPr>
        <p:spPr>
          <a:xfrm>
            <a:off x="762000" y="4095750"/>
            <a:ext cx="9525000" cy="904875"/>
          </a:xfrm>
          <a:prstGeom prst="rect">
            <a:avLst/>
          </a:prstGeom>
          <a:noFill/>
          <a:ln w="0">
            <a:noFill/>
          </a:ln>
        </p:spPr>
        <p:txBody>
          <a:bodyPr anchor="ctr"/>
          <a:lstStyle>
            <a:defPPr>
              <a:defRPr sz="2400" b="0">
                <a:solidFill>
                  <a:srgbClr val="91D6B5"/>
                </a:solidFill>
                <a:latin typeface="Onest"/>
                <a:ea typeface="Onest"/>
                <a:cs typeface="Onest"/>
              </a:defRPr>
            </a:defPPr>
            <a:lvl1pPr>
              <a:defRPr sz="2400" b="0">
                <a:solidFill>
                  <a:srgbClr val="91D6B5"/>
                </a:solidFill>
                <a:latin typeface="Onest"/>
                <a:ea typeface="Onest"/>
                <a:cs typeface="Onest"/>
              </a:defRPr>
            </a:lvl1pPr>
            <a:lvl2pPr>
              <a:defRPr sz="2400" b="0">
                <a:solidFill>
                  <a:srgbClr val="91D6B5"/>
                </a:solidFill>
                <a:latin typeface="Onest"/>
                <a:ea typeface="Onest"/>
                <a:cs typeface="Onest"/>
              </a:defRPr>
            </a:lvl2pPr>
            <a:lvl3pPr>
              <a:defRPr sz="2400" b="0">
                <a:solidFill>
                  <a:srgbClr val="91D6B5"/>
                </a:solidFill>
                <a:latin typeface="Onest"/>
                <a:ea typeface="Onest"/>
                <a:cs typeface="Onest"/>
              </a:defRPr>
            </a:lvl3pPr>
            <a:lvl4pPr>
              <a:defRPr sz="2400" b="0">
                <a:solidFill>
                  <a:srgbClr val="91D6B5"/>
                </a:solidFill>
                <a:latin typeface="Onest"/>
                <a:ea typeface="Onest"/>
                <a:cs typeface="Onest"/>
              </a:defRPr>
            </a:lvl4pPr>
            <a:lvl5pPr>
              <a:defRPr sz="2400" b="0">
                <a:solidFill>
                  <a:srgbClr val="91D6B5"/>
                </a:solidFill>
                <a:latin typeface="Onest"/>
                <a:ea typeface="Onest"/>
                <a:cs typeface="Onest"/>
              </a:defRPr>
            </a:lvl5pPr>
            <a:lvl6pPr>
              <a:defRPr sz="2400" b="0">
                <a:solidFill>
                  <a:srgbClr val="91D6B5"/>
                </a:solidFill>
                <a:latin typeface="Onest"/>
                <a:ea typeface="Onest"/>
                <a:cs typeface="Onest"/>
              </a:defRPr>
            </a:lvl6pPr>
            <a:lvl7pPr>
              <a:defRPr sz="2400" b="0">
                <a:solidFill>
                  <a:srgbClr val="91D6B5"/>
                </a:solidFill>
                <a:latin typeface="Onest"/>
                <a:ea typeface="Onest"/>
                <a:cs typeface="Onest"/>
              </a:defRPr>
            </a:lvl7pPr>
            <a:lvl8pPr>
              <a:defRPr sz="2400" b="0">
                <a:solidFill>
                  <a:srgbClr val="91D6B5"/>
                </a:solidFill>
                <a:latin typeface="Onest"/>
                <a:ea typeface="Onest"/>
                <a:cs typeface="Onest"/>
              </a:defRPr>
            </a:lvl8pPr>
            <a:lvl9pPr>
              <a:defRPr sz="2400" b="0">
                <a:solidFill>
                  <a:srgbClr val="91D6B5"/>
                </a:solidFill>
                <a:latin typeface="Onest"/>
                <a:ea typeface="Onest"/>
                <a:cs typeface="Onest"/>
              </a:defRPr>
            </a:lvl9pPr>
          </a:lstStyle>
          <a:p>
            <a:pPr>
              <a:defRPr sz="2400" b="0">
                <a:solidFill>
                  <a:srgbClr val="91D6B5"/>
                </a:solidFill>
                <a:latin typeface="Onest"/>
                <a:ea typeface="Onest"/>
                <a:cs typeface="Onest"/>
              </a:defRPr>
            </a:pPr>
            <a:r>
              <a:rPr sz="2400" b="0">
                <a:solidFill>
                  <a:srgbClr val="91D6B5"/>
                </a:solidFill>
                <a:latin typeface="Onest"/>
                <a:ea typeface="Onest"/>
                <a:cs typeface="Onest"/>
              </a:rPr>
              <a:t>Спільна поведінка класів</a:t>
            </a:r>
          </a:p>
          <a:p>
            <a:pPr>
              <a:defRPr sz="2400" b="0">
                <a:solidFill>
                  <a:srgbClr val="91D6B5"/>
                </a:solidFill>
                <a:latin typeface="Onest"/>
                <a:ea typeface="Onest"/>
                <a:cs typeface="Onest"/>
              </a:defRPr>
            </a:pPr>
            <a:r>
              <a:rPr sz="2400" b="0">
                <a:solidFill>
                  <a:srgbClr val="91D6B5"/>
                </a:solidFill>
                <a:latin typeface="Onest"/>
                <a:ea typeface="Onest"/>
                <a:cs typeface="Onest"/>
              </a:rPr>
              <a:t>і правила коректного стану</a:t>
            </a:r>
          </a:p>
        </p:txBody>
      </p:sp>
      <p:sp>
        <p:nvSpPr>
          <p:cNvPr id="5" name="Rectangle 4">
            <a:extLst>
              <a:ext uri="{FF2B5EF4-FFF2-40B4-BE49-F238E27FC236}">
                <a16:creationId xmlns:a16="http://schemas.microsoft.com/office/drawing/2014/main" id="{A80109A8-2250-4FA8-AFB2-C639893672CF}"/>
              </a:ext>
            </a:extLst>
          </p:cNvPr>
          <p:cNvSpPr>
            <a:spLocks noGrp="1"/>
          </p:cNvSpPr>
          <p:nvPr/>
        </p:nvSpPr>
        <p:spPr>
          <a:xfrm>
            <a:off x="762000" y="5886450"/>
            <a:ext cx="9525000" cy="333375"/>
          </a:xfrm>
          <a:prstGeom prst="rect">
            <a:avLst/>
          </a:prstGeom>
          <a:noFill/>
          <a:ln w="0">
            <a:noFill/>
          </a:ln>
        </p:spPr>
        <p:txBody>
          <a:bodyPr anchor="ctr"/>
          <a:lstStyle>
            <a:defPPr>
              <a:defRPr sz="1650" b="0">
                <a:solidFill>
                  <a:srgbClr val="FFFFFF"/>
                </a:solidFill>
                <a:latin typeface="Onest"/>
                <a:ea typeface="Onest"/>
                <a:cs typeface="Onest"/>
              </a:defRPr>
            </a:defPPr>
            <a:lvl1pPr>
              <a:defRPr sz="1650" b="0">
                <a:solidFill>
                  <a:srgbClr val="FFFFFF"/>
                </a:solidFill>
                <a:latin typeface="Onest"/>
                <a:ea typeface="Onest"/>
                <a:cs typeface="Onest"/>
              </a:defRPr>
            </a:lvl1pPr>
            <a:lvl2pPr>
              <a:defRPr sz="1650" b="0">
                <a:solidFill>
                  <a:srgbClr val="FFFFFF"/>
                </a:solidFill>
                <a:latin typeface="Onest"/>
                <a:ea typeface="Onest"/>
                <a:cs typeface="Onest"/>
              </a:defRPr>
            </a:lvl2pPr>
            <a:lvl3pPr>
              <a:defRPr sz="1650" b="0">
                <a:solidFill>
                  <a:srgbClr val="FFFFFF"/>
                </a:solidFill>
                <a:latin typeface="Onest"/>
                <a:ea typeface="Onest"/>
                <a:cs typeface="Onest"/>
              </a:defRPr>
            </a:lvl3pPr>
            <a:lvl4pPr>
              <a:defRPr sz="1650" b="0">
                <a:solidFill>
                  <a:srgbClr val="FFFFFF"/>
                </a:solidFill>
                <a:latin typeface="Onest"/>
                <a:ea typeface="Onest"/>
                <a:cs typeface="Onest"/>
              </a:defRPr>
            </a:lvl4pPr>
            <a:lvl5pPr>
              <a:defRPr sz="1650" b="0">
                <a:solidFill>
                  <a:srgbClr val="FFFFFF"/>
                </a:solidFill>
                <a:latin typeface="Onest"/>
                <a:ea typeface="Onest"/>
                <a:cs typeface="Onest"/>
              </a:defRPr>
            </a:lvl5pPr>
            <a:lvl6pPr>
              <a:defRPr sz="1650" b="0">
                <a:solidFill>
                  <a:srgbClr val="FFFFFF"/>
                </a:solidFill>
                <a:latin typeface="Onest"/>
                <a:ea typeface="Onest"/>
                <a:cs typeface="Onest"/>
              </a:defRPr>
            </a:lvl6pPr>
            <a:lvl7pPr>
              <a:defRPr sz="1650" b="0">
                <a:solidFill>
                  <a:srgbClr val="FFFFFF"/>
                </a:solidFill>
                <a:latin typeface="Onest"/>
                <a:ea typeface="Onest"/>
                <a:cs typeface="Onest"/>
              </a:defRPr>
            </a:lvl7pPr>
            <a:lvl8pPr>
              <a:defRPr sz="1650" b="0">
                <a:solidFill>
                  <a:srgbClr val="FFFFFF"/>
                </a:solidFill>
                <a:latin typeface="Onest"/>
                <a:ea typeface="Onest"/>
                <a:cs typeface="Onest"/>
              </a:defRPr>
            </a:lvl8pPr>
            <a:lvl9pPr>
              <a:defRPr sz="1650" b="0">
                <a:solidFill>
                  <a:srgbClr val="FFFFFF"/>
                </a:solidFill>
                <a:latin typeface="Onest"/>
                <a:ea typeface="Onest"/>
                <a:cs typeface="Onest"/>
              </a:defRPr>
            </a:lvl9pPr>
          </a:lstStyle>
          <a:p>
            <a:r>
              <a:rPr lang="en-UA" dirty="0"/>
              <a:t>Розробка веб-додатків з використанням Python</a:t>
            </a:r>
          </a:p>
        </p:txBody>
      </p:sp>
    </p:spTree>
    <p:extLst>
      <p:ext uri="{BB962C8B-B14F-4D97-AF65-F5344CB8AC3E}">
        <p14:creationId xmlns:p14="http://schemas.microsoft.com/office/powerpoint/2010/main" val="1983494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1838D8C-EE73-4986-80EC-20DC0E65AC21}"/>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Задачі заняття та зв'язок з реальним життям</a:t>
            </a:r>
          </a:p>
        </p:txBody>
      </p:sp>
      <p:sp>
        <p:nvSpPr>
          <p:cNvPr id="3" name="Rectangle 2">
            <a:extLst>
              <a:ext uri="{FF2B5EF4-FFF2-40B4-BE49-F238E27FC236}">
                <a16:creationId xmlns:a16="http://schemas.microsoft.com/office/drawing/2014/main" id="{ECF6CA75-BFF8-45A2-BC17-E3ECC5E9D341}"/>
              </a:ext>
            </a:extLst>
          </p:cNvPr>
          <p:cNvSpPr>
            <a:spLocks noGrp="1"/>
          </p:cNvSpPr>
          <p:nvPr/>
        </p:nvSpPr>
        <p:spPr>
          <a:xfrm>
            <a:off x="685800" y="1714500"/>
            <a:ext cx="5219700" cy="1428750"/>
          </a:xfrm>
          <a:prstGeom prst="rect">
            <a:avLst/>
          </a:prstGeom>
          <a:solidFill>
            <a:srgbClr val="E8F3ED"/>
          </a:solidFill>
          <a:ln w="0">
            <a:noFill/>
          </a:ln>
        </p:spPr>
        <p:txBody>
          <a:bodyPr/>
          <a:lstStyle/>
          <a:p>
            <a:endParaRPr lang="en-UA"/>
          </a:p>
        </p:txBody>
      </p:sp>
      <p:sp>
        <p:nvSpPr>
          <p:cNvPr id="4" name="Rectangle 3">
            <a:extLst>
              <a:ext uri="{FF2B5EF4-FFF2-40B4-BE49-F238E27FC236}">
                <a16:creationId xmlns:a16="http://schemas.microsoft.com/office/drawing/2014/main" id="{6A51894E-9E62-40FC-AE8A-6ADC7A8F908B}"/>
              </a:ext>
            </a:extLst>
          </p:cNvPr>
          <p:cNvSpPr>
            <a:spLocks noGrp="1"/>
          </p:cNvSpPr>
          <p:nvPr/>
        </p:nvSpPr>
        <p:spPr>
          <a:xfrm>
            <a:off x="1010850" y="1992025"/>
            <a:ext cx="666750" cy="381000"/>
          </a:xfrm>
          <a:prstGeom prst="rect">
            <a:avLst/>
          </a:prstGeom>
          <a:noFill/>
          <a:ln w="0">
            <a:noFill/>
          </a:ln>
        </p:spPr>
        <p:txBody>
          <a:bodyPr anchor="ctr"/>
          <a:lstStyle>
            <a:defPPr>
              <a:defRPr sz="2250" b="1">
                <a:solidFill>
                  <a:srgbClr val="1B6C57"/>
                </a:solidFill>
                <a:latin typeface="Onest"/>
                <a:ea typeface="Onest"/>
                <a:cs typeface="Onest"/>
              </a:defRPr>
            </a:defPPr>
            <a:lvl1pPr>
              <a:defRPr sz="2250" b="1">
                <a:solidFill>
                  <a:srgbClr val="1B6C57"/>
                </a:solidFill>
                <a:latin typeface="Onest"/>
                <a:ea typeface="Onest"/>
                <a:cs typeface="Onest"/>
              </a:defRPr>
            </a:lvl1pPr>
            <a:lvl2pPr>
              <a:defRPr sz="2250" b="1">
                <a:solidFill>
                  <a:srgbClr val="1B6C57"/>
                </a:solidFill>
                <a:latin typeface="Onest"/>
                <a:ea typeface="Onest"/>
                <a:cs typeface="Onest"/>
              </a:defRPr>
            </a:lvl2pPr>
            <a:lvl3pPr>
              <a:defRPr sz="2250" b="1">
                <a:solidFill>
                  <a:srgbClr val="1B6C57"/>
                </a:solidFill>
                <a:latin typeface="Onest"/>
                <a:ea typeface="Onest"/>
                <a:cs typeface="Onest"/>
              </a:defRPr>
            </a:lvl3pPr>
            <a:lvl4pPr>
              <a:defRPr sz="2250" b="1">
                <a:solidFill>
                  <a:srgbClr val="1B6C57"/>
                </a:solidFill>
                <a:latin typeface="Onest"/>
                <a:ea typeface="Onest"/>
                <a:cs typeface="Onest"/>
              </a:defRPr>
            </a:lvl4pPr>
            <a:lvl5pPr>
              <a:defRPr sz="2250" b="1">
                <a:solidFill>
                  <a:srgbClr val="1B6C57"/>
                </a:solidFill>
                <a:latin typeface="Onest"/>
                <a:ea typeface="Onest"/>
                <a:cs typeface="Onest"/>
              </a:defRPr>
            </a:lvl5pPr>
            <a:lvl6pPr>
              <a:defRPr sz="2250" b="1">
                <a:solidFill>
                  <a:srgbClr val="1B6C57"/>
                </a:solidFill>
                <a:latin typeface="Onest"/>
                <a:ea typeface="Onest"/>
                <a:cs typeface="Onest"/>
              </a:defRPr>
            </a:lvl6pPr>
            <a:lvl7pPr>
              <a:defRPr sz="2250" b="1">
                <a:solidFill>
                  <a:srgbClr val="1B6C57"/>
                </a:solidFill>
                <a:latin typeface="Onest"/>
                <a:ea typeface="Onest"/>
                <a:cs typeface="Onest"/>
              </a:defRPr>
            </a:lvl7pPr>
            <a:lvl8pPr>
              <a:defRPr sz="2250" b="1">
                <a:solidFill>
                  <a:srgbClr val="1B6C57"/>
                </a:solidFill>
                <a:latin typeface="Onest"/>
                <a:ea typeface="Onest"/>
                <a:cs typeface="Onest"/>
              </a:defRPr>
            </a:lvl8pPr>
            <a:lvl9pPr>
              <a:defRPr sz="2250" b="1">
                <a:solidFill>
                  <a:srgbClr val="1B6C57"/>
                </a:solidFill>
                <a:latin typeface="Onest"/>
                <a:ea typeface="Onest"/>
                <a:cs typeface="Onest"/>
              </a:defRPr>
            </a:lvl9pPr>
          </a:lstStyle>
          <a:p>
            <a:pPr>
              <a:defRPr sz="2250" b="1">
                <a:solidFill>
                  <a:srgbClr val="1B6C57"/>
                </a:solidFill>
                <a:latin typeface="Onest"/>
                <a:ea typeface="Onest"/>
                <a:cs typeface="Onest"/>
              </a:defRPr>
            </a:pPr>
            <a:r>
              <a:rPr sz="2250" b="1" dirty="0">
                <a:solidFill>
                  <a:srgbClr val="1B6C57"/>
                </a:solidFill>
                <a:latin typeface="Onest"/>
                <a:ea typeface="Onest"/>
                <a:cs typeface="Onest"/>
              </a:rPr>
              <a:t>01</a:t>
            </a:r>
          </a:p>
        </p:txBody>
      </p:sp>
      <p:sp>
        <p:nvSpPr>
          <p:cNvPr id="5" name="Rectangle 4">
            <a:extLst>
              <a:ext uri="{FF2B5EF4-FFF2-40B4-BE49-F238E27FC236}">
                <a16:creationId xmlns:a16="http://schemas.microsoft.com/office/drawing/2014/main" id="{A77DE5C4-DBEB-4F0E-B31B-110CE5B2A67D}"/>
              </a:ext>
            </a:extLst>
          </p:cNvPr>
          <p:cNvSpPr>
            <a:spLocks noGrp="1"/>
          </p:cNvSpPr>
          <p:nvPr/>
        </p:nvSpPr>
        <p:spPr>
          <a:xfrm>
            <a:off x="1714500" y="1808750"/>
            <a:ext cx="3886200" cy="104775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dirty="0">
                <a:solidFill>
                  <a:srgbClr val="192D3B"/>
                </a:solidFill>
                <a:latin typeface="Onest"/>
                <a:ea typeface="Onest"/>
                <a:cs typeface="Onest"/>
              </a:rPr>
              <a:t>Виділити </a:t>
            </a:r>
            <a:r>
              <a:rPr sz="2025" b="0" dirty="0" err="1">
                <a:solidFill>
                  <a:srgbClr val="192D3B"/>
                </a:solidFill>
                <a:latin typeface="Onest"/>
                <a:ea typeface="Onest"/>
                <a:cs typeface="Onest"/>
              </a:rPr>
              <a:t>спільні</a:t>
            </a:r>
            <a:r>
              <a:rPr sz="2025" b="0" dirty="0">
                <a:solidFill>
                  <a:srgbClr val="192D3B"/>
                </a:solidFill>
                <a:latin typeface="Onest"/>
                <a:ea typeface="Onest"/>
                <a:cs typeface="Onest"/>
              </a:rPr>
              <a:t> дані Person для Student та Educator.</a:t>
            </a:r>
          </a:p>
        </p:txBody>
      </p:sp>
      <p:sp>
        <p:nvSpPr>
          <p:cNvPr id="6" name="Rectangle 5">
            <a:extLst>
              <a:ext uri="{FF2B5EF4-FFF2-40B4-BE49-F238E27FC236}">
                <a16:creationId xmlns:a16="http://schemas.microsoft.com/office/drawing/2014/main" id="{77E5748E-87A5-4D50-A642-BBE67D8ACC2B}"/>
              </a:ext>
            </a:extLst>
          </p:cNvPr>
          <p:cNvSpPr>
            <a:spLocks noGrp="1"/>
          </p:cNvSpPr>
          <p:nvPr/>
        </p:nvSpPr>
        <p:spPr>
          <a:xfrm>
            <a:off x="6210300" y="1714500"/>
            <a:ext cx="5219700" cy="1428750"/>
          </a:xfrm>
          <a:prstGeom prst="rect">
            <a:avLst/>
          </a:prstGeom>
          <a:solidFill>
            <a:srgbClr val="E7F5FA"/>
          </a:solidFill>
          <a:ln w="0">
            <a:noFill/>
          </a:ln>
        </p:spPr>
        <p:txBody>
          <a:bodyPr/>
          <a:lstStyle/>
          <a:p>
            <a:endParaRPr lang="en-UA"/>
          </a:p>
        </p:txBody>
      </p:sp>
      <p:sp>
        <p:nvSpPr>
          <p:cNvPr id="7" name="Rectangle 6">
            <a:extLst>
              <a:ext uri="{FF2B5EF4-FFF2-40B4-BE49-F238E27FC236}">
                <a16:creationId xmlns:a16="http://schemas.microsoft.com/office/drawing/2014/main" id="{7738C241-7B46-47FF-AADA-69E6CE5D4222}"/>
              </a:ext>
            </a:extLst>
          </p:cNvPr>
          <p:cNvSpPr>
            <a:spLocks noGrp="1"/>
          </p:cNvSpPr>
          <p:nvPr/>
        </p:nvSpPr>
        <p:spPr>
          <a:xfrm>
            <a:off x="6535350" y="1992025"/>
            <a:ext cx="666750" cy="381000"/>
          </a:xfrm>
          <a:prstGeom prst="rect">
            <a:avLst/>
          </a:prstGeom>
          <a:noFill/>
          <a:ln w="0">
            <a:noFill/>
          </a:ln>
        </p:spPr>
        <p:txBody>
          <a:bodyPr anchor="ctr"/>
          <a:lstStyle>
            <a:defPPr>
              <a:defRPr sz="2250" b="1">
                <a:solidFill>
                  <a:srgbClr val="1B6C57"/>
                </a:solidFill>
                <a:latin typeface="Onest"/>
                <a:ea typeface="Onest"/>
                <a:cs typeface="Onest"/>
              </a:defRPr>
            </a:defPPr>
            <a:lvl1pPr>
              <a:defRPr sz="2250" b="1">
                <a:solidFill>
                  <a:srgbClr val="1B6C57"/>
                </a:solidFill>
                <a:latin typeface="Onest"/>
                <a:ea typeface="Onest"/>
                <a:cs typeface="Onest"/>
              </a:defRPr>
            </a:lvl1pPr>
            <a:lvl2pPr>
              <a:defRPr sz="2250" b="1">
                <a:solidFill>
                  <a:srgbClr val="1B6C57"/>
                </a:solidFill>
                <a:latin typeface="Onest"/>
                <a:ea typeface="Onest"/>
                <a:cs typeface="Onest"/>
              </a:defRPr>
            </a:lvl2pPr>
            <a:lvl3pPr>
              <a:defRPr sz="2250" b="1">
                <a:solidFill>
                  <a:srgbClr val="1B6C57"/>
                </a:solidFill>
                <a:latin typeface="Onest"/>
                <a:ea typeface="Onest"/>
                <a:cs typeface="Onest"/>
              </a:defRPr>
            </a:lvl3pPr>
            <a:lvl4pPr>
              <a:defRPr sz="2250" b="1">
                <a:solidFill>
                  <a:srgbClr val="1B6C57"/>
                </a:solidFill>
                <a:latin typeface="Onest"/>
                <a:ea typeface="Onest"/>
                <a:cs typeface="Onest"/>
              </a:defRPr>
            </a:lvl4pPr>
            <a:lvl5pPr>
              <a:defRPr sz="2250" b="1">
                <a:solidFill>
                  <a:srgbClr val="1B6C57"/>
                </a:solidFill>
                <a:latin typeface="Onest"/>
                <a:ea typeface="Onest"/>
                <a:cs typeface="Onest"/>
              </a:defRPr>
            </a:lvl5pPr>
            <a:lvl6pPr>
              <a:defRPr sz="2250" b="1">
                <a:solidFill>
                  <a:srgbClr val="1B6C57"/>
                </a:solidFill>
                <a:latin typeface="Onest"/>
                <a:ea typeface="Onest"/>
                <a:cs typeface="Onest"/>
              </a:defRPr>
            </a:lvl6pPr>
            <a:lvl7pPr>
              <a:defRPr sz="2250" b="1">
                <a:solidFill>
                  <a:srgbClr val="1B6C57"/>
                </a:solidFill>
                <a:latin typeface="Onest"/>
                <a:ea typeface="Onest"/>
                <a:cs typeface="Onest"/>
              </a:defRPr>
            </a:lvl7pPr>
            <a:lvl8pPr>
              <a:defRPr sz="2250" b="1">
                <a:solidFill>
                  <a:srgbClr val="1B6C57"/>
                </a:solidFill>
                <a:latin typeface="Onest"/>
                <a:ea typeface="Onest"/>
                <a:cs typeface="Onest"/>
              </a:defRPr>
            </a:lvl8pPr>
            <a:lvl9pPr>
              <a:defRPr sz="2250" b="1">
                <a:solidFill>
                  <a:srgbClr val="1B6C57"/>
                </a:solidFill>
                <a:latin typeface="Onest"/>
                <a:ea typeface="Onest"/>
                <a:cs typeface="Onest"/>
              </a:defRPr>
            </a:lvl9pPr>
          </a:lstStyle>
          <a:p>
            <a:pPr>
              <a:defRPr sz="2250" b="1">
                <a:solidFill>
                  <a:srgbClr val="1B6C57"/>
                </a:solidFill>
                <a:latin typeface="Onest"/>
                <a:ea typeface="Onest"/>
                <a:cs typeface="Onest"/>
              </a:defRPr>
            </a:pPr>
            <a:r>
              <a:rPr sz="2250" b="1">
                <a:solidFill>
                  <a:srgbClr val="1B6C57"/>
                </a:solidFill>
                <a:latin typeface="Onest"/>
                <a:ea typeface="Onest"/>
                <a:cs typeface="Onest"/>
              </a:rPr>
              <a:t>02</a:t>
            </a:r>
          </a:p>
        </p:txBody>
      </p:sp>
      <p:sp>
        <p:nvSpPr>
          <p:cNvPr id="8" name="Rectangle 7">
            <a:extLst>
              <a:ext uri="{FF2B5EF4-FFF2-40B4-BE49-F238E27FC236}">
                <a16:creationId xmlns:a16="http://schemas.microsoft.com/office/drawing/2014/main" id="{7C4D655F-BAE9-4703-AEB7-D2DE9D6CC075}"/>
              </a:ext>
            </a:extLst>
          </p:cNvPr>
          <p:cNvSpPr>
            <a:spLocks noGrp="1"/>
          </p:cNvSpPr>
          <p:nvPr/>
        </p:nvSpPr>
        <p:spPr>
          <a:xfrm>
            <a:off x="7239000" y="1808750"/>
            <a:ext cx="3886200" cy="104775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Розширити клас через super() і перевизначення методу.</a:t>
            </a:r>
          </a:p>
        </p:txBody>
      </p:sp>
      <p:sp>
        <p:nvSpPr>
          <p:cNvPr id="9" name="Rectangle 8">
            <a:extLst>
              <a:ext uri="{FF2B5EF4-FFF2-40B4-BE49-F238E27FC236}">
                <a16:creationId xmlns:a16="http://schemas.microsoft.com/office/drawing/2014/main" id="{05CDCDA6-2489-46B2-B286-2C72757755B2}"/>
              </a:ext>
            </a:extLst>
          </p:cNvPr>
          <p:cNvSpPr>
            <a:spLocks noGrp="1"/>
          </p:cNvSpPr>
          <p:nvPr/>
        </p:nvSpPr>
        <p:spPr>
          <a:xfrm>
            <a:off x="685800" y="3429000"/>
            <a:ext cx="5219700" cy="1428750"/>
          </a:xfrm>
          <a:prstGeom prst="rect">
            <a:avLst/>
          </a:prstGeom>
          <a:solidFill>
            <a:srgbClr val="E8F3ED"/>
          </a:solidFill>
          <a:ln w="0">
            <a:noFill/>
          </a:ln>
        </p:spPr>
        <p:txBody>
          <a:bodyPr/>
          <a:lstStyle/>
          <a:p>
            <a:endParaRPr lang="en-UA"/>
          </a:p>
        </p:txBody>
      </p:sp>
      <p:sp>
        <p:nvSpPr>
          <p:cNvPr id="10" name="Rectangle 9">
            <a:extLst>
              <a:ext uri="{FF2B5EF4-FFF2-40B4-BE49-F238E27FC236}">
                <a16:creationId xmlns:a16="http://schemas.microsoft.com/office/drawing/2014/main" id="{E606E253-83F0-4CC7-87ED-FD475DD366BA}"/>
              </a:ext>
            </a:extLst>
          </p:cNvPr>
          <p:cNvSpPr>
            <a:spLocks noGrp="1"/>
          </p:cNvSpPr>
          <p:nvPr/>
        </p:nvSpPr>
        <p:spPr>
          <a:xfrm>
            <a:off x="1010850" y="3706525"/>
            <a:ext cx="666750" cy="381000"/>
          </a:xfrm>
          <a:prstGeom prst="rect">
            <a:avLst/>
          </a:prstGeom>
          <a:noFill/>
          <a:ln w="0">
            <a:noFill/>
          </a:ln>
        </p:spPr>
        <p:txBody>
          <a:bodyPr anchor="ctr"/>
          <a:lstStyle>
            <a:defPPr>
              <a:defRPr sz="2250" b="1">
                <a:solidFill>
                  <a:srgbClr val="1B6C57"/>
                </a:solidFill>
                <a:latin typeface="Onest"/>
                <a:ea typeface="Onest"/>
                <a:cs typeface="Onest"/>
              </a:defRPr>
            </a:defPPr>
            <a:lvl1pPr>
              <a:defRPr sz="2250" b="1">
                <a:solidFill>
                  <a:srgbClr val="1B6C57"/>
                </a:solidFill>
                <a:latin typeface="Onest"/>
                <a:ea typeface="Onest"/>
                <a:cs typeface="Onest"/>
              </a:defRPr>
            </a:lvl1pPr>
            <a:lvl2pPr>
              <a:defRPr sz="2250" b="1">
                <a:solidFill>
                  <a:srgbClr val="1B6C57"/>
                </a:solidFill>
                <a:latin typeface="Onest"/>
                <a:ea typeface="Onest"/>
                <a:cs typeface="Onest"/>
              </a:defRPr>
            </a:lvl2pPr>
            <a:lvl3pPr>
              <a:defRPr sz="2250" b="1">
                <a:solidFill>
                  <a:srgbClr val="1B6C57"/>
                </a:solidFill>
                <a:latin typeface="Onest"/>
                <a:ea typeface="Onest"/>
                <a:cs typeface="Onest"/>
              </a:defRPr>
            </a:lvl3pPr>
            <a:lvl4pPr>
              <a:defRPr sz="2250" b="1">
                <a:solidFill>
                  <a:srgbClr val="1B6C57"/>
                </a:solidFill>
                <a:latin typeface="Onest"/>
                <a:ea typeface="Onest"/>
                <a:cs typeface="Onest"/>
              </a:defRPr>
            </a:lvl4pPr>
            <a:lvl5pPr>
              <a:defRPr sz="2250" b="1">
                <a:solidFill>
                  <a:srgbClr val="1B6C57"/>
                </a:solidFill>
                <a:latin typeface="Onest"/>
                <a:ea typeface="Onest"/>
                <a:cs typeface="Onest"/>
              </a:defRPr>
            </a:lvl5pPr>
            <a:lvl6pPr>
              <a:defRPr sz="2250" b="1">
                <a:solidFill>
                  <a:srgbClr val="1B6C57"/>
                </a:solidFill>
                <a:latin typeface="Onest"/>
                <a:ea typeface="Onest"/>
                <a:cs typeface="Onest"/>
              </a:defRPr>
            </a:lvl6pPr>
            <a:lvl7pPr>
              <a:defRPr sz="2250" b="1">
                <a:solidFill>
                  <a:srgbClr val="1B6C57"/>
                </a:solidFill>
                <a:latin typeface="Onest"/>
                <a:ea typeface="Onest"/>
                <a:cs typeface="Onest"/>
              </a:defRPr>
            </a:lvl7pPr>
            <a:lvl8pPr>
              <a:defRPr sz="2250" b="1">
                <a:solidFill>
                  <a:srgbClr val="1B6C57"/>
                </a:solidFill>
                <a:latin typeface="Onest"/>
                <a:ea typeface="Onest"/>
                <a:cs typeface="Onest"/>
              </a:defRPr>
            </a:lvl8pPr>
            <a:lvl9pPr>
              <a:defRPr sz="2250" b="1">
                <a:solidFill>
                  <a:srgbClr val="1B6C57"/>
                </a:solidFill>
                <a:latin typeface="Onest"/>
                <a:ea typeface="Onest"/>
                <a:cs typeface="Onest"/>
              </a:defRPr>
            </a:lvl9pPr>
          </a:lstStyle>
          <a:p>
            <a:pPr>
              <a:defRPr sz="2250" b="1">
                <a:solidFill>
                  <a:srgbClr val="1B6C57"/>
                </a:solidFill>
                <a:latin typeface="Onest"/>
                <a:ea typeface="Onest"/>
                <a:cs typeface="Onest"/>
              </a:defRPr>
            </a:pPr>
            <a:r>
              <a:rPr sz="2250" b="1">
                <a:solidFill>
                  <a:srgbClr val="1B6C57"/>
                </a:solidFill>
                <a:latin typeface="Onest"/>
                <a:ea typeface="Onest"/>
                <a:cs typeface="Onest"/>
              </a:rPr>
              <a:t>03</a:t>
            </a:r>
          </a:p>
        </p:txBody>
      </p:sp>
      <p:sp>
        <p:nvSpPr>
          <p:cNvPr id="11" name="Rectangle 10">
            <a:extLst>
              <a:ext uri="{FF2B5EF4-FFF2-40B4-BE49-F238E27FC236}">
                <a16:creationId xmlns:a16="http://schemas.microsoft.com/office/drawing/2014/main" id="{56FF7C0B-0C78-45DE-AFD6-060D9FFEBE34}"/>
              </a:ext>
            </a:extLst>
          </p:cNvPr>
          <p:cNvSpPr>
            <a:spLocks noGrp="1"/>
          </p:cNvSpPr>
          <p:nvPr/>
        </p:nvSpPr>
        <p:spPr>
          <a:xfrm>
            <a:off x="1714500" y="3523250"/>
            <a:ext cx="3886200" cy="104775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Поєднати Course з викладачем та студентами.</a:t>
            </a:r>
          </a:p>
        </p:txBody>
      </p:sp>
      <p:sp>
        <p:nvSpPr>
          <p:cNvPr id="12" name="Rectangle 11">
            <a:extLst>
              <a:ext uri="{FF2B5EF4-FFF2-40B4-BE49-F238E27FC236}">
                <a16:creationId xmlns:a16="http://schemas.microsoft.com/office/drawing/2014/main" id="{24C4B2F4-5CC7-4753-8B1C-8FD8D05AF7E0}"/>
              </a:ext>
            </a:extLst>
          </p:cNvPr>
          <p:cNvSpPr>
            <a:spLocks noGrp="1"/>
          </p:cNvSpPr>
          <p:nvPr/>
        </p:nvSpPr>
        <p:spPr>
          <a:xfrm>
            <a:off x="6210300" y="3429000"/>
            <a:ext cx="5219700" cy="1428750"/>
          </a:xfrm>
          <a:prstGeom prst="rect">
            <a:avLst/>
          </a:prstGeom>
          <a:solidFill>
            <a:srgbClr val="E7F5FA"/>
          </a:solidFill>
          <a:ln w="0">
            <a:noFill/>
          </a:ln>
        </p:spPr>
        <p:txBody>
          <a:bodyPr/>
          <a:lstStyle/>
          <a:p>
            <a:endParaRPr lang="en-UA"/>
          </a:p>
        </p:txBody>
      </p:sp>
      <p:sp>
        <p:nvSpPr>
          <p:cNvPr id="13" name="Rectangle 12">
            <a:extLst>
              <a:ext uri="{FF2B5EF4-FFF2-40B4-BE49-F238E27FC236}">
                <a16:creationId xmlns:a16="http://schemas.microsoft.com/office/drawing/2014/main" id="{40B013E2-B580-4AB8-9111-772004B02726}"/>
              </a:ext>
            </a:extLst>
          </p:cNvPr>
          <p:cNvSpPr>
            <a:spLocks noGrp="1"/>
          </p:cNvSpPr>
          <p:nvPr/>
        </p:nvSpPr>
        <p:spPr>
          <a:xfrm>
            <a:off x="6535350" y="3706525"/>
            <a:ext cx="666750" cy="381000"/>
          </a:xfrm>
          <a:prstGeom prst="rect">
            <a:avLst/>
          </a:prstGeom>
          <a:noFill/>
          <a:ln w="0">
            <a:noFill/>
          </a:ln>
        </p:spPr>
        <p:txBody>
          <a:bodyPr anchor="ctr"/>
          <a:lstStyle>
            <a:defPPr>
              <a:defRPr sz="2250" b="1">
                <a:solidFill>
                  <a:srgbClr val="1B6C57"/>
                </a:solidFill>
                <a:latin typeface="Onest"/>
                <a:ea typeface="Onest"/>
                <a:cs typeface="Onest"/>
              </a:defRPr>
            </a:defPPr>
            <a:lvl1pPr>
              <a:defRPr sz="2250" b="1">
                <a:solidFill>
                  <a:srgbClr val="1B6C57"/>
                </a:solidFill>
                <a:latin typeface="Onest"/>
                <a:ea typeface="Onest"/>
                <a:cs typeface="Onest"/>
              </a:defRPr>
            </a:lvl1pPr>
            <a:lvl2pPr>
              <a:defRPr sz="2250" b="1">
                <a:solidFill>
                  <a:srgbClr val="1B6C57"/>
                </a:solidFill>
                <a:latin typeface="Onest"/>
                <a:ea typeface="Onest"/>
                <a:cs typeface="Onest"/>
              </a:defRPr>
            </a:lvl2pPr>
            <a:lvl3pPr>
              <a:defRPr sz="2250" b="1">
                <a:solidFill>
                  <a:srgbClr val="1B6C57"/>
                </a:solidFill>
                <a:latin typeface="Onest"/>
                <a:ea typeface="Onest"/>
                <a:cs typeface="Onest"/>
              </a:defRPr>
            </a:lvl3pPr>
            <a:lvl4pPr>
              <a:defRPr sz="2250" b="1">
                <a:solidFill>
                  <a:srgbClr val="1B6C57"/>
                </a:solidFill>
                <a:latin typeface="Onest"/>
                <a:ea typeface="Onest"/>
                <a:cs typeface="Onest"/>
              </a:defRPr>
            </a:lvl4pPr>
            <a:lvl5pPr>
              <a:defRPr sz="2250" b="1">
                <a:solidFill>
                  <a:srgbClr val="1B6C57"/>
                </a:solidFill>
                <a:latin typeface="Onest"/>
                <a:ea typeface="Onest"/>
                <a:cs typeface="Onest"/>
              </a:defRPr>
            </a:lvl5pPr>
            <a:lvl6pPr>
              <a:defRPr sz="2250" b="1">
                <a:solidFill>
                  <a:srgbClr val="1B6C57"/>
                </a:solidFill>
                <a:latin typeface="Onest"/>
                <a:ea typeface="Onest"/>
                <a:cs typeface="Onest"/>
              </a:defRPr>
            </a:lvl6pPr>
            <a:lvl7pPr>
              <a:defRPr sz="2250" b="1">
                <a:solidFill>
                  <a:srgbClr val="1B6C57"/>
                </a:solidFill>
                <a:latin typeface="Onest"/>
                <a:ea typeface="Onest"/>
                <a:cs typeface="Onest"/>
              </a:defRPr>
            </a:lvl7pPr>
            <a:lvl8pPr>
              <a:defRPr sz="2250" b="1">
                <a:solidFill>
                  <a:srgbClr val="1B6C57"/>
                </a:solidFill>
                <a:latin typeface="Onest"/>
                <a:ea typeface="Onest"/>
                <a:cs typeface="Onest"/>
              </a:defRPr>
            </a:lvl8pPr>
            <a:lvl9pPr>
              <a:defRPr sz="2250" b="1">
                <a:solidFill>
                  <a:srgbClr val="1B6C57"/>
                </a:solidFill>
                <a:latin typeface="Onest"/>
                <a:ea typeface="Onest"/>
                <a:cs typeface="Onest"/>
              </a:defRPr>
            </a:lvl9pPr>
          </a:lstStyle>
          <a:p>
            <a:pPr>
              <a:defRPr sz="2250" b="1">
                <a:solidFill>
                  <a:srgbClr val="1B6C57"/>
                </a:solidFill>
                <a:latin typeface="Onest"/>
                <a:ea typeface="Onest"/>
                <a:cs typeface="Onest"/>
              </a:defRPr>
            </a:pPr>
            <a:r>
              <a:rPr sz="2250" b="1">
                <a:solidFill>
                  <a:srgbClr val="1B6C57"/>
                </a:solidFill>
                <a:latin typeface="Onest"/>
                <a:ea typeface="Onest"/>
                <a:cs typeface="Onest"/>
              </a:rPr>
              <a:t>04</a:t>
            </a:r>
          </a:p>
        </p:txBody>
      </p:sp>
      <p:sp>
        <p:nvSpPr>
          <p:cNvPr id="14" name="Rectangle 13">
            <a:extLst>
              <a:ext uri="{FF2B5EF4-FFF2-40B4-BE49-F238E27FC236}">
                <a16:creationId xmlns:a16="http://schemas.microsoft.com/office/drawing/2014/main" id="{528B6BB2-1FFB-48C2-8148-496E3D187D88}"/>
              </a:ext>
            </a:extLst>
          </p:cNvPr>
          <p:cNvSpPr>
            <a:spLocks noGrp="1"/>
          </p:cNvSpPr>
          <p:nvPr/>
        </p:nvSpPr>
        <p:spPr>
          <a:xfrm>
            <a:off x="7239000" y="3523250"/>
            <a:ext cx="3886200" cy="104775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Перевірити стан через property і setter.</a:t>
            </a:r>
          </a:p>
        </p:txBody>
      </p:sp>
      <p:sp>
        <p:nvSpPr>
          <p:cNvPr id="15" name="Rectangle 14">
            <a:extLst>
              <a:ext uri="{FF2B5EF4-FFF2-40B4-BE49-F238E27FC236}">
                <a16:creationId xmlns:a16="http://schemas.microsoft.com/office/drawing/2014/main" id="{912F2F15-27B7-4C32-8D2B-3715F85309F8}"/>
              </a:ext>
            </a:extLst>
          </p:cNvPr>
          <p:cNvSpPr>
            <a:spLocks noGrp="1"/>
          </p:cNvSpPr>
          <p:nvPr/>
        </p:nvSpPr>
        <p:spPr>
          <a:xfrm>
            <a:off x="723900" y="5505450"/>
            <a:ext cx="10668000" cy="857250"/>
          </a:xfrm>
          <a:prstGeom prst="rect">
            <a:avLst/>
          </a:prstGeom>
          <a:noFill/>
          <a:ln w="0">
            <a:noFill/>
          </a:ln>
        </p:spPr>
        <p:txBody>
          <a:bodyPr anchor="ctr"/>
          <a:lstStyle>
            <a:defPPr>
              <a:defRPr sz="1875" b="0">
                <a:solidFill>
                  <a:srgbClr val="566A78"/>
                </a:solidFill>
                <a:latin typeface="Onest"/>
                <a:ea typeface="Onest"/>
                <a:cs typeface="Onest"/>
              </a:defRPr>
            </a:defPPr>
            <a:lvl1pPr>
              <a:defRPr sz="1875" b="0">
                <a:solidFill>
                  <a:srgbClr val="566A78"/>
                </a:solidFill>
                <a:latin typeface="Onest"/>
                <a:ea typeface="Onest"/>
                <a:cs typeface="Onest"/>
              </a:defRPr>
            </a:lvl1pPr>
            <a:lvl2pPr>
              <a:defRPr sz="1875" b="0">
                <a:solidFill>
                  <a:srgbClr val="566A78"/>
                </a:solidFill>
                <a:latin typeface="Onest"/>
                <a:ea typeface="Onest"/>
                <a:cs typeface="Onest"/>
              </a:defRPr>
            </a:lvl2pPr>
            <a:lvl3pPr>
              <a:defRPr sz="1875" b="0">
                <a:solidFill>
                  <a:srgbClr val="566A78"/>
                </a:solidFill>
                <a:latin typeface="Onest"/>
                <a:ea typeface="Onest"/>
                <a:cs typeface="Onest"/>
              </a:defRPr>
            </a:lvl3pPr>
            <a:lvl4pPr>
              <a:defRPr sz="1875" b="0">
                <a:solidFill>
                  <a:srgbClr val="566A78"/>
                </a:solidFill>
                <a:latin typeface="Onest"/>
                <a:ea typeface="Onest"/>
                <a:cs typeface="Onest"/>
              </a:defRPr>
            </a:lvl4pPr>
            <a:lvl5pPr>
              <a:defRPr sz="1875" b="0">
                <a:solidFill>
                  <a:srgbClr val="566A78"/>
                </a:solidFill>
                <a:latin typeface="Onest"/>
                <a:ea typeface="Onest"/>
                <a:cs typeface="Onest"/>
              </a:defRPr>
            </a:lvl5pPr>
            <a:lvl6pPr>
              <a:defRPr sz="1875" b="0">
                <a:solidFill>
                  <a:srgbClr val="566A78"/>
                </a:solidFill>
                <a:latin typeface="Onest"/>
                <a:ea typeface="Onest"/>
                <a:cs typeface="Onest"/>
              </a:defRPr>
            </a:lvl6pPr>
            <a:lvl7pPr>
              <a:defRPr sz="1875" b="0">
                <a:solidFill>
                  <a:srgbClr val="566A78"/>
                </a:solidFill>
                <a:latin typeface="Onest"/>
                <a:ea typeface="Onest"/>
                <a:cs typeface="Onest"/>
              </a:defRPr>
            </a:lvl7pPr>
            <a:lvl8pPr>
              <a:defRPr sz="1875" b="0">
                <a:solidFill>
                  <a:srgbClr val="566A78"/>
                </a:solidFill>
                <a:latin typeface="Onest"/>
                <a:ea typeface="Onest"/>
                <a:cs typeface="Onest"/>
              </a:defRPr>
            </a:lvl8pPr>
            <a:lvl9pPr>
              <a:defRPr sz="1875" b="0">
                <a:solidFill>
                  <a:srgbClr val="566A78"/>
                </a:solidFill>
                <a:latin typeface="Onest"/>
                <a:ea typeface="Onest"/>
                <a:cs typeface="Onest"/>
              </a:defRPr>
            </a:lvl9pPr>
          </a:lstStyle>
          <a:p>
            <a:pPr>
              <a:defRPr sz="1875" b="0">
                <a:solidFill>
                  <a:srgbClr val="566A78"/>
                </a:solidFill>
                <a:latin typeface="Onest"/>
                <a:ea typeface="Onest"/>
                <a:cs typeface="Onest"/>
              </a:defRPr>
            </a:pPr>
            <a:r>
              <a:rPr sz="1875" b="0">
                <a:solidFill>
                  <a:srgbClr val="566A78"/>
                </a:solidFill>
                <a:latin typeface="Onest"/>
                <a:ea typeface="Onest"/>
                <a:cs typeface="Onest"/>
              </a:rPr>
              <a:t>У навчальному застосунку люди мають різні ролі, а спільні правила даних не повинні дублюватися.</a:t>
            </a:r>
          </a:p>
        </p:txBody>
      </p:sp>
    </p:spTree>
    <p:extLst>
      <p:ext uri="{BB962C8B-B14F-4D97-AF65-F5344CB8AC3E}">
        <p14:creationId xmlns:p14="http://schemas.microsoft.com/office/powerpoint/2010/main" val="1880160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3E8"/>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C44DB47-B3B9-43C0-A0A4-EC62B44C5C69}"/>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Різновид чи зв'язок</a:t>
            </a:r>
          </a:p>
        </p:txBody>
      </p:sp>
      <p:graphicFrame>
        <p:nvGraphicFramePr>
          <p:cNvPr id="3" name="Table 2">
            <a:extLst>
              <a:ext uri="{FF2B5EF4-FFF2-40B4-BE49-F238E27FC236}">
                <a16:creationId xmlns:a16="http://schemas.microsoft.com/office/drawing/2014/main" id="{086ECE63-B1AA-452B-8D65-2481D9EA2477}"/>
              </a:ext>
            </a:extLst>
          </p:cNvPr>
          <p:cNvGraphicFramePr/>
          <p:nvPr/>
        </p:nvGraphicFramePr>
        <p:xfrm>
          <a:off x="685800" y="1762125"/>
          <a:ext cx="10820400" cy="2762250"/>
        </p:xfrm>
        <a:graphic>
          <a:graphicData uri="http://schemas.openxmlformats.org/drawingml/2006/table">
            <a:tbl>
              <a:tblPr/>
              <a:tblGrid>
                <a:gridCol w="3606800">
                  <a:extLst>
                    <a:ext uri="{9D8B030D-6E8A-4147-A177-3AD203B41FA5}">
                      <a16:colId xmlns:a16="http://schemas.microsoft.com/office/drawing/2014/main" val="20000"/>
                    </a:ext>
                  </a:extLst>
                </a:gridCol>
                <a:gridCol w="3606800">
                  <a:extLst>
                    <a:ext uri="{9D8B030D-6E8A-4147-A177-3AD203B41FA5}">
                      <a16:colId xmlns:a16="http://schemas.microsoft.com/office/drawing/2014/main" val="20001"/>
                    </a:ext>
                  </a:extLst>
                </a:gridCol>
                <a:gridCol w="3606800">
                  <a:extLst>
                    <a:ext uri="{9D8B030D-6E8A-4147-A177-3AD203B41FA5}">
                      <a16:colId xmlns:a16="http://schemas.microsoft.com/office/drawing/2014/main" val="20002"/>
                    </a:ext>
                  </a:extLst>
                </a:gridCol>
              </a:tblGrid>
              <a:tr h="920750">
                <a:tc>
                  <a:txBody>
                    <a:bodyPr/>
                    <a:lstStyle/>
                    <a:p>
                      <a:r>
                        <a:rPr sz="1800" b="1">
                          <a:solidFill>
                            <a:srgbClr val="FFFFFF"/>
                          </a:solidFill>
                          <a:latin typeface="Onest"/>
                          <a:ea typeface="Onest"/>
                          <a:cs typeface="Onest"/>
                        </a:rPr>
                        <a:t>Відношення</a:t>
                      </a:r>
                    </a:p>
                  </a:txBody>
                  <a:tcPr>
                    <a:lnL w="9525">
                      <a:solidFill>
                        <a:srgbClr val="B9CDC6"/>
                      </a:solidFill>
                      <a:prstDash val="solid"/>
                    </a:lnL>
                    <a:lnR w="9525">
                      <a:solidFill>
                        <a:srgbClr val="B9CDC6"/>
                      </a:solidFill>
                      <a:prstDash val="solid"/>
                    </a:lnR>
                    <a:lnT w="9525">
                      <a:solidFill>
                        <a:srgbClr val="B9CDC6"/>
                      </a:solidFill>
                      <a:prstDash val="solid"/>
                    </a:lnT>
                    <a:lnB w="9525">
                      <a:solidFill>
                        <a:srgbClr val="B9CDC6"/>
                      </a:solidFill>
                      <a:prstDash val="solid"/>
                    </a:lnB>
                    <a:solidFill>
                      <a:srgbClr val="1B6C57"/>
                    </a:solidFill>
                  </a:tcPr>
                </a:tc>
                <a:tc>
                  <a:txBody>
                    <a:bodyPr/>
                    <a:lstStyle/>
                    <a:p>
                      <a:r>
                        <a:rPr sz="1800" b="1">
                          <a:solidFill>
                            <a:srgbClr val="FFFFFF"/>
                          </a:solidFill>
                          <a:latin typeface="Onest"/>
                          <a:ea typeface="Onest"/>
                          <a:cs typeface="Onest"/>
                        </a:rPr>
                        <a:t>Приклад</a:t>
                      </a:r>
                    </a:p>
                  </a:txBody>
                  <a:tcPr>
                    <a:lnL w="9525" cap="flat" cmpd="sng" algn="ctr">
                      <a:solidFill>
                        <a:srgbClr val="B9CDC6"/>
                      </a:solidFill>
                      <a:prstDash val="solid"/>
                      <a:round/>
                      <a:headEnd type="none" w="med" len="med"/>
                      <a:tailEnd type="none" w="med" len="med"/>
                    </a:lnL>
                    <a:lnR w="9525">
                      <a:solidFill>
                        <a:srgbClr val="B9CDC6"/>
                      </a:solidFill>
                      <a:prstDash val="solid"/>
                    </a:lnR>
                    <a:lnT w="9525">
                      <a:solidFill>
                        <a:srgbClr val="B9CDC6"/>
                      </a:solidFill>
                      <a:prstDash val="solid"/>
                    </a:lnT>
                    <a:lnB w="9525">
                      <a:solidFill>
                        <a:srgbClr val="B9CDC6"/>
                      </a:solidFill>
                      <a:prstDash val="solid"/>
                    </a:lnB>
                    <a:solidFill>
                      <a:srgbClr val="1B6C57"/>
                    </a:solidFill>
                  </a:tcPr>
                </a:tc>
                <a:tc>
                  <a:txBody>
                    <a:bodyPr/>
                    <a:lstStyle/>
                    <a:p>
                      <a:r>
                        <a:rPr sz="1800" b="1">
                          <a:solidFill>
                            <a:srgbClr val="FFFFFF"/>
                          </a:solidFill>
                          <a:latin typeface="Onest"/>
                          <a:ea typeface="Onest"/>
                          <a:cs typeface="Onest"/>
                        </a:rPr>
                        <a:t>Механізм</a:t>
                      </a:r>
                    </a:p>
                  </a:txBody>
                  <a:tcPr>
                    <a:lnL w="9525" cap="flat" cmpd="sng" algn="ctr">
                      <a:solidFill>
                        <a:srgbClr val="B9CDC6"/>
                      </a:solidFill>
                      <a:prstDash val="solid"/>
                      <a:round/>
                      <a:headEnd type="none" w="med" len="med"/>
                      <a:tailEnd type="none" w="med" len="med"/>
                    </a:lnL>
                    <a:lnR w="9525">
                      <a:solidFill>
                        <a:srgbClr val="B9CDC6"/>
                      </a:solidFill>
                      <a:prstDash val="solid"/>
                    </a:lnR>
                    <a:lnT w="9525">
                      <a:solidFill>
                        <a:srgbClr val="B9CDC6"/>
                      </a:solidFill>
                      <a:prstDash val="solid"/>
                    </a:lnT>
                    <a:lnB w="9525">
                      <a:solidFill>
                        <a:srgbClr val="B9CDC6"/>
                      </a:solidFill>
                      <a:prstDash val="solid"/>
                    </a:lnB>
                    <a:solidFill>
                      <a:srgbClr val="1B6C57"/>
                    </a:solidFill>
                  </a:tcPr>
                </a:tc>
                <a:extLst>
                  <a:ext uri="{0D108BD9-81ED-4DB2-BD59-A6C34878D82A}">
                    <a16:rowId xmlns:a16="http://schemas.microsoft.com/office/drawing/2014/main" val="10000"/>
                  </a:ext>
                </a:extLst>
              </a:tr>
              <a:tr h="920750">
                <a:tc>
                  <a:txBody>
                    <a:bodyPr/>
                    <a:lstStyle/>
                    <a:p>
                      <a:r>
                        <a:rPr sz="1800" b="0">
                          <a:solidFill>
                            <a:srgbClr val="192D3B"/>
                          </a:solidFill>
                          <a:latin typeface="Onest"/>
                          <a:ea typeface="Onest"/>
                          <a:cs typeface="Onest"/>
                        </a:rPr>
                        <a:t>Є різновидом</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tc>
                  <a:txBody>
                    <a:bodyPr/>
                    <a:lstStyle/>
                    <a:p>
                      <a:r>
                        <a:rPr sz="1800" b="0">
                          <a:solidFill>
                            <a:srgbClr val="192D3B"/>
                          </a:solidFill>
                          <a:latin typeface="Onest"/>
                          <a:ea typeface="Onest"/>
                          <a:cs typeface="Onest"/>
                        </a:rPr>
                        <a:t>Student, Educator є Person</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tc>
                  <a:txBody>
                    <a:bodyPr/>
                    <a:lstStyle/>
                    <a:p>
                      <a:r>
                        <a:rPr sz="1800" b="0">
                          <a:solidFill>
                            <a:srgbClr val="192D3B"/>
                          </a:solidFill>
                          <a:latin typeface="Onest"/>
                          <a:ea typeface="Onest"/>
                          <a:cs typeface="Onest"/>
                        </a:rPr>
                        <a:t>Успадкування</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extLst>
                  <a:ext uri="{0D108BD9-81ED-4DB2-BD59-A6C34878D82A}">
                    <a16:rowId xmlns:a16="http://schemas.microsoft.com/office/drawing/2014/main" val="10001"/>
                  </a:ext>
                </a:extLst>
              </a:tr>
              <a:tr h="920750">
                <a:tc>
                  <a:txBody>
                    <a:bodyPr/>
                    <a:lstStyle/>
                    <a:p>
                      <a:r>
                        <a:rPr sz="1800" b="0">
                          <a:solidFill>
                            <a:srgbClr val="192D3B"/>
                          </a:solidFill>
                          <a:latin typeface="Onest"/>
                          <a:ea typeface="Onest"/>
                          <a:cs typeface="Onest"/>
                        </a:rPr>
                        <a:t>Має об'єкти</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E8F3ED"/>
                    </a:solidFill>
                  </a:tcPr>
                </a:tc>
                <a:tc>
                  <a:txBody>
                    <a:bodyPr/>
                    <a:lstStyle/>
                    <a:p>
                      <a:r>
                        <a:rPr sz="1800" b="0">
                          <a:solidFill>
                            <a:srgbClr val="192D3B"/>
                          </a:solidFill>
                          <a:latin typeface="Onest"/>
                          <a:ea typeface="Onest"/>
                          <a:cs typeface="Onest"/>
                        </a:rPr>
                        <a:t>Course має викладача</a:t>
                      </a:r>
                    </a:p>
                    <a:p>
                      <a:r>
                        <a:rPr sz="1800" b="0">
                          <a:solidFill>
                            <a:srgbClr val="192D3B"/>
                          </a:solidFill>
                          <a:latin typeface="Onest"/>
                          <a:ea typeface="Onest"/>
                          <a:cs typeface="Onest"/>
                        </a:rPr>
                        <a:t>та список студентів</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E8F3ED"/>
                    </a:solidFill>
                  </a:tcPr>
                </a:tc>
                <a:tc>
                  <a:txBody>
                    <a:bodyPr/>
                    <a:lstStyle/>
                    <a:p>
                      <a:r>
                        <a:rPr sz="1800" b="0">
                          <a:solidFill>
                            <a:srgbClr val="192D3B"/>
                          </a:solidFill>
                          <a:latin typeface="Onest"/>
                          <a:ea typeface="Onest"/>
                          <a:cs typeface="Onest"/>
                        </a:rPr>
                        <a:t>Композиція</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E8F3ED"/>
                    </a:solidFill>
                  </a:tcPr>
                </a:tc>
                <a:extLst>
                  <a:ext uri="{0D108BD9-81ED-4DB2-BD59-A6C34878D82A}">
                    <a16:rowId xmlns:a16="http://schemas.microsoft.com/office/drawing/2014/main" val="10002"/>
                  </a:ext>
                </a:extLst>
              </a:tr>
            </a:tbl>
          </a:graphicData>
        </a:graphic>
      </p:graphicFrame>
      <p:sp>
        <p:nvSpPr>
          <p:cNvPr id="4" name="Rectangle 3">
            <a:extLst>
              <a:ext uri="{FF2B5EF4-FFF2-40B4-BE49-F238E27FC236}">
                <a16:creationId xmlns:a16="http://schemas.microsoft.com/office/drawing/2014/main" id="{F719FAC5-D9F0-4F03-909B-637656DAF96F}"/>
              </a:ext>
            </a:extLst>
          </p:cNvPr>
          <p:cNvSpPr>
            <a:spLocks noGrp="1"/>
          </p:cNvSpPr>
          <p:nvPr/>
        </p:nvSpPr>
        <p:spPr>
          <a:xfrm>
            <a:off x="904875" y="5095875"/>
            <a:ext cx="10287000" cy="666750"/>
          </a:xfrm>
          <a:prstGeom prst="rect">
            <a:avLst/>
          </a:prstGeom>
          <a:noFill/>
          <a:ln w="0">
            <a:noFill/>
          </a:ln>
        </p:spPr>
        <p:txBody>
          <a:bodyPr anchor="ctr"/>
          <a:lstStyle>
            <a:defPPr>
              <a:defRPr sz="2325" b="1">
                <a:solidFill>
                  <a:srgbClr val="1B6C57"/>
                </a:solidFill>
                <a:latin typeface="Onest"/>
                <a:ea typeface="Onest"/>
                <a:cs typeface="Onest"/>
              </a:defRPr>
            </a:defPPr>
            <a:lvl1pPr>
              <a:defRPr sz="2325" b="1">
                <a:solidFill>
                  <a:srgbClr val="1B6C57"/>
                </a:solidFill>
                <a:latin typeface="Onest"/>
                <a:ea typeface="Onest"/>
                <a:cs typeface="Onest"/>
              </a:defRPr>
            </a:lvl1pPr>
            <a:lvl2pPr>
              <a:defRPr sz="2325" b="1">
                <a:solidFill>
                  <a:srgbClr val="1B6C57"/>
                </a:solidFill>
                <a:latin typeface="Onest"/>
                <a:ea typeface="Onest"/>
                <a:cs typeface="Onest"/>
              </a:defRPr>
            </a:lvl2pPr>
            <a:lvl3pPr>
              <a:defRPr sz="2325" b="1">
                <a:solidFill>
                  <a:srgbClr val="1B6C57"/>
                </a:solidFill>
                <a:latin typeface="Onest"/>
                <a:ea typeface="Onest"/>
                <a:cs typeface="Onest"/>
              </a:defRPr>
            </a:lvl3pPr>
            <a:lvl4pPr>
              <a:defRPr sz="2325" b="1">
                <a:solidFill>
                  <a:srgbClr val="1B6C57"/>
                </a:solidFill>
                <a:latin typeface="Onest"/>
                <a:ea typeface="Onest"/>
                <a:cs typeface="Onest"/>
              </a:defRPr>
            </a:lvl4pPr>
            <a:lvl5pPr>
              <a:defRPr sz="2325" b="1">
                <a:solidFill>
                  <a:srgbClr val="1B6C57"/>
                </a:solidFill>
                <a:latin typeface="Onest"/>
                <a:ea typeface="Onest"/>
                <a:cs typeface="Onest"/>
              </a:defRPr>
            </a:lvl5pPr>
            <a:lvl6pPr>
              <a:defRPr sz="2325" b="1">
                <a:solidFill>
                  <a:srgbClr val="1B6C57"/>
                </a:solidFill>
                <a:latin typeface="Onest"/>
                <a:ea typeface="Onest"/>
                <a:cs typeface="Onest"/>
              </a:defRPr>
            </a:lvl6pPr>
            <a:lvl7pPr>
              <a:defRPr sz="2325" b="1">
                <a:solidFill>
                  <a:srgbClr val="1B6C57"/>
                </a:solidFill>
                <a:latin typeface="Onest"/>
                <a:ea typeface="Onest"/>
                <a:cs typeface="Onest"/>
              </a:defRPr>
            </a:lvl7pPr>
            <a:lvl8pPr>
              <a:defRPr sz="2325" b="1">
                <a:solidFill>
                  <a:srgbClr val="1B6C57"/>
                </a:solidFill>
                <a:latin typeface="Onest"/>
                <a:ea typeface="Onest"/>
                <a:cs typeface="Onest"/>
              </a:defRPr>
            </a:lvl8pPr>
            <a:lvl9pPr>
              <a:defRPr sz="2325" b="1">
                <a:solidFill>
                  <a:srgbClr val="1B6C57"/>
                </a:solidFill>
                <a:latin typeface="Onest"/>
                <a:ea typeface="Onest"/>
                <a:cs typeface="Onest"/>
              </a:defRPr>
            </a:lvl9pPr>
          </a:lstStyle>
          <a:p>
            <a:pPr>
              <a:defRPr sz="2325" b="1">
                <a:solidFill>
                  <a:srgbClr val="1B6C57"/>
                </a:solidFill>
                <a:latin typeface="Onest"/>
                <a:ea typeface="Onest"/>
                <a:cs typeface="Onest"/>
              </a:defRPr>
            </a:pPr>
            <a:r>
              <a:rPr sz="2325" b="1">
                <a:solidFill>
                  <a:srgbClr val="1B6C57"/>
                </a:solidFill>
                <a:latin typeface="Onest"/>
                <a:ea typeface="Onest"/>
                <a:cs typeface="Onest"/>
              </a:rPr>
              <a:t>Course не є різновидом Person</a:t>
            </a:r>
          </a:p>
        </p:txBody>
      </p:sp>
      <p:pic>
        <p:nvPicPr>
          <p:cNvPr id="5" name="Graphic 4">
            <a:extLst>
              <a:ext uri="{FF2B5EF4-FFF2-40B4-BE49-F238E27FC236}">
                <a16:creationId xmlns:a16="http://schemas.microsoft.com/office/drawing/2014/main" id="{E085B8EB-0DCD-41D5-BB10-90D3B35822D3}"/>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953750" y="638175"/>
            <a:ext cx="552450" cy="552450"/>
          </a:xfrm>
          <a:prstGeom prst="rect">
            <a:avLst/>
          </a:prstGeom>
        </p:spPr>
      </p:pic>
    </p:spTree>
    <p:extLst>
      <p:ext uri="{BB962C8B-B14F-4D97-AF65-F5344CB8AC3E}">
        <p14:creationId xmlns:p14="http://schemas.microsoft.com/office/powerpoint/2010/main" val="19208568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1AAF39-C849-4649-8E32-1EC969A3A850}"/>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Базовий клас та перший різновид</a:t>
            </a:r>
          </a:p>
        </p:txBody>
      </p:sp>
      <p:sp>
        <p:nvSpPr>
          <p:cNvPr id="3" name="Rectangle 2">
            <a:extLst>
              <a:ext uri="{FF2B5EF4-FFF2-40B4-BE49-F238E27FC236}">
                <a16:creationId xmlns:a16="http://schemas.microsoft.com/office/drawing/2014/main" id="{0284FB15-A552-46C4-BEA5-35EA1FE6C91F}"/>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566A78"/>
                </a:solidFill>
                <a:latin typeface="Onest"/>
                <a:ea typeface="Onest"/>
                <a:cs typeface="Onest"/>
              </a:defRPr>
            </a:defPPr>
            <a:lvl1pPr>
              <a:defRPr sz="1800" b="0">
                <a:solidFill>
                  <a:srgbClr val="566A78"/>
                </a:solidFill>
                <a:latin typeface="Onest"/>
                <a:ea typeface="Onest"/>
                <a:cs typeface="Onest"/>
              </a:defRPr>
            </a:lvl1pPr>
            <a:lvl2pPr>
              <a:defRPr sz="1800" b="0">
                <a:solidFill>
                  <a:srgbClr val="566A78"/>
                </a:solidFill>
                <a:latin typeface="Onest"/>
                <a:ea typeface="Onest"/>
                <a:cs typeface="Onest"/>
              </a:defRPr>
            </a:lvl2pPr>
            <a:lvl3pPr>
              <a:defRPr sz="1800" b="0">
                <a:solidFill>
                  <a:srgbClr val="566A78"/>
                </a:solidFill>
                <a:latin typeface="Onest"/>
                <a:ea typeface="Onest"/>
                <a:cs typeface="Onest"/>
              </a:defRPr>
            </a:lvl3pPr>
            <a:lvl4pPr>
              <a:defRPr sz="1800" b="0">
                <a:solidFill>
                  <a:srgbClr val="566A78"/>
                </a:solidFill>
                <a:latin typeface="Onest"/>
                <a:ea typeface="Onest"/>
                <a:cs typeface="Onest"/>
              </a:defRPr>
            </a:lvl4pPr>
            <a:lvl5pPr>
              <a:defRPr sz="1800" b="0">
                <a:solidFill>
                  <a:srgbClr val="566A78"/>
                </a:solidFill>
                <a:latin typeface="Onest"/>
                <a:ea typeface="Onest"/>
                <a:cs typeface="Onest"/>
              </a:defRPr>
            </a:lvl5pPr>
            <a:lvl6pPr>
              <a:defRPr sz="1800" b="0">
                <a:solidFill>
                  <a:srgbClr val="566A78"/>
                </a:solidFill>
                <a:latin typeface="Onest"/>
                <a:ea typeface="Onest"/>
                <a:cs typeface="Onest"/>
              </a:defRPr>
            </a:lvl6pPr>
            <a:lvl7pPr>
              <a:defRPr sz="1800" b="0">
                <a:solidFill>
                  <a:srgbClr val="566A78"/>
                </a:solidFill>
                <a:latin typeface="Onest"/>
                <a:ea typeface="Onest"/>
                <a:cs typeface="Onest"/>
              </a:defRPr>
            </a:lvl7pPr>
            <a:lvl8pPr>
              <a:defRPr sz="1800" b="0">
                <a:solidFill>
                  <a:srgbClr val="566A78"/>
                </a:solidFill>
                <a:latin typeface="Onest"/>
                <a:ea typeface="Onest"/>
                <a:cs typeface="Onest"/>
              </a:defRPr>
            </a:lvl8pPr>
            <a:lvl9pPr>
              <a:defRPr sz="1800" b="0">
                <a:solidFill>
                  <a:srgbClr val="566A78"/>
                </a:solidFill>
                <a:latin typeface="Onest"/>
                <a:ea typeface="Onest"/>
                <a:cs typeface="Onest"/>
              </a:defRPr>
            </a:lvl9pPr>
          </a:lstStyle>
          <a:p>
            <a:pPr>
              <a:defRPr sz="1800" b="0">
                <a:solidFill>
                  <a:srgbClr val="566A78"/>
                </a:solidFill>
                <a:latin typeface="Onest"/>
                <a:ea typeface="Onest"/>
                <a:cs typeface="Onest"/>
              </a:defRPr>
            </a:pPr>
            <a:r>
              <a:rPr sz="1800" b="0" dirty="0" err="1">
                <a:solidFill>
                  <a:srgbClr val="566A78"/>
                </a:solidFill>
                <a:latin typeface="Onest"/>
                <a:ea typeface="Onest"/>
                <a:cs typeface="Onest"/>
              </a:rPr>
              <a:t>Створіть</a:t>
            </a:r>
            <a:r>
              <a:rPr sz="1800" b="0" dirty="0">
                <a:solidFill>
                  <a:srgbClr val="566A78"/>
                </a:solidFill>
                <a:latin typeface="Onest"/>
                <a:ea typeface="Onest"/>
                <a:cs typeface="Onest"/>
              </a:rPr>
              <a:t> </a:t>
            </a:r>
            <a:r>
              <a:rPr sz="1800" b="0" dirty="0" err="1">
                <a:solidFill>
                  <a:srgbClr val="566A78"/>
                </a:solidFill>
                <a:latin typeface="Onest"/>
                <a:ea typeface="Onest"/>
                <a:cs typeface="Onest"/>
              </a:rPr>
              <a:t>demo_learning.py</a:t>
            </a:r>
            <a:r>
              <a:rPr sz="1800" b="0" dirty="0">
                <a:solidFill>
                  <a:srgbClr val="566A78"/>
                </a:solidFill>
                <a:latin typeface="Onest"/>
                <a:ea typeface="Onest"/>
                <a:cs typeface="Onest"/>
              </a:rPr>
              <a:t>.</a:t>
            </a:r>
          </a:p>
        </p:txBody>
      </p:sp>
      <p:sp>
        <p:nvSpPr>
          <p:cNvPr id="4" name="Rectangle 3">
            <a:extLst>
              <a:ext uri="{FF2B5EF4-FFF2-40B4-BE49-F238E27FC236}">
                <a16:creationId xmlns:a16="http://schemas.microsoft.com/office/drawing/2014/main" id="{6E5B7E29-4604-46C9-8844-4BB3CAF0211D}"/>
              </a:ext>
            </a:extLst>
          </p:cNvPr>
          <p:cNvSpPr>
            <a:spLocks noGrp="1"/>
          </p:cNvSpPr>
          <p:nvPr/>
        </p:nvSpPr>
        <p:spPr>
          <a:xfrm>
            <a:off x="704850" y="2162175"/>
            <a:ext cx="10801350" cy="3705225"/>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C039A3A5-34AB-43D0-8C2F-D8F836D7DD69}"/>
              </a:ext>
            </a:extLst>
          </p:cNvPr>
          <p:cNvSpPr>
            <a:spLocks noGrp="1"/>
          </p:cNvSpPr>
          <p:nvPr/>
        </p:nvSpPr>
        <p:spPr>
          <a:xfrm>
            <a:off x="895350" y="2095500"/>
            <a:ext cx="10382250" cy="3771900"/>
          </a:xfrm>
          <a:prstGeom prst="rect">
            <a:avLst/>
          </a:prstGeom>
          <a:noFill/>
          <a:ln w="0">
            <a:noFill/>
          </a:ln>
        </p:spPr>
        <p:txBody>
          <a:bodyPr anchor="ctr"/>
          <a:lstStyle>
            <a:defPPr>
              <a:defRPr sz="1725" b="0">
                <a:solidFill>
                  <a:srgbClr val="FFFFFF"/>
                </a:solidFill>
                <a:latin typeface="Courier New"/>
                <a:ea typeface="Courier New"/>
                <a:cs typeface="Courier New"/>
              </a:defRPr>
            </a:defPPr>
            <a:lvl1pPr>
              <a:defRPr sz="1725" b="0">
                <a:solidFill>
                  <a:srgbClr val="FFFFFF"/>
                </a:solidFill>
                <a:latin typeface="Courier New"/>
                <a:ea typeface="Courier New"/>
                <a:cs typeface="Courier New"/>
              </a:defRPr>
            </a:lvl1pPr>
            <a:lvl2pPr>
              <a:defRPr sz="1725" b="0">
                <a:solidFill>
                  <a:srgbClr val="FFFFFF"/>
                </a:solidFill>
                <a:latin typeface="Courier New"/>
                <a:ea typeface="Courier New"/>
                <a:cs typeface="Courier New"/>
              </a:defRPr>
            </a:lvl2pPr>
            <a:lvl3pPr>
              <a:defRPr sz="1725" b="0">
                <a:solidFill>
                  <a:srgbClr val="FFFFFF"/>
                </a:solidFill>
                <a:latin typeface="Courier New"/>
                <a:ea typeface="Courier New"/>
                <a:cs typeface="Courier New"/>
              </a:defRPr>
            </a:lvl3pPr>
            <a:lvl4pPr>
              <a:defRPr sz="1725" b="0">
                <a:solidFill>
                  <a:srgbClr val="FFFFFF"/>
                </a:solidFill>
                <a:latin typeface="Courier New"/>
                <a:ea typeface="Courier New"/>
                <a:cs typeface="Courier New"/>
              </a:defRPr>
            </a:lvl4pPr>
            <a:lvl5pPr>
              <a:defRPr sz="1725" b="0">
                <a:solidFill>
                  <a:srgbClr val="FFFFFF"/>
                </a:solidFill>
                <a:latin typeface="Courier New"/>
                <a:ea typeface="Courier New"/>
                <a:cs typeface="Courier New"/>
              </a:defRPr>
            </a:lvl5pPr>
            <a:lvl6pPr>
              <a:defRPr sz="1725" b="0">
                <a:solidFill>
                  <a:srgbClr val="FFFFFF"/>
                </a:solidFill>
                <a:latin typeface="Courier New"/>
                <a:ea typeface="Courier New"/>
                <a:cs typeface="Courier New"/>
              </a:defRPr>
            </a:lvl6pPr>
            <a:lvl7pPr>
              <a:defRPr sz="1725" b="0">
                <a:solidFill>
                  <a:srgbClr val="FFFFFF"/>
                </a:solidFill>
                <a:latin typeface="Courier New"/>
                <a:ea typeface="Courier New"/>
                <a:cs typeface="Courier New"/>
              </a:defRPr>
            </a:lvl7pPr>
            <a:lvl8pPr>
              <a:defRPr sz="1725" b="0">
                <a:solidFill>
                  <a:srgbClr val="FFFFFF"/>
                </a:solidFill>
                <a:latin typeface="Courier New"/>
                <a:ea typeface="Courier New"/>
                <a:cs typeface="Courier New"/>
              </a:defRPr>
            </a:lvl8pPr>
            <a:lvl9pPr>
              <a:defRPr sz="1725" b="0">
                <a:solidFill>
                  <a:srgbClr val="FFFFFF"/>
                </a:solidFill>
                <a:latin typeface="Courier New"/>
                <a:ea typeface="Courier New"/>
                <a:cs typeface="Courier New"/>
              </a:defRPr>
            </a:lvl9pPr>
          </a:lstStyle>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class Person:</a:t>
            </a: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    def __init__(self, name, age):</a:t>
            </a: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        </a:t>
            </a:r>
            <a:r>
              <a:rPr sz="1725" b="0" dirty="0" err="1">
                <a:solidFill>
                  <a:srgbClr val="FFFFFF"/>
                </a:solidFill>
                <a:latin typeface="Courier New"/>
                <a:ea typeface="Courier New"/>
                <a:cs typeface="Courier New"/>
              </a:rPr>
              <a:t>self.name</a:t>
            </a:r>
            <a:r>
              <a:rPr sz="1725" b="0" dirty="0">
                <a:solidFill>
                  <a:srgbClr val="FFFFFF"/>
                </a:solidFill>
                <a:latin typeface="Courier New"/>
                <a:ea typeface="Courier New"/>
                <a:cs typeface="Courier New"/>
              </a:rPr>
              <a:t> = name</a:t>
            </a: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        </a:t>
            </a:r>
            <a:r>
              <a:rPr sz="1725" b="0" dirty="0" err="1">
                <a:solidFill>
                  <a:srgbClr val="FFFFFF"/>
                </a:solidFill>
                <a:latin typeface="Courier New"/>
                <a:ea typeface="Courier New"/>
                <a:cs typeface="Courier New"/>
              </a:rPr>
              <a:t>self.age</a:t>
            </a:r>
            <a:r>
              <a:rPr sz="1725" b="0" dirty="0">
                <a:solidFill>
                  <a:srgbClr val="FFFFFF"/>
                </a:solidFill>
                <a:latin typeface="Courier New"/>
                <a:ea typeface="Courier New"/>
                <a:cs typeface="Courier New"/>
              </a:rPr>
              <a:t> = age</a:t>
            </a:r>
          </a:p>
          <a:p>
            <a:endParaRPr sz="1725" b="0" dirty="0">
              <a:solidFill>
                <a:srgbClr val="FFFFFF"/>
              </a:solidFill>
              <a:latin typeface="Courier New"/>
              <a:ea typeface="Courier New"/>
              <a:cs typeface="Courier New"/>
            </a:endParaRP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    def describe(self):</a:t>
            </a: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        return f"{</a:t>
            </a:r>
            <a:r>
              <a:rPr sz="1725" b="0" dirty="0" err="1">
                <a:solidFill>
                  <a:srgbClr val="FFFFFF"/>
                </a:solidFill>
                <a:latin typeface="Courier New"/>
                <a:ea typeface="Courier New"/>
                <a:cs typeface="Courier New"/>
              </a:rPr>
              <a:t>self.name</a:t>
            </a:r>
            <a:r>
              <a:rPr sz="1725" b="0" dirty="0">
                <a:solidFill>
                  <a:srgbClr val="FFFFFF"/>
                </a:solidFill>
                <a:latin typeface="Courier New"/>
                <a:ea typeface="Courier New"/>
                <a:cs typeface="Courier New"/>
              </a:rPr>
              <a:t>}: {</a:t>
            </a:r>
            <a:r>
              <a:rPr sz="1725" b="0" dirty="0" err="1">
                <a:solidFill>
                  <a:srgbClr val="FFFFFF"/>
                </a:solidFill>
                <a:latin typeface="Courier New"/>
                <a:ea typeface="Courier New"/>
                <a:cs typeface="Courier New"/>
              </a:rPr>
              <a:t>self.age</a:t>
            </a:r>
            <a:r>
              <a:rPr sz="1725" b="0" dirty="0">
                <a:solidFill>
                  <a:srgbClr val="FFFFFF"/>
                </a:solidFill>
                <a:latin typeface="Courier New"/>
                <a:ea typeface="Courier New"/>
                <a:cs typeface="Courier New"/>
              </a:rPr>
              <a:t>} </a:t>
            </a:r>
            <a:r>
              <a:rPr sz="1725" b="0" dirty="0" err="1">
                <a:solidFill>
                  <a:srgbClr val="FFFFFF"/>
                </a:solidFill>
                <a:latin typeface="Courier New"/>
                <a:ea typeface="Courier New"/>
                <a:cs typeface="Courier New"/>
              </a:rPr>
              <a:t>років</a:t>
            </a:r>
            <a:r>
              <a:rPr sz="1725" b="0" dirty="0">
                <a:solidFill>
                  <a:srgbClr val="FFFFFF"/>
                </a:solidFill>
                <a:latin typeface="Courier New"/>
                <a:ea typeface="Courier New"/>
                <a:cs typeface="Courier New"/>
              </a:rPr>
              <a:t>"</a:t>
            </a:r>
          </a:p>
          <a:p>
            <a:endParaRPr sz="1725" b="0" dirty="0">
              <a:solidFill>
                <a:srgbClr val="FFFFFF"/>
              </a:solidFill>
              <a:latin typeface="Courier New"/>
              <a:ea typeface="Courier New"/>
              <a:cs typeface="Courier New"/>
            </a:endParaRP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class Student(Person):</a:t>
            </a: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    pass</a:t>
            </a:r>
          </a:p>
          <a:p>
            <a:endParaRPr sz="1725" b="0" dirty="0">
              <a:solidFill>
                <a:srgbClr val="FFFFFF"/>
              </a:solidFill>
              <a:latin typeface="Courier New"/>
              <a:ea typeface="Courier New"/>
              <a:cs typeface="Courier New"/>
            </a:endParaRPr>
          </a:p>
          <a:p>
            <a:pPr>
              <a:defRPr sz="1725" b="0">
                <a:solidFill>
                  <a:srgbClr val="FFFFFF"/>
                </a:solidFill>
                <a:latin typeface="Courier New"/>
                <a:ea typeface="Courier New"/>
                <a:cs typeface="Courier New"/>
              </a:defRPr>
            </a:pPr>
            <a:r>
              <a:rPr sz="1725" b="0" dirty="0">
                <a:solidFill>
                  <a:srgbClr val="FFFFFF"/>
                </a:solidFill>
                <a:latin typeface="Courier New"/>
                <a:ea typeface="Courier New"/>
                <a:cs typeface="Courier New"/>
              </a:rPr>
              <a:t>print(Student("Олена", 18).describe())</a:t>
            </a:r>
          </a:p>
        </p:txBody>
      </p:sp>
    </p:spTree>
    <p:extLst>
      <p:ext uri="{BB962C8B-B14F-4D97-AF65-F5344CB8AC3E}">
        <p14:creationId xmlns:p14="http://schemas.microsoft.com/office/powerpoint/2010/main" val="16994779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5276863-0160-486A-8B31-062EE4D31708}"/>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Super розширює ініціалізацію</a:t>
            </a:r>
          </a:p>
        </p:txBody>
      </p:sp>
      <p:sp>
        <p:nvSpPr>
          <p:cNvPr id="3" name="Rectangle 2">
            <a:extLst>
              <a:ext uri="{FF2B5EF4-FFF2-40B4-BE49-F238E27FC236}">
                <a16:creationId xmlns:a16="http://schemas.microsoft.com/office/drawing/2014/main" id="{87A369B1-285C-430F-A3DE-9029DD9F823D}"/>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566A78"/>
                </a:solidFill>
                <a:latin typeface="Onest"/>
                <a:ea typeface="Onest"/>
                <a:cs typeface="Onest"/>
              </a:defRPr>
            </a:defPPr>
            <a:lvl1pPr>
              <a:defRPr sz="1800" b="0">
                <a:solidFill>
                  <a:srgbClr val="566A78"/>
                </a:solidFill>
                <a:latin typeface="Onest"/>
                <a:ea typeface="Onest"/>
                <a:cs typeface="Onest"/>
              </a:defRPr>
            </a:lvl1pPr>
            <a:lvl2pPr>
              <a:defRPr sz="1800" b="0">
                <a:solidFill>
                  <a:srgbClr val="566A78"/>
                </a:solidFill>
                <a:latin typeface="Onest"/>
                <a:ea typeface="Onest"/>
                <a:cs typeface="Onest"/>
              </a:defRPr>
            </a:lvl2pPr>
            <a:lvl3pPr>
              <a:defRPr sz="1800" b="0">
                <a:solidFill>
                  <a:srgbClr val="566A78"/>
                </a:solidFill>
                <a:latin typeface="Onest"/>
                <a:ea typeface="Onest"/>
                <a:cs typeface="Onest"/>
              </a:defRPr>
            </a:lvl3pPr>
            <a:lvl4pPr>
              <a:defRPr sz="1800" b="0">
                <a:solidFill>
                  <a:srgbClr val="566A78"/>
                </a:solidFill>
                <a:latin typeface="Onest"/>
                <a:ea typeface="Onest"/>
                <a:cs typeface="Onest"/>
              </a:defRPr>
            </a:lvl4pPr>
            <a:lvl5pPr>
              <a:defRPr sz="1800" b="0">
                <a:solidFill>
                  <a:srgbClr val="566A78"/>
                </a:solidFill>
                <a:latin typeface="Onest"/>
                <a:ea typeface="Onest"/>
                <a:cs typeface="Onest"/>
              </a:defRPr>
            </a:lvl5pPr>
            <a:lvl6pPr>
              <a:defRPr sz="1800" b="0">
                <a:solidFill>
                  <a:srgbClr val="566A78"/>
                </a:solidFill>
                <a:latin typeface="Onest"/>
                <a:ea typeface="Onest"/>
                <a:cs typeface="Onest"/>
              </a:defRPr>
            </a:lvl6pPr>
            <a:lvl7pPr>
              <a:defRPr sz="1800" b="0">
                <a:solidFill>
                  <a:srgbClr val="566A78"/>
                </a:solidFill>
                <a:latin typeface="Onest"/>
                <a:ea typeface="Onest"/>
                <a:cs typeface="Onest"/>
              </a:defRPr>
            </a:lvl7pPr>
            <a:lvl8pPr>
              <a:defRPr sz="1800" b="0">
                <a:solidFill>
                  <a:srgbClr val="566A78"/>
                </a:solidFill>
                <a:latin typeface="Onest"/>
                <a:ea typeface="Onest"/>
                <a:cs typeface="Onest"/>
              </a:defRPr>
            </a:lvl8pPr>
            <a:lvl9pPr>
              <a:defRPr sz="1800" b="0">
                <a:solidFill>
                  <a:srgbClr val="566A78"/>
                </a:solidFill>
                <a:latin typeface="Onest"/>
                <a:ea typeface="Onest"/>
                <a:cs typeface="Onest"/>
              </a:defRPr>
            </a:lvl9pPr>
          </a:lstStyle>
          <a:p>
            <a:pPr>
              <a:defRPr sz="1800" b="0">
                <a:solidFill>
                  <a:srgbClr val="566A78"/>
                </a:solidFill>
                <a:latin typeface="Onest"/>
                <a:ea typeface="Onest"/>
                <a:cs typeface="Onest"/>
              </a:defRPr>
            </a:pPr>
            <a:r>
              <a:rPr sz="1800" b="0">
                <a:solidFill>
                  <a:srgbClr val="566A78"/>
                </a:solidFill>
                <a:latin typeface="Onest"/>
                <a:ea typeface="Onest"/>
                <a:cs typeface="Onest"/>
              </a:rPr>
              <a:t>Після Student, перед блоком запуску, додайте:</a:t>
            </a:r>
          </a:p>
        </p:txBody>
      </p:sp>
      <p:sp>
        <p:nvSpPr>
          <p:cNvPr id="4" name="Rectangle 3">
            <a:extLst>
              <a:ext uri="{FF2B5EF4-FFF2-40B4-BE49-F238E27FC236}">
                <a16:creationId xmlns:a16="http://schemas.microsoft.com/office/drawing/2014/main" id="{F4340C2F-F9AD-410C-BC31-A66B25B118C3}"/>
              </a:ext>
            </a:extLst>
          </p:cNvPr>
          <p:cNvSpPr>
            <a:spLocks noGrp="1"/>
          </p:cNvSpPr>
          <p:nvPr/>
        </p:nvSpPr>
        <p:spPr>
          <a:xfrm>
            <a:off x="685800" y="2143125"/>
            <a:ext cx="10820400" cy="2376488"/>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8150CC83-4756-480C-AF36-16611A5B7D71}"/>
              </a:ext>
            </a:extLst>
          </p:cNvPr>
          <p:cNvSpPr>
            <a:spLocks noGrp="1"/>
          </p:cNvSpPr>
          <p:nvPr/>
        </p:nvSpPr>
        <p:spPr>
          <a:xfrm>
            <a:off x="895350" y="2276475"/>
            <a:ext cx="10382250" cy="2138363"/>
          </a:xfrm>
          <a:prstGeom prst="rect">
            <a:avLst/>
          </a:prstGeom>
          <a:noFill/>
          <a:ln w="0">
            <a:noFill/>
          </a:ln>
        </p:spPr>
        <p:txBody>
          <a:bodyPr anchor="ctr"/>
          <a:lstStyle>
            <a:defPPr>
              <a:defRPr sz="1875" b="0">
                <a:solidFill>
                  <a:srgbClr val="FFFFFF"/>
                </a:solidFill>
                <a:latin typeface="Courier New"/>
                <a:ea typeface="Courier New"/>
                <a:cs typeface="Courier New"/>
              </a:defRPr>
            </a:defPPr>
            <a:lvl1pPr>
              <a:defRPr sz="1875" b="0">
                <a:solidFill>
                  <a:srgbClr val="FFFFFF"/>
                </a:solidFill>
                <a:latin typeface="Courier New"/>
                <a:ea typeface="Courier New"/>
                <a:cs typeface="Courier New"/>
              </a:defRPr>
            </a:lvl1pPr>
            <a:lvl2pPr>
              <a:defRPr sz="1875" b="0">
                <a:solidFill>
                  <a:srgbClr val="FFFFFF"/>
                </a:solidFill>
                <a:latin typeface="Courier New"/>
                <a:ea typeface="Courier New"/>
                <a:cs typeface="Courier New"/>
              </a:defRPr>
            </a:lvl2pPr>
            <a:lvl3pPr>
              <a:defRPr sz="1875" b="0">
                <a:solidFill>
                  <a:srgbClr val="FFFFFF"/>
                </a:solidFill>
                <a:latin typeface="Courier New"/>
                <a:ea typeface="Courier New"/>
                <a:cs typeface="Courier New"/>
              </a:defRPr>
            </a:lvl3pPr>
            <a:lvl4pPr>
              <a:defRPr sz="1875" b="0">
                <a:solidFill>
                  <a:srgbClr val="FFFFFF"/>
                </a:solidFill>
                <a:latin typeface="Courier New"/>
                <a:ea typeface="Courier New"/>
                <a:cs typeface="Courier New"/>
              </a:defRPr>
            </a:lvl4pPr>
            <a:lvl5pPr>
              <a:defRPr sz="1875" b="0">
                <a:solidFill>
                  <a:srgbClr val="FFFFFF"/>
                </a:solidFill>
                <a:latin typeface="Courier New"/>
                <a:ea typeface="Courier New"/>
                <a:cs typeface="Courier New"/>
              </a:defRPr>
            </a:lvl5pPr>
            <a:lvl6pPr>
              <a:defRPr sz="1875" b="0">
                <a:solidFill>
                  <a:srgbClr val="FFFFFF"/>
                </a:solidFill>
                <a:latin typeface="Courier New"/>
                <a:ea typeface="Courier New"/>
                <a:cs typeface="Courier New"/>
              </a:defRPr>
            </a:lvl6pPr>
            <a:lvl7pPr>
              <a:defRPr sz="1875" b="0">
                <a:solidFill>
                  <a:srgbClr val="FFFFFF"/>
                </a:solidFill>
                <a:latin typeface="Courier New"/>
                <a:ea typeface="Courier New"/>
                <a:cs typeface="Courier New"/>
              </a:defRPr>
            </a:lvl7pPr>
            <a:lvl8pPr>
              <a:defRPr sz="1875" b="0">
                <a:solidFill>
                  <a:srgbClr val="FFFFFF"/>
                </a:solidFill>
                <a:latin typeface="Courier New"/>
                <a:ea typeface="Courier New"/>
                <a:cs typeface="Courier New"/>
              </a:defRPr>
            </a:lvl8pPr>
            <a:lvl9pPr>
              <a:defRPr sz="1875" b="0">
                <a:solidFill>
                  <a:srgbClr val="FFFFFF"/>
                </a:solidFill>
                <a:latin typeface="Courier New"/>
                <a:ea typeface="Courier New"/>
                <a:cs typeface="Courier New"/>
              </a:defRPr>
            </a:lvl9pPr>
          </a:lstStyle>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class Educator(Person):</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def __init__(self, name, age, speciality):</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super().__init__(name, age)</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self.speciality = speciality</a:t>
            </a:r>
          </a:p>
          <a:p>
            <a:endParaRPr sz="1875" b="0">
              <a:solidFill>
                <a:srgbClr val="FFFFFF"/>
              </a:solidFill>
              <a:latin typeface="Courier New"/>
              <a:ea typeface="Courier New"/>
              <a:cs typeface="Courier New"/>
            </a:endParaRP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educator = Educator("Марія", 32, "Python")</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print(educator.age, educator.speciality)</a:t>
            </a:r>
          </a:p>
        </p:txBody>
      </p:sp>
      <p:sp>
        <p:nvSpPr>
          <p:cNvPr id="6" name="Rectangle 5">
            <a:extLst>
              <a:ext uri="{FF2B5EF4-FFF2-40B4-BE49-F238E27FC236}">
                <a16:creationId xmlns:a16="http://schemas.microsoft.com/office/drawing/2014/main" id="{0323D040-5A27-43FD-B0FC-C10632E11A51}"/>
              </a:ext>
            </a:extLst>
          </p:cNvPr>
          <p:cNvSpPr>
            <a:spLocks noGrp="1"/>
          </p:cNvSpPr>
          <p:nvPr/>
        </p:nvSpPr>
        <p:spPr>
          <a:xfrm>
            <a:off x="723900" y="4662488"/>
            <a:ext cx="10572750" cy="1814513"/>
          </a:xfrm>
          <a:prstGeom prst="rect">
            <a:avLst/>
          </a:prstGeom>
          <a:noFill/>
          <a:ln w="0">
            <a:noFill/>
          </a:ln>
        </p:spPr>
        <p:txBody>
          <a:bodyPr anchor="ctr"/>
          <a:lstStyle>
            <a:defPPr>
              <a:defRPr sz="1800" b="1">
                <a:solidFill>
                  <a:srgbClr val="1B6C57"/>
                </a:solidFill>
                <a:latin typeface="Onest"/>
                <a:ea typeface="Onest"/>
                <a:cs typeface="Onest"/>
              </a:defRPr>
            </a:defPPr>
            <a:lvl1pPr>
              <a:defRPr sz="1800" b="1">
                <a:solidFill>
                  <a:srgbClr val="1B6C57"/>
                </a:solidFill>
                <a:latin typeface="Onest"/>
                <a:ea typeface="Onest"/>
                <a:cs typeface="Onest"/>
              </a:defRPr>
            </a:lvl1pPr>
            <a:lvl2pPr>
              <a:defRPr sz="1800" b="1">
                <a:solidFill>
                  <a:srgbClr val="1B6C57"/>
                </a:solidFill>
                <a:latin typeface="Onest"/>
                <a:ea typeface="Onest"/>
                <a:cs typeface="Onest"/>
              </a:defRPr>
            </a:lvl2pPr>
            <a:lvl3pPr>
              <a:defRPr sz="1800" b="1">
                <a:solidFill>
                  <a:srgbClr val="1B6C57"/>
                </a:solidFill>
                <a:latin typeface="Onest"/>
                <a:ea typeface="Onest"/>
                <a:cs typeface="Onest"/>
              </a:defRPr>
            </a:lvl3pPr>
            <a:lvl4pPr>
              <a:defRPr sz="1800" b="1">
                <a:solidFill>
                  <a:srgbClr val="1B6C57"/>
                </a:solidFill>
                <a:latin typeface="Onest"/>
                <a:ea typeface="Onest"/>
                <a:cs typeface="Onest"/>
              </a:defRPr>
            </a:lvl4pPr>
            <a:lvl5pPr>
              <a:defRPr sz="1800" b="1">
                <a:solidFill>
                  <a:srgbClr val="1B6C57"/>
                </a:solidFill>
                <a:latin typeface="Onest"/>
                <a:ea typeface="Onest"/>
                <a:cs typeface="Onest"/>
              </a:defRPr>
            </a:lvl5pPr>
            <a:lvl6pPr>
              <a:defRPr sz="1800" b="1">
                <a:solidFill>
                  <a:srgbClr val="1B6C57"/>
                </a:solidFill>
                <a:latin typeface="Onest"/>
                <a:ea typeface="Onest"/>
                <a:cs typeface="Onest"/>
              </a:defRPr>
            </a:lvl6pPr>
            <a:lvl7pPr>
              <a:defRPr sz="1800" b="1">
                <a:solidFill>
                  <a:srgbClr val="1B6C57"/>
                </a:solidFill>
                <a:latin typeface="Onest"/>
                <a:ea typeface="Onest"/>
                <a:cs typeface="Onest"/>
              </a:defRPr>
            </a:lvl7pPr>
            <a:lvl8pPr>
              <a:defRPr sz="1800" b="1">
                <a:solidFill>
                  <a:srgbClr val="1B6C57"/>
                </a:solidFill>
                <a:latin typeface="Onest"/>
                <a:ea typeface="Onest"/>
                <a:cs typeface="Onest"/>
              </a:defRPr>
            </a:lvl8pPr>
            <a:lvl9pPr>
              <a:defRPr sz="1800" b="1">
                <a:solidFill>
                  <a:srgbClr val="1B6C57"/>
                </a:solidFill>
                <a:latin typeface="Onest"/>
                <a:ea typeface="Onest"/>
                <a:cs typeface="Onest"/>
              </a:defRPr>
            </a:lvl9pPr>
          </a:lstStyle>
          <a:p>
            <a:pPr>
              <a:defRPr sz="1800" b="1">
                <a:solidFill>
                  <a:srgbClr val="1B6C57"/>
                </a:solidFill>
                <a:latin typeface="Onest"/>
                <a:ea typeface="Onest"/>
                <a:cs typeface="Onest"/>
              </a:defRPr>
            </a:pPr>
            <a:r>
              <a:rPr sz="1800" b="1">
                <a:solidFill>
                  <a:srgbClr val="1B6C57"/>
                </a:solidFill>
                <a:latin typeface="Onest"/>
                <a:ea typeface="Onest"/>
                <a:cs typeface="Onest"/>
              </a:rPr>
              <a:t>Очікуємо: 32 Python.</a:t>
            </a:r>
          </a:p>
        </p:txBody>
      </p:sp>
    </p:spTree>
    <p:extLst>
      <p:ext uri="{BB962C8B-B14F-4D97-AF65-F5344CB8AC3E}">
        <p14:creationId xmlns:p14="http://schemas.microsoft.com/office/powerpoint/2010/main" val="15982237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60CA5D-8AA5-4D0C-A2F0-F32B4D84A73F}"/>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Перевизначення змінює поведінку</a:t>
            </a:r>
          </a:p>
        </p:txBody>
      </p:sp>
      <p:sp>
        <p:nvSpPr>
          <p:cNvPr id="3" name="Rectangle 2">
            <a:extLst>
              <a:ext uri="{FF2B5EF4-FFF2-40B4-BE49-F238E27FC236}">
                <a16:creationId xmlns:a16="http://schemas.microsoft.com/office/drawing/2014/main" id="{F6793F44-8BDA-49CF-9DC2-066A9E299B9B}"/>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566A78"/>
                </a:solidFill>
                <a:latin typeface="Onest"/>
                <a:ea typeface="Onest"/>
                <a:cs typeface="Onest"/>
              </a:defRPr>
            </a:defPPr>
            <a:lvl1pPr>
              <a:defRPr sz="1800" b="0">
                <a:solidFill>
                  <a:srgbClr val="566A78"/>
                </a:solidFill>
                <a:latin typeface="Onest"/>
                <a:ea typeface="Onest"/>
                <a:cs typeface="Onest"/>
              </a:defRPr>
            </a:lvl1pPr>
            <a:lvl2pPr>
              <a:defRPr sz="1800" b="0">
                <a:solidFill>
                  <a:srgbClr val="566A78"/>
                </a:solidFill>
                <a:latin typeface="Onest"/>
                <a:ea typeface="Onest"/>
                <a:cs typeface="Onest"/>
              </a:defRPr>
            </a:lvl2pPr>
            <a:lvl3pPr>
              <a:defRPr sz="1800" b="0">
                <a:solidFill>
                  <a:srgbClr val="566A78"/>
                </a:solidFill>
                <a:latin typeface="Onest"/>
                <a:ea typeface="Onest"/>
                <a:cs typeface="Onest"/>
              </a:defRPr>
            </a:lvl3pPr>
            <a:lvl4pPr>
              <a:defRPr sz="1800" b="0">
                <a:solidFill>
                  <a:srgbClr val="566A78"/>
                </a:solidFill>
                <a:latin typeface="Onest"/>
                <a:ea typeface="Onest"/>
                <a:cs typeface="Onest"/>
              </a:defRPr>
            </a:lvl4pPr>
            <a:lvl5pPr>
              <a:defRPr sz="1800" b="0">
                <a:solidFill>
                  <a:srgbClr val="566A78"/>
                </a:solidFill>
                <a:latin typeface="Onest"/>
                <a:ea typeface="Onest"/>
                <a:cs typeface="Onest"/>
              </a:defRPr>
            </a:lvl5pPr>
            <a:lvl6pPr>
              <a:defRPr sz="1800" b="0">
                <a:solidFill>
                  <a:srgbClr val="566A78"/>
                </a:solidFill>
                <a:latin typeface="Onest"/>
                <a:ea typeface="Onest"/>
                <a:cs typeface="Onest"/>
              </a:defRPr>
            </a:lvl6pPr>
            <a:lvl7pPr>
              <a:defRPr sz="1800" b="0">
                <a:solidFill>
                  <a:srgbClr val="566A78"/>
                </a:solidFill>
                <a:latin typeface="Onest"/>
                <a:ea typeface="Onest"/>
                <a:cs typeface="Onest"/>
              </a:defRPr>
            </a:lvl7pPr>
            <a:lvl8pPr>
              <a:defRPr sz="1800" b="0">
                <a:solidFill>
                  <a:srgbClr val="566A78"/>
                </a:solidFill>
                <a:latin typeface="Onest"/>
                <a:ea typeface="Onest"/>
                <a:cs typeface="Onest"/>
              </a:defRPr>
            </a:lvl8pPr>
            <a:lvl9pPr>
              <a:defRPr sz="1800" b="0">
                <a:solidFill>
                  <a:srgbClr val="566A78"/>
                </a:solidFill>
                <a:latin typeface="Onest"/>
                <a:ea typeface="Onest"/>
                <a:cs typeface="Onest"/>
              </a:defRPr>
            </a:lvl9pPr>
          </a:lstStyle>
          <a:p>
            <a:pPr>
              <a:defRPr sz="1800" b="0">
                <a:solidFill>
                  <a:srgbClr val="566A78"/>
                </a:solidFill>
                <a:latin typeface="Onest"/>
                <a:ea typeface="Onest"/>
                <a:cs typeface="Onest"/>
              </a:defRPr>
            </a:pPr>
            <a:r>
              <a:rPr sz="1800" b="0">
                <a:solidFill>
                  <a:srgbClr val="566A78"/>
                </a:solidFill>
                <a:latin typeface="Onest"/>
                <a:ea typeface="Onest"/>
                <a:cs typeface="Onest"/>
              </a:rPr>
              <a:t>У Educator після __init__ додайте:</a:t>
            </a:r>
          </a:p>
        </p:txBody>
      </p:sp>
      <p:sp>
        <p:nvSpPr>
          <p:cNvPr id="4" name="Rectangle 3">
            <a:extLst>
              <a:ext uri="{FF2B5EF4-FFF2-40B4-BE49-F238E27FC236}">
                <a16:creationId xmlns:a16="http://schemas.microsoft.com/office/drawing/2014/main" id="{AE735CFA-3D36-4F64-A8BC-4604674E5812}"/>
              </a:ext>
            </a:extLst>
          </p:cNvPr>
          <p:cNvSpPr>
            <a:spLocks noGrp="1"/>
          </p:cNvSpPr>
          <p:nvPr/>
        </p:nvSpPr>
        <p:spPr>
          <a:xfrm>
            <a:off x="685800" y="2143125"/>
            <a:ext cx="10820400" cy="2376488"/>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D653521F-27B7-4CA2-B41A-9BDA17133591}"/>
              </a:ext>
            </a:extLst>
          </p:cNvPr>
          <p:cNvSpPr>
            <a:spLocks noGrp="1"/>
          </p:cNvSpPr>
          <p:nvPr/>
        </p:nvSpPr>
        <p:spPr>
          <a:xfrm>
            <a:off x="895350" y="2276475"/>
            <a:ext cx="10382250" cy="2138363"/>
          </a:xfrm>
          <a:prstGeom prst="rect">
            <a:avLst/>
          </a:prstGeom>
          <a:noFill/>
          <a:ln w="0">
            <a:noFill/>
          </a:ln>
        </p:spPr>
        <p:txBody>
          <a:bodyPr anchor="ctr"/>
          <a:lstStyle>
            <a:defPPr>
              <a:defRPr sz="1875" b="0">
                <a:solidFill>
                  <a:srgbClr val="FFFFFF"/>
                </a:solidFill>
                <a:latin typeface="Courier New"/>
                <a:ea typeface="Courier New"/>
                <a:cs typeface="Courier New"/>
              </a:defRPr>
            </a:defPPr>
            <a:lvl1pPr>
              <a:defRPr sz="1875" b="0">
                <a:solidFill>
                  <a:srgbClr val="FFFFFF"/>
                </a:solidFill>
                <a:latin typeface="Courier New"/>
                <a:ea typeface="Courier New"/>
                <a:cs typeface="Courier New"/>
              </a:defRPr>
            </a:lvl1pPr>
            <a:lvl2pPr>
              <a:defRPr sz="1875" b="0">
                <a:solidFill>
                  <a:srgbClr val="FFFFFF"/>
                </a:solidFill>
                <a:latin typeface="Courier New"/>
                <a:ea typeface="Courier New"/>
                <a:cs typeface="Courier New"/>
              </a:defRPr>
            </a:lvl2pPr>
            <a:lvl3pPr>
              <a:defRPr sz="1875" b="0">
                <a:solidFill>
                  <a:srgbClr val="FFFFFF"/>
                </a:solidFill>
                <a:latin typeface="Courier New"/>
                <a:ea typeface="Courier New"/>
                <a:cs typeface="Courier New"/>
              </a:defRPr>
            </a:lvl3pPr>
            <a:lvl4pPr>
              <a:defRPr sz="1875" b="0">
                <a:solidFill>
                  <a:srgbClr val="FFFFFF"/>
                </a:solidFill>
                <a:latin typeface="Courier New"/>
                <a:ea typeface="Courier New"/>
                <a:cs typeface="Courier New"/>
              </a:defRPr>
            </a:lvl4pPr>
            <a:lvl5pPr>
              <a:defRPr sz="1875" b="0">
                <a:solidFill>
                  <a:srgbClr val="FFFFFF"/>
                </a:solidFill>
                <a:latin typeface="Courier New"/>
                <a:ea typeface="Courier New"/>
                <a:cs typeface="Courier New"/>
              </a:defRPr>
            </a:lvl5pPr>
            <a:lvl6pPr>
              <a:defRPr sz="1875" b="0">
                <a:solidFill>
                  <a:srgbClr val="FFFFFF"/>
                </a:solidFill>
                <a:latin typeface="Courier New"/>
                <a:ea typeface="Courier New"/>
                <a:cs typeface="Courier New"/>
              </a:defRPr>
            </a:lvl6pPr>
            <a:lvl7pPr>
              <a:defRPr sz="1875" b="0">
                <a:solidFill>
                  <a:srgbClr val="FFFFFF"/>
                </a:solidFill>
                <a:latin typeface="Courier New"/>
                <a:ea typeface="Courier New"/>
                <a:cs typeface="Courier New"/>
              </a:defRPr>
            </a:lvl7pPr>
            <a:lvl8pPr>
              <a:defRPr sz="1875" b="0">
                <a:solidFill>
                  <a:srgbClr val="FFFFFF"/>
                </a:solidFill>
                <a:latin typeface="Courier New"/>
                <a:ea typeface="Courier New"/>
                <a:cs typeface="Courier New"/>
              </a:defRPr>
            </a:lvl8pPr>
            <a:lvl9pPr>
              <a:defRPr sz="1875" b="0">
                <a:solidFill>
                  <a:srgbClr val="FFFFFF"/>
                </a:solidFill>
                <a:latin typeface="Courier New"/>
                <a:ea typeface="Courier New"/>
                <a:cs typeface="Courier New"/>
              </a:defRPr>
            </a:lvl9pPr>
          </a:lstStyle>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def describe(self):</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return (</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f"{super().describe()}; "</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f"спеціальність: {self.speciality}"</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a:t>
            </a:r>
          </a:p>
          <a:p>
            <a:endParaRPr sz="1875" b="0">
              <a:solidFill>
                <a:srgbClr val="FFFFFF"/>
              </a:solidFill>
              <a:latin typeface="Courier New"/>
              <a:ea typeface="Courier New"/>
              <a:cs typeface="Courier New"/>
            </a:endParaRP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print(educator.describe())</a:t>
            </a:r>
          </a:p>
        </p:txBody>
      </p:sp>
      <p:sp>
        <p:nvSpPr>
          <p:cNvPr id="6" name="Rectangle 5">
            <a:extLst>
              <a:ext uri="{FF2B5EF4-FFF2-40B4-BE49-F238E27FC236}">
                <a16:creationId xmlns:a16="http://schemas.microsoft.com/office/drawing/2014/main" id="{4B88638B-40B7-4BB7-8EC1-552941B0AF77}"/>
              </a:ext>
            </a:extLst>
          </p:cNvPr>
          <p:cNvSpPr>
            <a:spLocks noGrp="1"/>
          </p:cNvSpPr>
          <p:nvPr/>
        </p:nvSpPr>
        <p:spPr>
          <a:xfrm>
            <a:off x="723900" y="4662488"/>
            <a:ext cx="10572750" cy="1814513"/>
          </a:xfrm>
          <a:prstGeom prst="rect">
            <a:avLst/>
          </a:prstGeom>
          <a:noFill/>
          <a:ln w="0">
            <a:noFill/>
          </a:ln>
        </p:spPr>
        <p:txBody>
          <a:bodyPr anchor="ctr"/>
          <a:lstStyle>
            <a:defPPr>
              <a:defRPr sz="1800" b="1">
                <a:solidFill>
                  <a:srgbClr val="1B6C57"/>
                </a:solidFill>
                <a:latin typeface="Onest"/>
                <a:ea typeface="Onest"/>
                <a:cs typeface="Onest"/>
              </a:defRPr>
            </a:defPPr>
            <a:lvl1pPr>
              <a:defRPr sz="1800" b="1">
                <a:solidFill>
                  <a:srgbClr val="1B6C57"/>
                </a:solidFill>
                <a:latin typeface="Onest"/>
                <a:ea typeface="Onest"/>
                <a:cs typeface="Onest"/>
              </a:defRPr>
            </a:lvl1pPr>
            <a:lvl2pPr>
              <a:defRPr sz="1800" b="1">
                <a:solidFill>
                  <a:srgbClr val="1B6C57"/>
                </a:solidFill>
                <a:latin typeface="Onest"/>
                <a:ea typeface="Onest"/>
                <a:cs typeface="Onest"/>
              </a:defRPr>
            </a:lvl2pPr>
            <a:lvl3pPr>
              <a:defRPr sz="1800" b="1">
                <a:solidFill>
                  <a:srgbClr val="1B6C57"/>
                </a:solidFill>
                <a:latin typeface="Onest"/>
                <a:ea typeface="Onest"/>
                <a:cs typeface="Onest"/>
              </a:defRPr>
            </a:lvl3pPr>
            <a:lvl4pPr>
              <a:defRPr sz="1800" b="1">
                <a:solidFill>
                  <a:srgbClr val="1B6C57"/>
                </a:solidFill>
                <a:latin typeface="Onest"/>
                <a:ea typeface="Onest"/>
                <a:cs typeface="Onest"/>
              </a:defRPr>
            </a:lvl4pPr>
            <a:lvl5pPr>
              <a:defRPr sz="1800" b="1">
                <a:solidFill>
                  <a:srgbClr val="1B6C57"/>
                </a:solidFill>
                <a:latin typeface="Onest"/>
                <a:ea typeface="Onest"/>
                <a:cs typeface="Onest"/>
              </a:defRPr>
            </a:lvl5pPr>
            <a:lvl6pPr>
              <a:defRPr sz="1800" b="1">
                <a:solidFill>
                  <a:srgbClr val="1B6C57"/>
                </a:solidFill>
                <a:latin typeface="Onest"/>
                <a:ea typeface="Onest"/>
                <a:cs typeface="Onest"/>
              </a:defRPr>
            </a:lvl6pPr>
            <a:lvl7pPr>
              <a:defRPr sz="1800" b="1">
                <a:solidFill>
                  <a:srgbClr val="1B6C57"/>
                </a:solidFill>
                <a:latin typeface="Onest"/>
                <a:ea typeface="Onest"/>
                <a:cs typeface="Onest"/>
              </a:defRPr>
            </a:lvl7pPr>
            <a:lvl8pPr>
              <a:defRPr sz="1800" b="1">
                <a:solidFill>
                  <a:srgbClr val="1B6C57"/>
                </a:solidFill>
                <a:latin typeface="Onest"/>
                <a:ea typeface="Onest"/>
                <a:cs typeface="Onest"/>
              </a:defRPr>
            </a:lvl8pPr>
            <a:lvl9pPr>
              <a:defRPr sz="1800" b="1">
                <a:solidFill>
                  <a:srgbClr val="1B6C57"/>
                </a:solidFill>
                <a:latin typeface="Onest"/>
                <a:ea typeface="Onest"/>
                <a:cs typeface="Onest"/>
              </a:defRPr>
            </a:lvl9pPr>
          </a:lstStyle>
          <a:p>
            <a:pPr>
              <a:defRPr sz="1800" b="1">
                <a:solidFill>
                  <a:srgbClr val="1B6C57"/>
                </a:solidFill>
                <a:latin typeface="Onest"/>
                <a:ea typeface="Onest"/>
                <a:cs typeface="Onest"/>
              </a:defRPr>
            </a:pPr>
            <a:r>
              <a:rPr sz="1800" b="1">
                <a:solidFill>
                  <a:srgbClr val="1B6C57"/>
                </a:solidFill>
                <a:latin typeface="Onest"/>
                <a:ea typeface="Onest"/>
                <a:cs typeface="Onest"/>
              </a:rPr>
              <a:t>Очікуємо: Марія: 32 років; спеціальність: Python.</a:t>
            </a:r>
          </a:p>
        </p:txBody>
      </p:sp>
    </p:spTree>
    <p:extLst>
      <p:ext uri="{BB962C8B-B14F-4D97-AF65-F5344CB8AC3E}">
        <p14:creationId xmlns:p14="http://schemas.microsoft.com/office/powerpoint/2010/main" val="1851955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AF0FA">
            <a:alpha val="39804"/>
          </a:srgb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57223F2-A8DA-4F90-8ACA-D48896385C97}"/>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Самостійно: використайте інші дані</a:t>
            </a:r>
          </a:p>
        </p:txBody>
      </p:sp>
      <p:sp>
        <p:nvSpPr>
          <p:cNvPr id="3" name="Rectangle 2">
            <a:extLst>
              <a:ext uri="{FF2B5EF4-FFF2-40B4-BE49-F238E27FC236}">
                <a16:creationId xmlns:a16="http://schemas.microsoft.com/office/drawing/2014/main" id="{78D41B86-5948-45BC-A17B-CE7D9E9E1A75}"/>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566A78"/>
                </a:solidFill>
                <a:latin typeface="Onest"/>
                <a:ea typeface="Onest"/>
                <a:cs typeface="Onest"/>
              </a:defRPr>
            </a:defPPr>
            <a:lvl1pPr>
              <a:defRPr sz="1800" b="0">
                <a:solidFill>
                  <a:srgbClr val="566A78"/>
                </a:solidFill>
                <a:latin typeface="Onest"/>
                <a:ea typeface="Onest"/>
                <a:cs typeface="Onest"/>
              </a:defRPr>
            </a:lvl1pPr>
            <a:lvl2pPr>
              <a:defRPr sz="1800" b="0">
                <a:solidFill>
                  <a:srgbClr val="566A78"/>
                </a:solidFill>
                <a:latin typeface="Onest"/>
                <a:ea typeface="Onest"/>
                <a:cs typeface="Onest"/>
              </a:defRPr>
            </a:lvl2pPr>
            <a:lvl3pPr>
              <a:defRPr sz="1800" b="0">
                <a:solidFill>
                  <a:srgbClr val="566A78"/>
                </a:solidFill>
                <a:latin typeface="Onest"/>
                <a:ea typeface="Onest"/>
                <a:cs typeface="Onest"/>
              </a:defRPr>
            </a:lvl3pPr>
            <a:lvl4pPr>
              <a:defRPr sz="1800" b="0">
                <a:solidFill>
                  <a:srgbClr val="566A78"/>
                </a:solidFill>
                <a:latin typeface="Onest"/>
                <a:ea typeface="Onest"/>
                <a:cs typeface="Onest"/>
              </a:defRPr>
            </a:lvl4pPr>
            <a:lvl5pPr>
              <a:defRPr sz="1800" b="0">
                <a:solidFill>
                  <a:srgbClr val="566A78"/>
                </a:solidFill>
                <a:latin typeface="Onest"/>
                <a:ea typeface="Onest"/>
                <a:cs typeface="Onest"/>
              </a:defRPr>
            </a:lvl5pPr>
            <a:lvl6pPr>
              <a:defRPr sz="1800" b="0">
                <a:solidFill>
                  <a:srgbClr val="566A78"/>
                </a:solidFill>
                <a:latin typeface="Onest"/>
                <a:ea typeface="Onest"/>
                <a:cs typeface="Onest"/>
              </a:defRPr>
            </a:lvl6pPr>
            <a:lvl7pPr>
              <a:defRPr sz="1800" b="0">
                <a:solidFill>
                  <a:srgbClr val="566A78"/>
                </a:solidFill>
                <a:latin typeface="Onest"/>
                <a:ea typeface="Onest"/>
                <a:cs typeface="Onest"/>
              </a:defRPr>
            </a:lvl7pPr>
            <a:lvl8pPr>
              <a:defRPr sz="1800" b="0">
                <a:solidFill>
                  <a:srgbClr val="566A78"/>
                </a:solidFill>
                <a:latin typeface="Onest"/>
                <a:ea typeface="Onest"/>
                <a:cs typeface="Onest"/>
              </a:defRPr>
            </a:lvl8pPr>
            <a:lvl9pPr>
              <a:defRPr sz="1800" b="0">
                <a:solidFill>
                  <a:srgbClr val="566A78"/>
                </a:solidFill>
                <a:latin typeface="Onest"/>
                <a:ea typeface="Onest"/>
                <a:cs typeface="Onest"/>
              </a:defRPr>
            </a:lvl9pPr>
          </a:lstStyle>
          <a:p>
            <a:pPr>
              <a:defRPr sz="1800" b="0">
                <a:solidFill>
                  <a:srgbClr val="566A78"/>
                </a:solidFill>
                <a:latin typeface="Onest"/>
                <a:ea typeface="Onest"/>
                <a:cs typeface="Onest"/>
              </a:defRPr>
            </a:pPr>
            <a:r>
              <a:rPr sz="1800" b="0">
                <a:solidFill>
                  <a:srgbClr val="566A78"/>
                </a:solidFill>
                <a:latin typeface="Onest"/>
                <a:ea typeface="Onest"/>
                <a:cs typeface="Onest"/>
              </a:rPr>
              <a:t>У demo_learning.py після Educator додайте Course:</a:t>
            </a:r>
          </a:p>
        </p:txBody>
      </p:sp>
      <p:sp>
        <p:nvSpPr>
          <p:cNvPr id="4" name="Rectangle 3">
            <a:extLst>
              <a:ext uri="{FF2B5EF4-FFF2-40B4-BE49-F238E27FC236}">
                <a16:creationId xmlns:a16="http://schemas.microsoft.com/office/drawing/2014/main" id="{EBE45F31-CD0D-4CFF-BFC9-1F391A582D36}"/>
              </a:ext>
            </a:extLst>
          </p:cNvPr>
          <p:cNvSpPr>
            <a:spLocks noGrp="1"/>
          </p:cNvSpPr>
          <p:nvPr/>
        </p:nvSpPr>
        <p:spPr>
          <a:xfrm>
            <a:off x="685800" y="2143125"/>
            <a:ext cx="10820400" cy="2574036"/>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3AAB1F31-FFC5-432B-B49C-042E4866CBEA}"/>
              </a:ext>
            </a:extLst>
          </p:cNvPr>
          <p:cNvSpPr>
            <a:spLocks noGrp="1"/>
          </p:cNvSpPr>
          <p:nvPr/>
        </p:nvSpPr>
        <p:spPr>
          <a:xfrm>
            <a:off x="895350" y="2276475"/>
            <a:ext cx="10382250" cy="2335911"/>
          </a:xfrm>
          <a:prstGeom prst="rect">
            <a:avLst/>
          </a:prstGeom>
          <a:noFill/>
          <a:ln w="0">
            <a:noFill/>
          </a:ln>
        </p:spPr>
        <p:txBody>
          <a:bodyPr anchor="ctr"/>
          <a:lstStyle>
            <a:defPPr>
              <a:defRPr sz="1800" b="0">
                <a:solidFill>
                  <a:srgbClr val="FFFFFF"/>
                </a:solidFill>
                <a:latin typeface="Courier New"/>
                <a:ea typeface="Courier New"/>
                <a:cs typeface="Courier New"/>
              </a:defRPr>
            </a:defPPr>
            <a:lvl1pPr>
              <a:defRPr sz="1800" b="0">
                <a:solidFill>
                  <a:srgbClr val="FFFFFF"/>
                </a:solidFill>
                <a:latin typeface="Courier New"/>
                <a:ea typeface="Courier New"/>
                <a:cs typeface="Courier New"/>
              </a:defRPr>
            </a:lvl1pPr>
            <a:lvl2pPr>
              <a:defRPr sz="1800" b="0">
                <a:solidFill>
                  <a:srgbClr val="FFFFFF"/>
                </a:solidFill>
                <a:latin typeface="Courier New"/>
                <a:ea typeface="Courier New"/>
                <a:cs typeface="Courier New"/>
              </a:defRPr>
            </a:lvl2pPr>
            <a:lvl3pPr>
              <a:defRPr sz="1800" b="0">
                <a:solidFill>
                  <a:srgbClr val="FFFFFF"/>
                </a:solidFill>
                <a:latin typeface="Courier New"/>
                <a:ea typeface="Courier New"/>
                <a:cs typeface="Courier New"/>
              </a:defRPr>
            </a:lvl3pPr>
            <a:lvl4pPr>
              <a:defRPr sz="1800" b="0">
                <a:solidFill>
                  <a:srgbClr val="FFFFFF"/>
                </a:solidFill>
                <a:latin typeface="Courier New"/>
                <a:ea typeface="Courier New"/>
                <a:cs typeface="Courier New"/>
              </a:defRPr>
            </a:lvl4pPr>
            <a:lvl5pPr>
              <a:defRPr sz="1800" b="0">
                <a:solidFill>
                  <a:srgbClr val="FFFFFF"/>
                </a:solidFill>
                <a:latin typeface="Courier New"/>
                <a:ea typeface="Courier New"/>
                <a:cs typeface="Courier New"/>
              </a:defRPr>
            </a:lvl5pPr>
            <a:lvl6pPr>
              <a:defRPr sz="1800" b="0">
                <a:solidFill>
                  <a:srgbClr val="FFFFFF"/>
                </a:solidFill>
                <a:latin typeface="Courier New"/>
                <a:ea typeface="Courier New"/>
                <a:cs typeface="Courier New"/>
              </a:defRPr>
            </a:lvl6pPr>
            <a:lvl7pPr>
              <a:defRPr sz="1800" b="0">
                <a:solidFill>
                  <a:srgbClr val="FFFFFF"/>
                </a:solidFill>
                <a:latin typeface="Courier New"/>
                <a:ea typeface="Courier New"/>
                <a:cs typeface="Courier New"/>
              </a:defRPr>
            </a:lvl7pPr>
            <a:lvl8pPr>
              <a:defRPr sz="1800" b="0">
                <a:solidFill>
                  <a:srgbClr val="FFFFFF"/>
                </a:solidFill>
                <a:latin typeface="Courier New"/>
                <a:ea typeface="Courier New"/>
                <a:cs typeface="Courier New"/>
              </a:defRPr>
            </a:lvl8pPr>
            <a:lvl9pPr>
              <a:defRPr sz="1800" b="0">
                <a:solidFill>
                  <a:srgbClr val="FFFFFF"/>
                </a:solidFill>
                <a:latin typeface="Courier New"/>
                <a:ea typeface="Courier New"/>
                <a:cs typeface="Courier New"/>
              </a:defRPr>
            </a:lvl9pPr>
          </a:lstStyle>
          <a:p>
            <a:pPr>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class Course:</a:t>
            </a:r>
          </a:p>
          <a:p>
            <a:pPr>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def __init__(self, title, educator):</a:t>
            </a:r>
          </a:p>
          <a:p>
            <a:pPr>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self.title = title</a:t>
            </a:r>
          </a:p>
          <a:p>
            <a:pPr>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self.educator = educator</a:t>
            </a:r>
          </a:p>
          <a:p>
            <a:pPr>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self.students = []</a:t>
            </a:r>
          </a:p>
          <a:p>
            <a:endParaRPr sz="1800" b="0">
              <a:solidFill>
                <a:srgbClr val="FFFFFF"/>
              </a:solidFill>
              <a:latin typeface="Courier New"/>
              <a:ea typeface="Courier New"/>
              <a:cs typeface="Courier New"/>
            </a:endParaRPr>
          </a:p>
          <a:p>
            <a:pPr>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def enroll(self, student):</a:t>
            </a:r>
          </a:p>
          <a:p>
            <a:pPr>
              <a:defRPr sz="1800" b="0">
                <a:solidFill>
                  <a:srgbClr val="FFFFFF"/>
                </a:solidFill>
                <a:latin typeface="Courier New"/>
                <a:ea typeface="Courier New"/>
                <a:cs typeface="Courier New"/>
              </a:defRPr>
            </a:pPr>
            <a:r>
              <a:rPr sz="1800" b="0">
                <a:solidFill>
                  <a:srgbClr val="FFFFFF"/>
                </a:solidFill>
                <a:latin typeface="Courier New"/>
                <a:ea typeface="Courier New"/>
                <a:cs typeface="Courier New"/>
              </a:rPr>
              <a:t>        self.students.append(student)</a:t>
            </a:r>
          </a:p>
        </p:txBody>
      </p:sp>
      <p:sp>
        <p:nvSpPr>
          <p:cNvPr id="6" name="Rectangle 5">
            <a:extLst>
              <a:ext uri="{FF2B5EF4-FFF2-40B4-BE49-F238E27FC236}">
                <a16:creationId xmlns:a16="http://schemas.microsoft.com/office/drawing/2014/main" id="{F1FD247E-06C5-4C1E-94F8-E0AB2721861E}"/>
              </a:ext>
            </a:extLst>
          </p:cNvPr>
          <p:cNvSpPr>
            <a:spLocks noGrp="1"/>
          </p:cNvSpPr>
          <p:nvPr/>
        </p:nvSpPr>
        <p:spPr>
          <a:xfrm>
            <a:off x="723900" y="4860036"/>
            <a:ext cx="10572750" cy="1616964"/>
          </a:xfrm>
          <a:prstGeom prst="rect">
            <a:avLst/>
          </a:prstGeom>
          <a:noFill/>
          <a:ln w="0">
            <a:noFill/>
          </a:ln>
        </p:spPr>
        <p:txBody>
          <a:bodyPr anchor="ctr"/>
          <a:lstStyle>
            <a:defPPr>
              <a:defRPr sz="1800" b="1">
                <a:solidFill>
                  <a:srgbClr val="1B6C57"/>
                </a:solidFill>
                <a:latin typeface="Onest"/>
                <a:ea typeface="Onest"/>
                <a:cs typeface="Onest"/>
              </a:defRPr>
            </a:defPPr>
            <a:lvl1pPr>
              <a:defRPr sz="1800" b="1">
                <a:solidFill>
                  <a:srgbClr val="1B6C57"/>
                </a:solidFill>
                <a:latin typeface="Onest"/>
                <a:ea typeface="Onest"/>
                <a:cs typeface="Onest"/>
              </a:defRPr>
            </a:lvl1pPr>
            <a:lvl2pPr>
              <a:defRPr sz="1800" b="1">
                <a:solidFill>
                  <a:srgbClr val="1B6C57"/>
                </a:solidFill>
                <a:latin typeface="Onest"/>
                <a:ea typeface="Onest"/>
                <a:cs typeface="Onest"/>
              </a:defRPr>
            </a:lvl2pPr>
            <a:lvl3pPr>
              <a:defRPr sz="1800" b="1">
                <a:solidFill>
                  <a:srgbClr val="1B6C57"/>
                </a:solidFill>
                <a:latin typeface="Onest"/>
                <a:ea typeface="Onest"/>
                <a:cs typeface="Onest"/>
              </a:defRPr>
            </a:lvl3pPr>
            <a:lvl4pPr>
              <a:defRPr sz="1800" b="1">
                <a:solidFill>
                  <a:srgbClr val="1B6C57"/>
                </a:solidFill>
                <a:latin typeface="Onest"/>
                <a:ea typeface="Onest"/>
                <a:cs typeface="Onest"/>
              </a:defRPr>
            </a:lvl4pPr>
            <a:lvl5pPr>
              <a:defRPr sz="1800" b="1">
                <a:solidFill>
                  <a:srgbClr val="1B6C57"/>
                </a:solidFill>
                <a:latin typeface="Onest"/>
                <a:ea typeface="Onest"/>
                <a:cs typeface="Onest"/>
              </a:defRPr>
            </a:lvl5pPr>
            <a:lvl6pPr>
              <a:defRPr sz="1800" b="1">
                <a:solidFill>
                  <a:srgbClr val="1B6C57"/>
                </a:solidFill>
                <a:latin typeface="Onest"/>
                <a:ea typeface="Onest"/>
                <a:cs typeface="Onest"/>
              </a:defRPr>
            </a:lvl6pPr>
            <a:lvl7pPr>
              <a:defRPr sz="1800" b="1">
                <a:solidFill>
                  <a:srgbClr val="1B6C57"/>
                </a:solidFill>
                <a:latin typeface="Onest"/>
                <a:ea typeface="Onest"/>
                <a:cs typeface="Onest"/>
              </a:defRPr>
            </a:lvl7pPr>
            <a:lvl8pPr>
              <a:defRPr sz="1800" b="1">
                <a:solidFill>
                  <a:srgbClr val="1B6C57"/>
                </a:solidFill>
                <a:latin typeface="Onest"/>
                <a:ea typeface="Onest"/>
                <a:cs typeface="Onest"/>
              </a:defRPr>
            </a:lvl8pPr>
            <a:lvl9pPr>
              <a:defRPr sz="1800" b="1">
                <a:solidFill>
                  <a:srgbClr val="1B6C57"/>
                </a:solidFill>
                <a:latin typeface="Onest"/>
                <a:ea typeface="Onest"/>
                <a:cs typeface="Onest"/>
              </a:defRPr>
            </a:lvl9pPr>
          </a:lstStyle>
          <a:p>
            <a:pPr>
              <a:defRPr sz="1800" b="1">
                <a:solidFill>
                  <a:srgbClr val="1B6C57"/>
                </a:solidFill>
                <a:latin typeface="Onest"/>
                <a:ea typeface="Onest"/>
                <a:cs typeface="Onest"/>
              </a:defRPr>
            </a:pPr>
            <a:r>
              <a:rPr sz="1800" b="1">
                <a:solidFill>
                  <a:srgbClr val="1B6C57"/>
                </a:solidFill>
                <a:latin typeface="Onest"/>
                <a:ea typeface="Onest"/>
                <a:cs typeface="Onest"/>
              </a:rPr>
              <a:t>Самостійно створіть курс "Python", призначте educator і запишіть одного Student.</a:t>
            </a:r>
          </a:p>
        </p:txBody>
      </p:sp>
    </p:spTree>
    <p:extLst>
      <p:ext uri="{BB962C8B-B14F-4D97-AF65-F5344CB8AC3E}">
        <p14:creationId xmlns:p14="http://schemas.microsoft.com/office/powerpoint/2010/main" val="1767503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7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3F01212-67EC-43AD-8BCE-805833BDF675}"/>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Пригадаємо модель перед практикою</a:t>
            </a:r>
          </a:p>
        </p:txBody>
      </p:sp>
      <p:sp>
        <p:nvSpPr>
          <p:cNvPr id="3" name="Rectangle 2">
            <a:extLst>
              <a:ext uri="{FF2B5EF4-FFF2-40B4-BE49-F238E27FC236}">
                <a16:creationId xmlns:a16="http://schemas.microsoft.com/office/drawing/2014/main" id="{3C8B3779-EC6E-46DB-B032-4927D64074F3}"/>
              </a:ext>
            </a:extLst>
          </p:cNvPr>
          <p:cNvSpPr>
            <a:spLocks noGrp="1"/>
          </p:cNvSpPr>
          <p:nvPr/>
        </p:nvSpPr>
        <p:spPr>
          <a:xfrm>
            <a:off x="704850" y="1524000"/>
            <a:ext cx="10477500" cy="800100"/>
          </a:xfrm>
          <a:prstGeom prst="rect">
            <a:avLst/>
          </a:prstGeom>
          <a:noFill/>
          <a:ln w="0">
            <a:noFill/>
          </a:ln>
        </p:spPr>
        <p:txBody>
          <a:bodyPr anchor="ctr"/>
          <a:lstStyle>
            <a:defPPr>
              <a:defRPr sz="2100" b="0">
                <a:solidFill>
                  <a:srgbClr val="192D3B"/>
                </a:solidFill>
                <a:latin typeface="Onest"/>
                <a:ea typeface="Onest"/>
                <a:cs typeface="Onest"/>
              </a:defRPr>
            </a:defPPr>
            <a:lvl1pPr>
              <a:defRPr sz="2100" b="0">
                <a:solidFill>
                  <a:srgbClr val="192D3B"/>
                </a:solidFill>
                <a:latin typeface="Onest"/>
                <a:ea typeface="Onest"/>
                <a:cs typeface="Onest"/>
              </a:defRPr>
            </a:lvl1pPr>
            <a:lvl2pPr>
              <a:defRPr sz="2100" b="0">
                <a:solidFill>
                  <a:srgbClr val="192D3B"/>
                </a:solidFill>
                <a:latin typeface="Onest"/>
                <a:ea typeface="Onest"/>
                <a:cs typeface="Onest"/>
              </a:defRPr>
            </a:lvl2pPr>
            <a:lvl3pPr>
              <a:defRPr sz="2100" b="0">
                <a:solidFill>
                  <a:srgbClr val="192D3B"/>
                </a:solidFill>
                <a:latin typeface="Onest"/>
                <a:ea typeface="Onest"/>
                <a:cs typeface="Onest"/>
              </a:defRPr>
            </a:lvl3pPr>
            <a:lvl4pPr>
              <a:defRPr sz="2100" b="0">
                <a:solidFill>
                  <a:srgbClr val="192D3B"/>
                </a:solidFill>
                <a:latin typeface="Onest"/>
                <a:ea typeface="Onest"/>
                <a:cs typeface="Onest"/>
              </a:defRPr>
            </a:lvl4pPr>
            <a:lvl5pPr>
              <a:defRPr sz="2100" b="0">
                <a:solidFill>
                  <a:srgbClr val="192D3B"/>
                </a:solidFill>
                <a:latin typeface="Onest"/>
                <a:ea typeface="Onest"/>
                <a:cs typeface="Onest"/>
              </a:defRPr>
            </a:lvl5pPr>
            <a:lvl6pPr>
              <a:defRPr sz="2100" b="0">
                <a:solidFill>
                  <a:srgbClr val="192D3B"/>
                </a:solidFill>
                <a:latin typeface="Onest"/>
                <a:ea typeface="Onest"/>
                <a:cs typeface="Onest"/>
              </a:defRPr>
            </a:lvl6pPr>
            <a:lvl7pPr>
              <a:defRPr sz="2100" b="0">
                <a:solidFill>
                  <a:srgbClr val="192D3B"/>
                </a:solidFill>
                <a:latin typeface="Onest"/>
                <a:ea typeface="Onest"/>
                <a:cs typeface="Onest"/>
              </a:defRPr>
            </a:lvl7pPr>
            <a:lvl8pPr>
              <a:defRPr sz="2100" b="0">
                <a:solidFill>
                  <a:srgbClr val="192D3B"/>
                </a:solidFill>
                <a:latin typeface="Onest"/>
                <a:ea typeface="Onest"/>
                <a:cs typeface="Onest"/>
              </a:defRPr>
            </a:lvl8pPr>
            <a:lvl9pPr>
              <a:defRPr sz="2100" b="0">
                <a:solidFill>
                  <a:srgbClr val="192D3B"/>
                </a:solidFill>
                <a:latin typeface="Onest"/>
                <a:ea typeface="Onest"/>
                <a:cs typeface="Onest"/>
              </a:defRPr>
            </a:lvl9pPr>
          </a:lstStyle>
          <a:p>
            <a:pPr>
              <a:defRPr sz="2100" b="0">
                <a:solidFill>
                  <a:srgbClr val="192D3B"/>
                </a:solidFill>
                <a:latin typeface="Onest"/>
                <a:ea typeface="Onest"/>
                <a:cs typeface="Onest"/>
              </a:defRPr>
            </a:pPr>
            <a:r>
              <a:rPr sz="2100" b="0">
                <a:solidFill>
                  <a:srgbClr val="192D3B"/>
                </a:solidFill>
                <a:latin typeface="Onest"/>
                <a:ea typeface="Onest"/>
                <a:cs typeface="Onest"/>
              </a:rPr>
              <a:t>Відкрийте опис або картки "Застосунок для студентського життя".</a:t>
            </a:r>
          </a:p>
        </p:txBody>
      </p:sp>
      <p:sp>
        <p:nvSpPr>
          <p:cNvPr id="4" name="Rectangle 3">
            <a:extLst>
              <a:ext uri="{FF2B5EF4-FFF2-40B4-BE49-F238E27FC236}">
                <a16:creationId xmlns:a16="http://schemas.microsoft.com/office/drawing/2014/main" id="{3D211A77-6A95-4E72-8719-34C0C0B5785D}"/>
              </a:ext>
            </a:extLst>
          </p:cNvPr>
          <p:cNvSpPr>
            <a:spLocks noGrp="1"/>
          </p:cNvSpPr>
          <p:nvPr/>
        </p:nvSpPr>
        <p:spPr>
          <a:xfrm>
            <a:off x="733525" y="2677629"/>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01</a:t>
            </a:r>
          </a:p>
        </p:txBody>
      </p:sp>
      <p:sp>
        <p:nvSpPr>
          <p:cNvPr id="5" name="Rectangle 4">
            <a:extLst>
              <a:ext uri="{FF2B5EF4-FFF2-40B4-BE49-F238E27FC236}">
                <a16:creationId xmlns:a16="http://schemas.microsoft.com/office/drawing/2014/main" id="{C9EC5AC8-7AD2-4EAE-9763-3F221EBD166B}"/>
              </a:ext>
            </a:extLst>
          </p:cNvPr>
          <p:cNvSpPr>
            <a:spLocks noGrp="1"/>
          </p:cNvSpPr>
          <p:nvPr/>
        </p:nvSpPr>
        <p:spPr>
          <a:xfrm>
            <a:off x="1562100" y="255290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dirty="0">
                <a:solidFill>
                  <a:srgbClr val="192D3B"/>
                </a:solidFill>
                <a:latin typeface="Onest"/>
                <a:ea typeface="Onest"/>
                <a:cs typeface="Onest"/>
              </a:rPr>
              <a:t>Які </a:t>
            </a:r>
            <a:r>
              <a:rPr sz="2025" b="0" dirty="0" err="1">
                <a:solidFill>
                  <a:srgbClr val="192D3B"/>
                </a:solidFill>
                <a:latin typeface="Onest"/>
                <a:ea typeface="Onest"/>
                <a:cs typeface="Onest"/>
              </a:rPr>
              <a:t>сутності</a:t>
            </a:r>
            <a:r>
              <a:rPr sz="2025" b="0" dirty="0">
                <a:solidFill>
                  <a:srgbClr val="192D3B"/>
                </a:solidFill>
                <a:latin typeface="Onest"/>
                <a:ea typeface="Onest"/>
                <a:cs typeface="Onest"/>
              </a:rPr>
              <a:t> ви </a:t>
            </a:r>
            <a:r>
              <a:rPr sz="2025" b="0" dirty="0" err="1">
                <a:solidFill>
                  <a:srgbClr val="192D3B"/>
                </a:solidFill>
                <a:latin typeface="Onest"/>
                <a:ea typeface="Onest"/>
                <a:cs typeface="Onest"/>
              </a:rPr>
              <a:t>обрали</a:t>
            </a:r>
            <a:r>
              <a:rPr sz="2025" b="0" dirty="0">
                <a:solidFill>
                  <a:srgbClr val="192D3B"/>
                </a:solidFill>
                <a:latin typeface="Onest"/>
                <a:ea typeface="Onest"/>
                <a:cs typeface="Onest"/>
              </a:rPr>
              <a:t> та </a:t>
            </a:r>
            <a:r>
              <a:rPr sz="2025" b="0" dirty="0" err="1">
                <a:solidFill>
                  <a:srgbClr val="192D3B"/>
                </a:solidFill>
                <a:latin typeface="Onest"/>
                <a:ea typeface="Onest"/>
                <a:cs typeface="Onest"/>
              </a:rPr>
              <a:t>як</a:t>
            </a:r>
            <a:r>
              <a:rPr lang="ru-RU" sz="2025" b="0" dirty="0">
                <a:solidFill>
                  <a:srgbClr val="192D3B"/>
                </a:solidFill>
                <a:latin typeface="Onest"/>
                <a:ea typeface="Onest"/>
                <a:cs typeface="Onest"/>
              </a:rPr>
              <a:t>і</a:t>
            </a:r>
            <a:r>
              <a:rPr sz="2025" b="0" dirty="0">
                <a:solidFill>
                  <a:srgbClr val="192D3B"/>
                </a:solidFill>
                <a:latin typeface="Onest"/>
                <a:ea typeface="Onest"/>
                <a:cs typeface="Onest"/>
              </a:rPr>
              <a:t> </a:t>
            </a:r>
            <a:r>
              <a:rPr sz="2025" b="0" dirty="0" err="1">
                <a:solidFill>
                  <a:srgbClr val="192D3B"/>
                </a:solidFill>
                <a:latin typeface="Onest"/>
                <a:ea typeface="Onest"/>
                <a:cs typeface="Onest"/>
              </a:rPr>
              <a:t>ді</a:t>
            </a:r>
            <a:r>
              <a:rPr lang="uk-UA" sz="2025" b="0" dirty="0" err="1">
                <a:solidFill>
                  <a:srgbClr val="192D3B"/>
                </a:solidFill>
                <a:latin typeface="Onest"/>
                <a:ea typeface="Onest"/>
                <a:cs typeface="Onest"/>
              </a:rPr>
              <a:t>ї</a:t>
            </a:r>
            <a:r>
              <a:rPr sz="2025" b="0" dirty="0">
                <a:solidFill>
                  <a:srgbClr val="192D3B"/>
                </a:solidFill>
                <a:latin typeface="Onest"/>
                <a:ea typeface="Onest"/>
                <a:cs typeface="Onest"/>
              </a:rPr>
              <a:t> </a:t>
            </a:r>
            <a:r>
              <a:rPr sz="2025" b="0" dirty="0" err="1">
                <a:solidFill>
                  <a:srgbClr val="192D3B"/>
                </a:solidFill>
                <a:latin typeface="Onest"/>
                <a:ea typeface="Onest"/>
                <a:cs typeface="Onest"/>
              </a:rPr>
              <a:t>їх</a:t>
            </a:r>
            <a:r>
              <a:rPr sz="2025" b="0" dirty="0">
                <a:solidFill>
                  <a:srgbClr val="192D3B"/>
                </a:solidFill>
                <a:latin typeface="Onest"/>
                <a:ea typeface="Onest"/>
                <a:cs typeface="Onest"/>
              </a:rPr>
              <a:t> </a:t>
            </a:r>
            <a:r>
              <a:rPr sz="2025" b="0" dirty="0" err="1">
                <a:solidFill>
                  <a:srgbClr val="192D3B"/>
                </a:solidFill>
                <a:latin typeface="Onest"/>
                <a:ea typeface="Onest"/>
                <a:cs typeface="Onest"/>
              </a:rPr>
              <a:t>пов'язу</a:t>
            </a:r>
            <a:r>
              <a:rPr lang="uk-UA" sz="2025" b="0" dirty="0" err="1">
                <a:solidFill>
                  <a:srgbClr val="192D3B"/>
                </a:solidFill>
                <a:latin typeface="Onest"/>
                <a:ea typeface="Onest"/>
                <a:cs typeface="Onest"/>
              </a:rPr>
              <a:t>ють</a:t>
            </a:r>
            <a:r>
              <a:rPr sz="2025" b="0" dirty="0">
                <a:solidFill>
                  <a:srgbClr val="192D3B"/>
                </a:solidFill>
                <a:latin typeface="Onest"/>
                <a:ea typeface="Onest"/>
                <a:cs typeface="Onest"/>
              </a:rPr>
              <a:t>?</a:t>
            </a:r>
          </a:p>
        </p:txBody>
      </p:sp>
      <p:sp>
        <p:nvSpPr>
          <p:cNvPr id="6" name="Rectangle 5">
            <a:extLst>
              <a:ext uri="{FF2B5EF4-FFF2-40B4-BE49-F238E27FC236}">
                <a16:creationId xmlns:a16="http://schemas.microsoft.com/office/drawing/2014/main" id="{8BC87D02-19E1-4C6E-8DDC-142D2F3D4067}"/>
              </a:ext>
            </a:extLst>
          </p:cNvPr>
          <p:cNvSpPr>
            <a:spLocks noGrp="1"/>
          </p:cNvSpPr>
          <p:nvPr/>
        </p:nvSpPr>
        <p:spPr>
          <a:xfrm>
            <a:off x="733525" y="3401529"/>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02</a:t>
            </a:r>
          </a:p>
        </p:txBody>
      </p:sp>
      <p:sp>
        <p:nvSpPr>
          <p:cNvPr id="7" name="Rectangle 6">
            <a:extLst>
              <a:ext uri="{FF2B5EF4-FFF2-40B4-BE49-F238E27FC236}">
                <a16:creationId xmlns:a16="http://schemas.microsoft.com/office/drawing/2014/main" id="{F49C9491-E7C3-445E-8BAE-4FFB2C475407}"/>
              </a:ext>
            </a:extLst>
          </p:cNvPr>
          <p:cNvSpPr>
            <a:spLocks noGrp="1"/>
          </p:cNvSpPr>
          <p:nvPr/>
        </p:nvSpPr>
        <p:spPr>
          <a:xfrm>
            <a:off x="1562100" y="327680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Яка сутність має два осмислені різновиди?</a:t>
            </a:r>
          </a:p>
        </p:txBody>
      </p:sp>
      <p:sp>
        <p:nvSpPr>
          <p:cNvPr id="8" name="Rectangle 7">
            <a:extLst>
              <a:ext uri="{FF2B5EF4-FFF2-40B4-BE49-F238E27FC236}">
                <a16:creationId xmlns:a16="http://schemas.microsoft.com/office/drawing/2014/main" id="{09051741-D185-469E-8DE8-B77BAE7399DC}"/>
              </a:ext>
            </a:extLst>
          </p:cNvPr>
          <p:cNvSpPr>
            <a:spLocks noGrp="1"/>
          </p:cNvSpPr>
          <p:nvPr/>
        </p:nvSpPr>
        <p:spPr>
          <a:xfrm>
            <a:off x="733525" y="4125429"/>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03</a:t>
            </a:r>
          </a:p>
        </p:txBody>
      </p:sp>
      <p:sp>
        <p:nvSpPr>
          <p:cNvPr id="9" name="Rectangle 8">
            <a:extLst>
              <a:ext uri="{FF2B5EF4-FFF2-40B4-BE49-F238E27FC236}">
                <a16:creationId xmlns:a16="http://schemas.microsoft.com/office/drawing/2014/main" id="{9D161F3C-4688-4C72-93ED-1A01CFEB95F4}"/>
              </a:ext>
            </a:extLst>
          </p:cNvPr>
          <p:cNvSpPr>
            <a:spLocks noGrp="1"/>
          </p:cNvSpPr>
          <p:nvPr/>
        </p:nvSpPr>
        <p:spPr>
          <a:xfrm>
            <a:off x="1562100" y="400070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Який результат очікуємо від першого запуску?</a:t>
            </a:r>
          </a:p>
        </p:txBody>
      </p:sp>
      <p:sp>
        <p:nvSpPr>
          <p:cNvPr id="10" name="Rectangle 9">
            <a:extLst>
              <a:ext uri="{FF2B5EF4-FFF2-40B4-BE49-F238E27FC236}">
                <a16:creationId xmlns:a16="http://schemas.microsoft.com/office/drawing/2014/main" id="{9C5092BF-D27E-4CCE-A9BB-B3A812BF90EA}"/>
              </a:ext>
            </a:extLst>
          </p:cNvPr>
          <p:cNvSpPr>
            <a:spLocks noGrp="1"/>
          </p:cNvSpPr>
          <p:nvPr/>
        </p:nvSpPr>
        <p:spPr>
          <a:xfrm>
            <a:off x="723900" y="5810250"/>
            <a:ext cx="10572750" cy="609600"/>
          </a:xfrm>
          <a:prstGeom prst="rect">
            <a:avLst/>
          </a:prstGeom>
          <a:noFill/>
          <a:ln w="0">
            <a:noFill/>
          </a:ln>
        </p:spPr>
        <p:txBody>
          <a:bodyPr anchor="ctr"/>
          <a:lstStyle>
            <a:defPPr>
              <a:defRPr sz="1725" b="1">
                <a:solidFill>
                  <a:srgbClr val="1B6C57"/>
                </a:solidFill>
                <a:latin typeface="Onest"/>
                <a:ea typeface="Onest"/>
                <a:cs typeface="Onest"/>
              </a:defRPr>
            </a:defPPr>
            <a:lvl1pPr>
              <a:defRPr sz="1725" b="1">
                <a:solidFill>
                  <a:srgbClr val="1B6C57"/>
                </a:solidFill>
                <a:latin typeface="Onest"/>
                <a:ea typeface="Onest"/>
                <a:cs typeface="Onest"/>
              </a:defRPr>
            </a:lvl1pPr>
            <a:lvl2pPr>
              <a:defRPr sz="1725" b="1">
                <a:solidFill>
                  <a:srgbClr val="1B6C57"/>
                </a:solidFill>
                <a:latin typeface="Onest"/>
                <a:ea typeface="Onest"/>
                <a:cs typeface="Onest"/>
              </a:defRPr>
            </a:lvl2pPr>
            <a:lvl3pPr>
              <a:defRPr sz="1725" b="1">
                <a:solidFill>
                  <a:srgbClr val="1B6C57"/>
                </a:solidFill>
                <a:latin typeface="Onest"/>
                <a:ea typeface="Onest"/>
                <a:cs typeface="Onest"/>
              </a:defRPr>
            </a:lvl3pPr>
            <a:lvl4pPr>
              <a:defRPr sz="1725" b="1">
                <a:solidFill>
                  <a:srgbClr val="1B6C57"/>
                </a:solidFill>
                <a:latin typeface="Onest"/>
                <a:ea typeface="Onest"/>
                <a:cs typeface="Onest"/>
              </a:defRPr>
            </a:lvl4pPr>
            <a:lvl5pPr>
              <a:defRPr sz="1725" b="1">
                <a:solidFill>
                  <a:srgbClr val="1B6C57"/>
                </a:solidFill>
                <a:latin typeface="Onest"/>
                <a:ea typeface="Onest"/>
                <a:cs typeface="Onest"/>
              </a:defRPr>
            </a:lvl5pPr>
            <a:lvl6pPr>
              <a:defRPr sz="1725" b="1">
                <a:solidFill>
                  <a:srgbClr val="1B6C57"/>
                </a:solidFill>
                <a:latin typeface="Onest"/>
                <a:ea typeface="Onest"/>
                <a:cs typeface="Onest"/>
              </a:defRPr>
            </a:lvl6pPr>
            <a:lvl7pPr>
              <a:defRPr sz="1725" b="1">
                <a:solidFill>
                  <a:srgbClr val="1B6C57"/>
                </a:solidFill>
                <a:latin typeface="Onest"/>
                <a:ea typeface="Onest"/>
                <a:cs typeface="Onest"/>
              </a:defRPr>
            </a:lvl7pPr>
            <a:lvl8pPr>
              <a:defRPr sz="1725" b="1">
                <a:solidFill>
                  <a:srgbClr val="1B6C57"/>
                </a:solidFill>
                <a:latin typeface="Onest"/>
                <a:ea typeface="Onest"/>
                <a:cs typeface="Onest"/>
              </a:defRPr>
            </a:lvl8pPr>
            <a:lvl9pPr>
              <a:defRPr sz="1725" b="1">
                <a:solidFill>
                  <a:srgbClr val="1B6C57"/>
                </a:solidFill>
                <a:latin typeface="Onest"/>
                <a:ea typeface="Onest"/>
                <a:cs typeface="Onest"/>
              </a:defRPr>
            </a:lvl9pPr>
          </a:lstStyle>
          <a:p>
            <a:pPr>
              <a:defRPr sz="1725" b="1">
                <a:solidFill>
                  <a:srgbClr val="1B6C57"/>
                </a:solidFill>
                <a:latin typeface="Onest"/>
                <a:ea typeface="Onest"/>
                <a:cs typeface="Onest"/>
              </a:defRPr>
            </a:pPr>
            <a:r>
              <a:rPr sz="1725" b="1" dirty="0" err="1">
                <a:solidFill>
                  <a:srgbClr val="1B6C57"/>
                </a:solidFill>
                <a:latin typeface="Onest"/>
                <a:ea typeface="Onest"/>
                <a:cs typeface="Onest"/>
              </a:rPr>
              <a:t>Підготуйте</a:t>
            </a:r>
            <a:r>
              <a:rPr sz="1725" b="1" dirty="0">
                <a:solidFill>
                  <a:srgbClr val="1B6C57"/>
                </a:solidFill>
                <a:latin typeface="Onest"/>
                <a:ea typeface="Onest"/>
                <a:cs typeface="Onest"/>
              </a:rPr>
              <a:t> </a:t>
            </a:r>
            <a:r>
              <a:rPr sz="1725" b="1" dirty="0" err="1">
                <a:solidFill>
                  <a:srgbClr val="1B6C57"/>
                </a:solidFill>
                <a:latin typeface="Onest"/>
                <a:ea typeface="Onest"/>
                <a:cs typeface="Onest"/>
              </a:rPr>
              <a:t>project_model.py</a:t>
            </a:r>
            <a:r>
              <a:rPr sz="1725" b="1" dirty="0">
                <a:solidFill>
                  <a:srgbClr val="1B6C57"/>
                </a:solidFill>
                <a:latin typeface="Onest"/>
                <a:ea typeface="Onest"/>
                <a:cs typeface="Onest"/>
              </a:rPr>
              <a:t>. Валідацію </a:t>
            </a:r>
            <a:r>
              <a:rPr sz="1725" b="1" dirty="0" err="1">
                <a:solidFill>
                  <a:srgbClr val="1B6C57"/>
                </a:solidFill>
                <a:latin typeface="Onest"/>
                <a:ea typeface="Onest"/>
                <a:cs typeface="Onest"/>
              </a:rPr>
              <a:t>додамо</a:t>
            </a:r>
            <a:r>
              <a:rPr sz="1725" b="1" dirty="0">
                <a:solidFill>
                  <a:srgbClr val="1B6C57"/>
                </a:solidFill>
                <a:latin typeface="Onest"/>
                <a:ea typeface="Onest"/>
                <a:cs typeface="Onest"/>
              </a:rPr>
              <a:t> </a:t>
            </a:r>
            <a:r>
              <a:rPr lang="uk-UA" sz="1725" b="1" dirty="0">
                <a:solidFill>
                  <a:srgbClr val="1B6C57"/>
                </a:solidFill>
                <a:latin typeface="Onest"/>
                <a:ea typeface="Onest"/>
                <a:cs typeface="Onest"/>
              </a:rPr>
              <a:t>пізніше</a:t>
            </a:r>
            <a:r>
              <a:rPr sz="1725" b="1" dirty="0">
                <a:solidFill>
                  <a:srgbClr val="1B6C57"/>
                </a:solidFill>
                <a:latin typeface="Onest"/>
                <a:ea typeface="Onest"/>
                <a:cs typeface="Onest"/>
              </a:rPr>
              <a:t>.</a:t>
            </a:r>
          </a:p>
        </p:txBody>
      </p:sp>
      <p:pic>
        <p:nvPicPr>
          <p:cNvPr id="11" name="Graphic 10">
            <a:extLst>
              <a:ext uri="{FF2B5EF4-FFF2-40B4-BE49-F238E27FC236}">
                <a16:creationId xmlns:a16="http://schemas.microsoft.com/office/drawing/2014/main" id="{F34F257B-9B90-4897-8E42-8E4F0F4891FE}"/>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934700" y="666650"/>
            <a:ext cx="495300" cy="495300"/>
          </a:xfrm>
          <a:prstGeom prst="rect">
            <a:avLst/>
          </a:prstGeom>
        </p:spPr>
      </p:pic>
    </p:spTree>
    <p:extLst>
      <p:ext uri="{BB962C8B-B14F-4D97-AF65-F5344CB8AC3E}">
        <p14:creationId xmlns:p14="http://schemas.microsoft.com/office/powerpoint/2010/main" val="6784776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AF0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FA62CF-56E5-4E16-8B7F-CA35DAAEC371}"/>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Самостійно: перша робоча версія</a:t>
            </a:r>
          </a:p>
        </p:txBody>
      </p:sp>
      <p:sp>
        <p:nvSpPr>
          <p:cNvPr id="3" name="Rectangle 2">
            <a:extLst>
              <a:ext uri="{FF2B5EF4-FFF2-40B4-BE49-F238E27FC236}">
                <a16:creationId xmlns:a16="http://schemas.microsoft.com/office/drawing/2014/main" id="{A9E769F3-BACD-472A-BAFB-5C352F1CF391}"/>
              </a:ext>
            </a:extLst>
          </p:cNvPr>
          <p:cNvSpPr>
            <a:spLocks noGrp="1"/>
          </p:cNvSpPr>
          <p:nvPr/>
        </p:nvSpPr>
        <p:spPr>
          <a:xfrm>
            <a:off x="704850" y="1524000"/>
            <a:ext cx="10477500" cy="800100"/>
          </a:xfrm>
          <a:prstGeom prst="rect">
            <a:avLst/>
          </a:prstGeom>
          <a:noFill/>
          <a:ln w="0">
            <a:noFill/>
          </a:ln>
        </p:spPr>
        <p:txBody>
          <a:bodyPr anchor="ctr"/>
          <a:lstStyle>
            <a:defPPr>
              <a:defRPr sz="2100" b="0">
                <a:solidFill>
                  <a:srgbClr val="192D3B"/>
                </a:solidFill>
                <a:latin typeface="Onest"/>
                <a:ea typeface="Onest"/>
                <a:cs typeface="Onest"/>
              </a:defRPr>
            </a:defPPr>
            <a:lvl1pPr>
              <a:defRPr sz="2100" b="0">
                <a:solidFill>
                  <a:srgbClr val="192D3B"/>
                </a:solidFill>
                <a:latin typeface="Onest"/>
                <a:ea typeface="Onest"/>
                <a:cs typeface="Onest"/>
              </a:defRPr>
            </a:lvl1pPr>
            <a:lvl2pPr>
              <a:defRPr sz="2100" b="0">
                <a:solidFill>
                  <a:srgbClr val="192D3B"/>
                </a:solidFill>
                <a:latin typeface="Onest"/>
                <a:ea typeface="Onest"/>
                <a:cs typeface="Onest"/>
              </a:defRPr>
            </a:lvl2pPr>
            <a:lvl3pPr>
              <a:defRPr sz="2100" b="0">
                <a:solidFill>
                  <a:srgbClr val="192D3B"/>
                </a:solidFill>
                <a:latin typeface="Onest"/>
                <a:ea typeface="Onest"/>
                <a:cs typeface="Onest"/>
              </a:defRPr>
            </a:lvl3pPr>
            <a:lvl4pPr>
              <a:defRPr sz="2100" b="0">
                <a:solidFill>
                  <a:srgbClr val="192D3B"/>
                </a:solidFill>
                <a:latin typeface="Onest"/>
                <a:ea typeface="Onest"/>
                <a:cs typeface="Onest"/>
              </a:defRPr>
            </a:lvl4pPr>
            <a:lvl5pPr>
              <a:defRPr sz="2100" b="0">
                <a:solidFill>
                  <a:srgbClr val="192D3B"/>
                </a:solidFill>
                <a:latin typeface="Onest"/>
                <a:ea typeface="Onest"/>
                <a:cs typeface="Onest"/>
              </a:defRPr>
            </a:lvl5pPr>
            <a:lvl6pPr>
              <a:defRPr sz="2100" b="0">
                <a:solidFill>
                  <a:srgbClr val="192D3B"/>
                </a:solidFill>
                <a:latin typeface="Onest"/>
                <a:ea typeface="Onest"/>
                <a:cs typeface="Onest"/>
              </a:defRPr>
            </a:lvl6pPr>
            <a:lvl7pPr>
              <a:defRPr sz="2100" b="0">
                <a:solidFill>
                  <a:srgbClr val="192D3B"/>
                </a:solidFill>
                <a:latin typeface="Onest"/>
                <a:ea typeface="Onest"/>
                <a:cs typeface="Onest"/>
              </a:defRPr>
            </a:lvl7pPr>
            <a:lvl8pPr>
              <a:defRPr sz="2100" b="0">
                <a:solidFill>
                  <a:srgbClr val="192D3B"/>
                </a:solidFill>
                <a:latin typeface="Onest"/>
                <a:ea typeface="Onest"/>
                <a:cs typeface="Onest"/>
              </a:defRPr>
            </a:lvl8pPr>
            <a:lvl9pPr>
              <a:defRPr sz="2100" b="0">
                <a:solidFill>
                  <a:srgbClr val="192D3B"/>
                </a:solidFill>
                <a:latin typeface="Onest"/>
                <a:ea typeface="Onest"/>
                <a:cs typeface="Onest"/>
              </a:defRPr>
            </a:lvl9pPr>
          </a:lstStyle>
          <a:p>
            <a:pPr>
              <a:defRPr sz="2100" b="0">
                <a:solidFill>
                  <a:srgbClr val="192D3B"/>
                </a:solidFill>
                <a:latin typeface="Onest"/>
                <a:ea typeface="Onest"/>
                <a:cs typeface="Onest"/>
              </a:defRPr>
            </a:pPr>
            <a:r>
              <a:rPr sz="2100" b="0">
                <a:solidFill>
                  <a:srgbClr val="192D3B"/>
                </a:solidFill>
                <a:latin typeface="Onest"/>
                <a:ea typeface="Onest"/>
                <a:cs typeface="Onest"/>
              </a:rPr>
              <a:t>У project_model.py реалізуйте базову сутність та пов'язаний клас.</a:t>
            </a:r>
          </a:p>
        </p:txBody>
      </p:sp>
      <p:sp>
        <p:nvSpPr>
          <p:cNvPr id="4" name="Rectangle 3">
            <a:extLst>
              <a:ext uri="{FF2B5EF4-FFF2-40B4-BE49-F238E27FC236}">
                <a16:creationId xmlns:a16="http://schemas.microsoft.com/office/drawing/2014/main" id="{5053269E-4490-4C08-9E70-2F577BA1FAF6}"/>
              </a:ext>
            </a:extLst>
          </p:cNvPr>
          <p:cNvSpPr>
            <a:spLocks noGrp="1"/>
          </p:cNvSpPr>
          <p:nvPr/>
        </p:nvSpPr>
        <p:spPr>
          <a:xfrm>
            <a:off x="858650" y="26487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01</a:t>
            </a:r>
          </a:p>
        </p:txBody>
      </p:sp>
      <p:sp>
        <p:nvSpPr>
          <p:cNvPr id="5" name="Rectangle 4">
            <a:extLst>
              <a:ext uri="{FF2B5EF4-FFF2-40B4-BE49-F238E27FC236}">
                <a16:creationId xmlns:a16="http://schemas.microsoft.com/office/drawing/2014/main" id="{C84FAC57-0592-4345-B3AC-BA4F88377CC4}"/>
              </a:ext>
            </a:extLst>
          </p:cNvPr>
          <p:cNvSpPr>
            <a:spLocks noGrp="1"/>
          </p:cNvSpPr>
          <p:nvPr/>
        </p:nvSpPr>
        <p:spPr>
          <a:xfrm>
            <a:off x="1475475" y="25336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dirty="0" err="1">
                <a:solidFill>
                  <a:srgbClr val="192D3B"/>
                </a:solidFill>
                <a:latin typeface="Onest"/>
                <a:ea typeface="Onest"/>
                <a:cs typeface="Onest"/>
              </a:rPr>
              <a:t>Додайте</a:t>
            </a:r>
            <a:r>
              <a:rPr sz="2025" b="0" dirty="0">
                <a:solidFill>
                  <a:srgbClr val="192D3B"/>
                </a:solidFill>
                <a:latin typeface="Onest"/>
                <a:ea typeface="Onest"/>
                <a:cs typeface="Onest"/>
              </a:rPr>
              <a:t> __init__, дані та </a:t>
            </a:r>
            <a:r>
              <a:rPr sz="2025" b="0" dirty="0" err="1">
                <a:solidFill>
                  <a:srgbClr val="192D3B"/>
                </a:solidFill>
                <a:latin typeface="Onest"/>
                <a:ea typeface="Onest"/>
                <a:cs typeface="Onest"/>
              </a:rPr>
              <a:t>одну</a:t>
            </a:r>
            <a:r>
              <a:rPr sz="2025" b="0" dirty="0">
                <a:solidFill>
                  <a:srgbClr val="192D3B"/>
                </a:solidFill>
                <a:latin typeface="Onest"/>
                <a:ea typeface="Onest"/>
                <a:cs typeface="Onest"/>
              </a:rPr>
              <a:t> </a:t>
            </a:r>
            <a:r>
              <a:rPr sz="2025" b="0" dirty="0" err="1">
                <a:solidFill>
                  <a:srgbClr val="192D3B"/>
                </a:solidFill>
                <a:latin typeface="Onest"/>
                <a:ea typeface="Onest"/>
                <a:cs typeface="Onest"/>
              </a:rPr>
              <a:t>дію</a:t>
            </a:r>
            <a:r>
              <a:rPr sz="2025" b="0" dirty="0">
                <a:solidFill>
                  <a:srgbClr val="192D3B"/>
                </a:solidFill>
                <a:latin typeface="Onest"/>
                <a:ea typeface="Onest"/>
                <a:cs typeface="Onest"/>
              </a:rPr>
              <a:t>.</a:t>
            </a:r>
          </a:p>
        </p:txBody>
      </p:sp>
      <p:sp>
        <p:nvSpPr>
          <p:cNvPr id="6" name="Rectangle 5">
            <a:extLst>
              <a:ext uri="{FF2B5EF4-FFF2-40B4-BE49-F238E27FC236}">
                <a16:creationId xmlns:a16="http://schemas.microsoft.com/office/drawing/2014/main" id="{9E4BD83E-B51F-4BEC-B86B-131B7966EE57}"/>
              </a:ext>
            </a:extLst>
          </p:cNvPr>
          <p:cNvSpPr>
            <a:spLocks noGrp="1"/>
          </p:cNvSpPr>
          <p:nvPr/>
        </p:nvSpPr>
        <p:spPr>
          <a:xfrm>
            <a:off x="858650" y="33726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02</a:t>
            </a:r>
          </a:p>
        </p:txBody>
      </p:sp>
      <p:sp>
        <p:nvSpPr>
          <p:cNvPr id="7" name="Rectangle 6">
            <a:extLst>
              <a:ext uri="{FF2B5EF4-FFF2-40B4-BE49-F238E27FC236}">
                <a16:creationId xmlns:a16="http://schemas.microsoft.com/office/drawing/2014/main" id="{FEAA52A5-FB34-456C-B7B7-FB1D4C227AA3}"/>
              </a:ext>
            </a:extLst>
          </p:cNvPr>
          <p:cNvSpPr>
            <a:spLocks noGrp="1"/>
          </p:cNvSpPr>
          <p:nvPr/>
        </p:nvSpPr>
        <p:spPr>
          <a:xfrm>
            <a:off x="1475475" y="32575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Створіть об'єкти й покажіть результат дії.</a:t>
            </a:r>
          </a:p>
        </p:txBody>
      </p:sp>
      <p:sp>
        <p:nvSpPr>
          <p:cNvPr id="8" name="Rectangle 7">
            <a:extLst>
              <a:ext uri="{FF2B5EF4-FFF2-40B4-BE49-F238E27FC236}">
                <a16:creationId xmlns:a16="http://schemas.microsoft.com/office/drawing/2014/main" id="{ED2E5477-B4DE-45CF-ACE9-913DAEAEDC0E}"/>
              </a:ext>
            </a:extLst>
          </p:cNvPr>
          <p:cNvSpPr>
            <a:spLocks noGrp="1"/>
          </p:cNvSpPr>
          <p:nvPr/>
        </p:nvSpPr>
        <p:spPr>
          <a:xfrm>
            <a:off x="858650" y="40965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03</a:t>
            </a:r>
          </a:p>
        </p:txBody>
      </p:sp>
      <p:sp>
        <p:nvSpPr>
          <p:cNvPr id="9" name="Rectangle 8">
            <a:extLst>
              <a:ext uri="{FF2B5EF4-FFF2-40B4-BE49-F238E27FC236}">
                <a16:creationId xmlns:a16="http://schemas.microsoft.com/office/drawing/2014/main" id="{C6E20DA6-C3F0-4E5D-84DD-4EA727BB91B7}"/>
              </a:ext>
            </a:extLst>
          </p:cNvPr>
          <p:cNvSpPr>
            <a:spLocks noGrp="1"/>
          </p:cNvSpPr>
          <p:nvPr/>
        </p:nvSpPr>
        <p:spPr>
          <a:xfrm>
            <a:off x="1475475" y="39814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Для списків використовуйте окремий список кожного об'єкта.</a:t>
            </a:r>
          </a:p>
        </p:txBody>
      </p:sp>
      <p:sp>
        <p:nvSpPr>
          <p:cNvPr id="10" name="Rectangle 9">
            <a:extLst>
              <a:ext uri="{FF2B5EF4-FFF2-40B4-BE49-F238E27FC236}">
                <a16:creationId xmlns:a16="http://schemas.microsoft.com/office/drawing/2014/main" id="{2A8A9D16-AF90-4B35-BB61-0931618D42F9}"/>
              </a:ext>
            </a:extLst>
          </p:cNvPr>
          <p:cNvSpPr>
            <a:spLocks noGrp="1"/>
          </p:cNvSpPr>
          <p:nvPr/>
        </p:nvSpPr>
        <p:spPr>
          <a:xfrm>
            <a:off x="829775" y="5636995"/>
            <a:ext cx="10572750" cy="609600"/>
          </a:xfrm>
          <a:prstGeom prst="rect">
            <a:avLst/>
          </a:prstGeom>
          <a:noFill/>
          <a:ln w="0">
            <a:noFill/>
          </a:ln>
        </p:spPr>
        <p:txBody>
          <a:bodyPr anchor="ctr"/>
          <a:lstStyle>
            <a:defPPr>
              <a:defRPr sz="1725" b="1">
                <a:solidFill>
                  <a:srgbClr val="1B6C57"/>
                </a:solidFill>
                <a:latin typeface="Onest"/>
                <a:ea typeface="Onest"/>
                <a:cs typeface="Onest"/>
              </a:defRPr>
            </a:defPPr>
            <a:lvl1pPr>
              <a:defRPr sz="1725" b="1">
                <a:solidFill>
                  <a:srgbClr val="1B6C57"/>
                </a:solidFill>
                <a:latin typeface="Onest"/>
                <a:ea typeface="Onest"/>
                <a:cs typeface="Onest"/>
              </a:defRPr>
            </a:lvl1pPr>
            <a:lvl2pPr>
              <a:defRPr sz="1725" b="1">
                <a:solidFill>
                  <a:srgbClr val="1B6C57"/>
                </a:solidFill>
                <a:latin typeface="Onest"/>
                <a:ea typeface="Onest"/>
                <a:cs typeface="Onest"/>
              </a:defRPr>
            </a:lvl2pPr>
            <a:lvl3pPr>
              <a:defRPr sz="1725" b="1">
                <a:solidFill>
                  <a:srgbClr val="1B6C57"/>
                </a:solidFill>
                <a:latin typeface="Onest"/>
                <a:ea typeface="Onest"/>
                <a:cs typeface="Onest"/>
              </a:defRPr>
            </a:lvl3pPr>
            <a:lvl4pPr>
              <a:defRPr sz="1725" b="1">
                <a:solidFill>
                  <a:srgbClr val="1B6C57"/>
                </a:solidFill>
                <a:latin typeface="Onest"/>
                <a:ea typeface="Onest"/>
                <a:cs typeface="Onest"/>
              </a:defRPr>
            </a:lvl4pPr>
            <a:lvl5pPr>
              <a:defRPr sz="1725" b="1">
                <a:solidFill>
                  <a:srgbClr val="1B6C57"/>
                </a:solidFill>
                <a:latin typeface="Onest"/>
                <a:ea typeface="Onest"/>
                <a:cs typeface="Onest"/>
              </a:defRPr>
            </a:lvl5pPr>
            <a:lvl6pPr>
              <a:defRPr sz="1725" b="1">
                <a:solidFill>
                  <a:srgbClr val="1B6C57"/>
                </a:solidFill>
                <a:latin typeface="Onest"/>
                <a:ea typeface="Onest"/>
                <a:cs typeface="Onest"/>
              </a:defRPr>
            </a:lvl6pPr>
            <a:lvl7pPr>
              <a:defRPr sz="1725" b="1">
                <a:solidFill>
                  <a:srgbClr val="1B6C57"/>
                </a:solidFill>
                <a:latin typeface="Onest"/>
                <a:ea typeface="Onest"/>
                <a:cs typeface="Onest"/>
              </a:defRPr>
            </a:lvl7pPr>
            <a:lvl8pPr>
              <a:defRPr sz="1725" b="1">
                <a:solidFill>
                  <a:srgbClr val="1B6C57"/>
                </a:solidFill>
                <a:latin typeface="Onest"/>
                <a:ea typeface="Onest"/>
                <a:cs typeface="Onest"/>
              </a:defRPr>
            </a:lvl8pPr>
            <a:lvl9pPr>
              <a:defRPr sz="1725" b="1">
                <a:solidFill>
                  <a:srgbClr val="1B6C57"/>
                </a:solidFill>
                <a:latin typeface="Onest"/>
                <a:ea typeface="Onest"/>
                <a:cs typeface="Onest"/>
              </a:defRPr>
            </a:lvl9pPr>
          </a:lstStyle>
          <a:p>
            <a:pPr>
              <a:defRPr sz="1725" b="1">
                <a:solidFill>
                  <a:srgbClr val="1B6C57"/>
                </a:solidFill>
                <a:latin typeface="Onest"/>
                <a:ea typeface="Onest"/>
                <a:cs typeface="Onest"/>
              </a:defRPr>
            </a:pPr>
            <a:r>
              <a:rPr sz="1725" b="1" dirty="0" err="1">
                <a:solidFill>
                  <a:srgbClr val="1B6C57"/>
                </a:solidFill>
                <a:latin typeface="Onest"/>
                <a:ea typeface="Onest"/>
                <a:cs typeface="Onest"/>
              </a:rPr>
              <a:t>Готово</a:t>
            </a:r>
            <a:r>
              <a:rPr sz="1725" b="1" dirty="0">
                <a:solidFill>
                  <a:srgbClr val="1B6C57"/>
                </a:solidFill>
                <a:latin typeface="Onest"/>
                <a:ea typeface="Onest"/>
                <a:cs typeface="Onest"/>
              </a:rPr>
              <a:t>: </a:t>
            </a:r>
            <a:r>
              <a:rPr sz="1725" b="1" dirty="0" err="1">
                <a:solidFill>
                  <a:srgbClr val="1B6C57"/>
                </a:solidFill>
                <a:latin typeface="Onest"/>
                <a:ea typeface="Onest"/>
                <a:cs typeface="Onest"/>
              </a:rPr>
              <a:t>ваш</a:t>
            </a:r>
            <a:r>
              <a:rPr sz="1725" b="1" dirty="0">
                <a:solidFill>
                  <a:srgbClr val="1B6C57"/>
                </a:solidFill>
                <a:latin typeface="Onest"/>
                <a:ea typeface="Onest"/>
                <a:cs typeface="Onest"/>
              </a:rPr>
              <a:t> </a:t>
            </a:r>
            <a:r>
              <a:rPr sz="1725" b="1" dirty="0" err="1">
                <a:solidFill>
                  <a:srgbClr val="1B6C57"/>
                </a:solidFill>
                <a:latin typeface="Onest"/>
                <a:ea typeface="Onest"/>
                <a:cs typeface="Onest"/>
              </a:rPr>
              <a:t>кейс</a:t>
            </a:r>
            <a:r>
              <a:rPr sz="1725" b="1" dirty="0">
                <a:solidFill>
                  <a:srgbClr val="1B6C57"/>
                </a:solidFill>
                <a:latin typeface="Onest"/>
                <a:ea typeface="Onest"/>
                <a:cs typeface="Onest"/>
              </a:rPr>
              <a:t> </a:t>
            </a:r>
            <a:r>
              <a:rPr sz="1725" b="1" dirty="0" err="1">
                <a:solidFill>
                  <a:srgbClr val="1B6C57"/>
                </a:solidFill>
                <a:latin typeface="Onest"/>
                <a:ea typeface="Onest"/>
                <a:cs typeface="Onest"/>
              </a:rPr>
              <a:t>запускається</a:t>
            </a:r>
            <a:r>
              <a:rPr sz="1725" b="1" dirty="0">
                <a:solidFill>
                  <a:srgbClr val="1B6C57"/>
                </a:solidFill>
                <a:latin typeface="Onest"/>
                <a:ea typeface="Onest"/>
                <a:cs typeface="Onest"/>
              </a:rPr>
              <a:t> </a:t>
            </a:r>
            <a:r>
              <a:rPr sz="1725" b="1" dirty="0" err="1">
                <a:solidFill>
                  <a:srgbClr val="1B6C57"/>
                </a:solidFill>
                <a:latin typeface="Onest"/>
                <a:ea typeface="Onest"/>
                <a:cs typeface="Onest"/>
              </a:rPr>
              <a:t>з</a:t>
            </a:r>
            <a:r>
              <a:rPr sz="1725" b="1" dirty="0">
                <a:solidFill>
                  <a:srgbClr val="1B6C57"/>
                </a:solidFill>
                <a:latin typeface="Onest"/>
                <a:ea typeface="Onest"/>
                <a:cs typeface="Onest"/>
              </a:rPr>
              <a:t> </a:t>
            </a:r>
            <a:r>
              <a:rPr sz="1725" b="1" dirty="0" err="1">
                <a:solidFill>
                  <a:srgbClr val="1B6C57"/>
                </a:solidFill>
                <a:latin typeface="Onest"/>
                <a:ea typeface="Onest"/>
                <a:cs typeface="Onest"/>
              </a:rPr>
              <a:t>нуля</a:t>
            </a:r>
            <a:r>
              <a:rPr sz="1725" b="1" dirty="0">
                <a:solidFill>
                  <a:srgbClr val="1B6C57"/>
                </a:solidFill>
                <a:latin typeface="Onest"/>
                <a:ea typeface="Onest"/>
                <a:cs typeface="Onest"/>
              </a:rPr>
              <a:t>.</a:t>
            </a:r>
          </a:p>
        </p:txBody>
      </p:sp>
      <p:pic>
        <p:nvPicPr>
          <p:cNvPr id="11" name="Graphic 10">
            <a:extLst>
              <a:ext uri="{FF2B5EF4-FFF2-40B4-BE49-F238E27FC236}">
                <a16:creationId xmlns:a16="http://schemas.microsoft.com/office/drawing/2014/main" id="{CBF9F028-1622-402C-BD5E-A72E3D0E0C0D}"/>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1010900" y="695325"/>
            <a:ext cx="495300" cy="495300"/>
          </a:xfrm>
          <a:prstGeom prst="rect">
            <a:avLst/>
          </a:prstGeom>
        </p:spPr>
      </p:pic>
    </p:spTree>
    <p:extLst>
      <p:ext uri="{BB962C8B-B14F-4D97-AF65-F5344CB8AC3E}">
        <p14:creationId xmlns:p14="http://schemas.microsoft.com/office/powerpoint/2010/main" val="19502744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AF0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B9DBF3-2F2D-4FD4-B1E9-3CCBCB32CA2D}"/>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Самостійно: додайте різновиди</a:t>
            </a:r>
          </a:p>
        </p:txBody>
      </p:sp>
      <p:sp>
        <p:nvSpPr>
          <p:cNvPr id="3" name="Rectangle 2">
            <a:extLst>
              <a:ext uri="{FF2B5EF4-FFF2-40B4-BE49-F238E27FC236}">
                <a16:creationId xmlns:a16="http://schemas.microsoft.com/office/drawing/2014/main" id="{92DD04A5-DA87-4342-B40C-68BD64DDD300}"/>
              </a:ext>
            </a:extLst>
          </p:cNvPr>
          <p:cNvSpPr>
            <a:spLocks noGrp="1"/>
          </p:cNvSpPr>
          <p:nvPr/>
        </p:nvSpPr>
        <p:spPr>
          <a:xfrm>
            <a:off x="704850" y="1524000"/>
            <a:ext cx="10477500" cy="800100"/>
          </a:xfrm>
          <a:prstGeom prst="rect">
            <a:avLst/>
          </a:prstGeom>
          <a:noFill/>
          <a:ln w="0">
            <a:noFill/>
          </a:ln>
        </p:spPr>
        <p:txBody>
          <a:bodyPr anchor="ctr"/>
          <a:lstStyle>
            <a:defPPr>
              <a:defRPr sz="2100" b="0">
                <a:solidFill>
                  <a:srgbClr val="192D3B"/>
                </a:solidFill>
                <a:latin typeface="Onest"/>
                <a:ea typeface="Onest"/>
                <a:cs typeface="Onest"/>
              </a:defRPr>
            </a:defPPr>
            <a:lvl1pPr>
              <a:defRPr sz="2100" b="0">
                <a:solidFill>
                  <a:srgbClr val="192D3B"/>
                </a:solidFill>
                <a:latin typeface="Onest"/>
                <a:ea typeface="Onest"/>
                <a:cs typeface="Onest"/>
              </a:defRPr>
            </a:lvl1pPr>
            <a:lvl2pPr>
              <a:defRPr sz="2100" b="0">
                <a:solidFill>
                  <a:srgbClr val="192D3B"/>
                </a:solidFill>
                <a:latin typeface="Onest"/>
                <a:ea typeface="Onest"/>
                <a:cs typeface="Onest"/>
              </a:defRPr>
            </a:lvl2pPr>
            <a:lvl3pPr>
              <a:defRPr sz="2100" b="0">
                <a:solidFill>
                  <a:srgbClr val="192D3B"/>
                </a:solidFill>
                <a:latin typeface="Onest"/>
                <a:ea typeface="Onest"/>
                <a:cs typeface="Onest"/>
              </a:defRPr>
            </a:lvl3pPr>
            <a:lvl4pPr>
              <a:defRPr sz="2100" b="0">
                <a:solidFill>
                  <a:srgbClr val="192D3B"/>
                </a:solidFill>
                <a:latin typeface="Onest"/>
                <a:ea typeface="Onest"/>
                <a:cs typeface="Onest"/>
              </a:defRPr>
            </a:lvl4pPr>
            <a:lvl5pPr>
              <a:defRPr sz="2100" b="0">
                <a:solidFill>
                  <a:srgbClr val="192D3B"/>
                </a:solidFill>
                <a:latin typeface="Onest"/>
                <a:ea typeface="Onest"/>
                <a:cs typeface="Onest"/>
              </a:defRPr>
            </a:lvl5pPr>
            <a:lvl6pPr>
              <a:defRPr sz="2100" b="0">
                <a:solidFill>
                  <a:srgbClr val="192D3B"/>
                </a:solidFill>
                <a:latin typeface="Onest"/>
                <a:ea typeface="Onest"/>
                <a:cs typeface="Onest"/>
              </a:defRPr>
            </a:lvl6pPr>
            <a:lvl7pPr>
              <a:defRPr sz="2100" b="0">
                <a:solidFill>
                  <a:srgbClr val="192D3B"/>
                </a:solidFill>
                <a:latin typeface="Onest"/>
                <a:ea typeface="Onest"/>
                <a:cs typeface="Onest"/>
              </a:defRPr>
            </a:lvl7pPr>
            <a:lvl8pPr>
              <a:defRPr sz="2100" b="0">
                <a:solidFill>
                  <a:srgbClr val="192D3B"/>
                </a:solidFill>
                <a:latin typeface="Onest"/>
                <a:ea typeface="Onest"/>
                <a:cs typeface="Onest"/>
              </a:defRPr>
            </a:lvl8pPr>
            <a:lvl9pPr>
              <a:defRPr sz="2100" b="0">
                <a:solidFill>
                  <a:srgbClr val="192D3B"/>
                </a:solidFill>
                <a:latin typeface="Onest"/>
                <a:ea typeface="Onest"/>
                <a:cs typeface="Onest"/>
              </a:defRPr>
            </a:lvl9pPr>
          </a:lstStyle>
          <a:p>
            <a:pPr>
              <a:defRPr sz="2100" b="0">
                <a:solidFill>
                  <a:srgbClr val="192D3B"/>
                </a:solidFill>
                <a:latin typeface="Onest"/>
                <a:ea typeface="Onest"/>
                <a:cs typeface="Onest"/>
              </a:defRPr>
            </a:pPr>
            <a:r>
              <a:rPr sz="2100" b="0">
                <a:solidFill>
                  <a:srgbClr val="192D3B"/>
                </a:solidFill>
                <a:latin typeface="Onest"/>
                <a:ea typeface="Onest"/>
                <a:cs typeface="Onest"/>
              </a:rPr>
              <a:t>У project_model.py після базового класу, перед запуском:</a:t>
            </a:r>
          </a:p>
        </p:txBody>
      </p:sp>
      <p:sp>
        <p:nvSpPr>
          <p:cNvPr id="4" name="Rectangle 3">
            <a:extLst>
              <a:ext uri="{FF2B5EF4-FFF2-40B4-BE49-F238E27FC236}">
                <a16:creationId xmlns:a16="http://schemas.microsoft.com/office/drawing/2014/main" id="{78C312D1-FBA6-41EA-902B-8BF978574EA9}"/>
              </a:ext>
            </a:extLst>
          </p:cNvPr>
          <p:cNvSpPr>
            <a:spLocks noGrp="1"/>
          </p:cNvSpPr>
          <p:nvPr/>
        </p:nvSpPr>
        <p:spPr>
          <a:xfrm>
            <a:off x="781650" y="26487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01</a:t>
            </a:r>
          </a:p>
        </p:txBody>
      </p:sp>
      <p:sp>
        <p:nvSpPr>
          <p:cNvPr id="5" name="Rectangle 4">
            <a:extLst>
              <a:ext uri="{FF2B5EF4-FFF2-40B4-BE49-F238E27FC236}">
                <a16:creationId xmlns:a16="http://schemas.microsoft.com/office/drawing/2014/main" id="{2A51137A-C644-47A3-86B0-3646111970A7}"/>
              </a:ext>
            </a:extLst>
          </p:cNvPr>
          <p:cNvSpPr>
            <a:spLocks noGrp="1"/>
          </p:cNvSpPr>
          <p:nvPr/>
        </p:nvSpPr>
        <p:spPr>
          <a:xfrm>
            <a:off x="1562100" y="25336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Додайте два осмислені дочірні класи.</a:t>
            </a:r>
          </a:p>
        </p:txBody>
      </p:sp>
      <p:sp>
        <p:nvSpPr>
          <p:cNvPr id="6" name="Rectangle 5">
            <a:extLst>
              <a:ext uri="{FF2B5EF4-FFF2-40B4-BE49-F238E27FC236}">
                <a16:creationId xmlns:a16="http://schemas.microsoft.com/office/drawing/2014/main" id="{9873B0AE-73D0-4A9D-8667-C4C13E5AAC66}"/>
              </a:ext>
            </a:extLst>
          </p:cNvPr>
          <p:cNvSpPr>
            <a:spLocks noGrp="1"/>
          </p:cNvSpPr>
          <p:nvPr/>
        </p:nvSpPr>
        <p:spPr>
          <a:xfrm>
            <a:off x="781650" y="33726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02</a:t>
            </a:r>
          </a:p>
        </p:txBody>
      </p:sp>
      <p:sp>
        <p:nvSpPr>
          <p:cNvPr id="7" name="Rectangle 6">
            <a:extLst>
              <a:ext uri="{FF2B5EF4-FFF2-40B4-BE49-F238E27FC236}">
                <a16:creationId xmlns:a16="http://schemas.microsoft.com/office/drawing/2014/main" id="{08BAAB31-F142-40D5-8707-9ED09302AC9B}"/>
              </a:ext>
            </a:extLst>
          </p:cNvPr>
          <p:cNvSpPr>
            <a:spLocks noGrp="1"/>
          </p:cNvSpPr>
          <p:nvPr/>
        </p:nvSpPr>
        <p:spPr>
          <a:xfrm>
            <a:off x="1562100" y="32575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В одному розширте __init__ через super().</a:t>
            </a:r>
          </a:p>
        </p:txBody>
      </p:sp>
      <p:sp>
        <p:nvSpPr>
          <p:cNvPr id="8" name="Rectangle 7">
            <a:extLst>
              <a:ext uri="{FF2B5EF4-FFF2-40B4-BE49-F238E27FC236}">
                <a16:creationId xmlns:a16="http://schemas.microsoft.com/office/drawing/2014/main" id="{B2DC5F62-1114-4FB8-BA6A-4FF17702D83F}"/>
              </a:ext>
            </a:extLst>
          </p:cNvPr>
          <p:cNvSpPr>
            <a:spLocks noGrp="1"/>
          </p:cNvSpPr>
          <p:nvPr/>
        </p:nvSpPr>
        <p:spPr>
          <a:xfrm>
            <a:off x="781650" y="40965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03</a:t>
            </a:r>
          </a:p>
        </p:txBody>
      </p:sp>
      <p:sp>
        <p:nvSpPr>
          <p:cNvPr id="9" name="Rectangle 8">
            <a:extLst>
              <a:ext uri="{FF2B5EF4-FFF2-40B4-BE49-F238E27FC236}">
                <a16:creationId xmlns:a16="http://schemas.microsoft.com/office/drawing/2014/main" id="{5459B958-DA91-48C4-A5C4-129829A81572}"/>
              </a:ext>
            </a:extLst>
          </p:cNvPr>
          <p:cNvSpPr>
            <a:spLocks noGrp="1"/>
          </p:cNvSpPr>
          <p:nvPr/>
        </p:nvSpPr>
        <p:spPr>
          <a:xfrm>
            <a:off x="1562100" y="39814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Перевизначте один метод.</a:t>
            </a:r>
          </a:p>
        </p:txBody>
      </p:sp>
      <p:sp>
        <p:nvSpPr>
          <p:cNvPr id="10" name="Rectangle 9">
            <a:extLst>
              <a:ext uri="{FF2B5EF4-FFF2-40B4-BE49-F238E27FC236}">
                <a16:creationId xmlns:a16="http://schemas.microsoft.com/office/drawing/2014/main" id="{1874107B-959C-4602-991F-026FBD5F219A}"/>
              </a:ext>
            </a:extLst>
          </p:cNvPr>
          <p:cNvSpPr>
            <a:spLocks noGrp="1"/>
          </p:cNvSpPr>
          <p:nvPr/>
        </p:nvSpPr>
        <p:spPr>
          <a:xfrm>
            <a:off x="781650" y="48204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04</a:t>
            </a:r>
          </a:p>
        </p:txBody>
      </p:sp>
      <p:sp>
        <p:nvSpPr>
          <p:cNvPr id="11" name="Rectangle 10">
            <a:extLst>
              <a:ext uri="{FF2B5EF4-FFF2-40B4-BE49-F238E27FC236}">
                <a16:creationId xmlns:a16="http://schemas.microsoft.com/office/drawing/2014/main" id="{308D679A-EF4A-41AF-BDE0-1A96367AADF8}"/>
              </a:ext>
            </a:extLst>
          </p:cNvPr>
          <p:cNvSpPr>
            <a:spLocks noGrp="1"/>
          </p:cNvSpPr>
          <p:nvPr/>
        </p:nvSpPr>
        <p:spPr>
          <a:xfrm>
            <a:off x="1562100" y="47053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Запустіть дію свого кейсу з новими об'єктами.</a:t>
            </a:r>
          </a:p>
        </p:txBody>
      </p:sp>
      <p:sp>
        <p:nvSpPr>
          <p:cNvPr id="12" name="Rectangle 11">
            <a:extLst>
              <a:ext uri="{FF2B5EF4-FFF2-40B4-BE49-F238E27FC236}">
                <a16:creationId xmlns:a16="http://schemas.microsoft.com/office/drawing/2014/main" id="{D0154B83-571E-4431-BD78-820C0C55B710}"/>
              </a:ext>
            </a:extLst>
          </p:cNvPr>
          <p:cNvSpPr>
            <a:spLocks noGrp="1"/>
          </p:cNvSpPr>
          <p:nvPr/>
        </p:nvSpPr>
        <p:spPr>
          <a:xfrm>
            <a:off x="723900" y="5810250"/>
            <a:ext cx="10572750" cy="609600"/>
          </a:xfrm>
          <a:prstGeom prst="rect">
            <a:avLst/>
          </a:prstGeom>
          <a:noFill/>
          <a:ln w="0">
            <a:noFill/>
          </a:ln>
        </p:spPr>
        <p:txBody>
          <a:bodyPr anchor="ctr"/>
          <a:lstStyle>
            <a:defPPr>
              <a:defRPr sz="1725" b="1">
                <a:solidFill>
                  <a:srgbClr val="1B6C57"/>
                </a:solidFill>
                <a:latin typeface="Onest"/>
                <a:ea typeface="Onest"/>
                <a:cs typeface="Onest"/>
              </a:defRPr>
            </a:defPPr>
            <a:lvl1pPr>
              <a:defRPr sz="1725" b="1">
                <a:solidFill>
                  <a:srgbClr val="1B6C57"/>
                </a:solidFill>
                <a:latin typeface="Onest"/>
                <a:ea typeface="Onest"/>
                <a:cs typeface="Onest"/>
              </a:defRPr>
            </a:lvl1pPr>
            <a:lvl2pPr>
              <a:defRPr sz="1725" b="1">
                <a:solidFill>
                  <a:srgbClr val="1B6C57"/>
                </a:solidFill>
                <a:latin typeface="Onest"/>
                <a:ea typeface="Onest"/>
                <a:cs typeface="Onest"/>
              </a:defRPr>
            </a:lvl2pPr>
            <a:lvl3pPr>
              <a:defRPr sz="1725" b="1">
                <a:solidFill>
                  <a:srgbClr val="1B6C57"/>
                </a:solidFill>
                <a:latin typeface="Onest"/>
                <a:ea typeface="Onest"/>
                <a:cs typeface="Onest"/>
              </a:defRPr>
            </a:lvl3pPr>
            <a:lvl4pPr>
              <a:defRPr sz="1725" b="1">
                <a:solidFill>
                  <a:srgbClr val="1B6C57"/>
                </a:solidFill>
                <a:latin typeface="Onest"/>
                <a:ea typeface="Onest"/>
                <a:cs typeface="Onest"/>
              </a:defRPr>
            </a:lvl4pPr>
            <a:lvl5pPr>
              <a:defRPr sz="1725" b="1">
                <a:solidFill>
                  <a:srgbClr val="1B6C57"/>
                </a:solidFill>
                <a:latin typeface="Onest"/>
                <a:ea typeface="Onest"/>
                <a:cs typeface="Onest"/>
              </a:defRPr>
            </a:lvl5pPr>
            <a:lvl6pPr>
              <a:defRPr sz="1725" b="1">
                <a:solidFill>
                  <a:srgbClr val="1B6C57"/>
                </a:solidFill>
                <a:latin typeface="Onest"/>
                <a:ea typeface="Onest"/>
                <a:cs typeface="Onest"/>
              </a:defRPr>
            </a:lvl6pPr>
            <a:lvl7pPr>
              <a:defRPr sz="1725" b="1">
                <a:solidFill>
                  <a:srgbClr val="1B6C57"/>
                </a:solidFill>
                <a:latin typeface="Onest"/>
                <a:ea typeface="Onest"/>
                <a:cs typeface="Onest"/>
              </a:defRPr>
            </a:lvl7pPr>
            <a:lvl8pPr>
              <a:defRPr sz="1725" b="1">
                <a:solidFill>
                  <a:srgbClr val="1B6C57"/>
                </a:solidFill>
                <a:latin typeface="Onest"/>
                <a:ea typeface="Onest"/>
                <a:cs typeface="Onest"/>
              </a:defRPr>
            </a:lvl8pPr>
            <a:lvl9pPr>
              <a:defRPr sz="1725" b="1">
                <a:solidFill>
                  <a:srgbClr val="1B6C57"/>
                </a:solidFill>
                <a:latin typeface="Onest"/>
                <a:ea typeface="Onest"/>
                <a:cs typeface="Onest"/>
              </a:defRPr>
            </a:lvl9pPr>
          </a:lstStyle>
          <a:p>
            <a:pPr>
              <a:defRPr sz="1725" b="1">
                <a:solidFill>
                  <a:srgbClr val="1B6C57"/>
                </a:solidFill>
                <a:latin typeface="Onest"/>
                <a:ea typeface="Onest"/>
                <a:cs typeface="Onest"/>
              </a:defRPr>
            </a:pPr>
            <a:r>
              <a:rPr sz="1725" b="1">
                <a:solidFill>
                  <a:srgbClr val="1B6C57"/>
                </a:solidFill>
                <a:latin typeface="Onest"/>
                <a:ea typeface="Onest"/>
                <a:cs typeface="Onest"/>
              </a:rPr>
              <a:t>Збережіть першу версію до перерви.</a:t>
            </a:r>
          </a:p>
        </p:txBody>
      </p:sp>
      <p:pic>
        <p:nvPicPr>
          <p:cNvPr id="13" name="Graphic 12">
            <a:extLst>
              <a:ext uri="{FF2B5EF4-FFF2-40B4-BE49-F238E27FC236}">
                <a16:creationId xmlns:a16="http://schemas.microsoft.com/office/drawing/2014/main" id="{E0C31857-1B7A-4FC2-BA17-1359B78ADE0B}"/>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1056821" y="695325"/>
            <a:ext cx="495300" cy="495300"/>
          </a:xfrm>
          <a:prstGeom prst="rect">
            <a:avLst/>
          </a:prstGeom>
        </p:spPr>
      </p:pic>
    </p:spTree>
    <p:extLst>
      <p:ext uri="{BB962C8B-B14F-4D97-AF65-F5344CB8AC3E}">
        <p14:creationId xmlns:p14="http://schemas.microsoft.com/office/powerpoint/2010/main" val="1387524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C4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3AE4A7E-5ECE-473A-A771-059248700BF9}"/>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FFFFFF"/>
                </a:solidFill>
                <a:latin typeface="Onest"/>
                <a:ea typeface="Onest"/>
                <a:cs typeface="Onest"/>
              </a:defRPr>
            </a:defPPr>
            <a:lvl1pPr>
              <a:defRPr sz="2700" b="1">
                <a:solidFill>
                  <a:srgbClr val="FFFFFF"/>
                </a:solidFill>
                <a:latin typeface="Onest"/>
                <a:ea typeface="Onest"/>
                <a:cs typeface="Onest"/>
              </a:defRPr>
            </a:lvl1pPr>
            <a:lvl2pPr>
              <a:defRPr sz="2700" b="1">
                <a:solidFill>
                  <a:srgbClr val="FFFFFF"/>
                </a:solidFill>
                <a:latin typeface="Onest"/>
                <a:ea typeface="Onest"/>
                <a:cs typeface="Onest"/>
              </a:defRPr>
            </a:lvl2pPr>
            <a:lvl3pPr>
              <a:defRPr sz="2700" b="1">
                <a:solidFill>
                  <a:srgbClr val="FFFFFF"/>
                </a:solidFill>
                <a:latin typeface="Onest"/>
                <a:ea typeface="Onest"/>
                <a:cs typeface="Onest"/>
              </a:defRPr>
            </a:lvl3pPr>
            <a:lvl4pPr>
              <a:defRPr sz="2700" b="1">
                <a:solidFill>
                  <a:srgbClr val="FFFFFF"/>
                </a:solidFill>
                <a:latin typeface="Onest"/>
                <a:ea typeface="Onest"/>
                <a:cs typeface="Onest"/>
              </a:defRPr>
            </a:lvl4pPr>
            <a:lvl5pPr>
              <a:defRPr sz="2700" b="1">
                <a:solidFill>
                  <a:srgbClr val="FFFFFF"/>
                </a:solidFill>
                <a:latin typeface="Onest"/>
                <a:ea typeface="Onest"/>
                <a:cs typeface="Onest"/>
              </a:defRPr>
            </a:lvl5pPr>
            <a:lvl6pPr>
              <a:defRPr sz="2700" b="1">
                <a:solidFill>
                  <a:srgbClr val="FFFFFF"/>
                </a:solidFill>
                <a:latin typeface="Onest"/>
                <a:ea typeface="Onest"/>
                <a:cs typeface="Onest"/>
              </a:defRPr>
            </a:lvl6pPr>
            <a:lvl7pPr>
              <a:defRPr sz="2700" b="1">
                <a:solidFill>
                  <a:srgbClr val="FFFFFF"/>
                </a:solidFill>
                <a:latin typeface="Onest"/>
                <a:ea typeface="Onest"/>
                <a:cs typeface="Onest"/>
              </a:defRPr>
            </a:lvl7pPr>
            <a:lvl8pPr>
              <a:defRPr sz="2700" b="1">
                <a:solidFill>
                  <a:srgbClr val="FFFFFF"/>
                </a:solidFill>
                <a:latin typeface="Onest"/>
                <a:ea typeface="Onest"/>
                <a:cs typeface="Onest"/>
              </a:defRPr>
            </a:lvl8pPr>
            <a:lvl9pPr>
              <a:defRPr sz="2700" b="1">
                <a:solidFill>
                  <a:srgbClr val="FFFFFF"/>
                </a:solidFill>
                <a:latin typeface="Onest"/>
                <a:ea typeface="Onest"/>
                <a:cs typeface="Onest"/>
              </a:defRPr>
            </a:lvl9pPr>
          </a:lstStyle>
          <a:p>
            <a:pPr>
              <a:defRPr sz="2700" b="1">
                <a:solidFill>
                  <a:srgbClr val="FFFFFF"/>
                </a:solidFill>
                <a:latin typeface="Onest"/>
                <a:ea typeface="Onest"/>
                <a:cs typeface="Onest"/>
              </a:defRPr>
            </a:pPr>
            <a:r>
              <a:rPr sz="2700" b="1">
                <a:solidFill>
                  <a:srgbClr val="FFFFFF"/>
                </a:solidFill>
                <a:latin typeface="Onest"/>
                <a:ea typeface="Onest"/>
                <a:cs typeface="Onest"/>
              </a:rPr>
              <a:t>Чи завжди об'єкт коректний</a:t>
            </a:r>
          </a:p>
        </p:txBody>
      </p:sp>
      <p:sp>
        <p:nvSpPr>
          <p:cNvPr id="3" name="Rectangle 2">
            <a:extLst>
              <a:ext uri="{FF2B5EF4-FFF2-40B4-BE49-F238E27FC236}">
                <a16:creationId xmlns:a16="http://schemas.microsoft.com/office/drawing/2014/main" id="{FB73DA06-D27B-4530-B345-AC7D3A24EEDB}"/>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FFFFFF"/>
                </a:solidFill>
                <a:latin typeface="Onest"/>
                <a:ea typeface="Onest"/>
                <a:cs typeface="Onest"/>
              </a:defRPr>
            </a:defPPr>
            <a:lvl1pPr>
              <a:defRPr sz="1800" b="0">
                <a:solidFill>
                  <a:srgbClr val="FFFFFF"/>
                </a:solidFill>
                <a:latin typeface="Onest"/>
                <a:ea typeface="Onest"/>
                <a:cs typeface="Onest"/>
              </a:defRPr>
            </a:lvl1pPr>
            <a:lvl2pPr>
              <a:defRPr sz="1800" b="0">
                <a:solidFill>
                  <a:srgbClr val="FFFFFF"/>
                </a:solidFill>
                <a:latin typeface="Onest"/>
                <a:ea typeface="Onest"/>
                <a:cs typeface="Onest"/>
              </a:defRPr>
            </a:lvl2pPr>
            <a:lvl3pPr>
              <a:defRPr sz="1800" b="0">
                <a:solidFill>
                  <a:srgbClr val="FFFFFF"/>
                </a:solidFill>
                <a:latin typeface="Onest"/>
                <a:ea typeface="Onest"/>
                <a:cs typeface="Onest"/>
              </a:defRPr>
            </a:lvl3pPr>
            <a:lvl4pPr>
              <a:defRPr sz="1800" b="0">
                <a:solidFill>
                  <a:srgbClr val="FFFFFF"/>
                </a:solidFill>
                <a:latin typeface="Onest"/>
                <a:ea typeface="Onest"/>
                <a:cs typeface="Onest"/>
              </a:defRPr>
            </a:lvl4pPr>
            <a:lvl5pPr>
              <a:defRPr sz="1800" b="0">
                <a:solidFill>
                  <a:srgbClr val="FFFFFF"/>
                </a:solidFill>
                <a:latin typeface="Onest"/>
                <a:ea typeface="Onest"/>
                <a:cs typeface="Onest"/>
              </a:defRPr>
            </a:lvl5pPr>
            <a:lvl6pPr>
              <a:defRPr sz="1800" b="0">
                <a:solidFill>
                  <a:srgbClr val="FFFFFF"/>
                </a:solidFill>
                <a:latin typeface="Onest"/>
                <a:ea typeface="Onest"/>
                <a:cs typeface="Onest"/>
              </a:defRPr>
            </a:lvl6pPr>
            <a:lvl7pPr>
              <a:defRPr sz="1800" b="0">
                <a:solidFill>
                  <a:srgbClr val="FFFFFF"/>
                </a:solidFill>
                <a:latin typeface="Onest"/>
                <a:ea typeface="Onest"/>
                <a:cs typeface="Onest"/>
              </a:defRPr>
            </a:lvl7pPr>
            <a:lvl8pPr>
              <a:defRPr sz="1800" b="0">
                <a:solidFill>
                  <a:srgbClr val="FFFFFF"/>
                </a:solidFill>
                <a:latin typeface="Onest"/>
                <a:ea typeface="Onest"/>
                <a:cs typeface="Onest"/>
              </a:defRPr>
            </a:lvl8pPr>
            <a:lvl9pPr>
              <a:defRPr sz="1800" b="0">
                <a:solidFill>
                  <a:srgbClr val="FFFFFF"/>
                </a:solidFill>
                <a:latin typeface="Onest"/>
                <a:ea typeface="Onest"/>
                <a:cs typeface="Onest"/>
              </a:defRPr>
            </a:lvl9pPr>
          </a:lstStyle>
          <a:p>
            <a:pPr>
              <a:defRPr sz="1800" b="0">
                <a:solidFill>
                  <a:srgbClr val="FFFFFF"/>
                </a:solidFill>
                <a:latin typeface="Onest"/>
                <a:ea typeface="Onest"/>
                <a:cs typeface="Onest"/>
              </a:defRPr>
            </a:pPr>
            <a:r>
              <a:rPr sz="1800" b="0">
                <a:solidFill>
                  <a:srgbClr val="FFFFFF"/>
                </a:solidFill>
                <a:latin typeface="Onest"/>
                <a:ea typeface="Onest"/>
                <a:cs typeface="Onest"/>
              </a:rPr>
              <a:t>У demo_learning.py після створення educator додайте:</a:t>
            </a:r>
          </a:p>
        </p:txBody>
      </p:sp>
      <p:sp>
        <p:nvSpPr>
          <p:cNvPr id="4" name="Rectangle 3">
            <a:extLst>
              <a:ext uri="{FF2B5EF4-FFF2-40B4-BE49-F238E27FC236}">
                <a16:creationId xmlns:a16="http://schemas.microsoft.com/office/drawing/2014/main" id="{DA2543FC-3AD0-4C25-B008-89B29E13791D}"/>
              </a:ext>
            </a:extLst>
          </p:cNvPr>
          <p:cNvSpPr>
            <a:spLocks noGrp="1"/>
          </p:cNvSpPr>
          <p:nvPr/>
        </p:nvSpPr>
        <p:spPr>
          <a:xfrm>
            <a:off x="685800" y="2143125"/>
            <a:ext cx="10820400" cy="923925"/>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DB810B7E-7CAF-4E02-B150-517D123CE844}"/>
              </a:ext>
            </a:extLst>
          </p:cNvPr>
          <p:cNvSpPr>
            <a:spLocks noGrp="1"/>
          </p:cNvSpPr>
          <p:nvPr/>
        </p:nvSpPr>
        <p:spPr>
          <a:xfrm>
            <a:off x="895350" y="2276475"/>
            <a:ext cx="10382250" cy="685800"/>
          </a:xfrm>
          <a:prstGeom prst="rect">
            <a:avLst/>
          </a:prstGeom>
          <a:noFill/>
          <a:ln w="0">
            <a:noFill/>
          </a:ln>
        </p:spPr>
        <p:txBody>
          <a:bodyPr anchor="ctr"/>
          <a:lstStyle>
            <a:defPPr>
              <a:defRPr sz="1875" b="0">
                <a:solidFill>
                  <a:srgbClr val="FFFFFF"/>
                </a:solidFill>
                <a:latin typeface="Courier New"/>
                <a:ea typeface="Courier New"/>
                <a:cs typeface="Courier New"/>
              </a:defRPr>
            </a:defPPr>
            <a:lvl1pPr>
              <a:defRPr sz="1875" b="0">
                <a:solidFill>
                  <a:srgbClr val="FFFFFF"/>
                </a:solidFill>
                <a:latin typeface="Courier New"/>
                <a:ea typeface="Courier New"/>
                <a:cs typeface="Courier New"/>
              </a:defRPr>
            </a:lvl1pPr>
            <a:lvl2pPr>
              <a:defRPr sz="1875" b="0">
                <a:solidFill>
                  <a:srgbClr val="FFFFFF"/>
                </a:solidFill>
                <a:latin typeface="Courier New"/>
                <a:ea typeface="Courier New"/>
                <a:cs typeface="Courier New"/>
              </a:defRPr>
            </a:lvl2pPr>
            <a:lvl3pPr>
              <a:defRPr sz="1875" b="0">
                <a:solidFill>
                  <a:srgbClr val="FFFFFF"/>
                </a:solidFill>
                <a:latin typeface="Courier New"/>
                <a:ea typeface="Courier New"/>
                <a:cs typeface="Courier New"/>
              </a:defRPr>
            </a:lvl3pPr>
            <a:lvl4pPr>
              <a:defRPr sz="1875" b="0">
                <a:solidFill>
                  <a:srgbClr val="FFFFFF"/>
                </a:solidFill>
                <a:latin typeface="Courier New"/>
                <a:ea typeface="Courier New"/>
                <a:cs typeface="Courier New"/>
              </a:defRPr>
            </a:lvl4pPr>
            <a:lvl5pPr>
              <a:defRPr sz="1875" b="0">
                <a:solidFill>
                  <a:srgbClr val="FFFFFF"/>
                </a:solidFill>
                <a:latin typeface="Courier New"/>
                <a:ea typeface="Courier New"/>
                <a:cs typeface="Courier New"/>
              </a:defRPr>
            </a:lvl5pPr>
            <a:lvl6pPr>
              <a:defRPr sz="1875" b="0">
                <a:solidFill>
                  <a:srgbClr val="FFFFFF"/>
                </a:solidFill>
                <a:latin typeface="Courier New"/>
                <a:ea typeface="Courier New"/>
                <a:cs typeface="Courier New"/>
              </a:defRPr>
            </a:lvl6pPr>
            <a:lvl7pPr>
              <a:defRPr sz="1875" b="0">
                <a:solidFill>
                  <a:srgbClr val="FFFFFF"/>
                </a:solidFill>
                <a:latin typeface="Courier New"/>
                <a:ea typeface="Courier New"/>
                <a:cs typeface="Courier New"/>
              </a:defRPr>
            </a:lvl7pPr>
            <a:lvl8pPr>
              <a:defRPr sz="1875" b="0">
                <a:solidFill>
                  <a:srgbClr val="FFFFFF"/>
                </a:solidFill>
                <a:latin typeface="Courier New"/>
                <a:ea typeface="Courier New"/>
                <a:cs typeface="Courier New"/>
              </a:defRPr>
            </a:lvl8pPr>
            <a:lvl9pPr>
              <a:defRPr sz="1875" b="0">
                <a:solidFill>
                  <a:srgbClr val="FFFFFF"/>
                </a:solidFill>
                <a:latin typeface="Courier New"/>
                <a:ea typeface="Courier New"/>
                <a:cs typeface="Courier New"/>
              </a:defRPr>
            </a:lvl9pPr>
          </a:lstStyle>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educator.age = -2</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print(educator.age)</a:t>
            </a:r>
          </a:p>
        </p:txBody>
      </p:sp>
      <p:sp>
        <p:nvSpPr>
          <p:cNvPr id="6" name="Rectangle 5">
            <a:extLst>
              <a:ext uri="{FF2B5EF4-FFF2-40B4-BE49-F238E27FC236}">
                <a16:creationId xmlns:a16="http://schemas.microsoft.com/office/drawing/2014/main" id="{446549E6-578F-4552-977C-EDBD4FE7C957}"/>
              </a:ext>
            </a:extLst>
          </p:cNvPr>
          <p:cNvSpPr>
            <a:spLocks noGrp="1"/>
          </p:cNvSpPr>
          <p:nvPr/>
        </p:nvSpPr>
        <p:spPr>
          <a:xfrm>
            <a:off x="723900" y="3209925"/>
            <a:ext cx="10572750" cy="3267075"/>
          </a:xfrm>
          <a:prstGeom prst="rect">
            <a:avLst/>
          </a:prstGeom>
          <a:noFill/>
          <a:ln w="0">
            <a:noFill/>
          </a:ln>
        </p:spPr>
        <p:txBody>
          <a:bodyPr anchor="ctr"/>
          <a:lstStyle>
            <a:defPPr>
              <a:defRPr sz="1800" b="1">
                <a:solidFill>
                  <a:srgbClr val="91D6B5"/>
                </a:solidFill>
                <a:latin typeface="Onest"/>
                <a:ea typeface="Onest"/>
                <a:cs typeface="Onest"/>
              </a:defRPr>
            </a:defPPr>
            <a:lvl1pPr>
              <a:defRPr sz="1800" b="1">
                <a:solidFill>
                  <a:srgbClr val="91D6B5"/>
                </a:solidFill>
                <a:latin typeface="Onest"/>
                <a:ea typeface="Onest"/>
                <a:cs typeface="Onest"/>
              </a:defRPr>
            </a:lvl1pPr>
            <a:lvl2pPr>
              <a:defRPr sz="1800" b="1">
                <a:solidFill>
                  <a:srgbClr val="91D6B5"/>
                </a:solidFill>
                <a:latin typeface="Onest"/>
                <a:ea typeface="Onest"/>
                <a:cs typeface="Onest"/>
              </a:defRPr>
            </a:lvl2pPr>
            <a:lvl3pPr>
              <a:defRPr sz="1800" b="1">
                <a:solidFill>
                  <a:srgbClr val="91D6B5"/>
                </a:solidFill>
                <a:latin typeface="Onest"/>
                <a:ea typeface="Onest"/>
                <a:cs typeface="Onest"/>
              </a:defRPr>
            </a:lvl3pPr>
            <a:lvl4pPr>
              <a:defRPr sz="1800" b="1">
                <a:solidFill>
                  <a:srgbClr val="91D6B5"/>
                </a:solidFill>
                <a:latin typeface="Onest"/>
                <a:ea typeface="Onest"/>
                <a:cs typeface="Onest"/>
              </a:defRPr>
            </a:lvl4pPr>
            <a:lvl5pPr>
              <a:defRPr sz="1800" b="1">
                <a:solidFill>
                  <a:srgbClr val="91D6B5"/>
                </a:solidFill>
                <a:latin typeface="Onest"/>
                <a:ea typeface="Onest"/>
                <a:cs typeface="Onest"/>
              </a:defRPr>
            </a:lvl5pPr>
            <a:lvl6pPr>
              <a:defRPr sz="1800" b="1">
                <a:solidFill>
                  <a:srgbClr val="91D6B5"/>
                </a:solidFill>
                <a:latin typeface="Onest"/>
                <a:ea typeface="Onest"/>
                <a:cs typeface="Onest"/>
              </a:defRPr>
            </a:lvl6pPr>
            <a:lvl7pPr>
              <a:defRPr sz="1800" b="1">
                <a:solidFill>
                  <a:srgbClr val="91D6B5"/>
                </a:solidFill>
                <a:latin typeface="Onest"/>
                <a:ea typeface="Onest"/>
                <a:cs typeface="Onest"/>
              </a:defRPr>
            </a:lvl7pPr>
            <a:lvl8pPr>
              <a:defRPr sz="1800" b="1">
                <a:solidFill>
                  <a:srgbClr val="91D6B5"/>
                </a:solidFill>
                <a:latin typeface="Onest"/>
                <a:ea typeface="Onest"/>
                <a:cs typeface="Onest"/>
              </a:defRPr>
            </a:lvl8pPr>
            <a:lvl9pPr>
              <a:defRPr sz="1800" b="1">
                <a:solidFill>
                  <a:srgbClr val="91D6B5"/>
                </a:solidFill>
                <a:latin typeface="Onest"/>
                <a:ea typeface="Onest"/>
                <a:cs typeface="Onest"/>
              </a:defRPr>
            </a:lvl9pPr>
          </a:lstStyle>
          <a:p>
            <a:pPr>
              <a:defRPr sz="1800" b="1">
                <a:solidFill>
                  <a:srgbClr val="91D6B5"/>
                </a:solidFill>
                <a:latin typeface="Onest"/>
                <a:ea typeface="Onest"/>
                <a:cs typeface="Onest"/>
              </a:defRPr>
            </a:pPr>
            <a:r>
              <a:rPr sz="1800" b="1">
                <a:solidFill>
                  <a:srgbClr val="91D6B5"/>
                </a:solidFill>
                <a:latin typeface="Onest"/>
                <a:ea typeface="Onest"/>
                <a:cs typeface="Onest"/>
              </a:rPr>
              <a:t>Успадкування передало поведінку, але не створило перевірок.</a:t>
            </a:r>
          </a:p>
          <a:p>
            <a:endParaRPr sz="1800" b="1">
              <a:solidFill>
                <a:srgbClr val="91D6B5"/>
              </a:solidFill>
              <a:latin typeface="Onest"/>
              <a:ea typeface="Onest"/>
              <a:cs typeface="Onest"/>
            </a:endParaRPr>
          </a:p>
          <a:p>
            <a:pPr>
              <a:defRPr sz="1800" b="1">
                <a:solidFill>
                  <a:srgbClr val="91D6B5"/>
                </a:solidFill>
                <a:latin typeface="Onest"/>
                <a:ea typeface="Onest"/>
                <a:cs typeface="Onest"/>
              </a:defRPr>
            </a:pPr>
            <a:r>
              <a:rPr sz="1800" b="1">
                <a:solidFill>
                  <a:srgbClr val="91D6B5"/>
                </a:solidFill>
                <a:latin typeface="Onest"/>
                <a:ea typeface="Onest"/>
                <a:cs typeface="Onest"/>
              </a:rPr>
              <a:t>Як заборонити некоректний вік і для Student, і для Educator?</a:t>
            </a:r>
          </a:p>
        </p:txBody>
      </p:sp>
    </p:spTree>
    <p:extLst>
      <p:ext uri="{BB962C8B-B14F-4D97-AF65-F5344CB8AC3E}">
        <p14:creationId xmlns:p14="http://schemas.microsoft.com/office/powerpoint/2010/main" val="760876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9B2651-C92B-4510-A604-85BDE9838157}"/>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Публічний і внутрішній атрибути</a:t>
            </a:r>
          </a:p>
        </p:txBody>
      </p:sp>
      <p:graphicFrame>
        <p:nvGraphicFramePr>
          <p:cNvPr id="3" name="Table 2">
            <a:extLst>
              <a:ext uri="{FF2B5EF4-FFF2-40B4-BE49-F238E27FC236}">
                <a16:creationId xmlns:a16="http://schemas.microsoft.com/office/drawing/2014/main" id="{93AE3454-16D3-4D7C-98D1-605A9B5596FF}"/>
              </a:ext>
            </a:extLst>
          </p:cNvPr>
          <p:cNvGraphicFramePr/>
          <p:nvPr/>
        </p:nvGraphicFramePr>
        <p:xfrm>
          <a:off x="685800" y="1619250"/>
          <a:ext cx="10820400" cy="3143252"/>
        </p:xfrm>
        <a:graphic>
          <a:graphicData uri="http://schemas.openxmlformats.org/drawingml/2006/table">
            <a:tbl>
              <a:tblPr/>
              <a:tblGrid>
                <a:gridCol w="54102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785813">
                <a:tc>
                  <a:txBody>
                    <a:bodyPr/>
                    <a:lstStyle/>
                    <a:p>
                      <a:r>
                        <a:rPr sz="1800" b="1">
                          <a:solidFill>
                            <a:srgbClr val="FFFFFF"/>
                          </a:solidFill>
                          <a:latin typeface="Onest"/>
                          <a:ea typeface="Onest"/>
                          <a:cs typeface="Onest"/>
                        </a:rPr>
                        <a:t>Ім'я</a:t>
                      </a:r>
                    </a:p>
                  </a:txBody>
                  <a:tcPr>
                    <a:lnL w="9525">
                      <a:solidFill>
                        <a:srgbClr val="B9CDC6"/>
                      </a:solidFill>
                      <a:prstDash val="solid"/>
                    </a:lnL>
                    <a:lnR w="9525">
                      <a:solidFill>
                        <a:srgbClr val="B9CDC6"/>
                      </a:solidFill>
                      <a:prstDash val="solid"/>
                    </a:lnR>
                    <a:lnT w="9525">
                      <a:solidFill>
                        <a:srgbClr val="B9CDC6"/>
                      </a:solidFill>
                      <a:prstDash val="solid"/>
                    </a:lnT>
                    <a:lnB w="9525">
                      <a:solidFill>
                        <a:srgbClr val="B9CDC6"/>
                      </a:solidFill>
                      <a:prstDash val="solid"/>
                    </a:lnB>
                    <a:solidFill>
                      <a:srgbClr val="1B6C57"/>
                    </a:solidFill>
                  </a:tcPr>
                </a:tc>
                <a:tc>
                  <a:txBody>
                    <a:bodyPr/>
                    <a:lstStyle/>
                    <a:p>
                      <a:r>
                        <a:rPr sz="1800" b="1">
                          <a:solidFill>
                            <a:srgbClr val="FFFFFF"/>
                          </a:solidFill>
                          <a:latin typeface="Onest"/>
                          <a:ea typeface="Onest"/>
                          <a:cs typeface="Onest"/>
                        </a:rPr>
                        <a:t>Призначення</a:t>
                      </a:r>
                    </a:p>
                  </a:txBody>
                  <a:tcPr>
                    <a:lnL w="9525" cap="flat" cmpd="sng" algn="ctr">
                      <a:solidFill>
                        <a:srgbClr val="B9CDC6"/>
                      </a:solidFill>
                      <a:prstDash val="solid"/>
                      <a:round/>
                      <a:headEnd type="none" w="med" len="med"/>
                      <a:tailEnd type="none" w="med" len="med"/>
                    </a:lnL>
                    <a:lnR w="9525">
                      <a:solidFill>
                        <a:srgbClr val="B9CDC6"/>
                      </a:solidFill>
                      <a:prstDash val="solid"/>
                    </a:lnR>
                    <a:lnT w="9525">
                      <a:solidFill>
                        <a:srgbClr val="B9CDC6"/>
                      </a:solidFill>
                      <a:prstDash val="solid"/>
                    </a:lnT>
                    <a:lnB w="9525">
                      <a:solidFill>
                        <a:srgbClr val="B9CDC6"/>
                      </a:solidFill>
                      <a:prstDash val="solid"/>
                    </a:lnB>
                    <a:solidFill>
                      <a:srgbClr val="1B6C57"/>
                    </a:solidFill>
                  </a:tcPr>
                </a:tc>
                <a:extLst>
                  <a:ext uri="{0D108BD9-81ED-4DB2-BD59-A6C34878D82A}">
                    <a16:rowId xmlns:a16="http://schemas.microsoft.com/office/drawing/2014/main" val="10000"/>
                  </a:ext>
                </a:extLst>
              </a:tr>
              <a:tr h="785813">
                <a:tc>
                  <a:txBody>
                    <a:bodyPr/>
                    <a:lstStyle/>
                    <a:p>
                      <a:r>
                        <a:rPr sz="1800" b="0">
                          <a:solidFill>
                            <a:srgbClr val="192D3B"/>
                          </a:solidFill>
                          <a:latin typeface="Onest"/>
                          <a:ea typeface="Onest"/>
                          <a:cs typeface="Onest"/>
                        </a:rPr>
                        <a:t>name</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tc>
                  <a:txBody>
                    <a:bodyPr/>
                    <a:lstStyle/>
                    <a:p>
                      <a:r>
                        <a:rPr sz="1800" b="0">
                          <a:solidFill>
                            <a:srgbClr val="192D3B"/>
                          </a:solidFill>
                          <a:latin typeface="Onest"/>
                          <a:ea typeface="Onest"/>
                          <a:cs typeface="Onest"/>
                        </a:rPr>
                        <a:t>Публічний інтерфейс Person</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extLst>
                  <a:ext uri="{0D108BD9-81ED-4DB2-BD59-A6C34878D82A}">
                    <a16:rowId xmlns:a16="http://schemas.microsoft.com/office/drawing/2014/main" val="10001"/>
                  </a:ext>
                </a:extLst>
              </a:tr>
              <a:tr h="785813">
                <a:tc>
                  <a:txBody>
                    <a:bodyPr/>
                    <a:lstStyle/>
                    <a:p>
                      <a:r>
                        <a:rPr sz="1800" b="0">
                          <a:solidFill>
                            <a:srgbClr val="192D3B"/>
                          </a:solidFill>
                          <a:latin typeface="Onest"/>
                          <a:ea typeface="Onest"/>
                          <a:cs typeface="Onest"/>
                        </a:rPr>
                        <a:t>_age</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E8F3ED"/>
                    </a:solidFill>
                  </a:tcPr>
                </a:tc>
                <a:tc>
                  <a:txBody>
                    <a:bodyPr/>
                    <a:lstStyle/>
                    <a:p>
                      <a:r>
                        <a:rPr sz="1800" b="0">
                          <a:solidFill>
                            <a:srgbClr val="192D3B"/>
                          </a:solidFill>
                          <a:latin typeface="Onest"/>
                          <a:ea typeface="Onest"/>
                          <a:cs typeface="Onest"/>
                        </a:rPr>
                        <a:t>Внутрішнє поле зберігає вік</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E8F3ED"/>
                    </a:solidFill>
                  </a:tcPr>
                </a:tc>
                <a:extLst>
                  <a:ext uri="{0D108BD9-81ED-4DB2-BD59-A6C34878D82A}">
                    <a16:rowId xmlns:a16="http://schemas.microsoft.com/office/drawing/2014/main" val="10002"/>
                  </a:ext>
                </a:extLst>
              </a:tr>
              <a:tr h="785813">
                <a:tc>
                  <a:txBody>
                    <a:bodyPr/>
                    <a:lstStyle/>
                    <a:p>
                      <a:r>
                        <a:rPr sz="1800" b="0">
                          <a:solidFill>
                            <a:srgbClr val="192D3B"/>
                          </a:solidFill>
                          <a:latin typeface="Onest"/>
                          <a:ea typeface="Onest"/>
                          <a:cs typeface="Onest"/>
                        </a:rPr>
                        <a:t>age</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tc>
                  <a:txBody>
                    <a:bodyPr/>
                    <a:lstStyle/>
                    <a:p>
                      <a:r>
                        <a:rPr sz="1800" b="0">
                          <a:solidFill>
                            <a:srgbClr val="192D3B"/>
                          </a:solidFill>
                          <a:latin typeface="Onest"/>
                          <a:ea typeface="Onest"/>
                          <a:cs typeface="Onest"/>
                        </a:rPr>
                        <a:t>Властивість перевірятиме доступ</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E13A4773-C170-481A-A498-EF913C69A0E2}"/>
              </a:ext>
            </a:extLst>
          </p:cNvPr>
          <p:cNvSpPr>
            <a:spLocks noGrp="1"/>
          </p:cNvSpPr>
          <p:nvPr/>
        </p:nvSpPr>
        <p:spPr>
          <a:xfrm>
            <a:off x="857250" y="5143500"/>
            <a:ext cx="10477500" cy="857250"/>
          </a:xfrm>
          <a:prstGeom prst="rect">
            <a:avLst/>
          </a:prstGeom>
          <a:noFill/>
          <a:ln w="0">
            <a:noFill/>
          </a:ln>
        </p:spPr>
        <p:txBody>
          <a:bodyPr anchor="ctr"/>
          <a:lstStyle>
            <a:defPPr>
              <a:defRPr sz="2100" b="1">
                <a:solidFill>
                  <a:srgbClr val="1B6C57"/>
                </a:solidFill>
                <a:latin typeface="Onest"/>
                <a:ea typeface="Onest"/>
                <a:cs typeface="Onest"/>
              </a:defRPr>
            </a:defPPr>
            <a:lvl1pPr>
              <a:defRPr sz="2100" b="1">
                <a:solidFill>
                  <a:srgbClr val="1B6C57"/>
                </a:solidFill>
                <a:latin typeface="Onest"/>
                <a:ea typeface="Onest"/>
                <a:cs typeface="Onest"/>
              </a:defRPr>
            </a:lvl1pPr>
            <a:lvl2pPr>
              <a:defRPr sz="2100" b="1">
                <a:solidFill>
                  <a:srgbClr val="1B6C57"/>
                </a:solidFill>
                <a:latin typeface="Onest"/>
                <a:ea typeface="Onest"/>
                <a:cs typeface="Onest"/>
              </a:defRPr>
            </a:lvl2pPr>
            <a:lvl3pPr>
              <a:defRPr sz="2100" b="1">
                <a:solidFill>
                  <a:srgbClr val="1B6C57"/>
                </a:solidFill>
                <a:latin typeface="Onest"/>
                <a:ea typeface="Onest"/>
                <a:cs typeface="Onest"/>
              </a:defRPr>
            </a:lvl3pPr>
            <a:lvl4pPr>
              <a:defRPr sz="2100" b="1">
                <a:solidFill>
                  <a:srgbClr val="1B6C57"/>
                </a:solidFill>
                <a:latin typeface="Onest"/>
                <a:ea typeface="Onest"/>
                <a:cs typeface="Onest"/>
              </a:defRPr>
            </a:lvl4pPr>
            <a:lvl5pPr>
              <a:defRPr sz="2100" b="1">
                <a:solidFill>
                  <a:srgbClr val="1B6C57"/>
                </a:solidFill>
                <a:latin typeface="Onest"/>
                <a:ea typeface="Onest"/>
                <a:cs typeface="Onest"/>
              </a:defRPr>
            </a:lvl5pPr>
            <a:lvl6pPr>
              <a:defRPr sz="2100" b="1">
                <a:solidFill>
                  <a:srgbClr val="1B6C57"/>
                </a:solidFill>
                <a:latin typeface="Onest"/>
                <a:ea typeface="Onest"/>
                <a:cs typeface="Onest"/>
              </a:defRPr>
            </a:lvl6pPr>
            <a:lvl7pPr>
              <a:defRPr sz="2100" b="1">
                <a:solidFill>
                  <a:srgbClr val="1B6C57"/>
                </a:solidFill>
                <a:latin typeface="Onest"/>
                <a:ea typeface="Onest"/>
                <a:cs typeface="Onest"/>
              </a:defRPr>
            </a:lvl7pPr>
            <a:lvl8pPr>
              <a:defRPr sz="2100" b="1">
                <a:solidFill>
                  <a:srgbClr val="1B6C57"/>
                </a:solidFill>
                <a:latin typeface="Onest"/>
                <a:ea typeface="Onest"/>
                <a:cs typeface="Onest"/>
              </a:defRPr>
            </a:lvl8pPr>
            <a:lvl9pPr>
              <a:defRPr sz="2100" b="1">
                <a:solidFill>
                  <a:srgbClr val="1B6C57"/>
                </a:solidFill>
                <a:latin typeface="Onest"/>
                <a:ea typeface="Onest"/>
                <a:cs typeface="Onest"/>
              </a:defRPr>
            </a:lvl9pPr>
          </a:lstStyle>
          <a:p>
            <a:pPr>
              <a:defRPr sz="2100" b="1">
                <a:solidFill>
                  <a:srgbClr val="1B6C57"/>
                </a:solidFill>
                <a:latin typeface="Onest"/>
                <a:ea typeface="Onest"/>
                <a:cs typeface="Onest"/>
              </a:defRPr>
            </a:pPr>
            <a:r>
              <a:rPr sz="2100" b="1">
                <a:solidFill>
                  <a:srgbClr val="1B6C57"/>
                </a:solidFill>
                <a:latin typeface="Onest"/>
                <a:ea typeface="Onest"/>
                <a:cs typeface="Onest"/>
              </a:rPr>
              <a:t>Початковий _ означає домовленість. Доступ залишається можливим.</a:t>
            </a:r>
          </a:p>
        </p:txBody>
      </p:sp>
    </p:spTree>
    <p:extLst>
      <p:ext uri="{BB962C8B-B14F-4D97-AF65-F5344CB8AC3E}">
        <p14:creationId xmlns:p14="http://schemas.microsoft.com/office/powerpoint/2010/main" val="14878933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BF3E8"/>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39C82E-AFDA-45CA-9123-DC1F00B45538}"/>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Що робить подвійне підкреслення</a:t>
            </a:r>
          </a:p>
        </p:txBody>
      </p:sp>
      <p:sp>
        <p:nvSpPr>
          <p:cNvPr id="3" name="Rectangle 2">
            <a:extLst>
              <a:ext uri="{FF2B5EF4-FFF2-40B4-BE49-F238E27FC236}">
                <a16:creationId xmlns:a16="http://schemas.microsoft.com/office/drawing/2014/main" id="{B677F2D5-BCB2-4071-8F9E-844F7871ECE6}"/>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566A78"/>
                </a:solidFill>
                <a:latin typeface="Onest"/>
                <a:ea typeface="Onest"/>
                <a:cs typeface="Onest"/>
              </a:defRPr>
            </a:defPPr>
            <a:lvl1pPr>
              <a:defRPr sz="1800" b="0">
                <a:solidFill>
                  <a:srgbClr val="566A78"/>
                </a:solidFill>
                <a:latin typeface="Onest"/>
                <a:ea typeface="Onest"/>
                <a:cs typeface="Onest"/>
              </a:defRPr>
            </a:lvl1pPr>
            <a:lvl2pPr>
              <a:defRPr sz="1800" b="0">
                <a:solidFill>
                  <a:srgbClr val="566A78"/>
                </a:solidFill>
                <a:latin typeface="Onest"/>
                <a:ea typeface="Onest"/>
                <a:cs typeface="Onest"/>
              </a:defRPr>
            </a:lvl2pPr>
            <a:lvl3pPr>
              <a:defRPr sz="1800" b="0">
                <a:solidFill>
                  <a:srgbClr val="566A78"/>
                </a:solidFill>
                <a:latin typeface="Onest"/>
                <a:ea typeface="Onest"/>
                <a:cs typeface="Onest"/>
              </a:defRPr>
            </a:lvl3pPr>
            <a:lvl4pPr>
              <a:defRPr sz="1800" b="0">
                <a:solidFill>
                  <a:srgbClr val="566A78"/>
                </a:solidFill>
                <a:latin typeface="Onest"/>
                <a:ea typeface="Onest"/>
                <a:cs typeface="Onest"/>
              </a:defRPr>
            </a:lvl4pPr>
            <a:lvl5pPr>
              <a:defRPr sz="1800" b="0">
                <a:solidFill>
                  <a:srgbClr val="566A78"/>
                </a:solidFill>
                <a:latin typeface="Onest"/>
                <a:ea typeface="Onest"/>
                <a:cs typeface="Onest"/>
              </a:defRPr>
            </a:lvl5pPr>
            <a:lvl6pPr>
              <a:defRPr sz="1800" b="0">
                <a:solidFill>
                  <a:srgbClr val="566A78"/>
                </a:solidFill>
                <a:latin typeface="Onest"/>
                <a:ea typeface="Onest"/>
                <a:cs typeface="Onest"/>
              </a:defRPr>
            </a:lvl6pPr>
            <a:lvl7pPr>
              <a:defRPr sz="1800" b="0">
                <a:solidFill>
                  <a:srgbClr val="566A78"/>
                </a:solidFill>
                <a:latin typeface="Onest"/>
                <a:ea typeface="Onest"/>
                <a:cs typeface="Onest"/>
              </a:defRPr>
            </a:lvl7pPr>
            <a:lvl8pPr>
              <a:defRPr sz="1800" b="0">
                <a:solidFill>
                  <a:srgbClr val="566A78"/>
                </a:solidFill>
                <a:latin typeface="Onest"/>
                <a:ea typeface="Onest"/>
                <a:cs typeface="Onest"/>
              </a:defRPr>
            </a:lvl8pPr>
            <a:lvl9pPr>
              <a:defRPr sz="1800" b="0">
                <a:solidFill>
                  <a:srgbClr val="566A78"/>
                </a:solidFill>
                <a:latin typeface="Onest"/>
                <a:ea typeface="Onest"/>
                <a:cs typeface="Onest"/>
              </a:defRPr>
            </a:lvl9pPr>
          </a:lstStyle>
          <a:p>
            <a:pPr>
              <a:defRPr sz="1800" b="0">
                <a:solidFill>
                  <a:srgbClr val="566A78"/>
                </a:solidFill>
                <a:latin typeface="Onest"/>
                <a:ea typeface="Onest"/>
                <a:cs typeface="Onest"/>
              </a:defRPr>
            </a:pPr>
            <a:r>
              <a:rPr sz="1800" b="0">
                <a:solidFill>
                  <a:srgbClr val="566A78"/>
                </a:solidFill>
                <a:latin typeface="Onest"/>
                <a:ea typeface="Onest"/>
                <a:cs typeface="Onest"/>
              </a:rPr>
              <a:t>Окремий файл mangling_demo.py:</a:t>
            </a:r>
          </a:p>
        </p:txBody>
      </p:sp>
      <p:sp>
        <p:nvSpPr>
          <p:cNvPr id="4" name="Rectangle 3">
            <a:extLst>
              <a:ext uri="{FF2B5EF4-FFF2-40B4-BE49-F238E27FC236}">
                <a16:creationId xmlns:a16="http://schemas.microsoft.com/office/drawing/2014/main" id="{F7CF5867-B474-4FD2-934C-0D35E3706873}"/>
              </a:ext>
            </a:extLst>
          </p:cNvPr>
          <p:cNvSpPr>
            <a:spLocks noGrp="1"/>
          </p:cNvSpPr>
          <p:nvPr/>
        </p:nvSpPr>
        <p:spPr>
          <a:xfrm>
            <a:off x="685800" y="2143125"/>
            <a:ext cx="10820400" cy="2705101"/>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E59D7244-3B03-4C1F-BC44-6051E79C10C0}"/>
              </a:ext>
            </a:extLst>
          </p:cNvPr>
          <p:cNvSpPr>
            <a:spLocks noGrp="1"/>
          </p:cNvSpPr>
          <p:nvPr/>
        </p:nvSpPr>
        <p:spPr>
          <a:xfrm>
            <a:off x="895350" y="2276474"/>
            <a:ext cx="10382250" cy="2244251"/>
          </a:xfrm>
          <a:prstGeom prst="rect">
            <a:avLst/>
          </a:prstGeom>
          <a:noFill/>
          <a:ln w="0">
            <a:noFill/>
          </a:ln>
        </p:spPr>
        <p:txBody>
          <a:bodyPr anchor="ctr"/>
          <a:lstStyle>
            <a:defPPr>
              <a:defRPr sz="1875" b="0">
                <a:solidFill>
                  <a:srgbClr val="FFFFFF"/>
                </a:solidFill>
                <a:latin typeface="Courier New"/>
                <a:ea typeface="Courier New"/>
                <a:cs typeface="Courier New"/>
              </a:defRPr>
            </a:defPPr>
            <a:lvl1pPr>
              <a:defRPr sz="1875" b="0">
                <a:solidFill>
                  <a:srgbClr val="FFFFFF"/>
                </a:solidFill>
                <a:latin typeface="Courier New"/>
                <a:ea typeface="Courier New"/>
                <a:cs typeface="Courier New"/>
              </a:defRPr>
            </a:lvl1pPr>
            <a:lvl2pPr>
              <a:defRPr sz="1875" b="0">
                <a:solidFill>
                  <a:srgbClr val="FFFFFF"/>
                </a:solidFill>
                <a:latin typeface="Courier New"/>
                <a:ea typeface="Courier New"/>
                <a:cs typeface="Courier New"/>
              </a:defRPr>
            </a:lvl2pPr>
            <a:lvl3pPr>
              <a:defRPr sz="1875" b="0">
                <a:solidFill>
                  <a:srgbClr val="FFFFFF"/>
                </a:solidFill>
                <a:latin typeface="Courier New"/>
                <a:ea typeface="Courier New"/>
                <a:cs typeface="Courier New"/>
              </a:defRPr>
            </a:lvl3pPr>
            <a:lvl4pPr>
              <a:defRPr sz="1875" b="0">
                <a:solidFill>
                  <a:srgbClr val="FFFFFF"/>
                </a:solidFill>
                <a:latin typeface="Courier New"/>
                <a:ea typeface="Courier New"/>
                <a:cs typeface="Courier New"/>
              </a:defRPr>
            </a:lvl4pPr>
            <a:lvl5pPr>
              <a:defRPr sz="1875" b="0">
                <a:solidFill>
                  <a:srgbClr val="FFFFFF"/>
                </a:solidFill>
                <a:latin typeface="Courier New"/>
                <a:ea typeface="Courier New"/>
                <a:cs typeface="Courier New"/>
              </a:defRPr>
            </a:lvl5pPr>
            <a:lvl6pPr>
              <a:defRPr sz="1875" b="0">
                <a:solidFill>
                  <a:srgbClr val="FFFFFF"/>
                </a:solidFill>
                <a:latin typeface="Courier New"/>
                <a:ea typeface="Courier New"/>
                <a:cs typeface="Courier New"/>
              </a:defRPr>
            </a:lvl6pPr>
            <a:lvl7pPr>
              <a:defRPr sz="1875" b="0">
                <a:solidFill>
                  <a:srgbClr val="FFFFFF"/>
                </a:solidFill>
                <a:latin typeface="Courier New"/>
                <a:ea typeface="Courier New"/>
                <a:cs typeface="Courier New"/>
              </a:defRPr>
            </a:lvl7pPr>
            <a:lvl8pPr>
              <a:defRPr sz="1875" b="0">
                <a:solidFill>
                  <a:srgbClr val="FFFFFF"/>
                </a:solidFill>
                <a:latin typeface="Courier New"/>
                <a:ea typeface="Courier New"/>
                <a:cs typeface="Courier New"/>
              </a:defRPr>
            </a:lvl8pPr>
            <a:lvl9pPr>
              <a:defRPr sz="1875" b="0">
                <a:solidFill>
                  <a:srgbClr val="FFFFFF"/>
                </a:solidFill>
                <a:latin typeface="Courier New"/>
                <a:ea typeface="Courier New"/>
                <a:cs typeface="Courier New"/>
              </a:defRPr>
            </a:lvl9pPr>
          </a:lstStyle>
          <a:p>
            <a:pPr>
              <a:defRPr sz="1875" b="0">
                <a:solidFill>
                  <a:srgbClr val="FFFFFF"/>
                </a:solidFill>
                <a:latin typeface="Courier New"/>
                <a:ea typeface="Courier New"/>
                <a:cs typeface="Courier New"/>
              </a:defRPr>
            </a:pPr>
            <a:r>
              <a:rPr sz="1875" b="0" dirty="0">
                <a:solidFill>
                  <a:srgbClr val="FFFFFF"/>
                </a:solidFill>
                <a:latin typeface="Courier New"/>
                <a:ea typeface="Courier New"/>
                <a:cs typeface="Courier New"/>
              </a:rPr>
              <a:t>class Person:</a:t>
            </a:r>
          </a:p>
          <a:p>
            <a:pPr>
              <a:defRPr sz="1875" b="0">
                <a:solidFill>
                  <a:srgbClr val="FFFFFF"/>
                </a:solidFill>
                <a:latin typeface="Courier New"/>
                <a:ea typeface="Courier New"/>
                <a:cs typeface="Courier New"/>
              </a:defRPr>
            </a:pPr>
            <a:r>
              <a:rPr sz="1875" b="0" dirty="0">
                <a:solidFill>
                  <a:srgbClr val="FFFFFF"/>
                </a:solidFill>
                <a:latin typeface="Courier New"/>
                <a:ea typeface="Courier New"/>
                <a:cs typeface="Courier New"/>
              </a:rPr>
              <a:t>    def __init__(self, name):</a:t>
            </a:r>
          </a:p>
          <a:p>
            <a:pPr>
              <a:defRPr sz="1875" b="0">
                <a:solidFill>
                  <a:srgbClr val="FFFFFF"/>
                </a:solidFill>
                <a:latin typeface="Courier New"/>
                <a:ea typeface="Courier New"/>
                <a:cs typeface="Courier New"/>
              </a:defRPr>
            </a:pPr>
            <a:r>
              <a:rPr sz="1875" b="0" dirty="0">
                <a:solidFill>
                  <a:srgbClr val="FFFFFF"/>
                </a:solidFill>
                <a:latin typeface="Courier New"/>
                <a:ea typeface="Courier New"/>
                <a:cs typeface="Courier New"/>
              </a:rPr>
              <a:t>        </a:t>
            </a:r>
            <a:r>
              <a:rPr sz="1875" b="0" dirty="0" err="1">
                <a:solidFill>
                  <a:srgbClr val="FFFFFF"/>
                </a:solidFill>
                <a:latin typeface="Courier New"/>
                <a:ea typeface="Courier New"/>
                <a:cs typeface="Courier New"/>
              </a:rPr>
              <a:t>self.__name</a:t>
            </a:r>
            <a:r>
              <a:rPr sz="1875" b="0" dirty="0">
                <a:solidFill>
                  <a:srgbClr val="FFFFFF"/>
                </a:solidFill>
                <a:latin typeface="Courier New"/>
                <a:ea typeface="Courier New"/>
                <a:cs typeface="Courier New"/>
              </a:rPr>
              <a:t> = name</a:t>
            </a:r>
            <a:endParaRPr lang="en-US" dirty="0"/>
          </a:p>
          <a:p>
            <a:endParaRPr sz="1875" b="0" dirty="0">
              <a:solidFill>
                <a:srgbClr val="FFFFFF"/>
              </a:solidFill>
              <a:latin typeface="Courier New"/>
              <a:ea typeface="Courier New"/>
              <a:cs typeface="Courier New"/>
            </a:endParaRPr>
          </a:p>
          <a:p>
            <a:pPr>
              <a:defRPr sz="1875" b="0">
                <a:solidFill>
                  <a:srgbClr val="FFFFFF"/>
                </a:solidFill>
                <a:latin typeface="Courier New"/>
                <a:ea typeface="Courier New"/>
                <a:cs typeface="Courier New"/>
              </a:defRPr>
            </a:pPr>
            <a:r>
              <a:rPr sz="1875" b="0" dirty="0">
                <a:solidFill>
                  <a:srgbClr val="FFFFFF"/>
                </a:solidFill>
                <a:latin typeface="Courier New"/>
                <a:ea typeface="Courier New"/>
                <a:cs typeface="Courier New"/>
              </a:rPr>
              <a:t>person = Person("Олена")</a:t>
            </a:r>
          </a:p>
          <a:p>
            <a:pPr>
              <a:defRPr sz="1875" b="0">
                <a:solidFill>
                  <a:srgbClr val="FFFFFF"/>
                </a:solidFill>
                <a:latin typeface="Courier New"/>
                <a:ea typeface="Courier New"/>
                <a:cs typeface="Courier New"/>
              </a:defRPr>
            </a:pPr>
            <a:r>
              <a:rPr sz="1875" b="0" dirty="0">
                <a:solidFill>
                  <a:srgbClr val="FFFFFF"/>
                </a:solidFill>
                <a:latin typeface="Courier New"/>
                <a:ea typeface="Courier New"/>
                <a:cs typeface="Courier New"/>
              </a:rPr>
              <a:t>print(</a:t>
            </a:r>
            <a:r>
              <a:rPr sz="1875" b="0" dirty="0" err="1">
                <a:solidFill>
                  <a:srgbClr val="FFFFFF"/>
                </a:solidFill>
                <a:latin typeface="Courier New"/>
                <a:ea typeface="Courier New"/>
                <a:cs typeface="Courier New"/>
              </a:rPr>
              <a:t>person._Person__name</a:t>
            </a:r>
            <a:r>
              <a:rPr sz="1875" b="0" dirty="0">
                <a:solidFill>
                  <a:srgbClr val="FFFFFF"/>
                </a:solidFill>
                <a:latin typeface="Courier New"/>
                <a:ea typeface="Courier New"/>
                <a:cs typeface="Courier New"/>
              </a:rPr>
              <a:t>)</a:t>
            </a:r>
          </a:p>
        </p:txBody>
      </p:sp>
      <p:sp>
        <p:nvSpPr>
          <p:cNvPr id="6" name="Rectangle 5">
            <a:extLst>
              <a:ext uri="{FF2B5EF4-FFF2-40B4-BE49-F238E27FC236}">
                <a16:creationId xmlns:a16="http://schemas.microsoft.com/office/drawing/2014/main" id="{AA6801F9-AAEC-430E-ACD5-FBC68A2A424E}"/>
              </a:ext>
            </a:extLst>
          </p:cNvPr>
          <p:cNvSpPr>
            <a:spLocks noGrp="1"/>
          </p:cNvSpPr>
          <p:nvPr/>
        </p:nvSpPr>
        <p:spPr>
          <a:xfrm>
            <a:off x="723900" y="4371975"/>
            <a:ext cx="10572750" cy="2105025"/>
          </a:xfrm>
          <a:prstGeom prst="rect">
            <a:avLst/>
          </a:prstGeom>
          <a:noFill/>
          <a:ln w="0">
            <a:noFill/>
          </a:ln>
        </p:spPr>
        <p:txBody>
          <a:bodyPr anchor="ctr"/>
          <a:lstStyle>
            <a:defPPr>
              <a:defRPr sz="1800" b="1">
                <a:solidFill>
                  <a:srgbClr val="1B6C57"/>
                </a:solidFill>
                <a:latin typeface="Onest"/>
                <a:ea typeface="Onest"/>
                <a:cs typeface="Onest"/>
              </a:defRPr>
            </a:defPPr>
            <a:lvl1pPr>
              <a:defRPr sz="1800" b="1">
                <a:solidFill>
                  <a:srgbClr val="1B6C57"/>
                </a:solidFill>
                <a:latin typeface="Onest"/>
                <a:ea typeface="Onest"/>
                <a:cs typeface="Onest"/>
              </a:defRPr>
            </a:lvl1pPr>
            <a:lvl2pPr>
              <a:defRPr sz="1800" b="1">
                <a:solidFill>
                  <a:srgbClr val="1B6C57"/>
                </a:solidFill>
                <a:latin typeface="Onest"/>
                <a:ea typeface="Onest"/>
                <a:cs typeface="Onest"/>
              </a:defRPr>
            </a:lvl2pPr>
            <a:lvl3pPr>
              <a:defRPr sz="1800" b="1">
                <a:solidFill>
                  <a:srgbClr val="1B6C57"/>
                </a:solidFill>
                <a:latin typeface="Onest"/>
                <a:ea typeface="Onest"/>
                <a:cs typeface="Onest"/>
              </a:defRPr>
            </a:lvl3pPr>
            <a:lvl4pPr>
              <a:defRPr sz="1800" b="1">
                <a:solidFill>
                  <a:srgbClr val="1B6C57"/>
                </a:solidFill>
                <a:latin typeface="Onest"/>
                <a:ea typeface="Onest"/>
                <a:cs typeface="Onest"/>
              </a:defRPr>
            </a:lvl4pPr>
            <a:lvl5pPr>
              <a:defRPr sz="1800" b="1">
                <a:solidFill>
                  <a:srgbClr val="1B6C57"/>
                </a:solidFill>
                <a:latin typeface="Onest"/>
                <a:ea typeface="Onest"/>
                <a:cs typeface="Onest"/>
              </a:defRPr>
            </a:lvl5pPr>
            <a:lvl6pPr>
              <a:defRPr sz="1800" b="1">
                <a:solidFill>
                  <a:srgbClr val="1B6C57"/>
                </a:solidFill>
                <a:latin typeface="Onest"/>
                <a:ea typeface="Onest"/>
                <a:cs typeface="Onest"/>
              </a:defRPr>
            </a:lvl6pPr>
            <a:lvl7pPr>
              <a:defRPr sz="1800" b="1">
                <a:solidFill>
                  <a:srgbClr val="1B6C57"/>
                </a:solidFill>
                <a:latin typeface="Onest"/>
                <a:ea typeface="Onest"/>
                <a:cs typeface="Onest"/>
              </a:defRPr>
            </a:lvl7pPr>
            <a:lvl8pPr>
              <a:defRPr sz="1800" b="1">
                <a:solidFill>
                  <a:srgbClr val="1B6C57"/>
                </a:solidFill>
                <a:latin typeface="Onest"/>
                <a:ea typeface="Onest"/>
                <a:cs typeface="Onest"/>
              </a:defRPr>
            </a:lvl8pPr>
            <a:lvl9pPr>
              <a:defRPr sz="1800" b="1">
                <a:solidFill>
                  <a:srgbClr val="1B6C57"/>
                </a:solidFill>
                <a:latin typeface="Onest"/>
                <a:ea typeface="Onest"/>
                <a:cs typeface="Onest"/>
              </a:defRPr>
            </a:lvl9pPr>
          </a:lstStyle>
          <a:p>
            <a:pPr>
              <a:defRPr sz="1800" b="1">
                <a:solidFill>
                  <a:srgbClr val="1B6C57"/>
                </a:solidFill>
                <a:latin typeface="Onest"/>
                <a:ea typeface="Onest"/>
                <a:cs typeface="Onest"/>
              </a:defRPr>
            </a:pPr>
            <a:r>
              <a:rPr sz="1800" b="1">
                <a:solidFill>
                  <a:srgbClr val="1B6C57"/>
                </a:solidFill>
                <a:latin typeface="Onest"/>
                <a:ea typeface="Onest"/>
                <a:cs typeface="Onest"/>
              </a:rPr>
              <a:t>Name mangling змінює ім'я атрибута для зменшення випадкових конфліктів у дочірніх класах.</a:t>
            </a:r>
          </a:p>
        </p:txBody>
      </p:sp>
    </p:spTree>
    <p:extLst>
      <p:ext uri="{BB962C8B-B14F-4D97-AF65-F5344CB8AC3E}">
        <p14:creationId xmlns:p14="http://schemas.microsoft.com/office/powerpoint/2010/main" val="1781246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B6007D-0016-42F2-901C-3B96BFE253CA}"/>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Валідація до зміни стану</a:t>
            </a:r>
          </a:p>
        </p:txBody>
      </p:sp>
      <p:sp>
        <p:nvSpPr>
          <p:cNvPr id="3" name="Rectangle 2">
            <a:extLst>
              <a:ext uri="{FF2B5EF4-FFF2-40B4-BE49-F238E27FC236}">
                <a16:creationId xmlns:a16="http://schemas.microsoft.com/office/drawing/2014/main" id="{A669AE6F-5D76-4603-83F1-E0E0317D5CB4}"/>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566A78"/>
                </a:solidFill>
                <a:latin typeface="Onest"/>
                <a:ea typeface="Onest"/>
                <a:cs typeface="Onest"/>
              </a:defRPr>
            </a:defPPr>
            <a:lvl1pPr>
              <a:defRPr sz="1800" b="0">
                <a:solidFill>
                  <a:srgbClr val="566A78"/>
                </a:solidFill>
                <a:latin typeface="Onest"/>
                <a:ea typeface="Onest"/>
                <a:cs typeface="Onest"/>
              </a:defRPr>
            </a:lvl1pPr>
            <a:lvl2pPr>
              <a:defRPr sz="1800" b="0">
                <a:solidFill>
                  <a:srgbClr val="566A78"/>
                </a:solidFill>
                <a:latin typeface="Onest"/>
                <a:ea typeface="Onest"/>
                <a:cs typeface="Onest"/>
              </a:defRPr>
            </a:lvl2pPr>
            <a:lvl3pPr>
              <a:defRPr sz="1800" b="0">
                <a:solidFill>
                  <a:srgbClr val="566A78"/>
                </a:solidFill>
                <a:latin typeface="Onest"/>
                <a:ea typeface="Onest"/>
                <a:cs typeface="Onest"/>
              </a:defRPr>
            </a:lvl3pPr>
            <a:lvl4pPr>
              <a:defRPr sz="1800" b="0">
                <a:solidFill>
                  <a:srgbClr val="566A78"/>
                </a:solidFill>
                <a:latin typeface="Onest"/>
                <a:ea typeface="Onest"/>
                <a:cs typeface="Onest"/>
              </a:defRPr>
            </a:lvl4pPr>
            <a:lvl5pPr>
              <a:defRPr sz="1800" b="0">
                <a:solidFill>
                  <a:srgbClr val="566A78"/>
                </a:solidFill>
                <a:latin typeface="Onest"/>
                <a:ea typeface="Onest"/>
                <a:cs typeface="Onest"/>
              </a:defRPr>
            </a:lvl5pPr>
            <a:lvl6pPr>
              <a:defRPr sz="1800" b="0">
                <a:solidFill>
                  <a:srgbClr val="566A78"/>
                </a:solidFill>
                <a:latin typeface="Onest"/>
                <a:ea typeface="Onest"/>
                <a:cs typeface="Onest"/>
              </a:defRPr>
            </a:lvl6pPr>
            <a:lvl7pPr>
              <a:defRPr sz="1800" b="0">
                <a:solidFill>
                  <a:srgbClr val="566A78"/>
                </a:solidFill>
                <a:latin typeface="Onest"/>
                <a:ea typeface="Onest"/>
                <a:cs typeface="Onest"/>
              </a:defRPr>
            </a:lvl7pPr>
            <a:lvl8pPr>
              <a:defRPr sz="1800" b="0">
                <a:solidFill>
                  <a:srgbClr val="566A78"/>
                </a:solidFill>
                <a:latin typeface="Onest"/>
                <a:ea typeface="Onest"/>
                <a:cs typeface="Onest"/>
              </a:defRPr>
            </a:lvl8pPr>
            <a:lvl9pPr>
              <a:defRPr sz="1800" b="0">
                <a:solidFill>
                  <a:srgbClr val="566A78"/>
                </a:solidFill>
                <a:latin typeface="Onest"/>
                <a:ea typeface="Onest"/>
                <a:cs typeface="Onest"/>
              </a:defRPr>
            </a:lvl9pPr>
          </a:lstStyle>
          <a:p>
            <a:pPr>
              <a:defRPr sz="1800" b="0">
                <a:solidFill>
                  <a:srgbClr val="566A78"/>
                </a:solidFill>
                <a:latin typeface="Onest"/>
                <a:ea typeface="Onest"/>
                <a:cs typeface="Onest"/>
              </a:defRPr>
            </a:pPr>
            <a:r>
              <a:rPr sz="1800" b="0">
                <a:solidFill>
                  <a:srgbClr val="566A78"/>
                </a:solidFill>
                <a:latin typeface="Onest"/>
                <a:ea typeface="Onest"/>
                <a:cs typeface="Onest"/>
              </a:rPr>
              <a:t>Перевірку виконуємо перед присвоєнням.</a:t>
            </a:r>
          </a:p>
        </p:txBody>
      </p:sp>
      <p:sp>
        <p:nvSpPr>
          <p:cNvPr id="4" name="Rectangle 3">
            <a:extLst>
              <a:ext uri="{FF2B5EF4-FFF2-40B4-BE49-F238E27FC236}">
                <a16:creationId xmlns:a16="http://schemas.microsoft.com/office/drawing/2014/main" id="{D6B863C8-E506-4FE3-AA90-9EBB2C15395C}"/>
              </a:ext>
            </a:extLst>
          </p:cNvPr>
          <p:cNvSpPr>
            <a:spLocks noGrp="1"/>
          </p:cNvSpPr>
          <p:nvPr/>
        </p:nvSpPr>
        <p:spPr>
          <a:xfrm>
            <a:off x="685800" y="2143125"/>
            <a:ext cx="10820400" cy="1504950"/>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8E01F959-B34F-4538-8256-7650E31E67D3}"/>
              </a:ext>
            </a:extLst>
          </p:cNvPr>
          <p:cNvSpPr>
            <a:spLocks noGrp="1"/>
          </p:cNvSpPr>
          <p:nvPr/>
        </p:nvSpPr>
        <p:spPr>
          <a:xfrm>
            <a:off x="895350" y="2276475"/>
            <a:ext cx="10382250" cy="1266825"/>
          </a:xfrm>
          <a:prstGeom prst="rect">
            <a:avLst/>
          </a:prstGeom>
          <a:noFill/>
          <a:ln w="0">
            <a:noFill/>
          </a:ln>
        </p:spPr>
        <p:txBody>
          <a:bodyPr anchor="ctr"/>
          <a:lstStyle>
            <a:defPPr>
              <a:defRPr sz="1875" b="0">
                <a:solidFill>
                  <a:srgbClr val="FFFFFF"/>
                </a:solidFill>
                <a:latin typeface="Courier New"/>
                <a:ea typeface="Courier New"/>
                <a:cs typeface="Courier New"/>
              </a:defRPr>
            </a:defPPr>
            <a:lvl1pPr>
              <a:defRPr sz="1875" b="0">
                <a:solidFill>
                  <a:srgbClr val="FFFFFF"/>
                </a:solidFill>
                <a:latin typeface="Courier New"/>
                <a:ea typeface="Courier New"/>
                <a:cs typeface="Courier New"/>
              </a:defRPr>
            </a:lvl1pPr>
            <a:lvl2pPr>
              <a:defRPr sz="1875" b="0">
                <a:solidFill>
                  <a:srgbClr val="FFFFFF"/>
                </a:solidFill>
                <a:latin typeface="Courier New"/>
                <a:ea typeface="Courier New"/>
                <a:cs typeface="Courier New"/>
              </a:defRPr>
            </a:lvl2pPr>
            <a:lvl3pPr>
              <a:defRPr sz="1875" b="0">
                <a:solidFill>
                  <a:srgbClr val="FFFFFF"/>
                </a:solidFill>
                <a:latin typeface="Courier New"/>
                <a:ea typeface="Courier New"/>
                <a:cs typeface="Courier New"/>
              </a:defRPr>
            </a:lvl3pPr>
            <a:lvl4pPr>
              <a:defRPr sz="1875" b="0">
                <a:solidFill>
                  <a:srgbClr val="FFFFFF"/>
                </a:solidFill>
                <a:latin typeface="Courier New"/>
                <a:ea typeface="Courier New"/>
                <a:cs typeface="Courier New"/>
              </a:defRPr>
            </a:lvl4pPr>
            <a:lvl5pPr>
              <a:defRPr sz="1875" b="0">
                <a:solidFill>
                  <a:srgbClr val="FFFFFF"/>
                </a:solidFill>
                <a:latin typeface="Courier New"/>
                <a:ea typeface="Courier New"/>
                <a:cs typeface="Courier New"/>
              </a:defRPr>
            </a:lvl5pPr>
            <a:lvl6pPr>
              <a:defRPr sz="1875" b="0">
                <a:solidFill>
                  <a:srgbClr val="FFFFFF"/>
                </a:solidFill>
                <a:latin typeface="Courier New"/>
                <a:ea typeface="Courier New"/>
                <a:cs typeface="Courier New"/>
              </a:defRPr>
            </a:lvl6pPr>
            <a:lvl7pPr>
              <a:defRPr sz="1875" b="0">
                <a:solidFill>
                  <a:srgbClr val="FFFFFF"/>
                </a:solidFill>
                <a:latin typeface="Courier New"/>
                <a:ea typeface="Courier New"/>
                <a:cs typeface="Courier New"/>
              </a:defRPr>
            </a:lvl7pPr>
            <a:lvl8pPr>
              <a:defRPr sz="1875" b="0">
                <a:solidFill>
                  <a:srgbClr val="FFFFFF"/>
                </a:solidFill>
                <a:latin typeface="Courier New"/>
                <a:ea typeface="Courier New"/>
                <a:cs typeface="Courier New"/>
              </a:defRPr>
            </a:lvl8pPr>
            <a:lvl9pPr>
              <a:defRPr sz="1875" b="0">
                <a:solidFill>
                  <a:srgbClr val="FFFFFF"/>
                </a:solidFill>
                <a:latin typeface="Courier New"/>
                <a:ea typeface="Courier New"/>
                <a:cs typeface="Courier New"/>
              </a:defRPr>
            </a:lvl9pPr>
          </a:lstStyle>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def set_age(self, value):</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if value &lt;= 0:</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raise ValueError("Вік має бути додатним")</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self._age = value</a:t>
            </a:r>
          </a:p>
        </p:txBody>
      </p:sp>
      <p:sp>
        <p:nvSpPr>
          <p:cNvPr id="6" name="Rectangle 5">
            <a:extLst>
              <a:ext uri="{FF2B5EF4-FFF2-40B4-BE49-F238E27FC236}">
                <a16:creationId xmlns:a16="http://schemas.microsoft.com/office/drawing/2014/main" id="{E08B9F11-3C80-4549-8EE9-B9E13BE7FA83}"/>
              </a:ext>
            </a:extLst>
          </p:cNvPr>
          <p:cNvSpPr>
            <a:spLocks noGrp="1"/>
          </p:cNvSpPr>
          <p:nvPr/>
        </p:nvSpPr>
        <p:spPr>
          <a:xfrm>
            <a:off x="723900" y="3790950"/>
            <a:ext cx="6096000" cy="2686050"/>
          </a:xfrm>
          <a:prstGeom prst="rect">
            <a:avLst/>
          </a:prstGeom>
          <a:noFill/>
          <a:ln w="0">
            <a:noFill/>
          </a:ln>
        </p:spPr>
        <p:txBody>
          <a:bodyPr anchor="ctr"/>
          <a:lstStyle>
            <a:defPPr>
              <a:defRPr sz="1800" b="1">
                <a:solidFill>
                  <a:srgbClr val="1B6C57"/>
                </a:solidFill>
                <a:latin typeface="Onest"/>
                <a:ea typeface="Onest"/>
                <a:cs typeface="Onest"/>
              </a:defRPr>
            </a:defPPr>
            <a:lvl1pPr>
              <a:defRPr sz="1800" b="1">
                <a:solidFill>
                  <a:srgbClr val="1B6C57"/>
                </a:solidFill>
                <a:latin typeface="Onest"/>
                <a:ea typeface="Onest"/>
                <a:cs typeface="Onest"/>
              </a:defRPr>
            </a:lvl1pPr>
            <a:lvl2pPr>
              <a:defRPr sz="1800" b="1">
                <a:solidFill>
                  <a:srgbClr val="1B6C57"/>
                </a:solidFill>
                <a:latin typeface="Onest"/>
                <a:ea typeface="Onest"/>
                <a:cs typeface="Onest"/>
              </a:defRPr>
            </a:lvl2pPr>
            <a:lvl3pPr>
              <a:defRPr sz="1800" b="1">
                <a:solidFill>
                  <a:srgbClr val="1B6C57"/>
                </a:solidFill>
                <a:latin typeface="Onest"/>
                <a:ea typeface="Onest"/>
                <a:cs typeface="Onest"/>
              </a:defRPr>
            </a:lvl3pPr>
            <a:lvl4pPr>
              <a:defRPr sz="1800" b="1">
                <a:solidFill>
                  <a:srgbClr val="1B6C57"/>
                </a:solidFill>
                <a:latin typeface="Onest"/>
                <a:ea typeface="Onest"/>
                <a:cs typeface="Onest"/>
              </a:defRPr>
            </a:lvl4pPr>
            <a:lvl5pPr>
              <a:defRPr sz="1800" b="1">
                <a:solidFill>
                  <a:srgbClr val="1B6C57"/>
                </a:solidFill>
                <a:latin typeface="Onest"/>
                <a:ea typeface="Onest"/>
                <a:cs typeface="Onest"/>
              </a:defRPr>
            </a:lvl5pPr>
            <a:lvl6pPr>
              <a:defRPr sz="1800" b="1">
                <a:solidFill>
                  <a:srgbClr val="1B6C57"/>
                </a:solidFill>
                <a:latin typeface="Onest"/>
                <a:ea typeface="Onest"/>
                <a:cs typeface="Onest"/>
              </a:defRPr>
            </a:lvl6pPr>
            <a:lvl7pPr>
              <a:defRPr sz="1800" b="1">
                <a:solidFill>
                  <a:srgbClr val="1B6C57"/>
                </a:solidFill>
                <a:latin typeface="Onest"/>
                <a:ea typeface="Onest"/>
                <a:cs typeface="Onest"/>
              </a:defRPr>
            </a:lvl7pPr>
            <a:lvl8pPr>
              <a:defRPr sz="1800" b="1">
                <a:solidFill>
                  <a:srgbClr val="1B6C57"/>
                </a:solidFill>
                <a:latin typeface="Onest"/>
                <a:ea typeface="Onest"/>
                <a:cs typeface="Onest"/>
              </a:defRPr>
            </a:lvl8pPr>
            <a:lvl9pPr>
              <a:defRPr sz="1800" b="1">
                <a:solidFill>
                  <a:srgbClr val="1B6C57"/>
                </a:solidFill>
                <a:latin typeface="Onest"/>
                <a:ea typeface="Onest"/>
                <a:cs typeface="Onest"/>
              </a:defRPr>
            </a:lvl9pPr>
          </a:lstStyle>
          <a:p>
            <a:pPr>
              <a:defRPr sz="1800" b="1">
                <a:solidFill>
                  <a:srgbClr val="1B6C57"/>
                </a:solidFill>
                <a:latin typeface="Onest"/>
                <a:ea typeface="Onest"/>
                <a:cs typeface="Onest"/>
              </a:defRPr>
            </a:pPr>
            <a:r>
              <a:rPr sz="1800" b="1">
                <a:solidFill>
                  <a:srgbClr val="1B6C57"/>
                </a:solidFill>
                <a:latin typeface="Onest"/>
                <a:ea typeface="Onest"/>
                <a:cs typeface="Onest"/>
              </a:rPr>
              <a:t>Метод відхиляє помилку, зберігаючи попередній стан.</a:t>
            </a:r>
          </a:p>
        </p:txBody>
      </p:sp>
      <p:sp>
        <p:nvSpPr>
          <p:cNvPr id="7" name="Rectangle 6">
            <a:extLst>
              <a:ext uri="{FF2B5EF4-FFF2-40B4-BE49-F238E27FC236}">
                <a16:creationId xmlns:a16="http://schemas.microsoft.com/office/drawing/2014/main" id="{B6A3E01A-0578-46DD-A55C-E1A487D2F10B}"/>
              </a:ext>
            </a:extLst>
          </p:cNvPr>
          <p:cNvSpPr>
            <a:spLocks noGrp="1"/>
          </p:cNvSpPr>
          <p:nvPr/>
        </p:nvSpPr>
        <p:spPr>
          <a:xfrm>
            <a:off x="7239000" y="4095750"/>
            <a:ext cx="4000500" cy="1619250"/>
          </a:xfrm>
          <a:prstGeom prst="rect">
            <a:avLst/>
          </a:prstGeom>
          <a:noFill/>
          <a:ln w="0">
            <a:noFill/>
          </a:ln>
        </p:spPr>
        <p:txBody>
          <a:bodyPr anchor="ctr"/>
          <a:lstStyle>
            <a:defPPr>
              <a:defRPr sz="1875" b="0">
                <a:solidFill>
                  <a:srgbClr val="1B6C57"/>
                </a:solidFill>
                <a:latin typeface="Onest"/>
                <a:ea typeface="Onest"/>
                <a:cs typeface="Onest"/>
              </a:defRPr>
            </a:defPPr>
            <a:lvl1pPr>
              <a:defRPr sz="1875" b="0">
                <a:solidFill>
                  <a:srgbClr val="1B6C57"/>
                </a:solidFill>
                <a:latin typeface="Onest"/>
                <a:ea typeface="Onest"/>
                <a:cs typeface="Onest"/>
              </a:defRPr>
            </a:lvl1pPr>
            <a:lvl2pPr>
              <a:defRPr sz="1875" b="0">
                <a:solidFill>
                  <a:srgbClr val="1B6C57"/>
                </a:solidFill>
                <a:latin typeface="Onest"/>
                <a:ea typeface="Onest"/>
                <a:cs typeface="Onest"/>
              </a:defRPr>
            </a:lvl2pPr>
            <a:lvl3pPr>
              <a:defRPr sz="1875" b="0">
                <a:solidFill>
                  <a:srgbClr val="1B6C57"/>
                </a:solidFill>
                <a:latin typeface="Onest"/>
                <a:ea typeface="Onest"/>
                <a:cs typeface="Onest"/>
              </a:defRPr>
            </a:lvl3pPr>
            <a:lvl4pPr>
              <a:defRPr sz="1875" b="0">
                <a:solidFill>
                  <a:srgbClr val="1B6C57"/>
                </a:solidFill>
                <a:latin typeface="Onest"/>
                <a:ea typeface="Onest"/>
                <a:cs typeface="Onest"/>
              </a:defRPr>
            </a:lvl4pPr>
            <a:lvl5pPr>
              <a:defRPr sz="1875" b="0">
                <a:solidFill>
                  <a:srgbClr val="1B6C57"/>
                </a:solidFill>
                <a:latin typeface="Onest"/>
                <a:ea typeface="Onest"/>
                <a:cs typeface="Onest"/>
              </a:defRPr>
            </a:lvl5pPr>
            <a:lvl6pPr>
              <a:defRPr sz="1875" b="0">
                <a:solidFill>
                  <a:srgbClr val="1B6C57"/>
                </a:solidFill>
                <a:latin typeface="Onest"/>
                <a:ea typeface="Onest"/>
                <a:cs typeface="Onest"/>
              </a:defRPr>
            </a:lvl6pPr>
            <a:lvl7pPr>
              <a:defRPr sz="1875" b="0">
                <a:solidFill>
                  <a:srgbClr val="1B6C57"/>
                </a:solidFill>
                <a:latin typeface="Onest"/>
                <a:ea typeface="Onest"/>
                <a:cs typeface="Onest"/>
              </a:defRPr>
            </a:lvl7pPr>
            <a:lvl8pPr>
              <a:defRPr sz="1875" b="0">
                <a:solidFill>
                  <a:srgbClr val="1B6C57"/>
                </a:solidFill>
                <a:latin typeface="Onest"/>
                <a:ea typeface="Onest"/>
                <a:cs typeface="Onest"/>
              </a:defRPr>
            </a:lvl8pPr>
            <a:lvl9pPr>
              <a:defRPr sz="1875" b="0">
                <a:solidFill>
                  <a:srgbClr val="1B6C57"/>
                </a:solidFill>
                <a:latin typeface="Onest"/>
                <a:ea typeface="Onest"/>
                <a:cs typeface="Onest"/>
              </a:defRPr>
            </a:lvl9pPr>
          </a:lstStyle>
          <a:p>
            <a:pPr>
              <a:defRPr sz="1875" b="0">
                <a:solidFill>
                  <a:srgbClr val="1B6C57"/>
                </a:solidFill>
                <a:latin typeface="Onest"/>
                <a:ea typeface="Onest"/>
                <a:cs typeface="Onest"/>
              </a:defRPr>
            </a:pPr>
            <a:r>
              <a:rPr sz="1875" b="0">
                <a:solidFill>
                  <a:srgbClr val="1B6C57"/>
                </a:solidFill>
                <a:latin typeface="Onest"/>
                <a:ea typeface="Onest"/>
                <a:cs typeface="Onest"/>
              </a:rPr>
              <a:t>1  Перевірка</a:t>
            </a:r>
          </a:p>
          <a:p>
            <a:pPr>
              <a:defRPr sz="1875" b="0">
                <a:solidFill>
                  <a:srgbClr val="1B6C57"/>
                </a:solidFill>
                <a:latin typeface="Onest"/>
                <a:ea typeface="Onest"/>
                <a:cs typeface="Onest"/>
              </a:defRPr>
            </a:pPr>
            <a:r>
              <a:rPr sz="1875" b="0">
                <a:solidFill>
                  <a:srgbClr val="1B6C57"/>
                </a:solidFill>
                <a:latin typeface="Onest"/>
                <a:ea typeface="Onest"/>
                <a:cs typeface="Onest"/>
              </a:rPr>
              <a:t>2  Помилка або запис</a:t>
            </a:r>
          </a:p>
          <a:p>
            <a:pPr>
              <a:defRPr sz="1875" b="0">
                <a:solidFill>
                  <a:srgbClr val="1B6C57"/>
                </a:solidFill>
                <a:latin typeface="Onest"/>
                <a:ea typeface="Onest"/>
                <a:cs typeface="Onest"/>
              </a:defRPr>
            </a:pPr>
            <a:r>
              <a:rPr sz="1875" b="0">
                <a:solidFill>
                  <a:srgbClr val="1B6C57"/>
                </a:solidFill>
                <a:latin typeface="Onest"/>
                <a:ea typeface="Onest"/>
                <a:cs typeface="Onest"/>
              </a:rPr>
              <a:t>3  Збережений стан</a:t>
            </a:r>
          </a:p>
        </p:txBody>
      </p:sp>
    </p:spTree>
    <p:extLst>
      <p:ext uri="{BB962C8B-B14F-4D97-AF65-F5344CB8AC3E}">
        <p14:creationId xmlns:p14="http://schemas.microsoft.com/office/powerpoint/2010/main" val="3747518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47951B-2F44-4E04-A984-0DDD7CF51A08}"/>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Властивість контролює доступ</a:t>
            </a:r>
          </a:p>
        </p:txBody>
      </p:sp>
      <p:sp>
        <p:nvSpPr>
          <p:cNvPr id="3" name="Rectangle 2">
            <a:extLst>
              <a:ext uri="{FF2B5EF4-FFF2-40B4-BE49-F238E27FC236}">
                <a16:creationId xmlns:a16="http://schemas.microsoft.com/office/drawing/2014/main" id="{E9EC3BF1-F52A-4740-8258-0E14A5531F1F}"/>
              </a:ext>
            </a:extLst>
          </p:cNvPr>
          <p:cNvSpPr>
            <a:spLocks noGrp="1"/>
          </p:cNvSpPr>
          <p:nvPr/>
        </p:nvSpPr>
        <p:spPr>
          <a:xfrm>
            <a:off x="704850" y="1419225"/>
            <a:ext cx="10572750" cy="590550"/>
          </a:xfrm>
          <a:prstGeom prst="rect">
            <a:avLst/>
          </a:prstGeom>
          <a:noFill/>
          <a:ln w="0">
            <a:noFill/>
          </a:ln>
        </p:spPr>
        <p:txBody>
          <a:bodyPr anchor="ctr"/>
          <a:lstStyle>
            <a:defPPr>
              <a:defRPr sz="1800" b="0">
                <a:solidFill>
                  <a:srgbClr val="566A78"/>
                </a:solidFill>
                <a:latin typeface="Onest"/>
                <a:ea typeface="Onest"/>
                <a:cs typeface="Onest"/>
              </a:defRPr>
            </a:defPPr>
            <a:lvl1pPr>
              <a:defRPr sz="1800" b="0">
                <a:solidFill>
                  <a:srgbClr val="566A78"/>
                </a:solidFill>
                <a:latin typeface="Onest"/>
                <a:ea typeface="Onest"/>
                <a:cs typeface="Onest"/>
              </a:defRPr>
            </a:lvl1pPr>
            <a:lvl2pPr>
              <a:defRPr sz="1800" b="0">
                <a:solidFill>
                  <a:srgbClr val="566A78"/>
                </a:solidFill>
                <a:latin typeface="Onest"/>
                <a:ea typeface="Onest"/>
                <a:cs typeface="Onest"/>
              </a:defRPr>
            </a:lvl2pPr>
            <a:lvl3pPr>
              <a:defRPr sz="1800" b="0">
                <a:solidFill>
                  <a:srgbClr val="566A78"/>
                </a:solidFill>
                <a:latin typeface="Onest"/>
                <a:ea typeface="Onest"/>
                <a:cs typeface="Onest"/>
              </a:defRPr>
            </a:lvl3pPr>
            <a:lvl4pPr>
              <a:defRPr sz="1800" b="0">
                <a:solidFill>
                  <a:srgbClr val="566A78"/>
                </a:solidFill>
                <a:latin typeface="Onest"/>
                <a:ea typeface="Onest"/>
                <a:cs typeface="Onest"/>
              </a:defRPr>
            </a:lvl4pPr>
            <a:lvl5pPr>
              <a:defRPr sz="1800" b="0">
                <a:solidFill>
                  <a:srgbClr val="566A78"/>
                </a:solidFill>
                <a:latin typeface="Onest"/>
                <a:ea typeface="Onest"/>
                <a:cs typeface="Onest"/>
              </a:defRPr>
            </a:lvl5pPr>
            <a:lvl6pPr>
              <a:defRPr sz="1800" b="0">
                <a:solidFill>
                  <a:srgbClr val="566A78"/>
                </a:solidFill>
                <a:latin typeface="Onest"/>
                <a:ea typeface="Onest"/>
                <a:cs typeface="Onest"/>
              </a:defRPr>
            </a:lvl6pPr>
            <a:lvl7pPr>
              <a:defRPr sz="1800" b="0">
                <a:solidFill>
                  <a:srgbClr val="566A78"/>
                </a:solidFill>
                <a:latin typeface="Onest"/>
                <a:ea typeface="Onest"/>
                <a:cs typeface="Onest"/>
              </a:defRPr>
            </a:lvl7pPr>
            <a:lvl8pPr>
              <a:defRPr sz="1800" b="0">
                <a:solidFill>
                  <a:srgbClr val="566A78"/>
                </a:solidFill>
                <a:latin typeface="Onest"/>
                <a:ea typeface="Onest"/>
                <a:cs typeface="Onest"/>
              </a:defRPr>
            </a:lvl8pPr>
            <a:lvl9pPr>
              <a:defRPr sz="1800" b="0">
                <a:solidFill>
                  <a:srgbClr val="566A78"/>
                </a:solidFill>
                <a:latin typeface="Onest"/>
                <a:ea typeface="Onest"/>
                <a:cs typeface="Onest"/>
              </a:defRPr>
            </a:lvl9pPr>
          </a:lstStyle>
          <a:p>
            <a:pPr>
              <a:defRPr sz="1800" b="0">
                <a:solidFill>
                  <a:srgbClr val="566A78"/>
                </a:solidFill>
                <a:latin typeface="Onest"/>
                <a:ea typeface="Onest"/>
                <a:cs typeface="Onest"/>
              </a:defRPr>
            </a:pPr>
            <a:r>
              <a:rPr sz="1800" b="0">
                <a:solidFill>
                  <a:srgbClr val="566A78"/>
                </a:solidFill>
                <a:latin typeface="Onest"/>
                <a:ea typeface="Onest"/>
                <a:cs typeface="Onest"/>
              </a:rPr>
              <a:t>У Person залиште в __init__ self.age = age.</a:t>
            </a:r>
          </a:p>
          <a:p>
            <a:pPr>
              <a:defRPr sz="1800" b="0">
                <a:solidFill>
                  <a:srgbClr val="566A78"/>
                </a:solidFill>
                <a:latin typeface="Onest"/>
                <a:ea typeface="Onest"/>
                <a:cs typeface="Onest"/>
              </a:defRPr>
            </a:pPr>
            <a:r>
              <a:rPr sz="1800" b="0">
                <a:solidFill>
                  <a:srgbClr val="566A78"/>
                </a:solidFill>
                <a:latin typeface="Onest"/>
                <a:ea typeface="Onest"/>
                <a:cs typeface="Onest"/>
              </a:rPr>
              <a:t>Після __init__, перед describe, додайте:</a:t>
            </a:r>
          </a:p>
        </p:txBody>
      </p:sp>
      <p:sp>
        <p:nvSpPr>
          <p:cNvPr id="4" name="Rectangle 3">
            <a:extLst>
              <a:ext uri="{FF2B5EF4-FFF2-40B4-BE49-F238E27FC236}">
                <a16:creationId xmlns:a16="http://schemas.microsoft.com/office/drawing/2014/main" id="{8904D7B7-A50E-4F02-A227-B42FB487D664}"/>
              </a:ext>
            </a:extLst>
          </p:cNvPr>
          <p:cNvSpPr>
            <a:spLocks noGrp="1"/>
          </p:cNvSpPr>
          <p:nvPr/>
        </p:nvSpPr>
        <p:spPr>
          <a:xfrm>
            <a:off x="714676" y="2480011"/>
            <a:ext cx="10820400" cy="2957513"/>
          </a:xfrm>
          <a:prstGeom prst="rect">
            <a:avLst/>
          </a:prstGeom>
          <a:solidFill>
            <a:srgbClr val="142C40"/>
          </a:solidFill>
          <a:ln w="0">
            <a:noFill/>
          </a:ln>
        </p:spPr>
        <p:txBody>
          <a:bodyPr/>
          <a:lstStyle/>
          <a:p>
            <a:endParaRPr lang="en-UA"/>
          </a:p>
        </p:txBody>
      </p:sp>
      <p:sp>
        <p:nvSpPr>
          <p:cNvPr id="5" name="Rectangle 4">
            <a:extLst>
              <a:ext uri="{FF2B5EF4-FFF2-40B4-BE49-F238E27FC236}">
                <a16:creationId xmlns:a16="http://schemas.microsoft.com/office/drawing/2014/main" id="{B2E6E68C-D7E3-41F9-BF79-B17EADB1A728}"/>
              </a:ext>
            </a:extLst>
          </p:cNvPr>
          <p:cNvSpPr>
            <a:spLocks noGrp="1"/>
          </p:cNvSpPr>
          <p:nvPr/>
        </p:nvSpPr>
        <p:spPr>
          <a:xfrm>
            <a:off x="924226" y="2613361"/>
            <a:ext cx="10382250" cy="2719388"/>
          </a:xfrm>
          <a:prstGeom prst="rect">
            <a:avLst/>
          </a:prstGeom>
          <a:noFill/>
          <a:ln w="0">
            <a:noFill/>
          </a:ln>
        </p:spPr>
        <p:txBody>
          <a:bodyPr anchor="ctr"/>
          <a:lstStyle>
            <a:defPPr>
              <a:defRPr sz="1875" b="0">
                <a:solidFill>
                  <a:srgbClr val="FFFFFF"/>
                </a:solidFill>
                <a:latin typeface="Courier New"/>
                <a:ea typeface="Courier New"/>
                <a:cs typeface="Courier New"/>
              </a:defRPr>
            </a:defPPr>
            <a:lvl1pPr>
              <a:defRPr sz="1875" b="0">
                <a:solidFill>
                  <a:srgbClr val="FFFFFF"/>
                </a:solidFill>
                <a:latin typeface="Courier New"/>
                <a:ea typeface="Courier New"/>
                <a:cs typeface="Courier New"/>
              </a:defRPr>
            </a:lvl1pPr>
            <a:lvl2pPr>
              <a:defRPr sz="1875" b="0">
                <a:solidFill>
                  <a:srgbClr val="FFFFFF"/>
                </a:solidFill>
                <a:latin typeface="Courier New"/>
                <a:ea typeface="Courier New"/>
                <a:cs typeface="Courier New"/>
              </a:defRPr>
            </a:lvl2pPr>
            <a:lvl3pPr>
              <a:defRPr sz="1875" b="0">
                <a:solidFill>
                  <a:srgbClr val="FFFFFF"/>
                </a:solidFill>
                <a:latin typeface="Courier New"/>
                <a:ea typeface="Courier New"/>
                <a:cs typeface="Courier New"/>
              </a:defRPr>
            </a:lvl3pPr>
            <a:lvl4pPr>
              <a:defRPr sz="1875" b="0">
                <a:solidFill>
                  <a:srgbClr val="FFFFFF"/>
                </a:solidFill>
                <a:latin typeface="Courier New"/>
                <a:ea typeface="Courier New"/>
                <a:cs typeface="Courier New"/>
              </a:defRPr>
            </a:lvl4pPr>
            <a:lvl5pPr>
              <a:defRPr sz="1875" b="0">
                <a:solidFill>
                  <a:srgbClr val="FFFFFF"/>
                </a:solidFill>
                <a:latin typeface="Courier New"/>
                <a:ea typeface="Courier New"/>
                <a:cs typeface="Courier New"/>
              </a:defRPr>
            </a:lvl5pPr>
            <a:lvl6pPr>
              <a:defRPr sz="1875" b="0">
                <a:solidFill>
                  <a:srgbClr val="FFFFFF"/>
                </a:solidFill>
                <a:latin typeface="Courier New"/>
                <a:ea typeface="Courier New"/>
                <a:cs typeface="Courier New"/>
              </a:defRPr>
            </a:lvl6pPr>
            <a:lvl7pPr>
              <a:defRPr sz="1875" b="0">
                <a:solidFill>
                  <a:srgbClr val="FFFFFF"/>
                </a:solidFill>
                <a:latin typeface="Courier New"/>
                <a:ea typeface="Courier New"/>
                <a:cs typeface="Courier New"/>
              </a:defRPr>
            </a:lvl7pPr>
            <a:lvl8pPr>
              <a:defRPr sz="1875" b="0">
                <a:solidFill>
                  <a:srgbClr val="FFFFFF"/>
                </a:solidFill>
                <a:latin typeface="Courier New"/>
                <a:ea typeface="Courier New"/>
                <a:cs typeface="Courier New"/>
              </a:defRPr>
            </a:lvl8pPr>
            <a:lvl9pPr>
              <a:defRPr sz="1875" b="0">
                <a:solidFill>
                  <a:srgbClr val="FFFFFF"/>
                </a:solidFill>
                <a:latin typeface="Courier New"/>
                <a:ea typeface="Courier New"/>
                <a:cs typeface="Courier New"/>
              </a:defRPr>
            </a:lvl9pPr>
          </a:lstStyle>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@property</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def age(self):</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return self._age</a:t>
            </a:r>
          </a:p>
          <a:p>
            <a:endParaRPr sz="1875" b="0">
              <a:solidFill>
                <a:srgbClr val="FFFFFF"/>
              </a:solidFill>
              <a:latin typeface="Courier New"/>
              <a:ea typeface="Courier New"/>
              <a:cs typeface="Courier New"/>
            </a:endParaRP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@age.setter</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def age(self, value):</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if value &lt;= 0:</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raise ValueError("Вік має бути додатним")</a:t>
            </a:r>
          </a:p>
          <a:p>
            <a:pPr>
              <a:defRPr sz="1875" b="0">
                <a:solidFill>
                  <a:srgbClr val="FFFFFF"/>
                </a:solidFill>
                <a:latin typeface="Courier New"/>
                <a:ea typeface="Courier New"/>
                <a:cs typeface="Courier New"/>
              </a:defRPr>
            </a:pPr>
            <a:r>
              <a:rPr sz="1875" b="0">
                <a:solidFill>
                  <a:srgbClr val="FFFFFF"/>
                </a:solidFill>
                <a:latin typeface="Courier New"/>
                <a:ea typeface="Courier New"/>
                <a:cs typeface="Courier New"/>
              </a:rPr>
              <a:t>    self._age = value</a:t>
            </a:r>
          </a:p>
        </p:txBody>
      </p:sp>
    </p:spTree>
    <p:extLst>
      <p:ext uri="{BB962C8B-B14F-4D97-AF65-F5344CB8AC3E}">
        <p14:creationId xmlns:p14="http://schemas.microsoft.com/office/powerpoint/2010/main" val="6646171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AF0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741C5F-01F3-43D7-8523-0B609E4C457B}"/>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Самостійно: перевірте межі</a:t>
            </a:r>
          </a:p>
        </p:txBody>
      </p:sp>
      <p:sp>
        <p:nvSpPr>
          <p:cNvPr id="3" name="Rectangle 2">
            <a:extLst>
              <a:ext uri="{FF2B5EF4-FFF2-40B4-BE49-F238E27FC236}">
                <a16:creationId xmlns:a16="http://schemas.microsoft.com/office/drawing/2014/main" id="{55213CE6-9E08-490A-90F8-73A1A80BB95D}"/>
              </a:ext>
            </a:extLst>
          </p:cNvPr>
          <p:cNvSpPr>
            <a:spLocks noGrp="1"/>
          </p:cNvSpPr>
          <p:nvPr/>
        </p:nvSpPr>
        <p:spPr>
          <a:xfrm>
            <a:off x="685800" y="1524000"/>
            <a:ext cx="10477500" cy="619125"/>
          </a:xfrm>
          <a:prstGeom prst="rect">
            <a:avLst/>
          </a:prstGeom>
          <a:noFill/>
          <a:ln w="0">
            <a:noFill/>
          </a:ln>
        </p:spPr>
        <p:txBody>
          <a:bodyPr anchor="ctr"/>
          <a:lstStyle>
            <a:defPPr>
              <a:defRPr sz="2100" b="0">
                <a:solidFill>
                  <a:srgbClr val="192D3B"/>
                </a:solidFill>
                <a:latin typeface="Onest"/>
                <a:ea typeface="Onest"/>
                <a:cs typeface="Onest"/>
              </a:defRPr>
            </a:defPPr>
            <a:lvl1pPr>
              <a:defRPr sz="2100" b="0">
                <a:solidFill>
                  <a:srgbClr val="192D3B"/>
                </a:solidFill>
                <a:latin typeface="Onest"/>
                <a:ea typeface="Onest"/>
                <a:cs typeface="Onest"/>
              </a:defRPr>
            </a:lvl1pPr>
            <a:lvl2pPr>
              <a:defRPr sz="2100" b="0">
                <a:solidFill>
                  <a:srgbClr val="192D3B"/>
                </a:solidFill>
                <a:latin typeface="Onest"/>
                <a:ea typeface="Onest"/>
                <a:cs typeface="Onest"/>
              </a:defRPr>
            </a:lvl2pPr>
            <a:lvl3pPr>
              <a:defRPr sz="2100" b="0">
                <a:solidFill>
                  <a:srgbClr val="192D3B"/>
                </a:solidFill>
                <a:latin typeface="Onest"/>
                <a:ea typeface="Onest"/>
                <a:cs typeface="Onest"/>
              </a:defRPr>
            </a:lvl3pPr>
            <a:lvl4pPr>
              <a:defRPr sz="2100" b="0">
                <a:solidFill>
                  <a:srgbClr val="192D3B"/>
                </a:solidFill>
                <a:latin typeface="Onest"/>
                <a:ea typeface="Onest"/>
                <a:cs typeface="Onest"/>
              </a:defRPr>
            </a:lvl4pPr>
            <a:lvl5pPr>
              <a:defRPr sz="2100" b="0">
                <a:solidFill>
                  <a:srgbClr val="192D3B"/>
                </a:solidFill>
                <a:latin typeface="Onest"/>
                <a:ea typeface="Onest"/>
                <a:cs typeface="Onest"/>
              </a:defRPr>
            </a:lvl5pPr>
            <a:lvl6pPr>
              <a:defRPr sz="2100" b="0">
                <a:solidFill>
                  <a:srgbClr val="192D3B"/>
                </a:solidFill>
                <a:latin typeface="Onest"/>
                <a:ea typeface="Onest"/>
                <a:cs typeface="Onest"/>
              </a:defRPr>
            </a:lvl6pPr>
            <a:lvl7pPr>
              <a:defRPr sz="2100" b="0">
                <a:solidFill>
                  <a:srgbClr val="192D3B"/>
                </a:solidFill>
                <a:latin typeface="Onest"/>
                <a:ea typeface="Onest"/>
                <a:cs typeface="Onest"/>
              </a:defRPr>
            </a:lvl7pPr>
            <a:lvl8pPr>
              <a:defRPr sz="2100" b="0">
                <a:solidFill>
                  <a:srgbClr val="192D3B"/>
                </a:solidFill>
                <a:latin typeface="Onest"/>
                <a:ea typeface="Onest"/>
                <a:cs typeface="Onest"/>
              </a:defRPr>
            </a:lvl8pPr>
            <a:lvl9pPr>
              <a:defRPr sz="2100" b="0">
                <a:solidFill>
                  <a:srgbClr val="192D3B"/>
                </a:solidFill>
                <a:latin typeface="Onest"/>
                <a:ea typeface="Onest"/>
                <a:cs typeface="Onest"/>
              </a:defRPr>
            </a:lvl9pPr>
          </a:lstStyle>
          <a:p>
            <a:pPr>
              <a:defRPr sz="2100" b="0">
                <a:solidFill>
                  <a:srgbClr val="192D3B"/>
                </a:solidFill>
                <a:latin typeface="Onest"/>
                <a:ea typeface="Onest"/>
                <a:cs typeface="Onest"/>
              </a:defRPr>
            </a:pPr>
            <a:r>
              <a:rPr sz="2100" b="0">
                <a:solidFill>
                  <a:srgbClr val="192D3B"/>
                </a:solidFill>
                <a:latin typeface="Onest"/>
                <a:ea typeface="Onest"/>
                <a:cs typeface="Onest"/>
              </a:rPr>
              <a:t>У setter Person дозвольте вік від 1 до 120 включно</a:t>
            </a:r>
          </a:p>
        </p:txBody>
      </p:sp>
      <p:graphicFrame>
        <p:nvGraphicFramePr>
          <p:cNvPr id="4" name="Table 3">
            <a:extLst>
              <a:ext uri="{FF2B5EF4-FFF2-40B4-BE49-F238E27FC236}">
                <a16:creationId xmlns:a16="http://schemas.microsoft.com/office/drawing/2014/main" id="{8EB4BF72-DF9B-44F5-888A-68AB4344CD13}"/>
              </a:ext>
            </a:extLst>
          </p:cNvPr>
          <p:cNvGraphicFramePr/>
          <p:nvPr/>
        </p:nvGraphicFramePr>
        <p:xfrm>
          <a:off x="685800" y="2381250"/>
          <a:ext cx="10820400" cy="2619376"/>
        </p:xfrm>
        <a:graphic>
          <a:graphicData uri="http://schemas.openxmlformats.org/drawingml/2006/table">
            <a:tbl>
              <a:tblPr/>
              <a:tblGrid>
                <a:gridCol w="54102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tblGrid>
              <a:tr h="654844">
                <a:tc>
                  <a:txBody>
                    <a:bodyPr/>
                    <a:lstStyle/>
                    <a:p>
                      <a:r>
                        <a:rPr sz="1800" b="1">
                          <a:solidFill>
                            <a:srgbClr val="FFFFFF"/>
                          </a:solidFill>
                          <a:latin typeface="Onest"/>
                          <a:ea typeface="Onest"/>
                          <a:cs typeface="Onest"/>
                        </a:rPr>
                        <a:t>Вік</a:t>
                      </a:r>
                    </a:p>
                  </a:txBody>
                  <a:tcPr>
                    <a:lnL w="9525">
                      <a:solidFill>
                        <a:srgbClr val="B9CDC6"/>
                      </a:solidFill>
                      <a:prstDash val="solid"/>
                    </a:lnL>
                    <a:lnR w="9525">
                      <a:solidFill>
                        <a:srgbClr val="B9CDC6"/>
                      </a:solidFill>
                      <a:prstDash val="solid"/>
                    </a:lnR>
                    <a:lnT w="9525">
                      <a:solidFill>
                        <a:srgbClr val="B9CDC6"/>
                      </a:solidFill>
                      <a:prstDash val="solid"/>
                    </a:lnT>
                    <a:lnB w="9525">
                      <a:solidFill>
                        <a:srgbClr val="B9CDC6"/>
                      </a:solidFill>
                      <a:prstDash val="solid"/>
                    </a:lnB>
                    <a:solidFill>
                      <a:srgbClr val="1B6C57"/>
                    </a:solidFill>
                  </a:tcPr>
                </a:tc>
                <a:tc>
                  <a:txBody>
                    <a:bodyPr/>
                    <a:lstStyle/>
                    <a:p>
                      <a:r>
                        <a:rPr sz="1800" b="1">
                          <a:solidFill>
                            <a:srgbClr val="FFFFFF"/>
                          </a:solidFill>
                          <a:latin typeface="Onest"/>
                          <a:ea typeface="Onest"/>
                          <a:cs typeface="Onest"/>
                        </a:rPr>
                        <a:t>Очікуваний результат</a:t>
                      </a:r>
                    </a:p>
                  </a:txBody>
                  <a:tcPr>
                    <a:lnL w="9525" cap="flat" cmpd="sng" algn="ctr">
                      <a:solidFill>
                        <a:srgbClr val="B9CDC6"/>
                      </a:solidFill>
                      <a:prstDash val="solid"/>
                      <a:round/>
                      <a:headEnd type="none" w="med" len="med"/>
                      <a:tailEnd type="none" w="med" len="med"/>
                    </a:lnL>
                    <a:lnR w="9525">
                      <a:solidFill>
                        <a:srgbClr val="B9CDC6"/>
                      </a:solidFill>
                      <a:prstDash val="solid"/>
                    </a:lnR>
                    <a:lnT w="9525">
                      <a:solidFill>
                        <a:srgbClr val="B9CDC6"/>
                      </a:solidFill>
                      <a:prstDash val="solid"/>
                    </a:lnT>
                    <a:lnB w="9525">
                      <a:solidFill>
                        <a:srgbClr val="B9CDC6"/>
                      </a:solidFill>
                      <a:prstDash val="solid"/>
                    </a:lnB>
                    <a:solidFill>
                      <a:srgbClr val="1B6C57"/>
                    </a:solidFill>
                  </a:tcPr>
                </a:tc>
                <a:extLst>
                  <a:ext uri="{0D108BD9-81ED-4DB2-BD59-A6C34878D82A}">
                    <a16:rowId xmlns:a16="http://schemas.microsoft.com/office/drawing/2014/main" val="10000"/>
                  </a:ext>
                </a:extLst>
              </a:tr>
              <a:tr h="654844">
                <a:tc>
                  <a:txBody>
                    <a:bodyPr/>
                    <a:lstStyle/>
                    <a:p>
                      <a:r>
                        <a:rPr sz="1800" b="0">
                          <a:solidFill>
                            <a:srgbClr val="192D3B"/>
                          </a:solidFill>
                          <a:latin typeface="Onest"/>
                          <a:ea typeface="Onest"/>
                          <a:cs typeface="Onest"/>
                        </a:rPr>
                        <a:t>1 та 120</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tc>
                  <a:txBody>
                    <a:bodyPr/>
                    <a:lstStyle/>
                    <a:p>
                      <a:r>
                        <a:rPr sz="1800" b="0">
                          <a:solidFill>
                            <a:srgbClr val="192D3B"/>
                          </a:solidFill>
                          <a:latin typeface="Onest"/>
                          <a:ea typeface="Onest"/>
                          <a:cs typeface="Onest"/>
                        </a:rPr>
                        <a:t>Створення і зміна успішні</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extLst>
                  <a:ext uri="{0D108BD9-81ED-4DB2-BD59-A6C34878D82A}">
                    <a16:rowId xmlns:a16="http://schemas.microsoft.com/office/drawing/2014/main" val="10001"/>
                  </a:ext>
                </a:extLst>
              </a:tr>
              <a:tr h="654844">
                <a:tc>
                  <a:txBody>
                    <a:bodyPr/>
                    <a:lstStyle/>
                    <a:p>
                      <a:r>
                        <a:rPr sz="1800" b="0">
                          <a:solidFill>
                            <a:srgbClr val="192D3B"/>
                          </a:solidFill>
                          <a:latin typeface="Onest"/>
                          <a:ea typeface="Onest"/>
                          <a:cs typeface="Onest"/>
                        </a:rPr>
                        <a:t>0 та 121</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E8F3ED"/>
                    </a:solidFill>
                  </a:tcPr>
                </a:tc>
                <a:tc>
                  <a:txBody>
                    <a:bodyPr/>
                    <a:lstStyle/>
                    <a:p>
                      <a:r>
                        <a:rPr sz="1800" b="0">
                          <a:solidFill>
                            <a:srgbClr val="192D3B"/>
                          </a:solidFill>
                          <a:latin typeface="Onest"/>
                          <a:ea typeface="Onest"/>
                          <a:cs typeface="Onest"/>
                        </a:rPr>
                        <a:t>ValueError</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E8F3ED"/>
                    </a:solidFill>
                  </a:tcPr>
                </a:tc>
                <a:extLst>
                  <a:ext uri="{0D108BD9-81ED-4DB2-BD59-A6C34878D82A}">
                    <a16:rowId xmlns:a16="http://schemas.microsoft.com/office/drawing/2014/main" val="10002"/>
                  </a:ext>
                </a:extLst>
              </a:tr>
              <a:tr h="654844">
                <a:tc>
                  <a:txBody>
                    <a:bodyPr/>
                    <a:lstStyle/>
                    <a:p>
                      <a:r>
                        <a:rPr sz="1800" b="0">
                          <a:solidFill>
                            <a:srgbClr val="192D3B"/>
                          </a:solidFill>
                          <a:latin typeface="Onest"/>
                          <a:ea typeface="Onest"/>
                          <a:cs typeface="Onest"/>
                        </a:rPr>
                        <a:t>Після відхиленої зміни</a:t>
                      </a:r>
                    </a:p>
                  </a:txBody>
                  <a:tcPr>
                    <a:lnL w="9525">
                      <a:solidFill>
                        <a:srgbClr val="B9CDC6"/>
                      </a:solidFill>
                      <a:prstDash val="soli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tc>
                  <a:txBody>
                    <a:bodyPr/>
                    <a:lstStyle/>
                    <a:p>
                      <a:r>
                        <a:rPr sz="1800" b="0">
                          <a:solidFill>
                            <a:srgbClr val="192D3B"/>
                          </a:solidFill>
                          <a:latin typeface="Onest"/>
                          <a:ea typeface="Onest"/>
                          <a:cs typeface="Onest"/>
                        </a:rPr>
                        <a:t>Попереднє значення 120 зберігається</a:t>
                      </a:r>
                    </a:p>
                  </a:txBody>
                  <a:tcPr>
                    <a:lnL w="9525" cap="flat" cmpd="sng" algn="ctr">
                      <a:solidFill>
                        <a:srgbClr val="B9CDC6"/>
                      </a:solidFill>
                      <a:prstDash val="solid"/>
                      <a:round/>
                      <a:headEnd type="none" w="med" len="med"/>
                      <a:tailEnd type="none" w="med" len="med"/>
                    </a:lnL>
                    <a:lnR w="9525">
                      <a:solidFill>
                        <a:srgbClr val="B9CDC6"/>
                      </a:solidFill>
                      <a:prstDash val="solid"/>
                    </a:lnR>
                    <a:lnT w="9525" cap="flat" cmpd="sng" algn="ctr">
                      <a:solidFill>
                        <a:srgbClr val="B9CDC6"/>
                      </a:solidFill>
                      <a:prstDash val="solid"/>
                      <a:round/>
                      <a:headEnd type="none" w="med" len="med"/>
                      <a:tailEnd type="none" w="med" len="med"/>
                    </a:lnT>
                    <a:lnB w="9525">
                      <a:solidFill>
                        <a:srgbClr val="B9CDC6"/>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F23C6414-83B0-429E-BD47-6222E9D0CBE4}"/>
              </a:ext>
            </a:extLst>
          </p:cNvPr>
          <p:cNvSpPr>
            <a:spLocks noGrp="1"/>
          </p:cNvSpPr>
          <p:nvPr/>
        </p:nvSpPr>
        <p:spPr>
          <a:xfrm>
            <a:off x="704850" y="5372100"/>
            <a:ext cx="10668000" cy="685800"/>
          </a:xfrm>
          <a:prstGeom prst="rect">
            <a:avLst/>
          </a:prstGeom>
          <a:noFill/>
          <a:ln w="0">
            <a:noFill/>
          </a:ln>
        </p:spPr>
        <p:txBody>
          <a:bodyPr anchor="ctr"/>
          <a:lstStyle>
            <a:defPPr>
              <a:defRPr sz="1875" b="0">
                <a:solidFill>
                  <a:srgbClr val="192D3B"/>
                </a:solidFill>
                <a:latin typeface="Onest"/>
                <a:ea typeface="Onest"/>
                <a:cs typeface="Onest"/>
              </a:defRPr>
            </a:defPPr>
            <a:lvl1pPr>
              <a:defRPr sz="1875" b="0">
                <a:solidFill>
                  <a:srgbClr val="192D3B"/>
                </a:solidFill>
                <a:latin typeface="Onest"/>
                <a:ea typeface="Onest"/>
                <a:cs typeface="Onest"/>
              </a:defRPr>
            </a:lvl1pPr>
            <a:lvl2pPr>
              <a:defRPr sz="1875" b="0">
                <a:solidFill>
                  <a:srgbClr val="192D3B"/>
                </a:solidFill>
                <a:latin typeface="Onest"/>
                <a:ea typeface="Onest"/>
                <a:cs typeface="Onest"/>
              </a:defRPr>
            </a:lvl2pPr>
            <a:lvl3pPr>
              <a:defRPr sz="1875" b="0">
                <a:solidFill>
                  <a:srgbClr val="192D3B"/>
                </a:solidFill>
                <a:latin typeface="Onest"/>
                <a:ea typeface="Onest"/>
                <a:cs typeface="Onest"/>
              </a:defRPr>
            </a:lvl3pPr>
            <a:lvl4pPr>
              <a:defRPr sz="1875" b="0">
                <a:solidFill>
                  <a:srgbClr val="192D3B"/>
                </a:solidFill>
                <a:latin typeface="Onest"/>
                <a:ea typeface="Onest"/>
                <a:cs typeface="Onest"/>
              </a:defRPr>
            </a:lvl4pPr>
            <a:lvl5pPr>
              <a:defRPr sz="1875" b="0">
                <a:solidFill>
                  <a:srgbClr val="192D3B"/>
                </a:solidFill>
                <a:latin typeface="Onest"/>
                <a:ea typeface="Onest"/>
                <a:cs typeface="Onest"/>
              </a:defRPr>
            </a:lvl5pPr>
            <a:lvl6pPr>
              <a:defRPr sz="1875" b="0">
                <a:solidFill>
                  <a:srgbClr val="192D3B"/>
                </a:solidFill>
                <a:latin typeface="Onest"/>
                <a:ea typeface="Onest"/>
                <a:cs typeface="Onest"/>
              </a:defRPr>
            </a:lvl6pPr>
            <a:lvl7pPr>
              <a:defRPr sz="1875" b="0">
                <a:solidFill>
                  <a:srgbClr val="192D3B"/>
                </a:solidFill>
                <a:latin typeface="Onest"/>
                <a:ea typeface="Onest"/>
                <a:cs typeface="Onest"/>
              </a:defRPr>
            </a:lvl7pPr>
            <a:lvl8pPr>
              <a:defRPr sz="1875" b="0">
                <a:solidFill>
                  <a:srgbClr val="192D3B"/>
                </a:solidFill>
                <a:latin typeface="Onest"/>
                <a:ea typeface="Onest"/>
                <a:cs typeface="Onest"/>
              </a:defRPr>
            </a:lvl8pPr>
            <a:lvl9pPr>
              <a:defRPr sz="1875" b="0">
                <a:solidFill>
                  <a:srgbClr val="192D3B"/>
                </a:solidFill>
                <a:latin typeface="Onest"/>
                <a:ea typeface="Onest"/>
                <a:cs typeface="Onest"/>
              </a:defRPr>
            </a:lvl9pPr>
          </a:lstStyle>
          <a:p>
            <a:pPr>
              <a:defRPr sz="1875" b="0">
                <a:solidFill>
                  <a:srgbClr val="192D3B"/>
                </a:solidFill>
                <a:latin typeface="Onest"/>
                <a:ea typeface="Onest"/>
                <a:cs typeface="Onest"/>
              </a:defRPr>
            </a:pPr>
            <a:r>
              <a:rPr sz="1875" b="0">
                <a:solidFill>
                  <a:srgbClr val="192D3B"/>
                </a:solidFill>
                <a:latin typeface="Onest"/>
                <a:ea typeface="Onest"/>
                <a:cs typeface="Onest"/>
              </a:rPr>
              <a:t>Перевірте Student та Educator. Очікувані помилки: try/except ValueError.</a:t>
            </a:r>
          </a:p>
        </p:txBody>
      </p:sp>
    </p:spTree>
    <p:extLst>
      <p:ext uri="{BB962C8B-B14F-4D97-AF65-F5344CB8AC3E}">
        <p14:creationId xmlns:p14="http://schemas.microsoft.com/office/powerpoint/2010/main" val="459947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AF0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027EF6-8596-496A-8EDE-F4B6E5AACDA9}"/>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Самостійно: захистіть правило кейсу</a:t>
            </a:r>
          </a:p>
        </p:txBody>
      </p:sp>
      <p:sp>
        <p:nvSpPr>
          <p:cNvPr id="3" name="Rectangle 2">
            <a:extLst>
              <a:ext uri="{FF2B5EF4-FFF2-40B4-BE49-F238E27FC236}">
                <a16:creationId xmlns:a16="http://schemas.microsoft.com/office/drawing/2014/main" id="{56A22CE4-F2C8-46AD-A52D-EEAE80539C60}"/>
              </a:ext>
            </a:extLst>
          </p:cNvPr>
          <p:cNvSpPr>
            <a:spLocks noGrp="1"/>
          </p:cNvSpPr>
          <p:nvPr/>
        </p:nvSpPr>
        <p:spPr>
          <a:xfrm>
            <a:off x="704850" y="1524000"/>
            <a:ext cx="10477500" cy="800100"/>
          </a:xfrm>
          <a:prstGeom prst="rect">
            <a:avLst/>
          </a:prstGeom>
          <a:noFill/>
          <a:ln w="0">
            <a:noFill/>
          </a:ln>
        </p:spPr>
        <p:txBody>
          <a:bodyPr anchor="ctr"/>
          <a:lstStyle>
            <a:defPPr>
              <a:defRPr sz="2100" b="0">
                <a:solidFill>
                  <a:srgbClr val="192D3B"/>
                </a:solidFill>
                <a:latin typeface="Onest"/>
                <a:ea typeface="Onest"/>
                <a:cs typeface="Onest"/>
              </a:defRPr>
            </a:defPPr>
            <a:lvl1pPr>
              <a:defRPr sz="2100" b="0">
                <a:solidFill>
                  <a:srgbClr val="192D3B"/>
                </a:solidFill>
                <a:latin typeface="Onest"/>
                <a:ea typeface="Onest"/>
                <a:cs typeface="Onest"/>
              </a:defRPr>
            </a:lvl1pPr>
            <a:lvl2pPr>
              <a:defRPr sz="2100" b="0">
                <a:solidFill>
                  <a:srgbClr val="192D3B"/>
                </a:solidFill>
                <a:latin typeface="Onest"/>
                <a:ea typeface="Onest"/>
                <a:cs typeface="Onest"/>
              </a:defRPr>
            </a:lvl2pPr>
            <a:lvl3pPr>
              <a:defRPr sz="2100" b="0">
                <a:solidFill>
                  <a:srgbClr val="192D3B"/>
                </a:solidFill>
                <a:latin typeface="Onest"/>
                <a:ea typeface="Onest"/>
                <a:cs typeface="Onest"/>
              </a:defRPr>
            </a:lvl3pPr>
            <a:lvl4pPr>
              <a:defRPr sz="2100" b="0">
                <a:solidFill>
                  <a:srgbClr val="192D3B"/>
                </a:solidFill>
                <a:latin typeface="Onest"/>
                <a:ea typeface="Onest"/>
                <a:cs typeface="Onest"/>
              </a:defRPr>
            </a:lvl4pPr>
            <a:lvl5pPr>
              <a:defRPr sz="2100" b="0">
                <a:solidFill>
                  <a:srgbClr val="192D3B"/>
                </a:solidFill>
                <a:latin typeface="Onest"/>
                <a:ea typeface="Onest"/>
                <a:cs typeface="Onest"/>
              </a:defRPr>
            </a:lvl5pPr>
            <a:lvl6pPr>
              <a:defRPr sz="2100" b="0">
                <a:solidFill>
                  <a:srgbClr val="192D3B"/>
                </a:solidFill>
                <a:latin typeface="Onest"/>
                <a:ea typeface="Onest"/>
                <a:cs typeface="Onest"/>
              </a:defRPr>
            </a:lvl6pPr>
            <a:lvl7pPr>
              <a:defRPr sz="2100" b="0">
                <a:solidFill>
                  <a:srgbClr val="192D3B"/>
                </a:solidFill>
                <a:latin typeface="Onest"/>
                <a:ea typeface="Onest"/>
                <a:cs typeface="Onest"/>
              </a:defRPr>
            </a:lvl7pPr>
            <a:lvl8pPr>
              <a:defRPr sz="2100" b="0">
                <a:solidFill>
                  <a:srgbClr val="192D3B"/>
                </a:solidFill>
                <a:latin typeface="Onest"/>
                <a:ea typeface="Onest"/>
                <a:cs typeface="Onest"/>
              </a:defRPr>
            </a:lvl8pPr>
            <a:lvl9pPr>
              <a:defRPr sz="2100" b="0">
                <a:solidFill>
                  <a:srgbClr val="192D3B"/>
                </a:solidFill>
                <a:latin typeface="Onest"/>
                <a:ea typeface="Onest"/>
                <a:cs typeface="Onest"/>
              </a:defRPr>
            </a:lvl9pPr>
          </a:lstStyle>
          <a:p>
            <a:pPr>
              <a:defRPr sz="2100" b="0">
                <a:solidFill>
                  <a:srgbClr val="192D3B"/>
                </a:solidFill>
                <a:latin typeface="Onest"/>
                <a:ea typeface="Onest"/>
                <a:cs typeface="Onest"/>
              </a:defRPr>
            </a:pPr>
            <a:r>
              <a:rPr sz="2100" b="0">
                <a:solidFill>
                  <a:srgbClr val="192D3B"/>
                </a:solidFill>
                <a:latin typeface="Onest"/>
                <a:ea typeface="Onest"/>
                <a:cs typeface="Onest"/>
              </a:rPr>
              <a:t>Додайте property і setter у базовий клас.</a:t>
            </a:r>
          </a:p>
        </p:txBody>
      </p:sp>
      <p:sp>
        <p:nvSpPr>
          <p:cNvPr id="4" name="Rectangle 3">
            <a:extLst>
              <a:ext uri="{FF2B5EF4-FFF2-40B4-BE49-F238E27FC236}">
                <a16:creationId xmlns:a16="http://schemas.microsoft.com/office/drawing/2014/main" id="{0993B264-7967-4A8B-BB6F-3503F24A2AA1}"/>
              </a:ext>
            </a:extLst>
          </p:cNvPr>
          <p:cNvSpPr>
            <a:spLocks noGrp="1"/>
          </p:cNvSpPr>
          <p:nvPr/>
        </p:nvSpPr>
        <p:spPr>
          <a:xfrm>
            <a:off x="723900" y="25717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01</a:t>
            </a:r>
          </a:p>
        </p:txBody>
      </p:sp>
      <p:sp>
        <p:nvSpPr>
          <p:cNvPr id="5" name="Rectangle 4">
            <a:extLst>
              <a:ext uri="{FF2B5EF4-FFF2-40B4-BE49-F238E27FC236}">
                <a16:creationId xmlns:a16="http://schemas.microsoft.com/office/drawing/2014/main" id="{EA2F6997-1ADA-465C-A42D-6EDAA8DA480D}"/>
              </a:ext>
            </a:extLst>
          </p:cNvPr>
          <p:cNvSpPr>
            <a:spLocks noGrp="1"/>
          </p:cNvSpPr>
          <p:nvPr/>
        </p:nvSpPr>
        <p:spPr>
          <a:xfrm>
            <a:off x="1514475" y="2459455"/>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Використайте властивість у __init__.</a:t>
            </a:r>
          </a:p>
        </p:txBody>
      </p:sp>
      <p:sp>
        <p:nvSpPr>
          <p:cNvPr id="6" name="Rectangle 5">
            <a:extLst>
              <a:ext uri="{FF2B5EF4-FFF2-40B4-BE49-F238E27FC236}">
                <a16:creationId xmlns:a16="http://schemas.microsoft.com/office/drawing/2014/main" id="{C0193566-0BA3-46ED-9599-98DA81BC12CE}"/>
              </a:ext>
            </a:extLst>
          </p:cNvPr>
          <p:cNvSpPr>
            <a:spLocks noGrp="1"/>
          </p:cNvSpPr>
          <p:nvPr/>
        </p:nvSpPr>
        <p:spPr>
          <a:xfrm>
            <a:off x="723900" y="32956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02</a:t>
            </a:r>
          </a:p>
        </p:txBody>
      </p:sp>
      <p:sp>
        <p:nvSpPr>
          <p:cNvPr id="7" name="Rectangle 6">
            <a:extLst>
              <a:ext uri="{FF2B5EF4-FFF2-40B4-BE49-F238E27FC236}">
                <a16:creationId xmlns:a16="http://schemas.microsoft.com/office/drawing/2014/main" id="{028E05CD-E94F-443A-97C7-B442C854CFA4}"/>
              </a:ext>
            </a:extLst>
          </p:cNvPr>
          <p:cNvSpPr>
            <a:spLocks noGrp="1"/>
          </p:cNvSpPr>
          <p:nvPr/>
        </p:nvSpPr>
        <p:spPr>
          <a:xfrm>
            <a:off x="1514475" y="3183355"/>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Покажіть допустиме створення і зміну.</a:t>
            </a:r>
          </a:p>
        </p:txBody>
      </p:sp>
      <p:sp>
        <p:nvSpPr>
          <p:cNvPr id="8" name="Rectangle 7">
            <a:extLst>
              <a:ext uri="{FF2B5EF4-FFF2-40B4-BE49-F238E27FC236}">
                <a16:creationId xmlns:a16="http://schemas.microsoft.com/office/drawing/2014/main" id="{C75C87FE-D0ED-401E-92B9-1C6FCB2CB73E}"/>
              </a:ext>
            </a:extLst>
          </p:cNvPr>
          <p:cNvSpPr>
            <a:spLocks noGrp="1"/>
          </p:cNvSpPr>
          <p:nvPr/>
        </p:nvSpPr>
        <p:spPr>
          <a:xfrm>
            <a:off x="723900" y="40195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03</a:t>
            </a:r>
          </a:p>
        </p:txBody>
      </p:sp>
      <p:sp>
        <p:nvSpPr>
          <p:cNvPr id="9" name="Rectangle 8">
            <a:extLst>
              <a:ext uri="{FF2B5EF4-FFF2-40B4-BE49-F238E27FC236}">
                <a16:creationId xmlns:a16="http://schemas.microsoft.com/office/drawing/2014/main" id="{E92C0E75-5A40-42E0-A613-F5BE66536C75}"/>
              </a:ext>
            </a:extLst>
          </p:cNvPr>
          <p:cNvSpPr>
            <a:spLocks noGrp="1"/>
          </p:cNvSpPr>
          <p:nvPr/>
        </p:nvSpPr>
        <p:spPr>
          <a:xfrm>
            <a:off x="1514475" y="3907255"/>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Відхиліть некоректні створення та зміну.</a:t>
            </a:r>
          </a:p>
        </p:txBody>
      </p:sp>
      <p:sp>
        <p:nvSpPr>
          <p:cNvPr id="10" name="Rectangle 9">
            <a:extLst>
              <a:ext uri="{FF2B5EF4-FFF2-40B4-BE49-F238E27FC236}">
                <a16:creationId xmlns:a16="http://schemas.microsoft.com/office/drawing/2014/main" id="{89C6D8B4-F0CA-451C-B1D5-1075DDE598F1}"/>
              </a:ext>
            </a:extLst>
          </p:cNvPr>
          <p:cNvSpPr>
            <a:spLocks noGrp="1"/>
          </p:cNvSpPr>
          <p:nvPr/>
        </p:nvSpPr>
        <p:spPr>
          <a:xfrm>
            <a:off x="723900" y="47434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04</a:t>
            </a:r>
          </a:p>
        </p:txBody>
      </p:sp>
      <p:sp>
        <p:nvSpPr>
          <p:cNvPr id="11" name="Rectangle 10">
            <a:extLst>
              <a:ext uri="{FF2B5EF4-FFF2-40B4-BE49-F238E27FC236}">
                <a16:creationId xmlns:a16="http://schemas.microsoft.com/office/drawing/2014/main" id="{454061D3-0B7D-4D25-9ED6-068275A7A8CB}"/>
              </a:ext>
            </a:extLst>
          </p:cNvPr>
          <p:cNvSpPr>
            <a:spLocks noGrp="1"/>
          </p:cNvSpPr>
          <p:nvPr/>
        </p:nvSpPr>
        <p:spPr>
          <a:xfrm>
            <a:off x="1514475" y="4631155"/>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Доведіть збереження стану після помилки.</a:t>
            </a:r>
          </a:p>
        </p:txBody>
      </p:sp>
      <p:pic>
        <p:nvPicPr>
          <p:cNvPr id="12" name="Graphic 11">
            <a:extLst>
              <a:ext uri="{FF2B5EF4-FFF2-40B4-BE49-F238E27FC236}">
                <a16:creationId xmlns:a16="http://schemas.microsoft.com/office/drawing/2014/main" id="{450D385C-7160-47DF-9557-484119599C9B}"/>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934700" y="695325"/>
            <a:ext cx="495300" cy="495300"/>
          </a:xfrm>
          <a:prstGeom prst="rect">
            <a:avLst/>
          </a:prstGeom>
        </p:spPr>
      </p:pic>
    </p:spTree>
    <p:extLst>
      <p:ext uri="{BB962C8B-B14F-4D97-AF65-F5344CB8AC3E}">
        <p14:creationId xmlns:p14="http://schemas.microsoft.com/office/powerpoint/2010/main" val="1661991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7F5F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88BEBA4-35F9-4EB1-BD3F-988B17DE026B}"/>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Поясніть рішення та збережіть код</a:t>
            </a:r>
          </a:p>
        </p:txBody>
      </p:sp>
      <p:sp>
        <p:nvSpPr>
          <p:cNvPr id="3" name="Rectangle 2">
            <a:extLst>
              <a:ext uri="{FF2B5EF4-FFF2-40B4-BE49-F238E27FC236}">
                <a16:creationId xmlns:a16="http://schemas.microsoft.com/office/drawing/2014/main" id="{4AA804B5-5605-4E6F-BEE4-B879A4DF8849}"/>
              </a:ext>
            </a:extLst>
          </p:cNvPr>
          <p:cNvSpPr>
            <a:spLocks noGrp="1"/>
          </p:cNvSpPr>
          <p:nvPr/>
        </p:nvSpPr>
        <p:spPr>
          <a:xfrm>
            <a:off x="704850" y="1524000"/>
            <a:ext cx="10477500" cy="800100"/>
          </a:xfrm>
          <a:prstGeom prst="rect">
            <a:avLst/>
          </a:prstGeom>
          <a:noFill/>
          <a:ln w="0">
            <a:noFill/>
          </a:ln>
        </p:spPr>
        <p:txBody>
          <a:bodyPr anchor="ctr"/>
          <a:lstStyle>
            <a:defPPr>
              <a:defRPr sz="2100" b="0">
                <a:solidFill>
                  <a:srgbClr val="192D3B"/>
                </a:solidFill>
                <a:latin typeface="Onest"/>
                <a:ea typeface="Onest"/>
                <a:cs typeface="Onest"/>
              </a:defRPr>
            </a:defPPr>
            <a:lvl1pPr>
              <a:defRPr sz="2100" b="0">
                <a:solidFill>
                  <a:srgbClr val="192D3B"/>
                </a:solidFill>
                <a:latin typeface="Onest"/>
                <a:ea typeface="Onest"/>
                <a:cs typeface="Onest"/>
              </a:defRPr>
            </a:lvl1pPr>
            <a:lvl2pPr>
              <a:defRPr sz="2100" b="0">
                <a:solidFill>
                  <a:srgbClr val="192D3B"/>
                </a:solidFill>
                <a:latin typeface="Onest"/>
                <a:ea typeface="Onest"/>
                <a:cs typeface="Onest"/>
              </a:defRPr>
            </a:lvl2pPr>
            <a:lvl3pPr>
              <a:defRPr sz="2100" b="0">
                <a:solidFill>
                  <a:srgbClr val="192D3B"/>
                </a:solidFill>
                <a:latin typeface="Onest"/>
                <a:ea typeface="Onest"/>
                <a:cs typeface="Onest"/>
              </a:defRPr>
            </a:lvl3pPr>
            <a:lvl4pPr>
              <a:defRPr sz="2100" b="0">
                <a:solidFill>
                  <a:srgbClr val="192D3B"/>
                </a:solidFill>
                <a:latin typeface="Onest"/>
                <a:ea typeface="Onest"/>
                <a:cs typeface="Onest"/>
              </a:defRPr>
            </a:lvl4pPr>
            <a:lvl5pPr>
              <a:defRPr sz="2100" b="0">
                <a:solidFill>
                  <a:srgbClr val="192D3B"/>
                </a:solidFill>
                <a:latin typeface="Onest"/>
                <a:ea typeface="Onest"/>
                <a:cs typeface="Onest"/>
              </a:defRPr>
            </a:lvl5pPr>
            <a:lvl6pPr>
              <a:defRPr sz="2100" b="0">
                <a:solidFill>
                  <a:srgbClr val="192D3B"/>
                </a:solidFill>
                <a:latin typeface="Onest"/>
                <a:ea typeface="Onest"/>
                <a:cs typeface="Onest"/>
              </a:defRPr>
            </a:lvl6pPr>
            <a:lvl7pPr>
              <a:defRPr sz="2100" b="0">
                <a:solidFill>
                  <a:srgbClr val="192D3B"/>
                </a:solidFill>
                <a:latin typeface="Onest"/>
                <a:ea typeface="Onest"/>
                <a:cs typeface="Onest"/>
              </a:defRPr>
            </a:lvl7pPr>
            <a:lvl8pPr>
              <a:defRPr sz="2100" b="0">
                <a:solidFill>
                  <a:srgbClr val="192D3B"/>
                </a:solidFill>
                <a:latin typeface="Onest"/>
                <a:ea typeface="Onest"/>
                <a:cs typeface="Onest"/>
              </a:defRPr>
            </a:lvl8pPr>
            <a:lvl9pPr>
              <a:defRPr sz="2100" b="0">
                <a:solidFill>
                  <a:srgbClr val="192D3B"/>
                </a:solidFill>
                <a:latin typeface="Onest"/>
                <a:ea typeface="Onest"/>
                <a:cs typeface="Onest"/>
              </a:defRPr>
            </a:lvl9pPr>
          </a:lstStyle>
          <a:p>
            <a:pPr>
              <a:defRPr sz="2100" b="0">
                <a:solidFill>
                  <a:srgbClr val="192D3B"/>
                </a:solidFill>
                <a:latin typeface="Onest"/>
                <a:ea typeface="Onest"/>
                <a:cs typeface="Onest"/>
              </a:defRPr>
            </a:pPr>
            <a:r>
              <a:rPr sz="2100" b="0">
                <a:solidFill>
                  <a:srgbClr val="192D3B"/>
                </a:solidFill>
                <a:latin typeface="Onest"/>
                <a:ea typeface="Onest"/>
                <a:cs typeface="Onest"/>
              </a:rPr>
              <a:t>Покажіть у власному кейсі:</a:t>
            </a:r>
          </a:p>
        </p:txBody>
      </p:sp>
      <p:sp>
        <p:nvSpPr>
          <p:cNvPr id="4" name="Rectangle 3">
            <a:extLst>
              <a:ext uri="{FF2B5EF4-FFF2-40B4-BE49-F238E27FC236}">
                <a16:creationId xmlns:a16="http://schemas.microsoft.com/office/drawing/2014/main" id="{7C385564-C5A8-4D60-B85B-7C268CF48D21}"/>
              </a:ext>
            </a:extLst>
          </p:cNvPr>
          <p:cNvSpPr>
            <a:spLocks noGrp="1"/>
          </p:cNvSpPr>
          <p:nvPr/>
        </p:nvSpPr>
        <p:spPr>
          <a:xfrm>
            <a:off x="743150" y="26487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01</a:t>
            </a:r>
          </a:p>
        </p:txBody>
      </p:sp>
      <p:sp>
        <p:nvSpPr>
          <p:cNvPr id="5" name="Rectangle 4">
            <a:extLst>
              <a:ext uri="{FF2B5EF4-FFF2-40B4-BE49-F238E27FC236}">
                <a16:creationId xmlns:a16="http://schemas.microsoft.com/office/drawing/2014/main" id="{45F415B5-2501-44C9-B498-919095551308}"/>
              </a:ext>
            </a:extLst>
          </p:cNvPr>
          <p:cNvSpPr>
            <a:spLocks noGrp="1"/>
          </p:cNvSpPr>
          <p:nvPr/>
        </p:nvSpPr>
        <p:spPr>
          <a:xfrm>
            <a:off x="1562100" y="25336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одну завершену дію користувача;</a:t>
            </a:r>
          </a:p>
        </p:txBody>
      </p:sp>
      <p:sp>
        <p:nvSpPr>
          <p:cNvPr id="6" name="Rectangle 5">
            <a:extLst>
              <a:ext uri="{FF2B5EF4-FFF2-40B4-BE49-F238E27FC236}">
                <a16:creationId xmlns:a16="http://schemas.microsoft.com/office/drawing/2014/main" id="{8449AC36-496D-4500-AD19-E802D2B32510}"/>
              </a:ext>
            </a:extLst>
          </p:cNvPr>
          <p:cNvSpPr>
            <a:spLocks noGrp="1"/>
          </p:cNvSpPr>
          <p:nvPr/>
        </p:nvSpPr>
        <p:spPr>
          <a:xfrm>
            <a:off x="743150" y="33726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02</a:t>
            </a:r>
          </a:p>
        </p:txBody>
      </p:sp>
      <p:sp>
        <p:nvSpPr>
          <p:cNvPr id="7" name="Rectangle 6">
            <a:extLst>
              <a:ext uri="{FF2B5EF4-FFF2-40B4-BE49-F238E27FC236}">
                <a16:creationId xmlns:a16="http://schemas.microsoft.com/office/drawing/2014/main" id="{442519AA-82B6-41C2-A078-405AE848DD27}"/>
              </a:ext>
            </a:extLst>
          </p:cNvPr>
          <p:cNvSpPr>
            <a:spLocks noGrp="1"/>
          </p:cNvSpPr>
          <p:nvPr/>
        </p:nvSpPr>
        <p:spPr>
          <a:xfrm>
            <a:off x="1562100" y="32575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відхилену зміну без втрати стану;</a:t>
            </a:r>
          </a:p>
        </p:txBody>
      </p:sp>
      <p:sp>
        <p:nvSpPr>
          <p:cNvPr id="8" name="Rectangle 7">
            <a:extLst>
              <a:ext uri="{FF2B5EF4-FFF2-40B4-BE49-F238E27FC236}">
                <a16:creationId xmlns:a16="http://schemas.microsoft.com/office/drawing/2014/main" id="{253AB891-6F90-4EA0-97E6-2E9B98FF748D}"/>
              </a:ext>
            </a:extLst>
          </p:cNvPr>
          <p:cNvSpPr>
            <a:spLocks noGrp="1"/>
          </p:cNvSpPr>
          <p:nvPr/>
        </p:nvSpPr>
        <p:spPr>
          <a:xfrm>
            <a:off x="743150" y="40965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03</a:t>
            </a:r>
          </a:p>
        </p:txBody>
      </p:sp>
      <p:sp>
        <p:nvSpPr>
          <p:cNvPr id="9" name="Rectangle 8">
            <a:extLst>
              <a:ext uri="{FF2B5EF4-FFF2-40B4-BE49-F238E27FC236}">
                <a16:creationId xmlns:a16="http://schemas.microsoft.com/office/drawing/2014/main" id="{E48FFAED-16AF-44A4-A913-56EF85B9BD9C}"/>
              </a:ext>
            </a:extLst>
          </p:cNvPr>
          <p:cNvSpPr>
            <a:spLocks noGrp="1"/>
          </p:cNvSpPr>
          <p:nvPr/>
        </p:nvSpPr>
        <p:spPr>
          <a:xfrm>
            <a:off x="1562100" y="39814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відмінність двох різновидів;</a:t>
            </a:r>
          </a:p>
        </p:txBody>
      </p:sp>
      <p:sp>
        <p:nvSpPr>
          <p:cNvPr id="10" name="Rectangle 9">
            <a:extLst>
              <a:ext uri="{FF2B5EF4-FFF2-40B4-BE49-F238E27FC236}">
                <a16:creationId xmlns:a16="http://schemas.microsoft.com/office/drawing/2014/main" id="{185AE45C-F531-4735-B562-1BBCB1C948F6}"/>
              </a:ext>
            </a:extLst>
          </p:cNvPr>
          <p:cNvSpPr>
            <a:spLocks noGrp="1"/>
          </p:cNvSpPr>
          <p:nvPr/>
        </p:nvSpPr>
        <p:spPr>
          <a:xfrm>
            <a:off x="743150" y="48204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04</a:t>
            </a:r>
          </a:p>
        </p:txBody>
      </p:sp>
      <p:sp>
        <p:nvSpPr>
          <p:cNvPr id="11" name="Rectangle 10">
            <a:extLst>
              <a:ext uri="{FF2B5EF4-FFF2-40B4-BE49-F238E27FC236}">
                <a16:creationId xmlns:a16="http://schemas.microsoft.com/office/drawing/2014/main" id="{30B31AE9-5EC9-46FB-AF89-21A807D16757}"/>
              </a:ext>
            </a:extLst>
          </p:cNvPr>
          <p:cNvSpPr>
            <a:spLocks noGrp="1"/>
          </p:cNvSpPr>
          <p:nvPr/>
        </p:nvSpPr>
        <p:spPr>
          <a:xfrm>
            <a:off x="1562100" y="4705350"/>
            <a:ext cx="9667875" cy="685800"/>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зв'язок через композицію.</a:t>
            </a:r>
          </a:p>
        </p:txBody>
      </p:sp>
      <p:sp>
        <p:nvSpPr>
          <p:cNvPr id="12" name="Rectangle 11">
            <a:extLst>
              <a:ext uri="{FF2B5EF4-FFF2-40B4-BE49-F238E27FC236}">
                <a16:creationId xmlns:a16="http://schemas.microsoft.com/office/drawing/2014/main" id="{D412F8A2-60A1-40CB-9D9C-A46E4B6B211C}"/>
              </a:ext>
            </a:extLst>
          </p:cNvPr>
          <p:cNvSpPr>
            <a:spLocks noGrp="1"/>
          </p:cNvSpPr>
          <p:nvPr/>
        </p:nvSpPr>
        <p:spPr>
          <a:xfrm>
            <a:off x="723900" y="5810250"/>
            <a:ext cx="10572750" cy="609600"/>
          </a:xfrm>
          <a:prstGeom prst="rect">
            <a:avLst/>
          </a:prstGeom>
          <a:noFill/>
          <a:ln w="0">
            <a:noFill/>
          </a:ln>
        </p:spPr>
        <p:txBody>
          <a:bodyPr anchor="ctr"/>
          <a:lstStyle>
            <a:defPPr>
              <a:defRPr sz="1725" b="1">
                <a:solidFill>
                  <a:srgbClr val="1B6C57"/>
                </a:solidFill>
                <a:latin typeface="Onest"/>
                <a:ea typeface="Onest"/>
                <a:cs typeface="Onest"/>
              </a:defRPr>
            </a:defPPr>
            <a:lvl1pPr>
              <a:defRPr sz="1725" b="1">
                <a:solidFill>
                  <a:srgbClr val="1B6C57"/>
                </a:solidFill>
                <a:latin typeface="Onest"/>
                <a:ea typeface="Onest"/>
                <a:cs typeface="Onest"/>
              </a:defRPr>
            </a:lvl1pPr>
            <a:lvl2pPr>
              <a:defRPr sz="1725" b="1">
                <a:solidFill>
                  <a:srgbClr val="1B6C57"/>
                </a:solidFill>
                <a:latin typeface="Onest"/>
                <a:ea typeface="Onest"/>
                <a:cs typeface="Onest"/>
              </a:defRPr>
            </a:lvl2pPr>
            <a:lvl3pPr>
              <a:defRPr sz="1725" b="1">
                <a:solidFill>
                  <a:srgbClr val="1B6C57"/>
                </a:solidFill>
                <a:latin typeface="Onest"/>
                <a:ea typeface="Onest"/>
                <a:cs typeface="Onest"/>
              </a:defRPr>
            </a:lvl3pPr>
            <a:lvl4pPr>
              <a:defRPr sz="1725" b="1">
                <a:solidFill>
                  <a:srgbClr val="1B6C57"/>
                </a:solidFill>
                <a:latin typeface="Onest"/>
                <a:ea typeface="Onest"/>
                <a:cs typeface="Onest"/>
              </a:defRPr>
            </a:lvl4pPr>
            <a:lvl5pPr>
              <a:defRPr sz="1725" b="1">
                <a:solidFill>
                  <a:srgbClr val="1B6C57"/>
                </a:solidFill>
                <a:latin typeface="Onest"/>
                <a:ea typeface="Onest"/>
                <a:cs typeface="Onest"/>
              </a:defRPr>
            </a:lvl5pPr>
            <a:lvl6pPr>
              <a:defRPr sz="1725" b="1">
                <a:solidFill>
                  <a:srgbClr val="1B6C57"/>
                </a:solidFill>
                <a:latin typeface="Onest"/>
                <a:ea typeface="Onest"/>
                <a:cs typeface="Onest"/>
              </a:defRPr>
            </a:lvl6pPr>
            <a:lvl7pPr>
              <a:defRPr sz="1725" b="1">
                <a:solidFill>
                  <a:srgbClr val="1B6C57"/>
                </a:solidFill>
                <a:latin typeface="Onest"/>
                <a:ea typeface="Onest"/>
                <a:cs typeface="Onest"/>
              </a:defRPr>
            </a:lvl7pPr>
            <a:lvl8pPr>
              <a:defRPr sz="1725" b="1">
                <a:solidFill>
                  <a:srgbClr val="1B6C57"/>
                </a:solidFill>
                <a:latin typeface="Onest"/>
                <a:ea typeface="Onest"/>
                <a:cs typeface="Onest"/>
              </a:defRPr>
            </a:lvl8pPr>
            <a:lvl9pPr>
              <a:defRPr sz="1725" b="1">
                <a:solidFill>
                  <a:srgbClr val="1B6C57"/>
                </a:solidFill>
                <a:latin typeface="Onest"/>
                <a:ea typeface="Onest"/>
                <a:cs typeface="Onest"/>
              </a:defRPr>
            </a:lvl9pPr>
          </a:lstStyle>
          <a:p>
            <a:pPr>
              <a:defRPr sz="1725" b="1">
                <a:solidFill>
                  <a:srgbClr val="1B6C57"/>
                </a:solidFill>
                <a:latin typeface="Onest"/>
                <a:ea typeface="Onest"/>
                <a:cs typeface="Onest"/>
              </a:defRPr>
            </a:pPr>
            <a:r>
              <a:rPr sz="1725" b="1">
                <a:solidFill>
                  <a:srgbClr val="1B6C57"/>
                </a:solidFill>
                <a:latin typeface="Onest"/>
                <a:ea typeface="Onest"/>
                <a:cs typeface="Onest"/>
              </a:rPr>
              <a:t>Збережіть project_model.py та оновлений domain.md.</a:t>
            </a:r>
          </a:p>
        </p:txBody>
      </p:sp>
      <p:pic>
        <p:nvPicPr>
          <p:cNvPr id="13" name="Graphic 12">
            <a:extLst>
              <a:ext uri="{FF2B5EF4-FFF2-40B4-BE49-F238E27FC236}">
                <a16:creationId xmlns:a16="http://schemas.microsoft.com/office/drawing/2014/main" id="{4467BD9B-DC71-47D5-A70C-7FA6F45780D1}"/>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982325" y="695325"/>
            <a:ext cx="495300" cy="495300"/>
          </a:xfrm>
          <a:prstGeom prst="rect">
            <a:avLst/>
          </a:prstGeom>
        </p:spPr>
      </p:pic>
    </p:spTree>
    <p:extLst>
      <p:ext uri="{BB962C8B-B14F-4D97-AF65-F5344CB8AC3E}">
        <p14:creationId xmlns:p14="http://schemas.microsoft.com/office/powerpoint/2010/main" val="264368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2C40"/>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0C188E-416A-4002-BA0A-D496EA8E939A}"/>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FFFFFF"/>
                </a:solidFill>
                <a:latin typeface="Onest"/>
                <a:ea typeface="Onest"/>
                <a:cs typeface="Onest"/>
              </a:defRPr>
            </a:defPPr>
            <a:lvl1pPr>
              <a:defRPr sz="2700" b="1">
                <a:solidFill>
                  <a:srgbClr val="FFFFFF"/>
                </a:solidFill>
                <a:latin typeface="Onest"/>
                <a:ea typeface="Onest"/>
                <a:cs typeface="Onest"/>
              </a:defRPr>
            </a:lvl1pPr>
            <a:lvl2pPr>
              <a:defRPr sz="2700" b="1">
                <a:solidFill>
                  <a:srgbClr val="FFFFFF"/>
                </a:solidFill>
                <a:latin typeface="Onest"/>
                <a:ea typeface="Onest"/>
                <a:cs typeface="Onest"/>
              </a:defRPr>
            </a:lvl2pPr>
            <a:lvl3pPr>
              <a:defRPr sz="2700" b="1">
                <a:solidFill>
                  <a:srgbClr val="FFFFFF"/>
                </a:solidFill>
                <a:latin typeface="Onest"/>
                <a:ea typeface="Onest"/>
                <a:cs typeface="Onest"/>
              </a:defRPr>
            </a:lvl3pPr>
            <a:lvl4pPr>
              <a:defRPr sz="2700" b="1">
                <a:solidFill>
                  <a:srgbClr val="FFFFFF"/>
                </a:solidFill>
                <a:latin typeface="Onest"/>
                <a:ea typeface="Onest"/>
                <a:cs typeface="Onest"/>
              </a:defRPr>
            </a:lvl4pPr>
            <a:lvl5pPr>
              <a:defRPr sz="2700" b="1">
                <a:solidFill>
                  <a:srgbClr val="FFFFFF"/>
                </a:solidFill>
                <a:latin typeface="Onest"/>
                <a:ea typeface="Onest"/>
                <a:cs typeface="Onest"/>
              </a:defRPr>
            </a:lvl5pPr>
            <a:lvl6pPr>
              <a:defRPr sz="2700" b="1">
                <a:solidFill>
                  <a:srgbClr val="FFFFFF"/>
                </a:solidFill>
                <a:latin typeface="Onest"/>
                <a:ea typeface="Onest"/>
                <a:cs typeface="Onest"/>
              </a:defRPr>
            </a:lvl6pPr>
            <a:lvl7pPr>
              <a:defRPr sz="2700" b="1">
                <a:solidFill>
                  <a:srgbClr val="FFFFFF"/>
                </a:solidFill>
                <a:latin typeface="Onest"/>
                <a:ea typeface="Onest"/>
                <a:cs typeface="Onest"/>
              </a:defRPr>
            </a:lvl7pPr>
            <a:lvl8pPr>
              <a:defRPr sz="2700" b="1">
                <a:solidFill>
                  <a:srgbClr val="FFFFFF"/>
                </a:solidFill>
                <a:latin typeface="Onest"/>
                <a:ea typeface="Onest"/>
                <a:cs typeface="Onest"/>
              </a:defRPr>
            </a:lvl8pPr>
            <a:lvl9pPr>
              <a:defRPr sz="2700" b="1">
                <a:solidFill>
                  <a:srgbClr val="FFFFFF"/>
                </a:solidFill>
                <a:latin typeface="Onest"/>
                <a:ea typeface="Onest"/>
                <a:cs typeface="Onest"/>
              </a:defRPr>
            </a:lvl9pPr>
          </a:lstStyle>
          <a:p>
            <a:pPr>
              <a:defRPr sz="2700" b="1">
                <a:solidFill>
                  <a:srgbClr val="FFFFFF"/>
                </a:solidFill>
                <a:latin typeface="Onest"/>
                <a:ea typeface="Onest"/>
                <a:cs typeface="Onest"/>
              </a:defRPr>
            </a:pPr>
            <a:r>
              <a:rPr sz="2700" b="1">
                <a:solidFill>
                  <a:srgbClr val="FFFFFF"/>
                </a:solidFill>
                <a:latin typeface="Onest"/>
                <a:ea typeface="Onest"/>
                <a:cs typeface="Onest"/>
              </a:rPr>
              <a:t>Що тепер уміє ваша модель</a:t>
            </a:r>
          </a:p>
        </p:txBody>
      </p:sp>
      <p:sp>
        <p:nvSpPr>
          <p:cNvPr id="3" name="Rectangle 2">
            <a:extLst>
              <a:ext uri="{FF2B5EF4-FFF2-40B4-BE49-F238E27FC236}">
                <a16:creationId xmlns:a16="http://schemas.microsoft.com/office/drawing/2014/main" id="{4F2DEEDE-37D9-4A21-A4F3-B267E99CBA7B}"/>
              </a:ext>
            </a:extLst>
          </p:cNvPr>
          <p:cNvSpPr>
            <a:spLocks noGrp="1"/>
          </p:cNvSpPr>
          <p:nvPr/>
        </p:nvSpPr>
        <p:spPr>
          <a:xfrm>
            <a:off x="723900" y="1905000"/>
            <a:ext cx="9906000" cy="2667000"/>
          </a:xfrm>
          <a:prstGeom prst="rect">
            <a:avLst/>
          </a:prstGeom>
          <a:noFill/>
          <a:ln w="0">
            <a:noFill/>
          </a:ln>
        </p:spPr>
        <p:txBody>
          <a:bodyPr anchor="ctr"/>
          <a:lstStyle>
            <a:defPPr>
              <a:defRPr sz="2775" b="0">
                <a:solidFill>
                  <a:srgbClr val="FFFFFF"/>
                </a:solidFill>
                <a:latin typeface="Onest"/>
                <a:ea typeface="Onest"/>
                <a:cs typeface="Onest"/>
              </a:defRPr>
            </a:defPPr>
            <a:lvl1pPr>
              <a:defRPr sz="2775" b="0">
                <a:solidFill>
                  <a:srgbClr val="FFFFFF"/>
                </a:solidFill>
                <a:latin typeface="Onest"/>
                <a:ea typeface="Onest"/>
                <a:cs typeface="Onest"/>
              </a:defRPr>
            </a:lvl1pPr>
            <a:lvl2pPr>
              <a:defRPr sz="2775" b="0">
                <a:solidFill>
                  <a:srgbClr val="FFFFFF"/>
                </a:solidFill>
                <a:latin typeface="Onest"/>
                <a:ea typeface="Onest"/>
                <a:cs typeface="Onest"/>
              </a:defRPr>
            </a:lvl2pPr>
            <a:lvl3pPr>
              <a:defRPr sz="2775" b="0">
                <a:solidFill>
                  <a:srgbClr val="FFFFFF"/>
                </a:solidFill>
                <a:latin typeface="Onest"/>
                <a:ea typeface="Onest"/>
                <a:cs typeface="Onest"/>
              </a:defRPr>
            </a:lvl3pPr>
            <a:lvl4pPr>
              <a:defRPr sz="2775" b="0">
                <a:solidFill>
                  <a:srgbClr val="FFFFFF"/>
                </a:solidFill>
                <a:latin typeface="Onest"/>
                <a:ea typeface="Onest"/>
                <a:cs typeface="Onest"/>
              </a:defRPr>
            </a:lvl4pPr>
            <a:lvl5pPr>
              <a:defRPr sz="2775" b="0">
                <a:solidFill>
                  <a:srgbClr val="FFFFFF"/>
                </a:solidFill>
                <a:latin typeface="Onest"/>
                <a:ea typeface="Onest"/>
                <a:cs typeface="Onest"/>
              </a:defRPr>
            </a:lvl5pPr>
            <a:lvl6pPr>
              <a:defRPr sz="2775" b="0">
                <a:solidFill>
                  <a:srgbClr val="FFFFFF"/>
                </a:solidFill>
                <a:latin typeface="Onest"/>
                <a:ea typeface="Onest"/>
                <a:cs typeface="Onest"/>
              </a:defRPr>
            </a:lvl6pPr>
            <a:lvl7pPr>
              <a:defRPr sz="2775" b="0">
                <a:solidFill>
                  <a:srgbClr val="FFFFFF"/>
                </a:solidFill>
                <a:latin typeface="Onest"/>
                <a:ea typeface="Onest"/>
                <a:cs typeface="Onest"/>
              </a:defRPr>
            </a:lvl7pPr>
            <a:lvl8pPr>
              <a:defRPr sz="2775" b="0">
                <a:solidFill>
                  <a:srgbClr val="FFFFFF"/>
                </a:solidFill>
                <a:latin typeface="Onest"/>
                <a:ea typeface="Onest"/>
                <a:cs typeface="Onest"/>
              </a:defRPr>
            </a:lvl8pPr>
            <a:lvl9pPr>
              <a:defRPr sz="2775" b="0">
                <a:solidFill>
                  <a:srgbClr val="FFFFFF"/>
                </a:solidFill>
                <a:latin typeface="Onest"/>
                <a:ea typeface="Onest"/>
                <a:cs typeface="Onest"/>
              </a:defRPr>
            </a:lvl9pPr>
          </a:lstStyle>
          <a:p>
            <a:pPr>
              <a:defRPr sz="2775" b="0">
                <a:solidFill>
                  <a:srgbClr val="FFFFFF"/>
                </a:solidFill>
                <a:latin typeface="Onest"/>
                <a:ea typeface="Onest"/>
                <a:cs typeface="Onest"/>
              </a:defRPr>
            </a:pPr>
            <a:r>
              <a:rPr sz="2775" b="0">
                <a:solidFill>
                  <a:srgbClr val="FFFFFF"/>
                </a:solidFill>
                <a:latin typeface="Onest"/>
                <a:ea typeface="Onest"/>
                <a:cs typeface="Onest"/>
              </a:rPr>
              <a:t>Яке правило тепер підтримує сам клас?</a:t>
            </a:r>
          </a:p>
          <a:p>
            <a:pPr>
              <a:defRPr sz="2775" b="0">
                <a:solidFill>
                  <a:srgbClr val="FFFFFF"/>
                </a:solidFill>
                <a:latin typeface="Onest"/>
                <a:ea typeface="Onest"/>
                <a:cs typeface="Onest"/>
              </a:defRPr>
            </a:pPr>
            <a:r>
              <a:rPr sz="2775" b="0">
                <a:solidFill>
                  <a:srgbClr val="FFFFFF"/>
                </a:solidFill>
                <a:latin typeface="Onest"/>
                <a:ea typeface="Onest"/>
                <a:cs typeface="Onest"/>
              </a:rPr>
              <a:t>Який запуск доводить, що правило працює?</a:t>
            </a:r>
          </a:p>
          <a:p>
            <a:pPr>
              <a:defRPr sz="2775" b="0">
                <a:solidFill>
                  <a:srgbClr val="FFFFFF"/>
                </a:solidFill>
                <a:latin typeface="Onest"/>
                <a:ea typeface="Onest"/>
                <a:cs typeface="Onest"/>
              </a:defRPr>
            </a:pPr>
            <a:r>
              <a:rPr sz="2775" b="0">
                <a:solidFill>
                  <a:srgbClr val="FFFFFF"/>
                </a:solidFill>
                <a:latin typeface="Onest"/>
                <a:ea typeface="Onest"/>
                <a:cs typeface="Onest"/>
              </a:rPr>
              <a:t>Що ви сьогодні вперше реалізували?</a:t>
            </a:r>
          </a:p>
        </p:txBody>
      </p:sp>
      <p:sp>
        <p:nvSpPr>
          <p:cNvPr id="4" name="Rectangle 3">
            <a:extLst>
              <a:ext uri="{FF2B5EF4-FFF2-40B4-BE49-F238E27FC236}">
                <a16:creationId xmlns:a16="http://schemas.microsoft.com/office/drawing/2014/main" id="{19C16CFC-BD31-4980-B637-AB92B95EE386}"/>
              </a:ext>
            </a:extLst>
          </p:cNvPr>
          <p:cNvSpPr>
            <a:spLocks noGrp="1"/>
          </p:cNvSpPr>
          <p:nvPr/>
        </p:nvSpPr>
        <p:spPr>
          <a:xfrm>
            <a:off x="723900" y="5334000"/>
            <a:ext cx="10287000" cy="809625"/>
          </a:xfrm>
          <a:prstGeom prst="rect">
            <a:avLst/>
          </a:prstGeom>
          <a:noFill/>
          <a:ln w="0">
            <a:noFill/>
          </a:ln>
        </p:spPr>
        <p:txBody>
          <a:bodyPr anchor="ctr"/>
          <a:lstStyle>
            <a:defPPr>
              <a:defRPr sz="2100" b="0">
                <a:solidFill>
                  <a:srgbClr val="91D6B5"/>
                </a:solidFill>
                <a:latin typeface="Onest"/>
                <a:ea typeface="Onest"/>
                <a:cs typeface="Onest"/>
              </a:defRPr>
            </a:defPPr>
            <a:lvl1pPr>
              <a:defRPr sz="2100" b="0">
                <a:solidFill>
                  <a:srgbClr val="91D6B5"/>
                </a:solidFill>
                <a:latin typeface="Onest"/>
                <a:ea typeface="Onest"/>
                <a:cs typeface="Onest"/>
              </a:defRPr>
            </a:lvl1pPr>
            <a:lvl2pPr>
              <a:defRPr sz="2100" b="0">
                <a:solidFill>
                  <a:srgbClr val="91D6B5"/>
                </a:solidFill>
                <a:latin typeface="Onest"/>
                <a:ea typeface="Onest"/>
                <a:cs typeface="Onest"/>
              </a:defRPr>
            </a:lvl2pPr>
            <a:lvl3pPr>
              <a:defRPr sz="2100" b="0">
                <a:solidFill>
                  <a:srgbClr val="91D6B5"/>
                </a:solidFill>
                <a:latin typeface="Onest"/>
                <a:ea typeface="Onest"/>
                <a:cs typeface="Onest"/>
              </a:defRPr>
            </a:lvl3pPr>
            <a:lvl4pPr>
              <a:defRPr sz="2100" b="0">
                <a:solidFill>
                  <a:srgbClr val="91D6B5"/>
                </a:solidFill>
                <a:latin typeface="Onest"/>
                <a:ea typeface="Onest"/>
                <a:cs typeface="Onest"/>
              </a:defRPr>
            </a:lvl4pPr>
            <a:lvl5pPr>
              <a:defRPr sz="2100" b="0">
                <a:solidFill>
                  <a:srgbClr val="91D6B5"/>
                </a:solidFill>
                <a:latin typeface="Onest"/>
                <a:ea typeface="Onest"/>
                <a:cs typeface="Onest"/>
              </a:defRPr>
            </a:lvl5pPr>
            <a:lvl6pPr>
              <a:defRPr sz="2100" b="0">
                <a:solidFill>
                  <a:srgbClr val="91D6B5"/>
                </a:solidFill>
                <a:latin typeface="Onest"/>
                <a:ea typeface="Onest"/>
                <a:cs typeface="Onest"/>
              </a:defRPr>
            </a:lvl6pPr>
            <a:lvl7pPr>
              <a:defRPr sz="2100" b="0">
                <a:solidFill>
                  <a:srgbClr val="91D6B5"/>
                </a:solidFill>
                <a:latin typeface="Onest"/>
                <a:ea typeface="Onest"/>
                <a:cs typeface="Onest"/>
              </a:defRPr>
            </a:lvl7pPr>
            <a:lvl8pPr>
              <a:defRPr sz="2100" b="0">
                <a:solidFill>
                  <a:srgbClr val="91D6B5"/>
                </a:solidFill>
                <a:latin typeface="Onest"/>
                <a:ea typeface="Onest"/>
                <a:cs typeface="Onest"/>
              </a:defRPr>
            </a:lvl8pPr>
            <a:lvl9pPr>
              <a:defRPr sz="2100" b="0">
                <a:solidFill>
                  <a:srgbClr val="91D6B5"/>
                </a:solidFill>
                <a:latin typeface="Onest"/>
                <a:ea typeface="Onest"/>
                <a:cs typeface="Onest"/>
              </a:defRPr>
            </a:lvl9pPr>
          </a:lstStyle>
          <a:p>
            <a:pPr>
              <a:defRPr sz="2100" b="0">
                <a:solidFill>
                  <a:srgbClr val="91D6B5"/>
                </a:solidFill>
                <a:latin typeface="Onest"/>
                <a:ea typeface="Onest"/>
                <a:cs typeface="Onest"/>
              </a:defRPr>
            </a:pPr>
            <a:r>
              <a:rPr sz="2100" b="0">
                <a:solidFill>
                  <a:srgbClr val="91D6B5"/>
                </a:solidFill>
                <a:latin typeface="Onest"/>
                <a:ea typeface="Onest"/>
                <a:cs typeface="Onest"/>
              </a:rPr>
              <a:t>Далі: методи класу, поліморфізм та magic-методи.</a:t>
            </a:r>
          </a:p>
        </p:txBody>
      </p:sp>
    </p:spTree>
    <p:extLst>
      <p:ext uri="{BB962C8B-B14F-4D97-AF65-F5344CB8AC3E}">
        <p14:creationId xmlns:p14="http://schemas.microsoft.com/office/powerpoint/2010/main" val="124851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Зображення 3"/>
          <p:cNvPicPr>
            <a:picLocks/>
          </p:cNvPicPr>
          <p:nvPr/>
        </p:nvPicPr>
        <p:blipFill>
          <a:blip r:embed="rId2"/>
          <a:srcRect l="1001" r="1000"/>
          <a:stretch>
            <a:fillRect/>
          </a:stretch>
        </p:blipFill>
        <p:spPr>
          <a:xfrm>
            <a:off x="-190529" y="-236292"/>
            <a:ext cx="12502692" cy="7176332"/>
          </a:xfrm>
          <a:prstGeom prst="roundRect">
            <a:avLst>
              <a:gd name="adj" fmla="val 1770"/>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45A0E4-B99C-44D0-921F-E119F84EC810}"/>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Домашнє: завершіть власний кейс</a:t>
            </a:r>
          </a:p>
        </p:txBody>
      </p:sp>
      <p:sp>
        <p:nvSpPr>
          <p:cNvPr id="3" name="Rectangle 2">
            <a:extLst>
              <a:ext uri="{FF2B5EF4-FFF2-40B4-BE49-F238E27FC236}">
                <a16:creationId xmlns:a16="http://schemas.microsoft.com/office/drawing/2014/main" id="{8EACBF42-B3CB-445E-BE5A-13A68815C0BD}"/>
              </a:ext>
            </a:extLst>
          </p:cNvPr>
          <p:cNvSpPr>
            <a:spLocks noGrp="1"/>
          </p:cNvSpPr>
          <p:nvPr/>
        </p:nvSpPr>
        <p:spPr>
          <a:xfrm>
            <a:off x="704850" y="1524000"/>
            <a:ext cx="10001250" cy="666750"/>
          </a:xfrm>
          <a:prstGeom prst="rect">
            <a:avLst/>
          </a:prstGeom>
          <a:noFill/>
          <a:ln w="0">
            <a:noFill/>
          </a:ln>
        </p:spPr>
        <p:txBody>
          <a:bodyPr anchor="ctr"/>
          <a:lstStyle>
            <a:defPPr>
              <a:defRPr sz="2100" b="1">
                <a:solidFill>
                  <a:srgbClr val="1B6C57"/>
                </a:solidFill>
                <a:latin typeface="Onest"/>
                <a:ea typeface="Onest"/>
                <a:cs typeface="Onest"/>
              </a:defRPr>
            </a:defPPr>
            <a:lvl1pPr>
              <a:defRPr sz="2100" b="1">
                <a:solidFill>
                  <a:srgbClr val="1B6C57"/>
                </a:solidFill>
                <a:latin typeface="Onest"/>
                <a:ea typeface="Onest"/>
                <a:cs typeface="Onest"/>
              </a:defRPr>
            </a:lvl1pPr>
            <a:lvl2pPr>
              <a:defRPr sz="2100" b="1">
                <a:solidFill>
                  <a:srgbClr val="1B6C57"/>
                </a:solidFill>
                <a:latin typeface="Onest"/>
                <a:ea typeface="Onest"/>
                <a:cs typeface="Onest"/>
              </a:defRPr>
            </a:lvl2pPr>
            <a:lvl3pPr>
              <a:defRPr sz="2100" b="1">
                <a:solidFill>
                  <a:srgbClr val="1B6C57"/>
                </a:solidFill>
                <a:latin typeface="Onest"/>
                <a:ea typeface="Onest"/>
                <a:cs typeface="Onest"/>
              </a:defRPr>
            </a:lvl3pPr>
            <a:lvl4pPr>
              <a:defRPr sz="2100" b="1">
                <a:solidFill>
                  <a:srgbClr val="1B6C57"/>
                </a:solidFill>
                <a:latin typeface="Onest"/>
                <a:ea typeface="Onest"/>
                <a:cs typeface="Onest"/>
              </a:defRPr>
            </a:lvl4pPr>
            <a:lvl5pPr>
              <a:defRPr sz="2100" b="1">
                <a:solidFill>
                  <a:srgbClr val="1B6C57"/>
                </a:solidFill>
                <a:latin typeface="Onest"/>
                <a:ea typeface="Onest"/>
                <a:cs typeface="Onest"/>
              </a:defRPr>
            </a:lvl5pPr>
            <a:lvl6pPr>
              <a:defRPr sz="2100" b="1">
                <a:solidFill>
                  <a:srgbClr val="1B6C57"/>
                </a:solidFill>
                <a:latin typeface="Onest"/>
                <a:ea typeface="Onest"/>
                <a:cs typeface="Onest"/>
              </a:defRPr>
            </a:lvl6pPr>
            <a:lvl7pPr>
              <a:defRPr sz="2100" b="1">
                <a:solidFill>
                  <a:srgbClr val="1B6C57"/>
                </a:solidFill>
                <a:latin typeface="Onest"/>
                <a:ea typeface="Onest"/>
                <a:cs typeface="Onest"/>
              </a:defRPr>
            </a:lvl7pPr>
            <a:lvl8pPr>
              <a:defRPr sz="2100" b="1">
                <a:solidFill>
                  <a:srgbClr val="1B6C57"/>
                </a:solidFill>
                <a:latin typeface="Onest"/>
                <a:ea typeface="Onest"/>
                <a:cs typeface="Onest"/>
              </a:defRPr>
            </a:lvl8pPr>
            <a:lvl9pPr>
              <a:defRPr sz="2100" b="1">
                <a:solidFill>
                  <a:srgbClr val="1B6C57"/>
                </a:solidFill>
                <a:latin typeface="Onest"/>
                <a:ea typeface="Onest"/>
                <a:cs typeface="Onest"/>
              </a:defRPr>
            </a:lvl9pPr>
          </a:lstStyle>
          <a:p>
            <a:pPr>
              <a:defRPr sz="2100" b="1">
                <a:solidFill>
                  <a:srgbClr val="1B6C57"/>
                </a:solidFill>
                <a:latin typeface="Onest"/>
                <a:ea typeface="Onest"/>
                <a:cs typeface="Onest"/>
              </a:defRPr>
            </a:pPr>
            <a:r>
              <a:rPr sz="2100" b="1">
                <a:solidFill>
                  <a:srgbClr val="1B6C57"/>
                </a:solidFill>
                <a:latin typeface="Onest"/>
                <a:ea typeface="Onest"/>
                <a:cs typeface="Onest"/>
              </a:rPr>
              <a:t>Завершення реалізації власного кейсу</a:t>
            </a:r>
          </a:p>
        </p:txBody>
      </p:sp>
      <p:sp>
        <p:nvSpPr>
          <p:cNvPr id="4" name="Rectangle 3">
            <a:extLst>
              <a:ext uri="{FF2B5EF4-FFF2-40B4-BE49-F238E27FC236}">
                <a16:creationId xmlns:a16="http://schemas.microsoft.com/office/drawing/2014/main" id="{E37F0BF6-EC20-4151-BA1D-3B945D3C97D1}"/>
              </a:ext>
            </a:extLst>
          </p:cNvPr>
          <p:cNvSpPr>
            <a:spLocks noGrp="1"/>
          </p:cNvSpPr>
          <p:nvPr/>
        </p:nvSpPr>
        <p:spPr>
          <a:xfrm>
            <a:off x="723900" y="2571750"/>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dirty="0">
                <a:solidFill>
                  <a:srgbClr val="1B6C57"/>
                </a:solidFill>
                <a:latin typeface="Onest"/>
                <a:ea typeface="Onest"/>
                <a:cs typeface="Onest"/>
              </a:rPr>
              <a:t>01</a:t>
            </a:r>
          </a:p>
        </p:txBody>
      </p:sp>
      <p:sp>
        <p:nvSpPr>
          <p:cNvPr id="5" name="Rectangle 4">
            <a:extLst>
              <a:ext uri="{FF2B5EF4-FFF2-40B4-BE49-F238E27FC236}">
                <a16:creationId xmlns:a16="http://schemas.microsoft.com/office/drawing/2014/main" id="{6F9E83FE-9D57-4684-A088-557D1080C51F}"/>
              </a:ext>
            </a:extLst>
          </p:cNvPr>
          <p:cNvSpPr>
            <a:spLocks noGrp="1"/>
          </p:cNvSpPr>
          <p:nvPr/>
        </p:nvSpPr>
        <p:spPr>
          <a:xfrm>
            <a:off x="1262062" y="2324100"/>
            <a:ext cx="9667875" cy="962025"/>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Завершіть валідовану властивість, базовий клас та два дочірні у власному кейсі.</a:t>
            </a:r>
          </a:p>
        </p:txBody>
      </p:sp>
      <p:sp>
        <p:nvSpPr>
          <p:cNvPr id="6" name="Rectangle 5">
            <a:extLst>
              <a:ext uri="{FF2B5EF4-FFF2-40B4-BE49-F238E27FC236}">
                <a16:creationId xmlns:a16="http://schemas.microsoft.com/office/drawing/2014/main" id="{DC5F7F9F-DDFC-4EE5-AD8A-6D8D3F8093AC}"/>
              </a:ext>
            </a:extLst>
          </p:cNvPr>
          <p:cNvSpPr>
            <a:spLocks noGrp="1"/>
          </p:cNvSpPr>
          <p:nvPr/>
        </p:nvSpPr>
        <p:spPr>
          <a:xfrm>
            <a:off x="723900" y="3571875"/>
            <a:ext cx="609600" cy="476250"/>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02</a:t>
            </a:r>
          </a:p>
        </p:txBody>
      </p:sp>
      <p:sp>
        <p:nvSpPr>
          <p:cNvPr id="7" name="Rectangle 6">
            <a:extLst>
              <a:ext uri="{FF2B5EF4-FFF2-40B4-BE49-F238E27FC236}">
                <a16:creationId xmlns:a16="http://schemas.microsoft.com/office/drawing/2014/main" id="{CD709ED2-6D44-46A2-B85F-AC1B0340753C}"/>
              </a:ext>
            </a:extLst>
          </p:cNvPr>
          <p:cNvSpPr>
            <a:spLocks noGrp="1"/>
          </p:cNvSpPr>
          <p:nvPr/>
        </p:nvSpPr>
        <p:spPr>
          <a:xfrm>
            <a:off x="1262062" y="3324225"/>
            <a:ext cx="9667875" cy="962025"/>
          </a:xfrm>
          <a:prstGeom prst="rect">
            <a:avLst/>
          </a:prstGeom>
          <a:noFill/>
          <a:ln w="0">
            <a:noFill/>
          </a:ln>
        </p:spPr>
        <p:txBody>
          <a:bodyPr anchor="ctr"/>
          <a:lstStyle>
            <a:defPPr>
              <a:defRPr sz="2025" b="0">
                <a:solidFill>
                  <a:srgbClr val="192D3B"/>
                </a:solidFill>
                <a:latin typeface="Onest"/>
                <a:ea typeface="Onest"/>
                <a:cs typeface="Onest"/>
              </a:defRPr>
            </a:defPPr>
            <a:lvl1pPr>
              <a:defRPr sz="2025" b="0">
                <a:solidFill>
                  <a:srgbClr val="192D3B"/>
                </a:solidFill>
                <a:latin typeface="Onest"/>
                <a:ea typeface="Onest"/>
                <a:cs typeface="Onest"/>
              </a:defRPr>
            </a:lvl1pPr>
            <a:lvl2pPr>
              <a:defRPr sz="2025" b="0">
                <a:solidFill>
                  <a:srgbClr val="192D3B"/>
                </a:solidFill>
                <a:latin typeface="Onest"/>
                <a:ea typeface="Onest"/>
                <a:cs typeface="Onest"/>
              </a:defRPr>
            </a:lvl2pPr>
            <a:lvl3pPr>
              <a:defRPr sz="2025" b="0">
                <a:solidFill>
                  <a:srgbClr val="192D3B"/>
                </a:solidFill>
                <a:latin typeface="Onest"/>
                <a:ea typeface="Onest"/>
                <a:cs typeface="Onest"/>
              </a:defRPr>
            </a:lvl3pPr>
            <a:lvl4pPr>
              <a:defRPr sz="2025" b="0">
                <a:solidFill>
                  <a:srgbClr val="192D3B"/>
                </a:solidFill>
                <a:latin typeface="Onest"/>
                <a:ea typeface="Onest"/>
                <a:cs typeface="Onest"/>
              </a:defRPr>
            </a:lvl4pPr>
            <a:lvl5pPr>
              <a:defRPr sz="2025" b="0">
                <a:solidFill>
                  <a:srgbClr val="192D3B"/>
                </a:solidFill>
                <a:latin typeface="Onest"/>
                <a:ea typeface="Onest"/>
                <a:cs typeface="Onest"/>
              </a:defRPr>
            </a:lvl5pPr>
            <a:lvl6pPr>
              <a:defRPr sz="2025" b="0">
                <a:solidFill>
                  <a:srgbClr val="192D3B"/>
                </a:solidFill>
                <a:latin typeface="Onest"/>
                <a:ea typeface="Onest"/>
                <a:cs typeface="Onest"/>
              </a:defRPr>
            </a:lvl6pPr>
            <a:lvl7pPr>
              <a:defRPr sz="2025" b="0">
                <a:solidFill>
                  <a:srgbClr val="192D3B"/>
                </a:solidFill>
                <a:latin typeface="Onest"/>
                <a:ea typeface="Onest"/>
                <a:cs typeface="Onest"/>
              </a:defRPr>
            </a:lvl7pPr>
            <a:lvl8pPr>
              <a:defRPr sz="2025" b="0">
                <a:solidFill>
                  <a:srgbClr val="192D3B"/>
                </a:solidFill>
                <a:latin typeface="Onest"/>
                <a:ea typeface="Onest"/>
                <a:cs typeface="Onest"/>
              </a:defRPr>
            </a:lvl8pPr>
            <a:lvl9pPr>
              <a:defRPr sz="2025" b="0">
                <a:solidFill>
                  <a:srgbClr val="192D3B"/>
                </a:solidFill>
                <a:latin typeface="Onest"/>
                <a:ea typeface="Onest"/>
                <a:cs typeface="Onest"/>
              </a:defRPr>
            </a:lvl9pPr>
          </a:lstStyle>
          <a:p>
            <a:pPr>
              <a:defRPr sz="2025" b="0">
                <a:solidFill>
                  <a:srgbClr val="192D3B"/>
                </a:solidFill>
                <a:latin typeface="Onest"/>
                <a:ea typeface="Onest"/>
                <a:cs typeface="Onest"/>
              </a:defRPr>
            </a:pPr>
            <a:r>
              <a:rPr sz="2025" b="0">
                <a:solidFill>
                  <a:srgbClr val="192D3B"/>
                </a:solidFill>
                <a:latin typeface="Onest"/>
                <a:ea typeface="Onest"/>
                <a:cs typeface="Onest"/>
              </a:rPr>
              <a:t>В одному різновиді використайте super() і перевизначте метод; перевірте успадковане правило.</a:t>
            </a:r>
          </a:p>
        </p:txBody>
      </p:sp>
      <p:sp>
        <p:nvSpPr>
          <p:cNvPr id="10" name="Rectangle 9">
            <a:extLst>
              <a:ext uri="{FF2B5EF4-FFF2-40B4-BE49-F238E27FC236}">
                <a16:creationId xmlns:a16="http://schemas.microsoft.com/office/drawing/2014/main" id="{69EAD211-7A6C-44F5-BCBB-3B0777506753}"/>
              </a:ext>
            </a:extLst>
          </p:cNvPr>
          <p:cNvSpPr>
            <a:spLocks noGrp="1"/>
          </p:cNvSpPr>
          <p:nvPr/>
        </p:nvSpPr>
        <p:spPr>
          <a:xfrm>
            <a:off x="723900" y="5810250"/>
            <a:ext cx="10572750" cy="609600"/>
          </a:xfrm>
          <a:prstGeom prst="rect">
            <a:avLst/>
          </a:prstGeom>
          <a:noFill/>
          <a:ln w="0">
            <a:noFill/>
          </a:ln>
        </p:spPr>
        <p:txBody>
          <a:bodyPr anchor="ctr"/>
          <a:lstStyle>
            <a:defPPr>
              <a:defRPr sz="1725" b="1">
                <a:solidFill>
                  <a:srgbClr val="1B6C57"/>
                </a:solidFill>
                <a:latin typeface="Onest"/>
                <a:ea typeface="Onest"/>
                <a:cs typeface="Onest"/>
              </a:defRPr>
            </a:defPPr>
            <a:lvl1pPr>
              <a:defRPr sz="1725" b="1">
                <a:solidFill>
                  <a:srgbClr val="1B6C57"/>
                </a:solidFill>
                <a:latin typeface="Onest"/>
                <a:ea typeface="Onest"/>
                <a:cs typeface="Onest"/>
              </a:defRPr>
            </a:lvl1pPr>
            <a:lvl2pPr>
              <a:defRPr sz="1725" b="1">
                <a:solidFill>
                  <a:srgbClr val="1B6C57"/>
                </a:solidFill>
                <a:latin typeface="Onest"/>
                <a:ea typeface="Onest"/>
                <a:cs typeface="Onest"/>
              </a:defRPr>
            </a:lvl2pPr>
            <a:lvl3pPr>
              <a:defRPr sz="1725" b="1">
                <a:solidFill>
                  <a:srgbClr val="1B6C57"/>
                </a:solidFill>
                <a:latin typeface="Onest"/>
                <a:ea typeface="Onest"/>
                <a:cs typeface="Onest"/>
              </a:defRPr>
            </a:lvl3pPr>
            <a:lvl4pPr>
              <a:defRPr sz="1725" b="1">
                <a:solidFill>
                  <a:srgbClr val="1B6C57"/>
                </a:solidFill>
                <a:latin typeface="Onest"/>
                <a:ea typeface="Onest"/>
                <a:cs typeface="Onest"/>
              </a:defRPr>
            </a:lvl4pPr>
            <a:lvl5pPr>
              <a:defRPr sz="1725" b="1">
                <a:solidFill>
                  <a:srgbClr val="1B6C57"/>
                </a:solidFill>
                <a:latin typeface="Onest"/>
                <a:ea typeface="Onest"/>
                <a:cs typeface="Onest"/>
              </a:defRPr>
            </a:lvl5pPr>
            <a:lvl6pPr>
              <a:defRPr sz="1725" b="1">
                <a:solidFill>
                  <a:srgbClr val="1B6C57"/>
                </a:solidFill>
                <a:latin typeface="Onest"/>
                <a:ea typeface="Onest"/>
                <a:cs typeface="Onest"/>
              </a:defRPr>
            </a:lvl6pPr>
            <a:lvl7pPr>
              <a:defRPr sz="1725" b="1">
                <a:solidFill>
                  <a:srgbClr val="1B6C57"/>
                </a:solidFill>
                <a:latin typeface="Onest"/>
                <a:ea typeface="Onest"/>
                <a:cs typeface="Onest"/>
              </a:defRPr>
            </a:lvl7pPr>
            <a:lvl8pPr>
              <a:defRPr sz="1725" b="1">
                <a:solidFill>
                  <a:srgbClr val="1B6C57"/>
                </a:solidFill>
                <a:latin typeface="Onest"/>
                <a:ea typeface="Onest"/>
                <a:cs typeface="Onest"/>
              </a:defRPr>
            </a:lvl8pPr>
            <a:lvl9pPr>
              <a:defRPr sz="1725" b="1">
                <a:solidFill>
                  <a:srgbClr val="1B6C57"/>
                </a:solidFill>
                <a:latin typeface="Onest"/>
                <a:ea typeface="Onest"/>
                <a:cs typeface="Onest"/>
              </a:defRPr>
            </a:lvl9pPr>
          </a:lstStyle>
          <a:p>
            <a:pPr>
              <a:defRPr sz="1725" b="1">
                <a:solidFill>
                  <a:srgbClr val="1B6C57"/>
                </a:solidFill>
                <a:latin typeface="Onest"/>
                <a:ea typeface="Onest"/>
                <a:cs typeface="Onest"/>
              </a:defRPr>
            </a:pPr>
            <a:r>
              <a:rPr sz="1725" b="1" dirty="0" err="1">
                <a:solidFill>
                  <a:srgbClr val="1B6C57"/>
                </a:solidFill>
                <a:latin typeface="Onest"/>
                <a:ea typeface="Onest"/>
                <a:cs typeface="Onest"/>
              </a:rPr>
              <a:t>Здайте</a:t>
            </a:r>
            <a:r>
              <a:rPr sz="1725" b="1" dirty="0">
                <a:solidFill>
                  <a:srgbClr val="1B6C57"/>
                </a:solidFill>
                <a:latin typeface="Onest"/>
                <a:ea typeface="Onest"/>
                <a:cs typeface="Onest"/>
              </a:rPr>
              <a:t> Python-файл</a:t>
            </a:r>
            <a:r>
              <a:rPr lang="uk-UA" dirty="0"/>
              <a:t>и з кодом</a:t>
            </a:r>
            <a:r>
              <a:rPr sz="1725" b="1" dirty="0">
                <a:solidFill>
                  <a:srgbClr val="1B6C57"/>
                </a:solidFill>
                <a:latin typeface="Onest"/>
                <a:ea typeface="Onest"/>
                <a:cs typeface="Onest"/>
              </a:rPr>
              <a:t>.</a:t>
            </a:r>
          </a:p>
        </p:txBody>
      </p:sp>
      <p:pic>
        <p:nvPicPr>
          <p:cNvPr id="11" name="Graphic 10">
            <a:extLst>
              <a:ext uri="{FF2B5EF4-FFF2-40B4-BE49-F238E27FC236}">
                <a16:creationId xmlns:a16="http://schemas.microsoft.com/office/drawing/2014/main" id="{924F9A37-D0AC-416E-B2CA-9595CBF8F0A9}"/>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1049000" y="695325"/>
            <a:ext cx="495300" cy="495300"/>
          </a:xfrm>
          <a:prstGeom prst="rect">
            <a:avLst/>
          </a:prstGeom>
        </p:spPr>
      </p:pic>
    </p:spTree>
    <p:extLst>
      <p:ext uri="{BB962C8B-B14F-4D97-AF65-F5344CB8AC3E}">
        <p14:creationId xmlns:p14="http://schemas.microsoft.com/office/powerpoint/2010/main" val="2526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F40CCEA-1CD0-4D90-99F9-38A07FE89820}"/>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Резерв: ще один незалежний об'єкт</a:t>
            </a:r>
          </a:p>
        </p:txBody>
      </p:sp>
      <p:pic>
        <p:nvPicPr>
          <p:cNvPr id="3" name="Graphic 2">
            <a:extLst>
              <a:ext uri="{FF2B5EF4-FFF2-40B4-BE49-F238E27FC236}">
                <a16:creationId xmlns:a16="http://schemas.microsoft.com/office/drawing/2014/main" id="{446F8118-6588-4307-A8A4-CA6993BF03B4}"/>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85800" y="2381250"/>
            <a:ext cx="666750" cy="666750"/>
          </a:xfrm>
          <a:prstGeom prst="rect">
            <a:avLst/>
          </a:prstGeom>
        </p:spPr>
      </p:pic>
      <p:sp>
        <p:nvSpPr>
          <p:cNvPr id="4" name="Rectangle 3">
            <a:extLst>
              <a:ext uri="{FF2B5EF4-FFF2-40B4-BE49-F238E27FC236}">
                <a16:creationId xmlns:a16="http://schemas.microsoft.com/office/drawing/2014/main" id="{E759FBC6-D5C4-4591-8660-F2C0C1576E6C}"/>
              </a:ext>
            </a:extLst>
          </p:cNvPr>
          <p:cNvSpPr>
            <a:spLocks noGrp="1"/>
          </p:cNvSpPr>
          <p:nvPr/>
        </p:nvSpPr>
        <p:spPr>
          <a:xfrm>
            <a:off x="1809750" y="1714500"/>
            <a:ext cx="9286875" cy="2000250"/>
          </a:xfrm>
          <a:prstGeom prst="rect">
            <a:avLst/>
          </a:prstGeom>
          <a:noFill/>
          <a:ln w="0">
            <a:noFill/>
          </a:ln>
        </p:spPr>
        <p:txBody>
          <a:bodyPr anchor="ctr"/>
          <a:lstStyle>
            <a:defPPr>
              <a:defRPr sz="2550" b="0">
                <a:solidFill>
                  <a:srgbClr val="192D3B"/>
                </a:solidFill>
                <a:latin typeface="Onest"/>
                <a:ea typeface="Onest"/>
                <a:cs typeface="Onest"/>
              </a:defRPr>
            </a:defPPr>
            <a:lvl1pPr>
              <a:defRPr sz="2550" b="0">
                <a:solidFill>
                  <a:srgbClr val="192D3B"/>
                </a:solidFill>
                <a:latin typeface="Onest"/>
                <a:ea typeface="Onest"/>
                <a:cs typeface="Onest"/>
              </a:defRPr>
            </a:lvl1pPr>
            <a:lvl2pPr>
              <a:defRPr sz="2550" b="0">
                <a:solidFill>
                  <a:srgbClr val="192D3B"/>
                </a:solidFill>
                <a:latin typeface="Onest"/>
                <a:ea typeface="Onest"/>
                <a:cs typeface="Onest"/>
              </a:defRPr>
            </a:lvl2pPr>
            <a:lvl3pPr>
              <a:defRPr sz="2550" b="0">
                <a:solidFill>
                  <a:srgbClr val="192D3B"/>
                </a:solidFill>
                <a:latin typeface="Onest"/>
                <a:ea typeface="Onest"/>
                <a:cs typeface="Onest"/>
              </a:defRPr>
            </a:lvl3pPr>
            <a:lvl4pPr>
              <a:defRPr sz="2550" b="0">
                <a:solidFill>
                  <a:srgbClr val="192D3B"/>
                </a:solidFill>
                <a:latin typeface="Onest"/>
                <a:ea typeface="Onest"/>
                <a:cs typeface="Onest"/>
              </a:defRPr>
            </a:lvl4pPr>
            <a:lvl5pPr>
              <a:defRPr sz="2550" b="0">
                <a:solidFill>
                  <a:srgbClr val="192D3B"/>
                </a:solidFill>
                <a:latin typeface="Onest"/>
                <a:ea typeface="Onest"/>
                <a:cs typeface="Onest"/>
              </a:defRPr>
            </a:lvl5pPr>
            <a:lvl6pPr>
              <a:defRPr sz="2550" b="0">
                <a:solidFill>
                  <a:srgbClr val="192D3B"/>
                </a:solidFill>
                <a:latin typeface="Onest"/>
                <a:ea typeface="Onest"/>
                <a:cs typeface="Onest"/>
              </a:defRPr>
            </a:lvl6pPr>
            <a:lvl7pPr>
              <a:defRPr sz="2550" b="0">
                <a:solidFill>
                  <a:srgbClr val="192D3B"/>
                </a:solidFill>
                <a:latin typeface="Onest"/>
                <a:ea typeface="Onest"/>
                <a:cs typeface="Onest"/>
              </a:defRPr>
            </a:lvl7pPr>
            <a:lvl8pPr>
              <a:defRPr sz="2550" b="0">
                <a:solidFill>
                  <a:srgbClr val="192D3B"/>
                </a:solidFill>
                <a:latin typeface="Onest"/>
                <a:ea typeface="Onest"/>
                <a:cs typeface="Onest"/>
              </a:defRPr>
            </a:lvl8pPr>
            <a:lvl9pPr>
              <a:defRPr sz="2550" b="0">
                <a:solidFill>
                  <a:srgbClr val="192D3B"/>
                </a:solidFill>
                <a:latin typeface="Onest"/>
                <a:ea typeface="Onest"/>
                <a:cs typeface="Onest"/>
              </a:defRPr>
            </a:lvl9pPr>
          </a:lstStyle>
          <a:p>
            <a:pPr>
              <a:defRPr sz="2550" b="0">
                <a:solidFill>
                  <a:srgbClr val="192D3B"/>
                </a:solidFill>
                <a:latin typeface="Onest"/>
                <a:ea typeface="Onest"/>
                <a:cs typeface="Onest"/>
              </a:defRPr>
            </a:pPr>
            <a:r>
              <a:rPr sz="2550" b="0">
                <a:solidFill>
                  <a:srgbClr val="192D3B"/>
                </a:solidFill>
                <a:latin typeface="Onest"/>
                <a:ea typeface="Onest"/>
                <a:cs typeface="Onest"/>
              </a:rPr>
              <a:t>Створіть другий контейнер свого кейсу. Змініть лише перший.</a:t>
            </a:r>
          </a:p>
        </p:txBody>
      </p:sp>
      <p:sp>
        <p:nvSpPr>
          <p:cNvPr id="5" name="Rectangle 4">
            <a:extLst>
              <a:ext uri="{FF2B5EF4-FFF2-40B4-BE49-F238E27FC236}">
                <a16:creationId xmlns:a16="http://schemas.microsoft.com/office/drawing/2014/main" id="{22DD9DB1-CEE7-43A1-8DAC-3F7AF6A71B2E}"/>
              </a:ext>
            </a:extLst>
          </p:cNvPr>
          <p:cNvSpPr>
            <a:spLocks noGrp="1"/>
          </p:cNvSpPr>
          <p:nvPr/>
        </p:nvSpPr>
        <p:spPr>
          <a:xfrm>
            <a:off x="723900" y="4229100"/>
            <a:ext cx="10744200" cy="1666875"/>
          </a:xfrm>
          <a:prstGeom prst="rect">
            <a:avLst/>
          </a:prstGeom>
          <a:solidFill>
            <a:srgbClr val="E8F3ED"/>
          </a:solidFill>
          <a:ln w="9525">
            <a:solidFill>
              <a:srgbClr val="B9CDC6"/>
            </a:solidFill>
          </a:ln>
        </p:spPr>
        <p:txBody>
          <a:bodyPr/>
          <a:lstStyle/>
          <a:p>
            <a:endParaRPr lang="en-UA"/>
          </a:p>
        </p:txBody>
      </p:sp>
      <p:sp>
        <p:nvSpPr>
          <p:cNvPr id="6" name="Rectangle 5">
            <a:extLst>
              <a:ext uri="{FF2B5EF4-FFF2-40B4-BE49-F238E27FC236}">
                <a16:creationId xmlns:a16="http://schemas.microsoft.com/office/drawing/2014/main" id="{981C4EC8-613F-4B1F-AE4B-F2CF719393C9}"/>
              </a:ext>
            </a:extLst>
          </p:cNvPr>
          <p:cNvSpPr>
            <a:spLocks noGrp="1"/>
          </p:cNvSpPr>
          <p:nvPr/>
        </p:nvSpPr>
        <p:spPr>
          <a:xfrm>
            <a:off x="990600" y="4476750"/>
            <a:ext cx="10210800" cy="1190625"/>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Готово, якщо: Стан другого не змінюється.</a:t>
            </a:r>
          </a:p>
        </p:txBody>
      </p:sp>
    </p:spTree>
    <p:extLst>
      <p:ext uri="{BB962C8B-B14F-4D97-AF65-F5344CB8AC3E}">
        <p14:creationId xmlns:p14="http://schemas.microsoft.com/office/powerpoint/2010/main" val="18577461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BF3E8"/>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3E13228-CFFD-4621-8555-B6301CB95B60}"/>
              </a:ext>
            </a:extLst>
          </p:cNvPr>
          <p:cNvSpPr>
            <a:spLocks noGrp="1"/>
          </p:cNvSpPr>
          <p:nvPr/>
        </p:nvSpPr>
        <p:spPr>
          <a:xfrm>
            <a:off x="11049000" y="400050"/>
            <a:ext cx="514350" cy="266700"/>
          </a:xfrm>
          <a:prstGeom prst="rect">
            <a:avLst/>
          </a:prstGeom>
          <a:noFill/>
          <a:ln w="0">
            <a:noFill/>
          </a:ln>
        </p:spPr>
        <p:txBody>
          <a:bodyPr anchor="ctr"/>
          <a:lstStyle>
            <a:defPPr>
              <a:defRPr sz="1050" b="0">
                <a:solidFill>
                  <a:srgbClr val="566A78"/>
                </a:solidFill>
                <a:latin typeface="Onest"/>
                <a:ea typeface="Onest"/>
                <a:cs typeface="Onest"/>
              </a:defRPr>
            </a:defPPr>
            <a:lvl1pPr>
              <a:defRPr sz="1050" b="0">
                <a:solidFill>
                  <a:srgbClr val="566A78"/>
                </a:solidFill>
                <a:latin typeface="Onest"/>
                <a:ea typeface="Onest"/>
                <a:cs typeface="Onest"/>
              </a:defRPr>
            </a:lvl1pPr>
            <a:lvl2pPr>
              <a:defRPr sz="1050" b="0">
                <a:solidFill>
                  <a:srgbClr val="566A78"/>
                </a:solidFill>
                <a:latin typeface="Onest"/>
                <a:ea typeface="Onest"/>
                <a:cs typeface="Onest"/>
              </a:defRPr>
            </a:lvl2pPr>
            <a:lvl3pPr>
              <a:defRPr sz="1050" b="0">
                <a:solidFill>
                  <a:srgbClr val="566A78"/>
                </a:solidFill>
                <a:latin typeface="Onest"/>
                <a:ea typeface="Onest"/>
                <a:cs typeface="Onest"/>
              </a:defRPr>
            </a:lvl3pPr>
            <a:lvl4pPr>
              <a:defRPr sz="1050" b="0">
                <a:solidFill>
                  <a:srgbClr val="566A78"/>
                </a:solidFill>
                <a:latin typeface="Onest"/>
                <a:ea typeface="Onest"/>
                <a:cs typeface="Onest"/>
              </a:defRPr>
            </a:lvl4pPr>
            <a:lvl5pPr>
              <a:defRPr sz="1050" b="0">
                <a:solidFill>
                  <a:srgbClr val="566A78"/>
                </a:solidFill>
                <a:latin typeface="Onest"/>
                <a:ea typeface="Onest"/>
                <a:cs typeface="Onest"/>
              </a:defRPr>
            </a:lvl5pPr>
            <a:lvl6pPr>
              <a:defRPr sz="1050" b="0">
                <a:solidFill>
                  <a:srgbClr val="566A78"/>
                </a:solidFill>
                <a:latin typeface="Onest"/>
                <a:ea typeface="Onest"/>
                <a:cs typeface="Onest"/>
              </a:defRPr>
            </a:lvl6pPr>
            <a:lvl7pPr>
              <a:defRPr sz="1050" b="0">
                <a:solidFill>
                  <a:srgbClr val="566A78"/>
                </a:solidFill>
                <a:latin typeface="Onest"/>
                <a:ea typeface="Onest"/>
                <a:cs typeface="Onest"/>
              </a:defRPr>
            </a:lvl7pPr>
            <a:lvl8pPr>
              <a:defRPr sz="1050" b="0">
                <a:solidFill>
                  <a:srgbClr val="566A78"/>
                </a:solidFill>
                <a:latin typeface="Onest"/>
                <a:ea typeface="Onest"/>
                <a:cs typeface="Onest"/>
              </a:defRPr>
            </a:lvl8pPr>
            <a:lvl9pPr>
              <a:defRPr sz="1050" b="0">
                <a:solidFill>
                  <a:srgbClr val="566A78"/>
                </a:solidFill>
                <a:latin typeface="Onest"/>
                <a:ea typeface="Onest"/>
                <a:cs typeface="Onest"/>
              </a:defRPr>
            </a:lvl9pPr>
          </a:lstStyle>
          <a:p>
            <a:pPr>
              <a:defRPr sz="1050" b="0">
                <a:solidFill>
                  <a:srgbClr val="566A78"/>
                </a:solidFill>
                <a:latin typeface="Onest"/>
                <a:ea typeface="Onest"/>
                <a:cs typeface="Onest"/>
              </a:defRPr>
            </a:pPr>
            <a:r>
              <a:rPr sz="1050" b="0">
                <a:solidFill>
                  <a:srgbClr val="566A78"/>
                </a:solidFill>
                <a:latin typeface="Onest"/>
                <a:ea typeface="Onest"/>
                <a:cs typeface="Onest"/>
              </a:rPr>
              <a:t>23</a:t>
            </a:r>
          </a:p>
        </p:txBody>
      </p:sp>
      <p:sp>
        <p:nvSpPr>
          <p:cNvPr id="2" name="Rectangle 1">
            <a:extLst>
              <a:ext uri="{FF2B5EF4-FFF2-40B4-BE49-F238E27FC236}">
                <a16:creationId xmlns:a16="http://schemas.microsoft.com/office/drawing/2014/main" id="{7436853E-A739-4E74-92C7-CD0CFC9C26D9}"/>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Резерв: помилка без втрати стану</a:t>
            </a:r>
          </a:p>
        </p:txBody>
      </p:sp>
      <p:pic>
        <p:nvPicPr>
          <p:cNvPr id="3" name="Graphic 2">
            <a:extLst>
              <a:ext uri="{FF2B5EF4-FFF2-40B4-BE49-F238E27FC236}">
                <a16:creationId xmlns:a16="http://schemas.microsoft.com/office/drawing/2014/main" id="{38750785-50D6-4A02-A7CB-E976D99424AE}"/>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762000" y="1676400"/>
            <a:ext cx="666750" cy="666750"/>
          </a:xfrm>
          <a:prstGeom prst="rect">
            <a:avLst/>
          </a:prstGeom>
        </p:spPr>
      </p:pic>
      <p:sp>
        <p:nvSpPr>
          <p:cNvPr id="4" name="Rectangle 3">
            <a:extLst>
              <a:ext uri="{FF2B5EF4-FFF2-40B4-BE49-F238E27FC236}">
                <a16:creationId xmlns:a16="http://schemas.microsoft.com/office/drawing/2014/main" id="{EC5B9C2D-5F2B-4B05-BDF8-55329C06B0D1}"/>
              </a:ext>
            </a:extLst>
          </p:cNvPr>
          <p:cNvSpPr>
            <a:spLocks noGrp="1"/>
          </p:cNvSpPr>
          <p:nvPr/>
        </p:nvSpPr>
        <p:spPr>
          <a:xfrm>
            <a:off x="1809750" y="1714500"/>
            <a:ext cx="9286875" cy="2000250"/>
          </a:xfrm>
          <a:prstGeom prst="rect">
            <a:avLst/>
          </a:prstGeom>
          <a:noFill/>
          <a:ln w="0">
            <a:noFill/>
          </a:ln>
        </p:spPr>
        <p:txBody>
          <a:bodyPr anchor="ctr"/>
          <a:lstStyle>
            <a:defPPr>
              <a:defRPr sz="2550" b="0">
                <a:solidFill>
                  <a:srgbClr val="192D3B"/>
                </a:solidFill>
                <a:latin typeface="Onest"/>
                <a:ea typeface="Onest"/>
                <a:cs typeface="Onest"/>
              </a:defRPr>
            </a:defPPr>
            <a:lvl1pPr>
              <a:defRPr sz="2550" b="0">
                <a:solidFill>
                  <a:srgbClr val="192D3B"/>
                </a:solidFill>
                <a:latin typeface="Onest"/>
                <a:ea typeface="Onest"/>
                <a:cs typeface="Onest"/>
              </a:defRPr>
            </a:lvl1pPr>
            <a:lvl2pPr>
              <a:defRPr sz="2550" b="0">
                <a:solidFill>
                  <a:srgbClr val="192D3B"/>
                </a:solidFill>
                <a:latin typeface="Onest"/>
                <a:ea typeface="Onest"/>
                <a:cs typeface="Onest"/>
              </a:defRPr>
            </a:lvl2pPr>
            <a:lvl3pPr>
              <a:defRPr sz="2550" b="0">
                <a:solidFill>
                  <a:srgbClr val="192D3B"/>
                </a:solidFill>
                <a:latin typeface="Onest"/>
                <a:ea typeface="Onest"/>
                <a:cs typeface="Onest"/>
              </a:defRPr>
            </a:lvl3pPr>
            <a:lvl4pPr>
              <a:defRPr sz="2550" b="0">
                <a:solidFill>
                  <a:srgbClr val="192D3B"/>
                </a:solidFill>
                <a:latin typeface="Onest"/>
                <a:ea typeface="Onest"/>
                <a:cs typeface="Onest"/>
              </a:defRPr>
            </a:lvl4pPr>
            <a:lvl5pPr>
              <a:defRPr sz="2550" b="0">
                <a:solidFill>
                  <a:srgbClr val="192D3B"/>
                </a:solidFill>
                <a:latin typeface="Onest"/>
                <a:ea typeface="Onest"/>
                <a:cs typeface="Onest"/>
              </a:defRPr>
            </a:lvl5pPr>
            <a:lvl6pPr>
              <a:defRPr sz="2550" b="0">
                <a:solidFill>
                  <a:srgbClr val="192D3B"/>
                </a:solidFill>
                <a:latin typeface="Onest"/>
                <a:ea typeface="Onest"/>
                <a:cs typeface="Onest"/>
              </a:defRPr>
            </a:lvl6pPr>
            <a:lvl7pPr>
              <a:defRPr sz="2550" b="0">
                <a:solidFill>
                  <a:srgbClr val="192D3B"/>
                </a:solidFill>
                <a:latin typeface="Onest"/>
                <a:ea typeface="Onest"/>
                <a:cs typeface="Onest"/>
              </a:defRPr>
            </a:lvl7pPr>
            <a:lvl8pPr>
              <a:defRPr sz="2550" b="0">
                <a:solidFill>
                  <a:srgbClr val="192D3B"/>
                </a:solidFill>
                <a:latin typeface="Onest"/>
                <a:ea typeface="Onest"/>
                <a:cs typeface="Onest"/>
              </a:defRPr>
            </a:lvl8pPr>
            <a:lvl9pPr>
              <a:defRPr sz="2550" b="0">
                <a:solidFill>
                  <a:srgbClr val="192D3B"/>
                </a:solidFill>
                <a:latin typeface="Onest"/>
                <a:ea typeface="Onest"/>
                <a:cs typeface="Onest"/>
              </a:defRPr>
            </a:lvl9pPr>
          </a:lstStyle>
          <a:p>
            <a:pPr>
              <a:defRPr sz="2550" b="0">
                <a:solidFill>
                  <a:srgbClr val="192D3B"/>
                </a:solidFill>
                <a:latin typeface="Onest"/>
                <a:ea typeface="Onest"/>
                <a:cs typeface="Onest"/>
              </a:defRPr>
            </a:pPr>
            <a:r>
              <a:rPr sz="2550" b="0">
                <a:solidFill>
                  <a:srgbClr val="192D3B"/>
                </a:solidFill>
                <a:latin typeface="Onest"/>
                <a:ea typeface="Onest"/>
                <a:cs typeface="Onest"/>
              </a:rPr>
              <a:t>У копії власного файла перенесіть присвоєння перед перевіркою setter. Покажіть наслідок і відновіть порядок.</a:t>
            </a:r>
          </a:p>
        </p:txBody>
      </p:sp>
      <p:sp>
        <p:nvSpPr>
          <p:cNvPr id="5" name="Rectangle 4">
            <a:extLst>
              <a:ext uri="{FF2B5EF4-FFF2-40B4-BE49-F238E27FC236}">
                <a16:creationId xmlns:a16="http://schemas.microsoft.com/office/drawing/2014/main" id="{9C819120-D9C6-4B3F-9FB6-5A86E608B140}"/>
              </a:ext>
            </a:extLst>
          </p:cNvPr>
          <p:cNvSpPr>
            <a:spLocks noGrp="1"/>
          </p:cNvSpPr>
          <p:nvPr/>
        </p:nvSpPr>
        <p:spPr>
          <a:xfrm>
            <a:off x="723900" y="4229100"/>
            <a:ext cx="10744200" cy="1666875"/>
          </a:xfrm>
          <a:prstGeom prst="rect">
            <a:avLst/>
          </a:prstGeom>
          <a:solidFill>
            <a:srgbClr val="E8F3ED"/>
          </a:solidFill>
          <a:ln w="9525">
            <a:solidFill>
              <a:srgbClr val="B9CDC6"/>
            </a:solidFill>
          </a:ln>
        </p:spPr>
        <p:txBody>
          <a:bodyPr/>
          <a:lstStyle/>
          <a:p>
            <a:endParaRPr lang="en-UA"/>
          </a:p>
        </p:txBody>
      </p:sp>
      <p:sp>
        <p:nvSpPr>
          <p:cNvPr id="6" name="Rectangle 5">
            <a:extLst>
              <a:ext uri="{FF2B5EF4-FFF2-40B4-BE49-F238E27FC236}">
                <a16:creationId xmlns:a16="http://schemas.microsoft.com/office/drawing/2014/main" id="{A88916E1-7040-4039-B9C3-99C9C3A3B014}"/>
              </a:ext>
            </a:extLst>
          </p:cNvPr>
          <p:cNvSpPr>
            <a:spLocks noGrp="1"/>
          </p:cNvSpPr>
          <p:nvPr/>
        </p:nvSpPr>
        <p:spPr>
          <a:xfrm>
            <a:off x="990600" y="4476750"/>
            <a:ext cx="10210800" cy="1190625"/>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Готово, якщо: Помилкова версія зберігає некоректні дані; виправлена лишає попередній стан.</a:t>
            </a:r>
          </a:p>
        </p:txBody>
      </p:sp>
    </p:spTree>
    <p:extLst>
      <p:ext uri="{BB962C8B-B14F-4D97-AF65-F5344CB8AC3E}">
        <p14:creationId xmlns:p14="http://schemas.microsoft.com/office/powerpoint/2010/main" val="2936526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E7923E8-6748-449A-AD91-F0E67443BB47}"/>
              </a:ext>
            </a:extLst>
          </p:cNvPr>
          <p:cNvSpPr>
            <a:spLocks noGrp="1"/>
          </p:cNvSpPr>
          <p:nvPr/>
        </p:nvSpPr>
        <p:spPr>
          <a:xfrm>
            <a:off x="11049000" y="400050"/>
            <a:ext cx="514350" cy="266700"/>
          </a:xfrm>
          <a:prstGeom prst="rect">
            <a:avLst/>
          </a:prstGeom>
          <a:noFill/>
          <a:ln w="0">
            <a:noFill/>
          </a:ln>
        </p:spPr>
        <p:txBody>
          <a:bodyPr anchor="ctr"/>
          <a:lstStyle>
            <a:defPPr>
              <a:defRPr sz="1050" b="0">
                <a:solidFill>
                  <a:srgbClr val="566A78"/>
                </a:solidFill>
                <a:latin typeface="Onest"/>
                <a:ea typeface="Onest"/>
                <a:cs typeface="Onest"/>
              </a:defRPr>
            </a:defPPr>
            <a:lvl1pPr>
              <a:defRPr sz="1050" b="0">
                <a:solidFill>
                  <a:srgbClr val="566A78"/>
                </a:solidFill>
                <a:latin typeface="Onest"/>
                <a:ea typeface="Onest"/>
                <a:cs typeface="Onest"/>
              </a:defRPr>
            </a:lvl1pPr>
            <a:lvl2pPr>
              <a:defRPr sz="1050" b="0">
                <a:solidFill>
                  <a:srgbClr val="566A78"/>
                </a:solidFill>
                <a:latin typeface="Onest"/>
                <a:ea typeface="Onest"/>
                <a:cs typeface="Onest"/>
              </a:defRPr>
            </a:lvl2pPr>
            <a:lvl3pPr>
              <a:defRPr sz="1050" b="0">
                <a:solidFill>
                  <a:srgbClr val="566A78"/>
                </a:solidFill>
                <a:latin typeface="Onest"/>
                <a:ea typeface="Onest"/>
                <a:cs typeface="Onest"/>
              </a:defRPr>
            </a:lvl3pPr>
            <a:lvl4pPr>
              <a:defRPr sz="1050" b="0">
                <a:solidFill>
                  <a:srgbClr val="566A78"/>
                </a:solidFill>
                <a:latin typeface="Onest"/>
                <a:ea typeface="Onest"/>
                <a:cs typeface="Onest"/>
              </a:defRPr>
            </a:lvl4pPr>
            <a:lvl5pPr>
              <a:defRPr sz="1050" b="0">
                <a:solidFill>
                  <a:srgbClr val="566A78"/>
                </a:solidFill>
                <a:latin typeface="Onest"/>
                <a:ea typeface="Onest"/>
                <a:cs typeface="Onest"/>
              </a:defRPr>
            </a:lvl5pPr>
            <a:lvl6pPr>
              <a:defRPr sz="1050" b="0">
                <a:solidFill>
                  <a:srgbClr val="566A78"/>
                </a:solidFill>
                <a:latin typeface="Onest"/>
                <a:ea typeface="Onest"/>
                <a:cs typeface="Onest"/>
              </a:defRPr>
            </a:lvl6pPr>
            <a:lvl7pPr>
              <a:defRPr sz="1050" b="0">
                <a:solidFill>
                  <a:srgbClr val="566A78"/>
                </a:solidFill>
                <a:latin typeface="Onest"/>
                <a:ea typeface="Onest"/>
                <a:cs typeface="Onest"/>
              </a:defRPr>
            </a:lvl7pPr>
            <a:lvl8pPr>
              <a:defRPr sz="1050" b="0">
                <a:solidFill>
                  <a:srgbClr val="566A78"/>
                </a:solidFill>
                <a:latin typeface="Onest"/>
                <a:ea typeface="Onest"/>
                <a:cs typeface="Onest"/>
              </a:defRPr>
            </a:lvl8pPr>
            <a:lvl9pPr>
              <a:defRPr sz="1050" b="0">
                <a:solidFill>
                  <a:srgbClr val="566A78"/>
                </a:solidFill>
                <a:latin typeface="Onest"/>
                <a:ea typeface="Onest"/>
                <a:cs typeface="Onest"/>
              </a:defRPr>
            </a:lvl9pPr>
          </a:lstStyle>
          <a:p>
            <a:pPr>
              <a:defRPr sz="1050" b="0">
                <a:solidFill>
                  <a:srgbClr val="566A78"/>
                </a:solidFill>
                <a:latin typeface="Onest"/>
                <a:ea typeface="Onest"/>
                <a:cs typeface="Onest"/>
              </a:defRPr>
            </a:pPr>
            <a:r>
              <a:rPr sz="1050" b="0">
                <a:solidFill>
                  <a:srgbClr val="566A78"/>
                </a:solidFill>
                <a:latin typeface="Onest"/>
                <a:ea typeface="Onest"/>
                <a:cs typeface="Onest"/>
              </a:rPr>
              <a:t>24</a:t>
            </a:r>
          </a:p>
        </p:txBody>
      </p:sp>
      <p:sp>
        <p:nvSpPr>
          <p:cNvPr id="2" name="Rectangle 1">
            <a:extLst>
              <a:ext uri="{FF2B5EF4-FFF2-40B4-BE49-F238E27FC236}">
                <a16:creationId xmlns:a16="http://schemas.microsoft.com/office/drawing/2014/main" id="{8757BB8A-54E6-4679-B2C9-F02D0AF63EE3}"/>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Резерв: третій різновид</a:t>
            </a:r>
          </a:p>
        </p:txBody>
      </p:sp>
      <p:pic>
        <p:nvPicPr>
          <p:cNvPr id="3" name="Graphic 2">
            <a:extLst>
              <a:ext uri="{FF2B5EF4-FFF2-40B4-BE49-F238E27FC236}">
                <a16:creationId xmlns:a16="http://schemas.microsoft.com/office/drawing/2014/main" id="{E0140A64-9BDD-4C4E-B91B-EBEA9824273A}"/>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762000" y="1676400"/>
            <a:ext cx="666750" cy="666750"/>
          </a:xfrm>
          <a:prstGeom prst="rect">
            <a:avLst/>
          </a:prstGeom>
        </p:spPr>
      </p:pic>
      <p:sp>
        <p:nvSpPr>
          <p:cNvPr id="4" name="Rectangle 3">
            <a:extLst>
              <a:ext uri="{FF2B5EF4-FFF2-40B4-BE49-F238E27FC236}">
                <a16:creationId xmlns:a16="http://schemas.microsoft.com/office/drawing/2014/main" id="{382BF22A-C7DE-4505-8B42-7DC9B2B1F00F}"/>
              </a:ext>
            </a:extLst>
          </p:cNvPr>
          <p:cNvSpPr>
            <a:spLocks noGrp="1"/>
          </p:cNvSpPr>
          <p:nvPr/>
        </p:nvSpPr>
        <p:spPr>
          <a:xfrm>
            <a:off x="1809750" y="1714500"/>
            <a:ext cx="9286875" cy="2000250"/>
          </a:xfrm>
          <a:prstGeom prst="rect">
            <a:avLst/>
          </a:prstGeom>
          <a:noFill/>
          <a:ln w="0">
            <a:noFill/>
          </a:ln>
        </p:spPr>
        <p:txBody>
          <a:bodyPr anchor="ctr"/>
          <a:lstStyle>
            <a:defPPr>
              <a:defRPr sz="2550" b="0">
                <a:solidFill>
                  <a:srgbClr val="192D3B"/>
                </a:solidFill>
                <a:latin typeface="Onest"/>
                <a:ea typeface="Onest"/>
                <a:cs typeface="Onest"/>
              </a:defRPr>
            </a:defPPr>
            <a:lvl1pPr>
              <a:defRPr sz="2550" b="0">
                <a:solidFill>
                  <a:srgbClr val="192D3B"/>
                </a:solidFill>
                <a:latin typeface="Onest"/>
                <a:ea typeface="Onest"/>
                <a:cs typeface="Onest"/>
              </a:defRPr>
            </a:lvl1pPr>
            <a:lvl2pPr>
              <a:defRPr sz="2550" b="0">
                <a:solidFill>
                  <a:srgbClr val="192D3B"/>
                </a:solidFill>
                <a:latin typeface="Onest"/>
                <a:ea typeface="Onest"/>
                <a:cs typeface="Onest"/>
              </a:defRPr>
            </a:lvl2pPr>
            <a:lvl3pPr>
              <a:defRPr sz="2550" b="0">
                <a:solidFill>
                  <a:srgbClr val="192D3B"/>
                </a:solidFill>
                <a:latin typeface="Onest"/>
                <a:ea typeface="Onest"/>
                <a:cs typeface="Onest"/>
              </a:defRPr>
            </a:lvl3pPr>
            <a:lvl4pPr>
              <a:defRPr sz="2550" b="0">
                <a:solidFill>
                  <a:srgbClr val="192D3B"/>
                </a:solidFill>
                <a:latin typeface="Onest"/>
                <a:ea typeface="Onest"/>
                <a:cs typeface="Onest"/>
              </a:defRPr>
            </a:lvl4pPr>
            <a:lvl5pPr>
              <a:defRPr sz="2550" b="0">
                <a:solidFill>
                  <a:srgbClr val="192D3B"/>
                </a:solidFill>
                <a:latin typeface="Onest"/>
                <a:ea typeface="Onest"/>
                <a:cs typeface="Onest"/>
              </a:defRPr>
            </a:lvl5pPr>
            <a:lvl6pPr>
              <a:defRPr sz="2550" b="0">
                <a:solidFill>
                  <a:srgbClr val="192D3B"/>
                </a:solidFill>
                <a:latin typeface="Onest"/>
                <a:ea typeface="Onest"/>
                <a:cs typeface="Onest"/>
              </a:defRPr>
            </a:lvl6pPr>
            <a:lvl7pPr>
              <a:defRPr sz="2550" b="0">
                <a:solidFill>
                  <a:srgbClr val="192D3B"/>
                </a:solidFill>
                <a:latin typeface="Onest"/>
                <a:ea typeface="Onest"/>
                <a:cs typeface="Onest"/>
              </a:defRPr>
            </a:lvl7pPr>
            <a:lvl8pPr>
              <a:defRPr sz="2550" b="0">
                <a:solidFill>
                  <a:srgbClr val="192D3B"/>
                </a:solidFill>
                <a:latin typeface="Onest"/>
                <a:ea typeface="Onest"/>
                <a:cs typeface="Onest"/>
              </a:defRPr>
            </a:lvl8pPr>
            <a:lvl9pPr>
              <a:defRPr sz="2550" b="0">
                <a:solidFill>
                  <a:srgbClr val="192D3B"/>
                </a:solidFill>
                <a:latin typeface="Onest"/>
                <a:ea typeface="Onest"/>
                <a:cs typeface="Onest"/>
              </a:defRPr>
            </a:lvl9pPr>
          </a:lstStyle>
          <a:p>
            <a:pPr>
              <a:defRPr sz="2550" b="0">
                <a:solidFill>
                  <a:srgbClr val="192D3B"/>
                </a:solidFill>
                <a:latin typeface="Onest"/>
                <a:ea typeface="Onest"/>
                <a:cs typeface="Onest"/>
              </a:defRPr>
            </a:pPr>
            <a:r>
              <a:rPr sz="2550" b="0">
                <a:solidFill>
                  <a:srgbClr val="192D3B"/>
                </a:solidFill>
                <a:latin typeface="Onest"/>
                <a:ea typeface="Onest"/>
                <a:cs typeface="Onest"/>
              </a:rPr>
              <a:t>Додайте ще один осмислений різновид своєї базової сутності без копіювання setter.</a:t>
            </a:r>
          </a:p>
        </p:txBody>
      </p:sp>
      <p:sp>
        <p:nvSpPr>
          <p:cNvPr id="5" name="Rectangle 4">
            <a:extLst>
              <a:ext uri="{FF2B5EF4-FFF2-40B4-BE49-F238E27FC236}">
                <a16:creationId xmlns:a16="http://schemas.microsoft.com/office/drawing/2014/main" id="{83753EF9-FE67-41AB-AC9D-559E60F664EF}"/>
              </a:ext>
            </a:extLst>
          </p:cNvPr>
          <p:cNvSpPr>
            <a:spLocks noGrp="1"/>
          </p:cNvSpPr>
          <p:nvPr/>
        </p:nvSpPr>
        <p:spPr>
          <a:xfrm>
            <a:off x="723900" y="4229100"/>
            <a:ext cx="10744200" cy="1666875"/>
          </a:xfrm>
          <a:prstGeom prst="rect">
            <a:avLst/>
          </a:prstGeom>
          <a:solidFill>
            <a:srgbClr val="E8F3ED"/>
          </a:solidFill>
          <a:ln w="9525">
            <a:solidFill>
              <a:srgbClr val="B9CDC6"/>
            </a:solidFill>
          </a:ln>
        </p:spPr>
        <p:txBody>
          <a:bodyPr/>
          <a:lstStyle/>
          <a:p>
            <a:endParaRPr lang="en-UA"/>
          </a:p>
        </p:txBody>
      </p:sp>
      <p:sp>
        <p:nvSpPr>
          <p:cNvPr id="6" name="Rectangle 5">
            <a:extLst>
              <a:ext uri="{FF2B5EF4-FFF2-40B4-BE49-F238E27FC236}">
                <a16:creationId xmlns:a16="http://schemas.microsoft.com/office/drawing/2014/main" id="{DC1C02A3-0928-4112-9C63-80B9C46E77EC}"/>
              </a:ext>
            </a:extLst>
          </p:cNvPr>
          <p:cNvSpPr>
            <a:spLocks noGrp="1"/>
          </p:cNvSpPr>
          <p:nvPr/>
        </p:nvSpPr>
        <p:spPr>
          <a:xfrm>
            <a:off x="990600" y="4476750"/>
            <a:ext cx="10210800" cy="1190625"/>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Готово, якщо: Нова сутність успадковує ту саму перевірку й пояснюється як різновид базової.</a:t>
            </a:r>
          </a:p>
        </p:txBody>
      </p:sp>
    </p:spTree>
    <p:extLst>
      <p:ext uri="{BB962C8B-B14F-4D97-AF65-F5344CB8AC3E}">
        <p14:creationId xmlns:p14="http://schemas.microsoft.com/office/powerpoint/2010/main" val="21672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7F5FA"/>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2FBD065-77FD-4D9C-9EDD-FA97F60D7FA5}"/>
              </a:ext>
            </a:extLst>
          </p:cNvPr>
          <p:cNvSpPr>
            <a:spLocks noGrp="1"/>
          </p:cNvSpPr>
          <p:nvPr/>
        </p:nvSpPr>
        <p:spPr>
          <a:xfrm>
            <a:off x="11049000" y="400050"/>
            <a:ext cx="514350" cy="266700"/>
          </a:xfrm>
          <a:prstGeom prst="rect">
            <a:avLst/>
          </a:prstGeom>
          <a:noFill/>
          <a:ln w="0">
            <a:noFill/>
          </a:ln>
        </p:spPr>
        <p:txBody>
          <a:bodyPr anchor="ctr"/>
          <a:lstStyle>
            <a:defPPr>
              <a:defRPr sz="1050" b="0">
                <a:solidFill>
                  <a:srgbClr val="566A78"/>
                </a:solidFill>
                <a:latin typeface="Onest"/>
                <a:ea typeface="Onest"/>
                <a:cs typeface="Onest"/>
              </a:defRPr>
            </a:defPPr>
            <a:lvl1pPr>
              <a:defRPr sz="1050" b="0">
                <a:solidFill>
                  <a:srgbClr val="566A78"/>
                </a:solidFill>
                <a:latin typeface="Onest"/>
                <a:ea typeface="Onest"/>
                <a:cs typeface="Onest"/>
              </a:defRPr>
            </a:lvl1pPr>
            <a:lvl2pPr>
              <a:defRPr sz="1050" b="0">
                <a:solidFill>
                  <a:srgbClr val="566A78"/>
                </a:solidFill>
                <a:latin typeface="Onest"/>
                <a:ea typeface="Onest"/>
                <a:cs typeface="Onest"/>
              </a:defRPr>
            </a:lvl2pPr>
            <a:lvl3pPr>
              <a:defRPr sz="1050" b="0">
                <a:solidFill>
                  <a:srgbClr val="566A78"/>
                </a:solidFill>
                <a:latin typeface="Onest"/>
                <a:ea typeface="Onest"/>
                <a:cs typeface="Onest"/>
              </a:defRPr>
            </a:lvl3pPr>
            <a:lvl4pPr>
              <a:defRPr sz="1050" b="0">
                <a:solidFill>
                  <a:srgbClr val="566A78"/>
                </a:solidFill>
                <a:latin typeface="Onest"/>
                <a:ea typeface="Onest"/>
                <a:cs typeface="Onest"/>
              </a:defRPr>
            </a:lvl4pPr>
            <a:lvl5pPr>
              <a:defRPr sz="1050" b="0">
                <a:solidFill>
                  <a:srgbClr val="566A78"/>
                </a:solidFill>
                <a:latin typeface="Onest"/>
                <a:ea typeface="Onest"/>
                <a:cs typeface="Onest"/>
              </a:defRPr>
            </a:lvl5pPr>
            <a:lvl6pPr>
              <a:defRPr sz="1050" b="0">
                <a:solidFill>
                  <a:srgbClr val="566A78"/>
                </a:solidFill>
                <a:latin typeface="Onest"/>
                <a:ea typeface="Onest"/>
                <a:cs typeface="Onest"/>
              </a:defRPr>
            </a:lvl6pPr>
            <a:lvl7pPr>
              <a:defRPr sz="1050" b="0">
                <a:solidFill>
                  <a:srgbClr val="566A78"/>
                </a:solidFill>
                <a:latin typeface="Onest"/>
                <a:ea typeface="Onest"/>
                <a:cs typeface="Onest"/>
              </a:defRPr>
            </a:lvl7pPr>
            <a:lvl8pPr>
              <a:defRPr sz="1050" b="0">
                <a:solidFill>
                  <a:srgbClr val="566A78"/>
                </a:solidFill>
                <a:latin typeface="Onest"/>
                <a:ea typeface="Onest"/>
                <a:cs typeface="Onest"/>
              </a:defRPr>
            </a:lvl8pPr>
            <a:lvl9pPr>
              <a:defRPr sz="1050" b="0">
                <a:solidFill>
                  <a:srgbClr val="566A78"/>
                </a:solidFill>
                <a:latin typeface="Onest"/>
                <a:ea typeface="Onest"/>
                <a:cs typeface="Onest"/>
              </a:defRPr>
            </a:lvl9pPr>
          </a:lstStyle>
          <a:p>
            <a:pPr>
              <a:defRPr sz="1050" b="0">
                <a:solidFill>
                  <a:srgbClr val="566A78"/>
                </a:solidFill>
                <a:latin typeface="Onest"/>
                <a:ea typeface="Onest"/>
                <a:cs typeface="Onest"/>
              </a:defRPr>
            </a:pPr>
            <a:r>
              <a:rPr sz="1050" b="0">
                <a:solidFill>
                  <a:srgbClr val="566A78"/>
                </a:solidFill>
                <a:latin typeface="Onest"/>
                <a:ea typeface="Onest"/>
                <a:cs typeface="Onest"/>
              </a:rPr>
              <a:t>25</a:t>
            </a:r>
          </a:p>
        </p:txBody>
      </p:sp>
      <p:sp>
        <p:nvSpPr>
          <p:cNvPr id="2" name="Rectangle 1">
            <a:extLst>
              <a:ext uri="{FF2B5EF4-FFF2-40B4-BE49-F238E27FC236}">
                <a16:creationId xmlns:a16="http://schemas.microsoft.com/office/drawing/2014/main" id="{3B58BAD4-72C5-4F13-BF63-9F56A925CB84}"/>
              </a:ext>
            </a:extLst>
          </p:cNvPr>
          <p:cNvSpPr>
            <a:spLocks noGrp="1"/>
          </p:cNvSpPr>
          <p:nvPr/>
        </p:nvSpPr>
        <p:spPr>
          <a:xfrm>
            <a:off x="685800" y="476250"/>
            <a:ext cx="10001250" cy="933450"/>
          </a:xfrm>
          <a:prstGeom prst="rect">
            <a:avLst/>
          </a:prstGeom>
          <a:noFill/>
          <a:ln w="0">
            <a:noFill/>
          </a:ln>
        </p:spPr>
        <p:txBody>
          <a:bodyPr anchor="ctr"/>
          <a:lstStyle>
            <a:defPPr>
              <a:defRPr sz="2700" b="1">
                <a:solidFill>
                  <a:srgbClr val="192D3B"/>
                </a:solidFill>
                <a:latin typeface="Onest"/>
                <a:ea typeface="Onest"/>
                <a:cs typeface="Onest"/>
              </a:defRPr>
            </a:defPPr>
            <a:lvl1pPr>
              <a:defRPr sz="2700" b="1">
                <a:solidFill>
                  <a:srgbClr val="192D3B"/>
                </a:solidFill>
                <a:latin typeface="Onest"/>
                <a:ea typeface="Onest"/>
                <a:cs typeface="Onest"/>
              </a:defRPr>
            </a:lvl1pPr>
            <a:lvl2pPr>
              <a:defRPr sz="2700" b="1">
                <a:solidFill>
                  <a:srgbClr val="192D3B"/>
                </a:solidFill>
                <a:latin typeface="Onest"/>
                <a:ea typeface="Onest"/>
                <a:cs typeface="Onest"/>
              </a:defRPr>
            </a:lvl2pPr>
            <a:lvl3pPr>
              <a:defRPr sz="2700" b="1">
                <a:solidFill>
                  <a:srgbClr val="192D3B"/>
                </a:solidFill>
                <a:latin typeface="Onest"/>
                <a:ea typeface="Onest"/>
                <a:cs typeface="Onest"/>
              </a:defRPr>
            </a:lvl3pPr>
            <a:lvl4pPr>
              <a:defRPr sz="2700" b="1">
                <a:solidFill>
                  <a:srgbClr val="192D3B"/>
                </a:solidFill>
                <a:latin typeface="Onest"/>
                <a:ea typeface="Onest"/>
                <a:cs typeface="Onest"/>
              </a:defRPr>
            </a:lvl4pPr>
            <a:lvl5pPr>
              <a:defRPr sz="2700" b="1">
                <a:solidFill>
                  <a:srgbClr val="192D3B"/>
                </a:solidFill>
                <a:latin typeface="Onest"/>
                <a:ea typeface="Onest"/>
                <a:cs typeface="Onest"/>
              </a:defRPr>
            </a:lvl5pPr>
            <a:lvl6pPr>
              <a:defRPr sz="2700" b="1">
                <a:solidFill>
                  <a:srgbClr val="192D3B"/>
                </a:solidFill>
                <a:latin typeface="Onest"/>
                <a:ea typeface="Onest"/>
                <a:cs typeface="Onest"/>
              </a:defRPr>
            </a:lvl6pPr>
            <a:lvl7pPr>
              <a:defRPr sz="2700" b="1">
                <a:solidFill>
                  <a:srgbClr val="192D3B"/>
                </a:solidFill>
                <a:latin typeface="Onest"/>
                <a:ea typeface="Onest"/>
                <a:cs typeface="Onest"/>
              </a:defRPr>
            </a:lvl7pPr>
            <a:lvl8pPr>
              <a:defRPr sz="2700" b="1">
                <a:solidFill>
                  <a:srgbClr val="192D3B"/>
                </a:solidFill>
                <a:latin typeface="Onest"/>
                <a:ea typeface="Onest"/>
                <a:cs typeface="Onest"/>
              </a:defRPr>
            </a:lvl8pPr>
            <a:lvl9pPr>
              <a:defRPr sz="2700" b="1">
                <a:solidFill>
                  <a:srgbClr val="192D3B"/>
                </a:solidFill>
                <a:latin typeface="Onest"/>
                <a:ea typeface="Onest"/>
                <a:cs typeface="Onest"/>
              </a:defRPr>
            </a:lvl9pPr>
          </a:lstStyle>
          <a:p>
            <a:pPr>
              <a:defRPr sz="2700" b="1">
                <a:solidFill>
                  <a:srgbClr val="192D3B"/>
                </a:solidFill>
                <a:latin typeface="Onest"/>
                <a:ea typeface="Onest"/>
                <a:cs typeface="Onest"/>
              </a:defRPr>
            </a:pPr>
            <a:r>
              <a:rPr sz="2700" b="1">
                <a:solidFill>
                  <a:srgbClr val="192D3B"/>
                </a:solidFill>
                <a:latin typeface="Onest"/>
                <a:ea typeface="Onest"/>
                <a:cs typeface="Onest"/>
              </a:rPr>
              <a:t>Резерв: збережіть композицію</a:t>
            </a:r>
          </a:p>
        </p:txBody>
      </p:sp>
      <p:pic>
        <p:nvPicPr>
          <p:cNvPr id="3" name="Graphic 2">
            <a:extLst>
              <a:ext uri="{FF2B5EF4-FFF2-40B4-BE49-F238E27FC236}">
                <a16:creationId xmlns:a16="http://schemas.microsoft.com/office/drawing/2014/main" id="{8E028236-1DC9-4EF8-B178-79FD73D6870C}"/>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762000" y="1676400"/>
            <a:ext cx="666750" cy="666750"/>
          </a:xfrm>
          <a:prstGeom prst="rect">
            <a:avLst/>
          </a:prstGeom>
        </p:spPr>
      </p:pic>
      <p:sp>
        <p:nvSpPr>
          <p:cNvPr id="4" name="Rectangle 3">
            <a:extLst>
              <a:ext uri="{FF2B5EF4-FFF2-40B4-BE49-F238E27FC236}">
                <a16:creationId xmlns:a16="http://schemas.microsoft.com/office/drawing/2014/main" id="{38F51998-349A-4467-806F-7B4E72952977}"/>
              </a:ext>
            </a:extLst>
          </p:cNvPr>
          <p:cNvSpPr>
            <a:spLocks noGrp="1"/>
          </p:cNvSpPr>
          <p:nvPr/>
        </p:nvSpPr>
        <p:spPr>
          <a:xfrm>
            <a:off x="1809750" y="1714500"/>
            <a:ext cx="9286875" cy="2000250"/>
          </a:xfrm>
          <a:prstGeom prst="rect">
            <a:avLst/>
          </a:prstGeom>
          <a:noFill/>
          <a:ln w="0">
            <a:noFill/>
          </a:ln>
        </p:spPr>
        <p:txBody>
          <a:bodyPr anchor="ctr"/>
          <a:lstStyle>
            <a:defPPr>
              <a:defRPr sz="2550" b="0">
                <a:solidFill>
                  <a:srgbClr val="192D3B"/>
                </a:solidFill>
                <a:latin typeface="Onest"/>
                <a:ea typeface="Onest"/>
                <a:cs typeface="Onest"/>
              </a:defRPr>
            </a:defPPr>
            <a:lvl1pPr>
              <a:defRPr sz="2550" b="0">
                <a:solidFill>
                  <a:srgbClr val="192D3B"/>
                </a:solidFill>
                <a:latin typeface="Onest"/>
                <a:ea typeface="Onest"/>
                <a:cs typeface="Onest"/>
              </a:defRPr>
            </a:lvl1pPr>
            <a:lvl2pPr>
              <a:defRPr sz="2550" b="0">
                <a:solidFill>
                  <a:srgbClr val="192D3B"/>
                </a:solidFill>
                <a:latin typeface="Onest"/>
                <a:ea typeface="Onest"/>
                <a:cs typeface="Onest"/>
              </a:defRPr>
            </a:lvl2pPr>
            <a:lvl3pPr>
              <a:defRPr sz="2550" b="0">
                <a:solidFill>
                  <a:srgbClr val="192D3B"/>
                </a:solidFill>
                <a:latin typeface="Onest"/>
                <a:ea typeface="Onest"/>
                <a:cs typeface="Onest"/>
              </a:defRPr>
            </a:lvl3pPr>
            <a:lvl4pPr>
              <a:defRPr sz="2550" b="0">
                <a:solidFill>
                  <a:srgbClr val="192D3B"/>
                </a:solidFill>
                <a:latin typeface="Onest"/>
                <a:ea typeface="Onest"/>
                <a:cs typeface="Onest"/>
              </a:defRPr>
            </a:lvl4pPr>
            <a:lvl5pPr>
              <a:defRPr sz="2550" b="0">
                <a:solidFill>
                  <a:srgbClr val="192D3B"/>
                </a:solidFill>
                <a:latin typeface="Onest"/>
                <a:ea typeface="Onest"/>
                <a:cs typeface="Onest"/>
              </a:defRPr>
            </a:lvl5pPr>
            <a:lvl6pPr>
              <a:defRPr sz="2550" b="0">
                <a:solidFill>
                  <a:srgbClr val="192D3B"/>
                </a:solidFill>
                <a:latin typeface="Onest"/>
                <a:ea typeface="Onest"/>
                <a:cs typeface="Onest"/>
              </a:defRPr>
            </a:lvl6pPr>
            <a:lvl7pPr>
              <a:defRPr sz="2550" b="0">
                <a:solidFill>
                  <a:srgbClr val="192D3B"/>
                </a:solidFill>
                <a:latin typeface="Onest"/>
                <a:ea typeface="Onest"/>
                <a:cs typeface="Onest"/>
              </a:defRPr>
            </a:lvl7pPr>
            <a:lvl8pPr>
              <a:defRPr sz="2550" b="0">
                <a:solidFill>
                  <a:srgbClr val="192D3B"/>
                </a:solidFill>
                <a:latin typeface="Onest"/>
                <a:ea typeface="Onest"/>
                <a:cs typeface="Onest"/>
              </a:defRPr>
            </a:lvl8pPr>
            <a:lvl9pPr>
              <a:defRPr sz="2550" b="0">
                <a:solidFill>
                  <a:srgbClr val="192D3B"/>
                </a:solidFill>
                <a:latin typeface="Onest"/>
                <a:ea typeface="Onest"/>
                <a:cs typeface="Onest"/>
              </a:defRPr>
            </a:lvl9pPr>
          </a:lstStyle>
          <a:p>
            <a:pPr>
              <a:defRPr sz="2550" b="0">
                <a:solidFill>
                  <a:srgbClr val="192D3B"/>
                </a:solidFill>
                <a:latin typeface="Onest"/>
                <a:ea typeface="Onest"/>
                <a:cs typeface="Onest"/>
              </a:defRPr>
            </a:pPr>
            <a:r>
              <a:rPr sz="2550" b="0">
                <a:solidFill>
                  <a:srgbClr val="192D3B"/>
                </a:solidFill>
                <a:latin typeface="Onest"/>
                <a:ea typeface="Onest"/>
                <a:cs typeface="Onest"/>
              </a:rPr>
              <a:t>Покажіть, як контейнер свого кейсу працює з двома різновидами пов'язаних об'єктів.</a:t>
            </a:r>
          </a:p>
        </p:txBody>
      </p:sp>
      <p:sp>
        <p:nvSpPr>
          <p:cNvPr id="5" name="Rectangle 4">
            <a:extLst>
              <a:ext uri="{FF2B5EF4-FFF2-40B4-BE49-F238E27FC236}">
                <a16:creationId xmlns:a16="http://schemas.microsoft.com/office/drawing/2014/main" id="{7C08FD0A-79BD-4B1F-BDEF-059BB53852F4}"/>
              </a:ext>
            </a:extLst>
          </p:cNvPr>
          <p:cNvSpPr>
            <a:spLocks noGrp="1"/>
          </p:cNvSpPr>
          <p:nvPr/>
        </p:nvSpPr>
        <p:spPr>
          <a:xfrm>
            <a:off x="723900" y="4229100"/>
            <a:ext cx="10744200" cy="1666875"/>
          </a:xfrm>
          <a:prstGeom prst="rect">
            <a:avLst/>
          </a:prstGeom>
          <a:solidFill>
            <a:srgbClr val="E8F3ED"/>
          </a:solidFill>
          <a:ln w="9525">
            <a:solidFill>
              <a:srgbClr val="B9CDC6"/>
            </a:solidFill>
          </a:ln>
        </p:spPr>
        <p:txBody>
          <a:bodyPr/>
          <a:lstStyle/>
          <a:p>
            <a:endParaRPr lang="en-UA"/>
          </a:p>
        </p:txBody>
      </p:sp>
      <p:sp>
        <p:nvSpPr>
          <p:cNvPr id="6" name="Rectangle 5">
            <a:extLst>
              <a:ext uri="{FF2B5EF4-FFF2-40B4-BE49-F238E27FC236}">
                <a16:creationId xmlns:a16="http://schemas.microsoft.com/office/drawing/2014/main" id="{AB0CA528-1C28-48D6-B0AA-1367DCA59894}"/>
              </a:ext>
            </a:extLst>
          </p:cNvPr>
          <p:cNvSpPr>
            <a:spLocks noGrp="1"/>
          </p:cNvSpPr>
          <p:nvPr/>
        </p:nvSpPr>
        <p:spPr>
          <a:xfrm>
            <a:off x="990600" y="4476750"/>
            <a:ext cx="10210800" cy="1190625"/>
          </a:xfrm>
          <a:prstGeom prst="rect">
            <a:avLst/>
          </a:prstGeom>
          <a:noFill/>
          <a:ln w="0">
            <a:noFill/>
          </a:ln>
        </p:spPr>
        <p:txBody>
          <a:bodyPr anchor="ctr"/>
          <a:lstStyle>
            <a:defPPr>
              <a:defRPr sz="2175" b="1">
                <a:solidFill>
                  <a:srgbClr val="1B6C57"/>
                </a:solidFill>
                <a:latin typeface="Onest"/>
                <a:ea typeface="Onest"/>
                <a:cs typeface="Onest"/>
              </a:defRPr>
            </a:defPPr>
            <a:lvl1pPr>
              <a:defRPr sz="2175" b="1">
                <a:solidFill>
                  <a:srgbClr val="1B6C57"/>
                </a:solidFill>
                <a:latin typeface="Onest"/>
                <a:ea typeface="Onest"/>
                <a:cs typeface="Onest"/>
              </a:defRPr>
            </a:lvl1pPr>
            <a:lvl2pPr>
              <a:defRPr sz="2175" b="1">
                <a:solidFill>
                  <a:srgbClr val="1B6C57"/>
                </a:solidFill>
                <a:latin typeface="Onest"/>
                <a:ea typeface="Onest"/>
                <a:cs typeface="Onest"/>
              </a:defRPr>
            </a:lvl2pPr>
            <a:lvl3pPr>
              <a:defRPr sz="2175" b="1">
                <a:solidFill>
                  <a:srgbClr val="1B6C57"/>
                </a:solidFill>
                <a:latin typeface="Onest"/>
                <a:ea typeface="Onest"/>
                <a:cs typeface="Onest"/>
              </a:defRPr>
            </a:lvl3pPr>
            <a:lvl4pPr>
              <a:defRPr sz="2175" b="1">
                <a:solidFill>
                  <a:srgbClr val="1B6C57"/>
                </a:solidFill>
                <a:latin typeface="Onest"/>
                <a:ea typeface="Onest"/>
                <a:cs typeface="Onest"/>
              </a:defRPr>
            </a:lvl4pPr>
            <a:lvl5pPr>
              <a:defRPr sz="2175" b="1">
                <a:solidFill>
                  <a:srgbClr val="1B6C57"/>
                </a:solidFill>
                <a:latin typeface="Onest"/>
                <a:ea typeface="Onest"/>
                <a:cs typeface="Onest"/>
              </a:defRPr>
            </a:lvl5pPr>
            <a:lvl6pPr>
              <a:defRPr sz="2175" b="1">
                <a:solidFill>
                  <a:srgbClr val="1B6C57"/>
                </a:solidFill>
                <a:latin typeface="Onest"/>
                <a:ea typeface="Onest"/>
                <a:cs typeface="Onest"/>
              </a:defRPr>
            </a:lvl6pPr>
            <a:lvl7pPr>
              <a:defRPr sz="2175" b="1">
                <a:solidFill>
                  <a:srgbClr val="1B6C57"/>
                </a:solidFill>
                <a:latin typeface="Onest"/>
                <a:ea typeface="Onest"/>
                <a:cs typeface="Onest"/>
              </a:defRPr>
            </a:lvl7pPr>
            <a:lvl8pPr>
              <a:defRPr sz="2175" b="1">
                <a:solidFill>
                  <a:srgbClr val="1B6C57"/>
                </a:solidFill>
                <a:latin typeface="Onest"/>
                <a:ea typeface="Onest"/>
                <a:cs typeface="Onest"/>
              </a:defRPr>
            </a:lvl8pPr>
            <a:lvl9pPr>
              <a:defRPr sz="2175" b="1">
                <a:solidFill>
                  <a:srgbClr val="1B6C57"/>
                </a:solidFill>
                <a:latin typeface="Onest"/>
                <a:ea typeface="Onest"/>
                <a:cs typeface="Onest"/>
              </a:defRPr>
            </a:lvl9pPr>
          </a:lstStyle>
          <a:p>
            <a:pPr>
              <a:defRPr sz="2175" b="1">
                <a:solidFill>
                  <a:srgbClr val="1B6C57"/>
                </a:solidFill>
                <a:latin typeface="Onest"/>
                <a:ea typeface="Onest"/>
                <a:cs typeface="Onest"/>
              </a:defRPr>
            </a:pPr>
            <a:r>
              <a:rPr sz="2175" b="1">
                <a:solidFill>
                  <a:srgbClr val="1B6C57"/>
                </a:solidFill>
                <a:latin typeface="Onest"/>
                <a:ea typeface="Onest"/>
                <a:cs typeface="Onest"/>
              </a:rPr>
              <a:t>Готово, якщо: Обидва об'єкти доступні через зв'язок, без штучного успадкування контейнера від елемента.</a:t>
            </a:r>
          </a:p>
        </p:txBody>
      </p:sp>
    </p:spTree>
    <p:extLst>
      <p:ext uri="{BB962C8B-B14F-4D97-AF65-F5344CB8AC3E}">
        <p14:creationId xmlns:p14="http://schemas.microsoft.com/office/powerpoint/2010/main" val="117164356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3983</Words>
  <Application>Microsoft Macintosh PowerPoint</Application>
  <DocSecurity>0</DocSecurity>
  <PresentationFormat>Widescreen</PresentationFormat>
  <Paragraphs>330</Paragraphs>
  <Slides>25</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Aptos</vt:lpstr>
      <vt:lpstr>Courier New</vt:lpstr>
      <vt:lpstr>Onest</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Дмитро Штефан</cp:lastModifiedBy>
  <cp:revision>2</cp:revision>
  <dcterms:created xsi:type="dcterms:W3CDTF">2026-10-23T19:07:20Z</dcterms:created>
  <dcterms:modified xsi:type="dcterms:W3CDTF">2026-10-23T19:54:38Z</dcterms:modified>
</cp:coreProperties>
</file>