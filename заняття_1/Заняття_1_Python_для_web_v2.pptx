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7" r:id="rId6"/>
    <p:sldId id="261" r:id="rId7"/>
    <p:sldId id="272" r:id="rId8"/>
    <p:sldId id="273" r:id="rId9"/>
    <p:sldId id="263" r:id="rId10"/>
    <p:sldId id="274" r:id="rId11"/>
    <p:sldId id="265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8" r:id="rId22"/>
    <p:sldId id="26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0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Титульний слайд. Вивести на екран до початку пари о 18:20. Поки студенти заходять — слайд уже на проекторі.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Озвучте чотири цілі до початку. Підкресліть: не вивчаємо Python з нуля — вирівнюємо базу для старту в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18:20-18:55. Вступ + рамка курсу. Після оцінювання зробити паузу: 'Чи є запитання по формату?' Дати студентам 2 хв для запису ідеї проєкту.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Практичне мікрозавдання: попросіть 5-6 студентів озвучити ідею. Запитайте: 'Які дані будуть основними?' та 'Що користувач зможе робити?'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20:55-21:05. Реальний час на цей блок обов'язковий. Зафіксуйте тих, у кого проблеми із середовищем, і домовтесь про допомогу.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18:55-19:10. Демонстрація в терміналі. Після прикладу зі словником зупинитись: 'Хто може навести власний приклад словника у web-застосунку?'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19:35-20:00. Після прикладів зупинитись і запитати: 'В якому випадку lambda незручна?' Зв'язати генератори з QuerySet в Django (ледаче завантаження).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20:20-20:45. Після замикання: 'Де саме зберігається значення required_role?' Після декоратора: 'Опишіть словами, </a:t>
            </a:r>
            <a:r>
              <a:rPr lang="en-US" dirty="0" err="1"/>
              <a:t>що</a:t>
            </a:r>
            <a:r>
              <a:rPr lang="en-US" dirty="0"/>
              <a:t> відбувається при виклику get_user(1).' Декоратор — не магія, а просто функція.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21:05-21:10. Зафіксуйте: які теми найважчі / хто без середовища / хто без ідеї проєкту. Нагадати дедлайн і формат здачі ДЗ.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Допоміжний слайд зі шпаргалкою. Можна залишити на екрані під час практики або надіслати студентам у месенджер.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6217920" y="365760"/>
            <a:ext cx="4114800" cy="41148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766560" y="822960"/>
            <a:ext cx="2926080" cy="2926080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для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web-розробки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курсу і прикладне повторення Python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5603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заняття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12064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uk-UA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курс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Формат, правила, оцінювання, персональний проєкт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92624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Python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2624" y="157276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Кортежі, словники, лямбди, генератори, замикання, декоратори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1206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Dev </a:t>
            </a:r>
            <a:r>
              <a:rPr lang="uk-UA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335584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через призму web-</a:t>
            </a:r>
            <a:r>
              <a:rPr lang="uk-UA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9262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Перевірка готовності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92624" y="335584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 теми потребують підсилення далі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w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-додатків з використанням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35 хв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курсу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329184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432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Python-база в прикладному контексті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з Django (моделі, URL, views)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7432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523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та форми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35112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та авторизація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27432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005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Фінальний захист проєкту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5448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9204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Відвідування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084832"/>
            <a:ext cx="4023360" cy="457200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89204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Активність на занятті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20848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92040" y="26151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Домашні завдання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0" y="26151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54880" y="3145536"/>
            <a:ext cx="4023360" cy="457200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4892040" y="3145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Проміжні перевірки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54880" y="36758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489204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Фінальний захист проєкту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955280" y="3675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Персональний проєкт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хв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має бути в проєкті: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Сутності (моделі) та зв'язки між ними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створення, читання, редагування, видалення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 й валідація даних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ролі або типи дій користувача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(вхід / вихід / реєстрація)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143000"/>
            <a:ext cx="32461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66928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тем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806440" y="1554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Каталог книг / курсів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103120"/>
            <a:ext cx="3246120" cy="475488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806440" y="21031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Блог зі статтями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265176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06440" y="26517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Сервіс бронювання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200400"/>
            <a:ext cx="3246120" cy="475488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806440" y="32004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Облік замовлень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74904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06440" y="37490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База фільмів із оцінками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451328"/>
            <a:ext cx="8412480" cy="47627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914400" y="4332457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Мікрозавдання: запишіть 1-2 ідеї теми прямо зараз. До наступного заняття — конкретна предметна область.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середовища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чек-лист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python3 --version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267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інтерпретатор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75488" y="296265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print('ok')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виконати у файлі .py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Кортежі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Кортежі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Tuples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tuple  —  незмінний набір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822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Фіксований набір значень — не можна змінити після створення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Статуси, коди, константи, координати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Швидший за list, сигналізує: ці дані не змінюються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Можна розпакувати: x, y = point</a:t>
            </a:r>
          </a:p>
        </p:txBody>
      </p:sp>
      <p:sp>
        <p:nvSpPr>
          <p:cNvPr id="11" name="CodeBg"/>
          <p:cNvSpPr/>
          <p:nvPr/>
        </p:nvSpPr>
        <p:spPr>
          <a:xfrm>
            <a:off x="274320" y="2578608"/>
            <a:ext cx="8595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365760" y="26700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STATUSES = ('draft', 'published', 'archived')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HTTP_CODES = (200, 301, 404, 500)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point = (48.46, 22.72)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lat, lng = point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tuple як ключ словника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cache = {(200, 'GET'): 'ok'}</a:t>
            </a:r>
          </a:p>
        </p:txBody>
      </p:sp>
      <p:sp>
        <p:nvSpPr>
          <p:cNvPr id="13" name="NoteBg"/>
          <p:cNvSpPr/>
          <p:nvPr/>
        </p:nvSpPr>
        <p:spPr>
          <a:xfrm>
            <a:off x="274320" y="3669818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NoteText"/>
          <p:cNvSpPr/>
          <p:nvPr/>
        </p:nvSpPr>
        <p:spPr>
          <a:xfrm>
            <a:off x="457200" y="366981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Django: choices у моделях — це tuples. Наприклад: STATUS_CHOICES = (('draft', 'Чернетка'), ('pub', 'Опубліковано'))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Множин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Множини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Sets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set  —  колекція унікальних елементів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Автоматично видаляє дублікати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Перевірка наявності (in) — O(1), швидше ніж у списку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Операції: об'єднання (|), перетин (&amp;), різниця (-)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Незмінна версія: frozenset</a:t>
            </a:r>
          </a:p>
        </p:txBody>
      </p:sp>
      <p:sp>
        <p:nvSpPr>
          <p:cNvPr id="11" name="BulletBox"/>
          <p:cNvSpPr/>
          <p:nvPr/>
        </p:nvSpPr>
        <p:spPr>
          <a:xfrm>
            <a:off x="4480560" y="15179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Немає порядку — не можна звернутись за індексом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Елементи мають бути hashable (рядки, числа, tuples)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Використання: унікальні URL, теги, ролі</a:t>
            </a:r>
            <a:r>
              <a:rPr lang="uk-UA" sz="1200" dirty="0">
                <a:solidFill>
                  <a:srgbClr val="1B2A4A"/>
                </a:solidFill>
                <a:latin typeface="Calibri" pitchFamily="34" charset="0"/>
              </a:rPr>
              <a:t> юзерів</a:t>
            </a:r>
            <a:endParaRPr lang="en-US" sz="1200" dirty="0">
              <a:solidFill>
                <a:srgbClr val="1B2A4A"/>
              </a:solidFill>
              <a:latin typeface="Calibri" pitchFamily="34" charset="0"/>
            </a:endParaRPr>
          </a:p>
        </p:txBody>
      </p:sp>
      <p:sp>
        <p:nvSpPr>
          <p:cNvPr id="13" name="CodeBg"/>
          <p:cNvSpPr/>
          <p:nvPr/>
        </p:nvSpPr>
        <p:spPr>
          <a:xfrm>
            <a:off x="274320" y="2578608"/>
            <a:ext cx="8595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267004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tags = {'python', 'web', 'django', 'python'}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print(tags)  # {'python', 'web', 'django'}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Знайти унікальні URL з помилками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error_urls = {r['url'] for r in requests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      if r['status_code'] != 200}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Перетин: спільні — set_a &amp; set_b</a:t>
            </a:r>
          </a:p>
        </p:txBody>
      </p:sp>
      <p:sp>
        <p:nvSpPr>
          <p:cNvPr id="15" name="NoteBg"/>
          <p:cNvSpPr/>
          <p:nvPr/>
        </p:nvSpPr>
        <p:spPr>
          <a:xfrm>
            <a:off x="256735" y="4294163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39615" y="4294163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set comprehension {x for x in ...} — як list comprehension, але без дублікатів. Дуже зручно для збору унікальних значень з даних.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ловник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Словники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Dicts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dict  —  ключ → значення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Пари ключ-значення, довільна вкладеність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Параметри запиту, POST-дані, контекст шаблону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JSON-подібні структури — основа web-даних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.get(key, default) — безпечне читання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user =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"name": "Олена",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"role": "admin",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"orders": [{"id": 1, "total": 250}]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role = user.get("role", "guest")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dict comprehension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squares = {x: x**2 for x in range(5)}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2761488"/>
            <a:ext cx="85953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2852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Підрахунок: кількість запитів по методу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from collections import Counter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counts = Counter(r['method'] for r in requests)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або вручну: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counts = {}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r in requests: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counts[r['method']] = counts.get(r['method'], 0) + 1</a:t>
            </a:r>
          </a:p>
        </p:txBody>
      </p:sp>
      <p:sp>
        <p:nvSpPr>
          <p:cNvPr id="15" name="NoteBg"/>
          <p:cNvSpPr/>
          <p:nvPr/>
        </p:nvSpPr>
        <p:spPr>
          <a:xfrm>
            <a:off x="274320" y="3669818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57200" y="366981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Django: request.GET / request.POST / context у шаблоні — все це dict або dict-подібні об'єкти.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Лямбда-функції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Лямбда-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</a:rPr>
              <a:t>функції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lambda functions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lambda  —  коротка анонімна функція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Коротка функція без назви — для сортування та фільтрації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Одна операція: lambda args: вираз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 зловживайте: складна логіка — краще def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3"/>
            <a:ext cx="4114800" cy="2371813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Синтаксис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square = lambda x: x ** 2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print(square(5))  # 25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Сортування за полем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products.sort(key=lambda p: p['price'])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Фільтрація активних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active = list(filter(lambda u: u['active'], users))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Сортування за кількома полями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data.sort(key=lambda r: (r['status_code'], r['method']))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2487168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25786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lambda vs def — вибирайте правильно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double = lambda x: x * 2   # ok — просто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def — якщо логіка складніша або треба повторне використання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sorted_r = sorted(requests, key=lambda r: r["status_code"])</a:t>
            </a:r>
          </a:p>
        </p:txBody>
      </p:sp>
      <p:sp>
        <p:nvSpPr>
          <p:cNvPr id="15" name="NoteBg"/>
          <p:cNvSpPr/>
          <p:nvPr/>
        </p:nvSpPr>
        <p:spPr>
          <a:xfrm>
            <a:off x="274320" y="4187952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57200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lambda часто зустрічається в sorted(), filter(), map(). В Django — в annotate() та queryset ordering.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Генератор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Генератори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generators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yield  замість  return  — повертає значення й призупиняється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Дані обробляються поступово — не весь список одразу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Економить пам'ять при великих обсягах даних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yield зупиняє функцію, продовжує при наступному виклику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Використовується як звичайний ітератор: for x in gen()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835132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1999" y="1609344"/>
            <a:ext cx="414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active_users(users):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for user in users: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if user['active']: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    yield user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for u in active_users(all_users):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print(u['name'])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# Generator expression (як list comprehension)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errors = (r for r in requests if r['status_code'] != 200)</a:t>
            </a:r>
          </a:p>
        </p:txBody>
      </p:sp>
      <p:sp>
        <p:nvSpPr>
          <p:cNvPr id="13" name="CodeBg"/>
          <p:cNvSpPr/>
          <p:nvPr/>
        </p:nvSpPr>
        <p:spPr>
          <a:xfrm>
            <a:off x="274319" y="3666744"/>
            <a:ext cx="8595360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758184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return  — повертає одне значення й завершує функцію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yield   — повертає значення й призупиняє; продовжить далі</a:t>
            </a:r>
          </a:p>
        </p:txBody>
      </p:sp>
      <p:sp>
        <p:nvSpPr>
          <p:cNvPr id="15" name="NoteBg"/>
          <p:cNvSpPr/>
          <p:nvPr/>
        </p:nvSpPr>
        <p:spPr>
          <a:xfrm>
            <a:off x="274319" y="4404596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393894" y="44045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 QuerySet — теж ледачий: запит до БД виконується тільки коли ітеруємось або викликаємо list().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Замикання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Замикання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closures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closure  —  внутрішня функція пам'ятає зовнішню змінну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Внутрішня функція 'захоплює' змінну із зовнішнього scope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Фабрика функцій: один шаблон — різна поведінка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Значення зберігається у __closure__ функції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Основа для декораторів і callback-патернів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86537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make_role_checker(required_role):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def check(user):              # 'пам'ятає' required_role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return user['role'] == required_role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return check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is_admin = make_role_checker('admin')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is_editor = make_role_checker('editor')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print(is_admin({'role': 'admin'}))   # 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print(is_editor({'role': 'admin'}))  # False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3438144"/>
            <a:ext cx="8595360" cy="1001269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529584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filter_by_status(status):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# Повертає функцію-фільтр — замикання!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def check(request):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return request['status_code'] == status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return check</a:t>
            </a:r>
          </a:p>
        </p:txBody>
      </p:sp>
      <p:sp>
        <p:nvSpPr>
          <p:cNvPr id="15" name="NoteBg"/>
          <p:cNvSpPr/>
          <p:nvPr/>
        </p:nvSpPr>
        <p:spPr>
          <a:xfrm>
            <a:off x="365760" y="452628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548640" y="45262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dirty="0">
                <a:solidFill>
                  <a:srgbClr val="1B2A4A"/>
                </a:solidFill>
                <a:latin typeface="Calibri" pitchFamily="34" charset="0"/>
              </a:rPr>
              <a:t>Де </a:t>
            </a: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саме зберігається значення required_role після повернення з make_role_checker?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екоратор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Декоратори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decorators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069848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069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069848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0698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@decorator  =  функція, </a:t>
            </a:r>
            <a:r>
              <a:rPr lang="en-US" sz="1300" b="1" dirty="0" err="1">
                <a:solidFill>
                  <a:srgbClr val="F5A623"/>
                </a:solidFill>
                <a:latin typeface="Consolas" pitchFamily="34" charset="0"/>
              </a:rPr>
              <a:t>що</a:t>
            </a: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 отримує функцію і повертає нову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Додає поведінку до функції без зміни її коду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@decorator — синтаксичний цукор для func = decorator(func)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Типові use-cases: логування, авторизація, кешування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Django: @login_required, @permission_required — теж декоратори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68249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log_call(func):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def wrapper(*args, **kwargs):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print(f'Виклик: {func.__name__}')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result = func(*args, **kwargs)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print('Завершено')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return result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return wrapper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@log_call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get_user(uid): ...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# get_user(1) -&gt; wrapper(1) -&gt; log -&gt; func(1) -&gt; log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3291840"/>
            <a:ext cx="8595360" cy="113385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Порядок викликів при @decorator: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get_user(1)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-&gt; wrapper(1)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print('Виклик: get_user')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func(1)  # оригінальна функція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print('Завершено')</a:t>
            </a:r>
          </a:p>
        </p:txBody>
      </p:sp>
      <p:sp>
        <p:nvSpPr>
          <p:cNvPr id="15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Декоратор — не магія, а просто функція. @login_required у Django = view = login_required(view).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s Intro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Практика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Дані для всіх завдань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571184"/>
            <a:ext cx="8595360" cy="165207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6262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requests =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"/api/login",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"PUT",  "url": "/api/users/5", "status_code": 403},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"/api/items",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"/api/items",   "status_code": 500},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]</a:t>
            </a:r>
          </a:p>
        </p:txBody>
      </p:sp>
      <p:sp>
        <p:nvSpPr>
          <p:cNvPr id="11" name="BulletBox"/>
          <p:cNvSpPr/>
          <p:nvPr/>
        </p:nvSpPr>
        <p:spPr>
          <a:xfrm>
            <a:off x="274320" y="3390314"/>
            <a:ext cx="8595360" cy="1753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1 — Фільтрація: знайти успішні запити (status 200)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2 — Множини: унікальні URL з помилками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3 — Словники: кількість запитів по HTTP-методу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4 — Генератор: повертати тільки помилкові запити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5 — Lambda: сортування за status_code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6 — Замикання: filter_by_status(status)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7 — Декоратор: log_execution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1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Успішні запити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Вивести всі успішні запити (status_code = 200)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30861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requests =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"/api/login",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"PUT",  "url": "/api/users/5", "status_code": 403},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"/api/items",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"/api/items",   "status_code": 500},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]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Ваше рішення: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success = [r for r in requests if r['status_code'] == 200]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r in success: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print(r)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list comprehension — найчистіший спосіб. Можна і через filter(lambda r: r['status_code']==200, requests).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2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Унікальні URL з помилками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Знайдіть унікальні URL, де виникали помилки (status_code != 200)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73862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64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requests =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"/api/login",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"PUT",  "url": "/api/users/5", "status_code": 403},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"/api/items",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"/api/items",   "status_code": 500},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]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Ваше рішення: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error_urls = {r['url'] for r in requests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      if r['status_code'] != 200}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print(error_urls)  # set — без дублікатів!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set comprehension {} автоматично видаляє дублікати. /api/users/5 з'являється двічі з 404 — але в set буде один раз.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3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Кількість запитів по методу</a:t>
            </a:r>
          </a:p>
        </p:txBody>
      </p:sp>
      <p:sp>
        <p:nvSpPr>
          <p:cNvPr id="7" name="DescBg"/>
          <p:cNvSpPr/>
          <p:nvPr/>
        </p:nvSpPr>
        <p:spPr>
          <a:xfrm>
            <a:off x="274319" y="1143000"/>
            <a:ext cx="8595359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Порахувати кількість запитів по кожному HTTP-методу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9946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requests =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"/api/login",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"PUT",  "url": "/api/users/5", "status_code": 403},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"/api/items",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"/api/items",   "status_code": 500},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]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Ваше рішення: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counts = {}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r in requests: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method = r['method']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counts[method] = counts.get(method, 0) + 1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print(counts)  # {'GET': 4, 'POST': 2, 'PUT': 1}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68630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6863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from collections import Counter; Counter(r['method'] for r in requests) — те саме за один рядок.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4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Генератор помилкових запитів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Створити генератор, який повертає тільки помилкові запити (status != 200)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514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error_requests(requests):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for req in requests: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if req['status_code'] != 200: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    yield req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Використання: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req in error_requests(requests):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print(req)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Порівняйте з list-варіантом: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errors = [r for r in requests if r['status_code'] != 200]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Генератор не створює список в пам'яті — ледаче обчислення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yield не завершує функцію — призупиняє її. Наступний виклик продовжить з наступного елемента циклу.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5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Сортування через lambda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Відсортувати запити за status_code (+ додатково: за (status_code, method))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556803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Сортування за status_code: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sorted_requests = sorted(requests, key=lambda r: r['status_code'])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r in sorted_requests: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print(r['status_code'], r['method'], r['url'])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Додатково — сортування за кількома полями: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sorted_multi = sorted(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requests,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key=lambda r: (r['status_code'], r['method'])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sorted() повертає новий список, .sort() змінює на місці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lambda r: (r['status_code'], r['method']) — tuple порівнюється поелементно: спочатку status_code, потім method.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6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Замикання: filter_by_status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Створити функцію filter_by_status(status), яка повертає функцію-фільтр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7477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filter_by_status(status):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def check(request):          # 'пам'ятає' status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return request['status_code'] == status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return check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Використання: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only_200 = filter_by_status(200)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result = list(filter(only_200, requests))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Те саме для 404: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only_404 = filter_by_status(404)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not_found = list(filter(only_404, requests))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filter_by_status — фабрика функцій (замикання)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512564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5125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check 'захоплює' змінну status із зовнішнього scope. Кожен виклик filter_by_status() створює нову незалежну функцію.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Завдання 7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—  Декоратор log_execution</a:t>
            </a:r>
          </a:p>
        </p:txBody>
      </p:sp>
      <p:sp>
        <p:nvSpPr>
          <p:cNvPr id="7" name="DescBg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DescText"/>
          <p:cNvSpPr/>
          <p:nvPr/>
        </p:nvSpPr>
        <p:spPr>
          <a:xfrm>
            <a:off x="365760" y="1143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Написати декоратор, який логує виклик і кількість оброблених запитів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600200"/>
            <a:ext cx="8595360" cy="2774852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91640"/>
            <a:ext cx="841248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log_execution(func):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def wrapper(*args, **kwargs):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print(f'[LOG] Виклик: {func.__name__}')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result = func(*args, **kwargs)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print(f'[LOG] Оброблено запитів: {result}')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return result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return wrapper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@log_execution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process_requests(requests):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# обробити всі запити...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return len(requests)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process_requests(requests)  # виведе лог до і після</a:t>
            </a:r>
          </a:p>
        </p:txBody>
      </p:sp>
      <p:sp>
        <p:nvSpPr>
          <p:cNvPr id="11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*args, **kwargs у wrapper — щоб декоратор працював з будь-якою функцією незалежно від її параметрів.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і домашнє завдання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хв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84632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</a:t>
            </a: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вивчили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сьогодні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4320" y="16093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609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r>
              <a:rPr lang="uk-UA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247591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+ .get() + вкладені структури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74320" y="245059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28712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— сортування і фільтрація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274320" y="28712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" y="3291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 — yield, ледача обробка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274320" y="329184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37124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 — пам'ять контексту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274320" y="371246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41330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decorator — обгортка функції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1143000"/>
            <a:ext cx="352044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349240" y="1143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49240" y="1793631"/>
            <a:ext cx="3520440" cy="206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486400" y="1554480"/>
            <a:ext cx="324612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Повторити</a:t>
            </a:r>
            <a:r>
              <a:rPr lang="uk-UA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базові принципи ООП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Записати тему персонального проєкту (1-2 речення)</a:t>
            </a:r>
            <a:endParaRPr lang="uk-UA" sz="11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uk-UA" sz="110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Виконати практичне завдання</a:t>
            </a:r>
            <a:endParaRPr lang="en-US" sz="1100" dirty="0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FFF068F8-3A74-929A-1700-733A427EC585}"/>
              </a:ext>
            </a:extLst>
          </p:cNvPr>
          <p:cNvSpPr/>
          <p:nvPr/>
        </p:nvSpPr>
        <p:spPr>
          <a:xfrm>
            <a:off x="274320" y="4133088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53DA3259-AB70-396A-FB91-E98FB1AC7601}"/>
              </a:ext>
            </a:extLst>
          </p:cNvPr>
          <p:cNvSpPr/>
          <p:nvPr/>
        </p:nvSpPr>
        <p:spPr>
          <a:xfrm>
            <a:off x="274320" y="413308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5812358-5386-CC57-3CF7-0974976D7BB1}"/>
              </a:ext>
            </a:extLst>
          </p:cNvPr>
          <p:cNvSpPr/>
          <p:nvPr/>
        </p:nvSpPr>
        <p:spPr>
          <a:xfrm>
            <a:off x="658368" y="20292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cs typeface="Consolas" pitchFamily="34" charset="-120"/>
              </a:rPr>
              <a:t>set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сновні конструкції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27432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("active", "banned")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STATUS[0]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9184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{"name": "Олег"}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u.get("name", "—")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30936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items.sort(key=lambda x: x["price"])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8288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7432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gen(lst):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x in lst: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20040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29184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make(r):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check(u):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u["role"]==r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21792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30936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dec(f):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wrap(*a,**k):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print("before")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f(*a,**k)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wrap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4988</TotalTime>
  <Words>3340</Words>
  <Application>Microsoft Macintosh PowerPoint</Application>
  <PresentationFormat>On-screen Show (16:9)</PresentationFormat>
  <Paragraphs>416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Заняття 1 — Python для web-розробки</dc:title>
  <dc:subject>PptxGenJS Presentation</dc:subject>
  <dc:creator>PptxGenJS</dc:creator>
  <cp:lastModifiedBy>Дмитро Штефан</cp:lastModifiedBy>
  <cp:revision>10</cp:revision>
  <dcterms:created xsi:type="dcterms:W3CDTF">2026-04-09T16:56:20Z</dcterms:created>
  <dcterms:modified xsi:type="dcterms:W3CDTF">2026-10-11T20:19:53Z</dcterms:modified>
</cp:coreProperties>
</file>