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72" r:id="rId7"/>
    <p:sldId id="273" r:id="rId8"/>
    <p:sldId id="263" r:id="rId9"/>
    <p:sldId id="274" r:id="rId10"/>
    <p:sldId id="268" r:id="rId11"/>
    <p:sldId id="269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44"/>
    <p:restoredTop sz="94610"/>
  </p:normalViewPr>
  <p:slideViewPr>
    <p:cSldViewPr snapToGrid="0" snapToObjects="1">
      <p:cViewPr varScale="1">
        <p:scale>
          <a:sx n="200" d="100"/>
          <a:sy n="200" d="100"/>
        </p:scale>
        <p:origin x="26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0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Титульний слайд. Вивести на екран до початку пари о 18:20. Поки студенти заходять — слайд уже на проекторі.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Озвучте чотири цілі до початку. Підкресліть: не вивчаємо Python з нуля — вирівнюємо базу для старту в Django.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18:20-18:55. Вступ + рамка курсу. Після оцінювання зробити паузу: 'Чи є запитання по формату?' Дати студентам 2 хв для запису ідеї проєкту.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Практичне мікрозавдання: попросіть 5-6 студентів озвучити ідею. Запитайте: 'Які дані будуть основними?' та 'Що користувач зможе робити?'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18:55-19:10. Демонстрація в терміналі. Після прикладу зі словником зупинитись: 'Хто може навести власний приклад словника у web-застосунку?'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19:35-20:00. Після прикладів зупинитись і запитати: 'В якому випадку lambda незручна?' Зв'язати генератори з QuerySet в Django (ледаче завантаження).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21:05-21:10. Зафіксуйте: які теми найважчі / хто без середовища / хто без ідеї проєкту. Нагадати дедлайн і формат здачі ДЗ.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Допоміжний слайд зі шпаргалкою. Можна залишити на екрані під час практики або надіслати студентам у месенджер.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6217920" y="365760"/>
            <a:ext cx="4114800" cy="41148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766560" y="822960"/>
            <a:ext cx="2926080" cy="2926080"/>
          </a:xfrm>
          <a:prstGeom prst="ellipse">
            <a:avLst/>
          </a:prstGeom>
          <a:solidFill>
            <a:srgbClr val="F5A623">
              <a:alpha val="22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для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прикладне повторення Python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25603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заняття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курс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правила, оцінювання, персональний проєкт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9262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Python Core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9262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Кортежі, словники, лямбди, генератори, замикання, декоратори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1206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Dev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через призму web-</a:t>
            </a: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9262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Перевірка готовності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9262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 теми потребують підсилення далі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w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</a:t>
            </a: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-додатків з використанням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курсу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Python-база в прикладному контексті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0299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з Django (моделі, URL, views)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523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 та форми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175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35112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та авторизація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005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554480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8920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Відвідування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084832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4892040" y="2084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 на занятті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084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2615184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892040" y="26151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Домашні завдання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2615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3145536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перевірки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54880" y="3675888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489204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955280" y="3675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Персональний проєкт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має бути в проєкті: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Сутності (моделі) та зв'язки між ними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створення, читання, редагування, видалення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 й валідація даних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ролі або типи дій користувача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Авторизація (вхід / вихід / реєстрація)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тем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80644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Каталог книг / курсів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10312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Блог зі статтями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65176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806440" y="265176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 Сервіс бронювання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20040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Облік замовлень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74904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37490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База фільмів із оцінками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451328"/>
            <a:ext cx="8412480" cy="47627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914400" y="4332457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Мікрозавдання: запишіть 1-2 ідеї теми прямо зараз. До наступного заняття — конкретна предметна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Кортежі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Кортежі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Tuples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tuple  —  незмінний набір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8229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Фіксований набір значень — не можна змінити після створення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Статуси, коди, константи, координати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Швидший за list, сигналізує: ці дані не змінюються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Можна розпакувати: x, y = point</a:t>
            </a:r>
          </a:p>
        </p:txBody>
      </p:sp>
      <p:sp>
        <p:nvSpPr>
          <p:cNvPr id="11" name="CodeBg"/>
          <p:cNvSpPr/>
          <p:nvPr/>
        </p:nvSpPr>
        <p:spPr>
          <a:xfrm>
            <a:off x="274320" y="2578608"/>
            <a:ext cx="859536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365760" y="267004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STATUSES = ('draft', 'published', 'archived')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HTTP_CODES = (200, 301, 404, 500)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point = (48.46, 22.72)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lat, lng = point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tuple як ключ словника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cache = {(200, 'GET'): 'ok'}</a:t>
            </a:r>
          </a:p>
        </p:txBody>
      </p:sp>
      <p:sp>
        <p:nvSpPr>
          <p:cNvPr id="13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choices у моделях — це tuples. Наприклад: STATUS_CHOICES = (('draft', 'Чернетка'), ('pub', 'Опубліковано'))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Множин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Множини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Sets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set  —  колекція унікальних елементів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Автоматично видаляє дублікати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Перевірка наявності (in) — O(1), швидше ніж у списку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Операції: об'єднання (|), перетин (&amp;), різниця (-)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Незмінна версія: frozenset</a:t>
            </a:r>
          </a:p>
        </p:txBody>
      </p:sp>
      <p:sp>
        <p:nvSpPr>
          <p:cNvPr id="11" name="BulletBox"/>
          <p:cNvSpPr/>
          <p:nvPr/>
        </p:nvSpPr>
        <p:spPr>
          <a:xfrm>
            <a:off x="44805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Немає порядку — не можна звернутись за індексом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Елементи мають бути hashable (рядки, числа, tuples)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Використання: унікальні URL, теги, ролі</a:t>
            </a:r>
            <a:r>
              <a:rPr lang="uk-UA" sz="1200" dirty="0">
                <a:solidFill>
                  <a:srgbClr val="1B2A4A"/>
                </a:solidFill>
                <a:latin typeface="Calibri" pitchFamily="34" charset="0"/>
              </a:rPr>
              <a:t> юзерів</a:t>
            </a:r>
            <a:endParaRPr lang="en-US" sz="1200" dirty="0">
              <a:solidFill>
                <a:srgbClr val="1B2A4A"/>
              </a:solidFill>
              <a:latin typeface="Calibri" pitchFamily="34" charset="0"/>
            </a:endParaRPr>
          </a:p>
        </p:txBody>
      </p:sp>
      <p:sp>
        <p:nvSpPr>
          <p:cNvPr id="13" name="CodeBg"/>
          <p:cNvSpPr/>
          <p:nvPr/>
        </p:nvSpPr>
        <p:spPr>
          <a:xfrm>
            <a:off x="274320" y="2578608"/>
            <a:ext cx="8595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670048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tags = {'python', 'web', 'django', 'python'}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print(tags)  # {'python', 'web', 'django'}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Знайти унікальні URL з помилками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error_urls = {r['url'] for r in requests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      if r['status_code'] != 200}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Перетин: спільні — set_a &amp; set_b</a:t>
            </a:r>
          </a:p>
        </p:txBody>
      </p:sp>
      <p:sp>
        <p:nvSpPr>
          <p:cNvPr id="15" name="NoteBg"/>
          <p:cNvSpPr/>
          <p:nvPr/>
        </p:nvSpPr>
        <p:spPr>
          <a:xfrm>
            <a:off x="256735" y="4294163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39615" y="4294163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set comprehension {x for x in ...} — як list comprehension, але без дублікатів. Дуже зручно для збору унікальних значень з даних.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Словник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Словники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Dicts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058308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0583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058308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05830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dict  —  ключ → значення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Пари ключ-значення, довільна вкладеність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Параметри запиту, POST-дані, контекст шаблону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JSON-подібні структури — основа web-даних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.get(key, default) — безпечне читання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478932"/>
            <a:ext cx="4114800" cy="168489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57037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user = {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"name": "Олена",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"role": "admin",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"orders": [{"id": 1, "total": 250}]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dict comprehension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squares = {x: x**2 for x in range(5)}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218688"/>
            <a:ext cx="8595360" cy="145074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310128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Підрахунок: кількість запитів по методу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from collections import Counter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counts = Counter(r['method'] for r in requests)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або вручну: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counts = {}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for r in requests: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counts[r['method']] = counts.get(r['method'], 0) + 1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719123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719123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request.GET / request.POST / context у шаблоні — все це dict або dict-подібні об'єкти.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Лямбда-функції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Лямбда-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</a:rPr>
              <a:t>функції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lambda functions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lambda  —  коротка анонімна функція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Коротка функція без назви — для сортування та фільтрації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Одна операція: lambda args: вираз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 зловживайте: складна логіка — краще def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3"/>
            <a:ext cx="4114800" cy="2371813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Синтаксис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 = lambda x: x ** 2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print(square(5))  # 25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полем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products.sort(key=lambda p: p['price'])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Фільтрація активних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active = list(filter(lambda u: u['active'], users))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кількома полями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data.sort(key=lambda r: (r['status_code'], r['method']))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487168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57860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lambda vs def — вибирайте правильно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double = lambda x: x * 2   # ok — просто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def — якщо логіка складніша або треба повторне використання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sorted_r = sorted(requests, key=lambda r: r["status_code"])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187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lambda часто зустрічається в sorted(), filter(), map(). В Django — в annotate() та queryset ordering.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Гене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Генератори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generators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yield  замість  return  — повертає значення й призупиняється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Дані обробляються поступово — не весь список одразу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Економить пам'ять при великих обсягах 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yield зупиняє функцію, продовжує при наступному виклику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Використовується як звичайний ітератор: for x in gen()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3513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1999" y="1609344"/>
            <a:ext cx="414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active_users(users):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for user in users: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if user['active']: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    yield user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for u in active_users(all_users):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print(u['name'])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Generator expression (як list comprehension)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errors = (r for r in requests if r['status_code'] != 200)</a:t>
            </a:r>
          </a:p>
        </p:txBody>
      </p:sp>
      <p:sp>
        <p:nvSpPr>
          <p:cNvPr id="13" name="CodeBg"/>
          <p:cNvSpPr/>
          <p:nvPr/>
        </p:nvSpPr>
        <p:spPr>
          <a:xfrm>
            <a:off x="274319" y="3666744"/>
            <a:ext cx="8595360" cy="52120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758184"/>
            <a:ext cx="8412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return  — повертає одне значення й завершує функцію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yield   — повертає значення й призупиняє; продовжить далі</a:t>
            </a:r>
          </a:p>
        </p:txBody>
      </p:sp>
      <p:sp>
        <p:nvSpPr>
          <p:cNvPr id="15" name="NoteBg"/>
          <p:cNvSpPr/>
          <p:nvPr/>
        </p:nvSpPr>
        <p:spPr>
          <a:xfrm>
            <a:off x="274319" y="4404596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393894" y="440459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 QuerySet — теж ледачий: запит до БД виконується тільки коли ітеруємось або викликаємо list().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і домашнє завдання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вивчили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16093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uk-UA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247591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+ .get() + вкладені 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8712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— сортування і фільтрація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" y="3291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— yield, ледача обробка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1793631"/>
            <a:ext cx="3520440" cy="206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0" y="1554480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тему персонального проєкту (1-2 речення)</a:t>
            </a:r>
            <a:endParaRPr lang="uk-UA" sz="11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Виконати практичне завдання</a:t>
            </a:r>
            <a:r>
              <a:rPr lang="en-US" sz="11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: </a:t>
            </a:r>
            <a:r>
              <a:rPr lang="en-UA" sz="1100" dirty="0"/>
              <a:t>розрахувати борги друзів після спільної поїздки.</a:t>
            </a:r>
            <a:endParaRPr lang="en-US" sz="11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5812358-5386-CC57-3CF7-0974976D7BB1}"/>
              </a:ext>
            </a:extLst>
          </p:cNvPr>
          <p:cNvSpPr/>
          <p:nvPr/>
        </p:nvSpPr>
        <p:spPr>
          <a:xfrm>
            <a:off x="658368" y="20292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cs typeface="Consolas" pitchFamily="34" charset="-120"/>
              </a:rPr>
              <a:t>set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сновні конструкції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7432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("active", "banned")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= STATUS[0]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9184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{"name": "Олег"}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u.get("name", "—")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30936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items.sort(key=lambda x: x["price"])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gen(lst):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x in lst: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29184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make(r):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check(u):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u["role"]==r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0936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wrap(*a,**k):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print("before")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f(*a,**k)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wrap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7952</TotalTime>
  <Words>1345</Words>
  <Application>Microsoft Macintosh PowerPoint</Application>
  <PresentationFormat>On-screen Show (16:9)</PresentationFormat>
  <Paragraphs>211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1 — Python для web-розробки</dc:title>
  <dc:subject>PptxGenJS Presentation</dc:subject>
  <dc:creator>PptxGenJS</dc:creator>
  <cp:lastModifiedBy>Дмитро Штефан</cp:lastModifiedBy>
  <cp:revision>11</cp:revision>
  <dcterms:created xsi:type="dcterms:W3CDTF">2026-04-09T16:56:20Z</dcterms:created>
  <dcterms:modified xsi:type="dcterms:W3CDTF">2026-10-13T21:43:38Z</dcterms:modified>
</cp:coreProperties>
</file>