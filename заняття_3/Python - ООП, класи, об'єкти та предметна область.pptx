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9" r:id="rId28"/>
    <p:sldId id="283" r:id="rId29"/>
    <p:sldId id="285" r:id="rId30"/>
    <p:sldId id="286" r:id="rId31"/>
    <p:sldId id="287" r:id="rId32"/>
    <p:sldId id="288" r:id="rId33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28"/>
    <p:restoredTop sz="96949"/>
  </p:normalViewPr>
  <p:slideViewPr>
    <p:cSldViewPr snapToGrid="0">
      <p:cViewPr varScale="1">
        <p:scale>
          <a:sx n="138" d="100"/>
          <a:sy n="138" d="100"/>
        </p:scale>
        <p:origin x="176" y="568"/>
      </p:cViewPr>
      <p:guideLst/>
    </p:cSldViewPr>
  </p:slideViewPr>
  <p:notesTextViewPr>
    <p:cViewPr>
      <p:scale>
        <a:sx n="1" d="1"/>
        <a:sy n="1" d="1"/>
      </p:scale>
      <p:origin x="0" y="-984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Тривалість</a:t>
            </a:r>
            <a:r>
              <a:rPr dirty="0"/>
              <a:t>: 3 </a:t>
            </a:r>
            <a:r>
              <a:rPr dirty="0" err="1"/>
              <a:t>хв</a:t>
            </a:r>
            <a:r>
              <a:rPr dirty="0"/>
              <a:t> (3 </a:t>
            </a:r>
            <a:r>
              <a:rPr dirty="0" err="1"/>
              <a:t>хв</a:t>
            </a:r>
            <a:r>
              <a:rPr dirty="0"/>
              <a:t>)</a:t>
            </a:r>
          </a:p>
          <a:p>
            <a:endParaRPr dirty="0"/>
          </a:p>
          <a:p>
            <a:r>
              <a:rPr dirty="0" err="1"/>
              <a:t>Привітайтеся</a:t>
            </a:r>
            <a:r>
              <a:rPr dirty="0"/>
              <a:t>, </a:t>
            </a:r>
            <a:r>
              <a:rPr dirty="0" err="1"/>
              <a:t>перевірте</a:t>
            </a:r>
            <a:r>
              <a:rPr dirty="0"/>
              <a:t> </a:t>
            </a:r>
            <a:r>
              <a:rPr dirty="0" err="1"/>
              <a:t>звук</a:t>
            </a:r>
            <a:r>
              <a:rPr dirty="0"/>
              <a:t> і </a:t>
            </a:r>
            <a:r>
              <a:rPr dirty="0" err="1"/>
              <a:t>читабельність</a:t>
            </a:r>
            <a:r>
              <a:rPr dirty="0"/>
              <a:t> </a:t>
            </a:r>
            <a:r>
              <a:rPr dirty="0" err="1"/>
              <a:t>редактора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Нагадайте про </a:t>
            </a:r>
            <a:r>
              <a:rPr dirty="0" err="1"/>
              <a:t>камери</a:t>
            </a:r>
            <a:r>
              <a:rPr dirty="0"/>
              <a:t>, </a:t>
            </a:r>
            <a:r>
              <a:rPr dirty="0" err="1"/>
              <a:t>залишайте</a:t>
            </a:r>
            <a:r>
              <a:rPr dirty="0"/>
              <a:t> </a:t>
            </a:r>
            <a:r>
              <a:rPr dirty="0" err="1"/>
              <a:t>власну</a:t>
            </a:r>
            <a:r>
              <a:rPr dirty="0"/>
              <a:t> </a:t>
            </a:r>
            <a:r>
              <a:rPr dirty="0" err="1"/>
              <a:t>ввімкненою</a:t>
            </a:r>
            <a:r>
              <a:rPr dirty="0"/>
              <a:t>.</a:t>
            </a:r>
          </a:p>
          <a:p>
            <a:r>
              <a:rPr dirty="0"/>
              <a:t>Почніть </a:t>
            </a:r>
            <a:r>
              <a:rPr dirty="0" err="1"/>
              <a:t>відмітку</a:t>
            </a:r>
            <a:r>
              <a:rPr dirty="0"/>
              <a:t> </a:t>
            </a:r>
            <a:r>
              <a:rPr dirty="0" err="1"/>
              <a:t>присутніх</a:t>
            </a:r>
            <a:r>
              <a:rPr dirty="0"/>
              <a:t>, </a:t>
            </a:r>
            <a:r>
              <a:rPr dirty="0" err="1"/>
              <a:t>завершіть</a:t>
            </a:r>
            <a:r>
              <a:rPr dirty="0"/>
              <a:t> на </a:t>
            </a:r>
            <a:r>
              <a:rPr dirty="0" err="1"/>
              <a:t>слайді</a:t>
            </a:r>
            <a:r>
              <a:rPr dirty="0"/>
              <a:t> 3.</a:t>
            </a:r>
          </a:p>
          <a:p>
            <a:r>
              <a:rPr dirty="0" err="1"/>
              <a:t>Запитайте</a:t>
            </a:r>
            <a:r>
              <a:rPr dirty="0"/>
              <a:t>, які дані </a:t>
            </a:r>
            <a:r>
              <a:rPr dirty="0" err="1"/>
              <a:t>потрібні</a:t>
            </a:r>
            <a:r>
              <a:rPr dirty="0"/>
              <a:t> </a:t>
            </a:r>
            <a:r>
              <a:rPr dirty="0" err="1"/>
              <a:t>сторінці</a:t>
            </a:r>
            <a:r>
              <a:rPr dirty="0"/>
              <a:t> </a:t>
            </a:r>
            <a:r>
              <a:rPr dirty="0" err="1"/>
              <a:t>курсу</a:t>
            </a:r>
            <a:r>
              <a:rPr dirty="0"/>
              <a:t>.</a:t>
            </a:r>
          </a:p>
          <a:p>
            <a:r>
              <a:rPr dirty="0"/>
              <a:t>Не </a:t>
            </a:r>
            <a:r>
              <a:rPr dirty="0" err="1"/>
              <a:t>вимагайте</a:t>
            </a:r>
            <a:r>
              <a:rPr dirty="0"/>
              <a:t> </a:t>
            </a:r>
            <a:r>
              <a:rPr dirty="0" err="1"/>
              <a:t>термінів</a:t>
            </a:r>
            <a:r>
              <a:rPr dirty="0"/>
              <a:t> ООП до </a:t>
            </a:r>
            <a:r>
              <a:rPr dirty="0" err="1"/>
              <a:t>пояснення</a:t>
            </a:r>
            <a:r>
              <a:rPr dirty="0"/>
              <a:t>.</a:t>
            </a:r>
          </a:p>
          <a:p>
            <a:r>
              <a:rPr dirty="0"/>
              <a:t>Покажіть </a:t>
            </a:r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різні</a:t>
            </a:r>
            <a:r>
              <a:rPr dirty="0"/>
              <a:t> </a:t>
            </a:r>
            <a:r>
              <a:rPr dirty="0" err="1"/>
              <a:t>курси</a:t>
            </a:r>
            <a:r>
              <a:rPr dirty="0"/>
              <a:t> словами: </a:t>
            </a:r>
            <a:r>
              <a:rPr dirty="0" err="1"/>
              <a:t>запис</a:t>
            </a:r>
            <a:r>
              <a:rPr dirty="0"/>
              <a:t> на Python не </a:t>
            </a:r>
            <a:r>
              <a:rPr dirty="0" err="1"/>
              <a:t>повинен</a:t>
            </a:r>
            <a:r>
              <a:rPr dirty="0"/>
              <a:t> </a:t>
            </a:r>
            <a:r>
              <a:rPr dirty="0" err="1"/>
              <a:t>змінювати</a:t>
            </a:r>
            <a:r>
              <a:rPr dirty="0"/>
              <a:t> </a:t>
            </a:r>
            <a:r>
              <a:rPr dirty="0" err="1"/>
              <a:t>склад</a:t>
            </a:r>
            <a:r>
              <a:rPr dirty="0"/>
              <a:t> </a:t>
            </a:r>
            <a:r>
              <a:rPr dirty="0" err="1"/>
              <a:t>групи</a:t>
            </a:r>
            <a:r>
              <a:rPr dirty="0"/>
              <a:t> </a:t>
            </a:r>
            <a:r>
              <a:t>Django.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Тривалість</a:t>
            </a:r>
            <a:r>
              <a:rPr dirty="0"/>
              <a:t>: 2 </a:t>
            </a:r>
            <a:r>
              <a:rPr dirty="0" err="1"/>
              <a:t>хв</a:t>
            </a:r>
            <a:r>
              <a:rPr dirty="0"/>
              <a:t> (5 </a:t>
            </a:r>
            <a:r>
              <a:rPr dirty="0" err="1"/>
              <a:t>хв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Коротко </a:t>
            </a:r>
            <a:r>
              <a:rPr dirty="0" err="1"/>
              <a:t>окресліть</a:t>
            </a:r>
            <a:r>
              <a:rPr dirty="0"/>
              <a:t> </a:t>
            </a:r>
            <a:r>
              <a:rPr dirty="0" err="1"/>
              <a:t>теми</a:t>
            </a:r>
            <a:r>
              <a:rPr dirty="0"/>
              <a:t> та </a:t>
            </a:r>
            <a:r>
              <a:rPr dirty="0" err="1"/>
              <a:t>послідовність</a:t>
            </a:r>
            <a:r>
              <a:rPr dirty="0"/>
              <a:t> роботи. Усі дані </a:t>
            </a:r>
            <a:r>
              <a:rPr dirty="0" err="1"/>
              <a:t>сьогодні</a:t>
            </a:r>
            <a:r>
              <a:rPr dirty="0"/>
              <a:t> </a:t>
            </a:r>
            <a:r>
              <a:rPr dirty="0" err="1"/>
              <a:t>живуть</a:t>
            </a:r>
            <a:r>
              <a:rPr dirty="0"/>
              <a:t> </a:t>
            </a:r>
            <a:r>
              <a:rPr dirty="0" err="1"/>
              <a:t>у</a:t>
            </a:r>
            <a:r>
              <a:rPr dirty="0"/>
              <a:t> </a:t>
            </a:r>
            <a:r>
              <a:rPr dirty="0" err="1"/>
              <a:t>пам'яті</a:t>
            </a:r>
            <a:r>
              <a:rPr dirty="0"/>
              <a:t>; </a:t>
            </a:r>
            <a:r>
              <a:rPr dirty="0" err="1"/>
              <a:t>після</a:t>
            </a:r>
            <a:r>
              <a:rPr dirty="0"/>
              <a:t> </a:t>
            </a:r>
            <a:r>
              <a:rPr dirty="0" err="1"/>
              <a:t>завершення</a:t>
            </a:r>
            <a:r>
              <a:rPr dirty="0"/>
              <a:t> </a:t>
            </a:r>
            <a:r>
              <a:rPr dirty="0" err="1"/>
              <a:t>програми</a:t>
            </a:r>
            <a:r>
              <a:rPr dirty="0"/>
              <a:t> </a:t>
            </a:r>
            <a:r>
              <a:rPr dirty="0" err="1"/>
              <a:t>вони</a:t>
            </a:r>
            <a:r>
              <a:rPr dirty="0"/>
              <a:t> не </a:t>
            </a:r>
            <a:r>
              <a:rPr dirty="0" err="1"/>
              <a:t>зберігаються</a:t>
            </a:r>
            <a:r>
              <a:rPr dirty="0"/>
              <a:t> </a:t>
            </a:r>
            <a:r>
              <a:rPr dirty="0" err="1"/>
              <a:t>автоматично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Тривалість</a:t>
            </a:r>
            <a:r>
              <a:rPr dirty="0"/>
              <a:t>: 5 </a:t>
            </a:r>
            <a:r>
              <a:rPr dirty="0" err="1"/>
              <a:t>хв</a:t>
            </a:r>
            <a:r>
              <a:rPr dirty="0"/>
              <a:t> (10 </a:t>
            </a:r>
            <a:r>
              <a:rPr dirty="0" err="1"/>
              <a:t>хв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Перегляньте </a:t>
            </a:r>
            <a:r>
              <a:rPr dirty="0" err="1"/>
              <a:t>фактично</a:t>
            </a:r>
            <a:r>
              <a:rPr dirty="0"/>
              <a:t> </a:t>
            </a:r>
            <a:r>
              <a:rPr dirty="0" err="1"/>
              <a:t>здане</a:t>
            </a:r>
            <a:r>
              <a:rPr dirty="0"/>
              <a:t> ДЗ заняття 2 про </a:t>
            </a:r>
            <a:r>
              <a:rPr dirty="0" err="1"/>
              <a:t>товари</a:t>
            </a:r>
            <a:r>
              <a:rPr dirty="0"/>
              <a:t>. </a:t>
            </a:r>
            <a:r>
              <a:rPr dirty="0" err="1"/>
              <a:t>Покажіть</a:t>
            </a:r>
            <a:r>
              <a:rPr dirty="0"/>
              <a:t> 1-2 </a:t>
            </a:r>
            <a:r>
              <a:rPr dirty="0" err="1"/>
              <a:t>реальні</a:t>
            </a:r>
            <a:r>
              <a:rPr dirty="0"/>
              <a:t> </a:t>
            </a:r>
            <a:r>
              <a:rPr dirty="0" err="1"/>
              <a:t>сильні</a:t>
            </a:r>
            <a:r>
              <a:rPr dirty="0"/>
              <a:t> </a:t>
            </a:r>
            <a:r>
              <a:rPr dirty="0" err="1"/>
              <a:t>рішення</a:t>
            </a:r>
            <a:r>
              <a:rPr dirty="0"/>
              <a:t> та </a:t>
            </a:r>
            <a:r>
              <a:rPr dirty="0" err="1"/>
              <a:t>одну</a:t>
            </a:r>
            <a:r>
              <a:rPr dirty="0"/>
              <a:t> </a:t>
            </a:r>
            <a:r>
              <a:rPr dirty="0" err="1"/>
              <a:t>помилку</a:t>
            </a:r>
            <a:r>
              <a:rPr dirty="0"/>
              <a:t> </a:t>
            </a:r>
            <a:r>
              <a:rPr dirty="0" err="1"/>
              <a:t>з</a:t>
            </a:r>
            <a:r>
              <a:rPr dirty="0"/>
              <a:t> її </a:t>
            </a:r>
            <a:r>
              <a:rPr dirty="0" err="1"/>
              <a:t>виправленням</a:t>
            </a:r>
            <a:r>
              <a:rPr dirty="0"/>
              <a:t>. Не </a:t>
            </a:r>
            <a:r>
              <a:rPr dirty="0" err="1"/>
              <a:t>приписуйте</a:t>
            </a:r>
            <a:r>
              <a:rPr dirty="0"/>
              <a:t> </a:t>
            </a:r>
            <a:r>
              <a:rPr dirty="0" err="1"/>
              <a:t>групі</a:t>
            </a:r>
            <a:r>
              <a:rPr dirty="0"/>
              <a:t> </a:t>
            </a:r>
            <a:r>
              <a:rPr dirty="0" err="1"/>
              <a:t>помилок</a:t>
            </a:r>
            <a:r>
              <a:rPr dirty="0"/>
              <a:t>, </a:t>
            </a:r>
            <a:r>
              <a:rPr dirty="0" err="1"/>
              <a:t>яких</a:t>
            </a:r>
            <a:r>
              <a:rPr dirty="0"/>
              <a:t> не </a:t>
            </a:r>
            <a:r>
              <a:rPr dirty="0" err="1"/>
              <a:t>бачили</a:t>
            </a:r>
            <a:r>
              <a:rPr dirty="0"/>
              <a:t>. Якщо </a:t>
            </a:r>
            <a:r>
              <a:rPr dirty="0" err="1"/>
              <a:t>робіт</a:t>
            </a:r>
            <a:r>
              <a:rPr dirty="0"/>
              <a:t> </a:t>
            </a:r>
            <a:r>
              <a:rPr dirty="0" err="1"/>
              <a:t>немає</a:t>
            </a:r>
            <a:r>
              <a:rPr dirty="0"/>
              <a:t>, </a:t>
            </a:r>
            <a:r>
              <a:rPr dirty="0" err="1"/>
              <a:t>прямо</a:t>
            </a:r>
            <a:r>
              <a:rPr dirty="0"/>
              <a:t> </a:t>
            </a:r>
            <a:r>
              <a:rPr dirty="0" err="1"/>
              <a:t>назвіть</a:t>
            </a:r>
            <a:r>
              <a:rPr dirty="0"/>
              <a:t> </a:t>
            </a:r>
            <a:r>
              <a:rPr dirty="0" err="1"/>
              <a:t>цей</a:t>
            </a:r>
            <a:r>
              <a:rPr dirty="0"/>
              <a:t> </a:t>
            </a:r>
            <a:r>
              <a:rPr dirty="0" err="1"/>
              <a:t>етап</a:t>
            </a:r>
            <a:r>
              <a:rPr dirty="0"/>
              <a:t> </a:t>
            </a:r>
            <a:r>
              <a:rPr dirty="0" err="1"/>
              <a:t>діагностикою</a:t>
            </a:r>
            <a:r>
              <a:rPr dirty="0"/>
              <a:t>: </a:t>
            </a:r>
            <a:r>
              <a:rPr dirty="0" err="1"/>
              <a:t>запропонуйте</a:t>
            </a:r>
            <a:r>
              <a:rPr dirty="0"/>
              <a:t> </a:t>
            </a:r>
            <a:r>
              <a:rPr dirty="0" err="1"/>
              <a:t>передбачити</a:t>
            </a:r>
            <a:r>
              <a:rPr dirty="0"/>
              <a:t> </a:t>
            </a:r>
            <a:r>
              <a:rPr dirty="0" err="1"/>
              <a:t>результати</a:t>
            </a:r>
            <a:r>
              <a:rPr dirty="0"/>
              <a:t> </a:t>
            </a:r>
            <a:r>
              <a:rPr dirty="0" err="1"/>
              <a:t>двох</a:t>
            </a:r>
            <a:r>
              <a:rPr dirty="0"/>
              <a:t> </a:t>
            </a:r>
            <a:r>
              <a:rPr dirty="0" err="1"/>
              <a:t>лічильників</a:t>
            </a:r>
            <a:r>
              <a:rPr dirty="0"/>
              <a:t>, </a:t>
            </a:r>
            <a:r>
              <a:rPr dirty="0" err="1"/>
              <a:t>створених</a:t>
            </a:r>
            <a:r>
              <a:rPr dirty="0"/>
              <a:t> </a:t>
            </a:r>
            <a:r>
              <a:rPr dirty="0" err="1"/>
              <a:t>окремими</a:t>
            </a:r>
            <a:r>
              <a:rPr dirty="0"/>
              <a:t> </a:t>
            </a:r>
            <a:r>
              <a:rPr dirty="0" err="1"/>
              <a:t>викликами</a:t>
            </a:r>
            <a:r>
              <a:rPr dirty="0"/>
              <a:t> </a:t>
            </a:r>
            <a:r>
              <a:rPr dirty="0" err="1"/>
              <a:t>фабрики</a:t>
            </a:r>
            <a:r>
              <a:rPr dirty="0"/>
              <a:t> </a:t>
            </a:r>
            <a:r>
              <a:rPr dirty="0" err="1"/>
              <a:t>замикань</a:t>
            </a:r>
            <a:r>
              <a:rPr dirty="0"/>
              <a:t>. </a:t>
            </a:r>
            <a:r>
              <a:rPr dirty="0" err="1"/>
              <a:t>Очікуйте</a:t>
            </a:r>
            <a:r>
              <a:rPr dirty="0"/>
              <a:t>: </a:t>
            </a:r>
            <a:r>
              <a:rPr dirty="0" err="1"/>
              <a:t>послідовні</a:t>
            </a:r>
            <a:r>
              <a:rPr dirty="0"/>
              <a:t> </a:t>
            </a:r>
            <a:r>
              <a:rPr dirty="0" err="1"/>
              <a:t>виклики</a:t>
            </a:r>
            <a:r>
              <a:rPr dirty="0"/>
              <a:t> </a:t>
            </a:r>
            <a:r>
              <a:rPr dirty="0" err="1"/>
              <a:t>першого</a:t>
            </a:r>
            <a:r>
              <a:rPr dirty="0"/>
              <a:t> </a:t>
            </a:r>
            <a:r>
              <a:rPr dirty="0" err="1"/>
              <a:t>дають</a:t>
            </a:r>
            <a:r>
              <a:rPr dirty="0"/>
              <a:t> 1 і 2, </a:t>
            </a:r>
            <a:r>
              <a:rPr dirty="0" err="1"/>
              <a:t>перший</a:t>
            </a:r>
            <a:r>
              <a:rPr dirty="0"/>
              <a:t> </a:t>
            </a:r>
            <a:r>
              <a:rPr dirty="0" err="1"/>
              <a:t>виклик</a:t>
            </a:r>
            <a:r>
              <a:rPr dirty="0"/>
              <a:t> </a:t>
            </a:r>
            <a:r>
              <a:rPr dirty="0" err="1"/>
              <a:t>другого</a:t>
            </a:r>
            <a:r>
              <a:rPr dirty="0"/>
              <a:t> </a:t>
            </a:r>
            <a:r>
              <a:rPr dirty="0" err="1"/>
              <a:t>дає</a:t>
            </a:r>
            <a:r>
              <a:rPr dirty="0"/>
              <a:t> 1. Для </a:t>
            </a:r>
            <a:r>
              <a:rPr dirty="0" err="1"/>
              <a:t>зв'язку</a:t>
            </a:r>
            <a:r>
              <a:rPr dirty="0"/>
              <a:t> </a:t>
            </a:r>
            <a:r>
              <a:rPr dirty="0" err="1"/>
              <a:t>із</a:t>
            </a:r>
            <a:r>
              <a:rPr dirty="0"/>
              <a:t> </a:t>
            </a:r>
            <a:r>
              <a:rPr dirty="0" err="1"/>
              <a:t>замиканнями</a:t>
            </a:r>
            <a:r>
              <a:rPr dirty="0"/>
              <a:t> </a:t>
            </a:r>
            <a:r>
              <a:rPr dirty="0" err="1"/>
              <a:t>нагадайте</a:t>
            </a:r>
            <a:r>
              <a:rPr dirty="0"/>
              <a:t> </a:t>
            </a:r>
            <a:r>
              <a:rPr dirty="0" err="1"/>
              <a:t>незалежні</a:t>
            </a:r>
            <a:r>
              <a:rPr dirty="0"/>
              <a:t> </a:t>
            </a:r>
            <a:r>
              <a:rPr dirty="0" err="1"/>
              <a:t>лічильники</a:t>
            </a:r>
            <a:r>
              <a:rPr dirty="0"/>
              <a:t>, </a:t>
            </a:r>
            <a:r>
              <a:rPr dirty="0" err="1"/>
              <a:t>але</a:t>
            </a:r>
            <a:r>
              <a:rPr dirty="0"/>
              <a:t> не </a:t>
            </a:r>
            <a:r>
              <a:rPr dirty="0" err="1"/>
              <a:t>вимагайте</a:t>
            </a:r>
            <a:r>
              <a:rPr dirty="0"/>
              <a:t> </a:t>
            </a:r>
            <a:r>
              <a:rPr dirty="0" err="1"/>
              <a:t>повторної</a:t>
            </a:r>
            <a:r>
              <a:rPr dirty="0"/>
              <a:t> </a:t>
            </a:r>
            <a:r>
              <a:rPr dirty="0" err="1"/>
              <a:t>реалізації</a:t>
            </a:r>
            <a:r>
              <a:rPr dirty="0"/>
              <a:t>. </a:t>
            </a:r>
            <a:r>
              <a:rPr dirty="0" err="1"/>
              <a:t>Персонально</a:t>
            </a:r>
            <a:r>
              <a:rPr dirty="0"/>
              <a:t>: "[</a:t>
            </a:r>
            <a:r>
              <a:rPr dirty="0" err="1"/>
              <a:t>Ім'я</a:t>
            </a:r>
            <a:r>
              <a:rPr dirty="0"/>
              <a:t>], ви </a:t>
            </a:r>
            <a:r>
              <a:rPr dirty="0" err="1"/>
              <a:t>отримали</a:t>
            </a:r>
            <a:r>
              <a:rPr dirty="0"/>
              <a:t> </a:t>
            </a:r>
            <a:r>
              <a:rPr dirty="0" err="1"/>
              <a:t>правильне</a:t>
            </a:r>
            <a:r>
              <a:rPr dirty="0"/>
              <a:t> </a:t>
            </a:r>
            <a:r>
              <a:rPr dirty="0" err="1"/>
              <a:t>значення</a:t>
            </a:r>
            <a:r>
              <a:rPr dirty="0"/>
              <a:t>. Додайте </a:t>
            </a:r>
            <a:r>
              <a:rPr dirty="0" err="1"/>
              <a:t>перевірку</a:t>
            </a:r>
            <a:r>
              <a:rPr dirty="0"/>
              <a:t> </a:t>
            </a:r>
            <a:r>
              <a:rPr dirty="0" err="1"/>
              <a:t>порожнього</a:t>
            </a:r>
            <a:r>
              <a:rPr dirty="0"/>
              <a:t> </a:t>
            </a:r>
            <a:r>
              <a:rPr dirty="0" err="1"/>
              <a:t>набору</a:t>
            </a:r>
            <a:r>
              <a:rPr dirty="0"/>
              <a:t> та </a:t>
            </a:r>
            <a:r>
              <a:rPr dirty="0" err="1"/>
              <a:t>покажіть</a:t>
            </a:r>
            <a:r>
              <a:rPr dirty="0"/>
              <a:t> </a:t>
            </a:r>
            <a:r>
              <a:rPr dirty="0" err="1"/>
              <a:t>повторний</a:t>
            </a:r>
            <a:r>
              <a:rPr dirty="0"/>
              <a:t> </a:t>
            </a:r>
            <a:r>
              <a:rPr dirty="0" err="1"/>
              <a:t>запуск</a:t>
            </a:r>
            <a:r>
              <a:rPr dirty="0"/>
              <a:t>". Підставляйте </a:t>
            </a:r>
            <a:r>
              <a:rPr dirty="0" err="1"/>
              <a:t>справжнє</a:t>
            </a:r>
            <a:r>
              <a:rPr dirty="0"/>
              <a:t> </a:t>
            </a:r>
            <a:r>
              <a:rPr dirty="0" err="1"/>
              <a:t>ім'я</a:t>
            </a:r>
            <a:r>
              <a:rPr dirty="0"/>
              <a:t>. </a:t>
            </a:r>
            <a:r>
              <a:rPr dirty="0" err="1"/>
              <a:t>Тим</a:t>
            </a:r>
            <a:r>
              <a:rPr dirty="0"/>
              <a:t>, </a:t>
            </a:r>
            <a:r>
              <a:rPr dirty="0" err="1"/>
              <a:t>хто</a:t>
            </a:r>
            <a:r>
              <a:rPr dirty="0"/>
              <a:t> не </a:t>
            </a:r>
            <a:r>
              <a:rPr dirty="0" err="1"/>
              <a:t>здав</a:t>
            </a:r>
            <a:r>
              <a:rPr dirty="0"/>
              <a:t>, </a:t>
            </a:r>
            <a:r>
              <a:rPr dirty="0" err="1"/>
              <a:t>дайте</a:t>
            </a:r>
            <a:r>
              <a:rPr dirty="0"/>
              <a:t> </a:t>
            </a:r>
            <a:r>
              <a:rPr dirty="0" err="1"/>
              <a:t>перший</a:t>
            </a:r>
            <a:r>
              <a:rPr dirty="0"/>
              <a:t> </a:t>
            </a:r>
            <a:r>
              <a:rPr dirty="0" err="1"/>
              <a:t>крок</a:t>
            </a:r>
            <a:r>
              <a:rPr dirty="0"/>
              <a:t>: </a:t>
            </a:r>
            <a:r>
              <a:rPr dirty="0" err="1"/>
              <a:t>три</a:t>
            </a:r>
            <a:r>
              <a:rPr dirty="0"/>
              <a:t> </a:t>
            </a:r>
            <a:r>
              <a:rPr dirty="0" err="1"/>
              <a:t>товари</a:t>
            </a:r>
            <a:r>
              <a:rPr dirty="0"/>
              <a:t> та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перевірений</a:t>
            </a:r>
            <a:r>
              <a:rPr dirty="0"/>
              <a:t> </a:t>
            </a:r>
            <a:r>
              <a:rPr dirty="0" err="1"/>
              <a:t>виклик</a:t>
            </a:r>
            <a:r>
              <a:rPr dirty="0"/>
              <a:t>. Завершіть </a:t>
            </a:r>
            <a:r>
              <a:rPr dirty="0" err="1"/>
              <a:t>відмітку</a:t>
            </a:r>
            <a:r>
              <a:rPr dirty="0"/>
              <a:t> </a:t>
            </a:r>
            <a:r>
              <a:rPr dirty="0" err="1"/>
              <a:t>присутніх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Тривалість</a:t>
            </a:r>
            <a:r>
              <a:rPr dirty="0"/>
              <a:t>: 4 </a:t>
            </a:r>
            <a:r>
              <a:rPr dirty="0" err="1"/>
              <a:t>хв</a:t>
            </a:r>
            <a:r>
              <a:rPr dirty="0"/>
              <a:t> (14 </a:t>
            </a:r>
            <a:r>
              <a:rPr dirty="0" err="1"/>
              <a:t>хв</a:t>
            </a:r>
            <a:r>
              <a:rPr dirty="0"/>
              <a:t>)</a:t>
            </a:r>
          </a:p>
          <a:p>
            <a:endParaRPr dirty="0"/>
          </a:p>
          <a:p>
            <a:r>
              <a:rPr dirty="0" err="1"/>
              <a:t>Дайте</a:t>
            </a:r>
            <a:r>
              <a:rPr dirty="0"/>
              <a:t> 20 </a:t>
            </a:r>
            <a:r>
              <a:rPr dirty="0" err="1"/>
              <a:t>секунд</a:t>
            </a:r>
            <a:r>
              <a:rPr dirty="0"/>
              <a:t> на </a:t>
            </a:r>
            <a:r>
              <a:rPr dirty="0" err="1"/>
              <a:t>відповіді</a:t>
            </a:r>
            <a:r>
              <a:rPr dirty="0"/>
              <a:t>. </a:t>
            </a:r>
            <a:r>
              <a:rPr dirty="0" err="1"/>
              <a:t>Зберіть</a:t>
            </a:r>
            <a:r>
              <a:rPr dirty="0"/>
              <a:t> </a:t>
            </a:r>
            <a:r>
              <a:rPr dirty="0" err="1"/>
              <a:t>назви</a:t>
            </a:r>
            <a:r>
              <a:rPr dirty="0"/>
              <a:t> Course, Student, Enrollment </a:t>
            </a:r>
            <a:r>
              <a:rPr dirty="0" err="1"/>
              <a:t>як</a:t>
            </a:r>
            <a:r>
              <a:rPr dirty="0"/>
              <a:t> </a:t>
            </a:r>
            <a:r>
              <a:rPr dirty="0" err="1"/>
              <a:t>можливі</a:t>
            </a:r>
            <a:r>
              <a:rPr dirty="0"/>
              <a:t> </a:t>
            </a:r>
            <a:r>
              <a:rPr dirty="0" err="1"/>
              <a:t>сутності</a:t>
            </a:r>
            <a:r>
              <a:rPr dirty="0"/>
              <a:t>. </a:t>
            </a:r>
            <a:r>
              <a:rPr dirty="0" err="1"/>
              <a:t>Поясніть</a:t>
            </a:r>
            <a:r>
              <a:rPr dirty="0"/>
              <a:t>: </a:t>
            </a:r>
            <a:r>
              <a:rPr dirty="0" err="1"/>
              <a:t>сутність</a:t>
            </a:r>
            <a:r>
              <a:rPr dirty="0"/>
              <a:t> </a:t>
            </a:r>
            <a:r>
              <a:rPr dirty="0" err="1"/>
              <a:t>має</a:t>
            </a:r>
            <a:r>
              <a:rPr dirty="0"/>
              <a:t> </a:t>
            </a:r>
            <a:r>
              <a:rPr dirty="0" err="1"/>
              <a:t>значення</a:t>
            </a:r>
            <a:r>
              <a:rPr dirty="0"/>
              <a:t> для </a:t>
            </a:r>
            <a:r>
              <a:rPr dirty="0" err="1"/>
              <a:t>задачі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не </a:t>
            </a:r>
            <a:r>
              <a:rPr dirty="0" err="1"/>
              <a:t>просто</a:t>
            </a:r>
            <a:r>
              <a:rPr dirty="0"/>
              <a:t> </a:t>
            </a:r>
            <a:r>
              <a:rPr dirty="0" err="1"/>
              <a:t>є</a:t>
            </a:r>
            <a:r>
              <a:rPr dirty="0"/>
              <a:t> </a:t>
            </a:r>
            <a:r>
              <a:rPr dirty="0" err="1"/>
              <a:t>іменником</a:t>
            </a:r>
            <a:r>
              <a:rPr dirty="0"/>
              <a:t> </a:t>
            </a:r>
            <a:r>
              <a:rPr dirty="0" err="1"/>
              <a:t>у</a:t>
            </a:r>
            <a:r>
              <a:rPr dirty="0"/>
              <a:t> </a:t>
            </a:r>
            <a:r>
              <a:rPr dirty="0" err="1"/>
              <a:t>тексті</a:t>
            </a:r>
            <a:r>
              <a:rPr dirty="0"/>
              <a:t>. </a:t>
            </a:r>
            <a:r>
              <a:rPr dirty="0" err="1"/>
              <a:t>Кнопка</a:t>
            </a:r>
            <a:r>
              <a:rPr dirty="0"/>
              <a:t> на </a:t>
            </a:r>
            <a:r>
              <a:rPr dirty="0" err="1"/>
              <a:t>сторінці</a:t>
            </a:r>
            <a:r>
              <a:rPr dirty="0"/>
              <a:t> не </a:t>
            </a:r>
            <a:r>
              <a:rPr dirty="0" err="1"/>
              <a:t>обов'язково</a:t>
            </a:r>
            <a:r>
              <a:rPr dirty="0"/>
              <a:t> </a:t>
            </a:r>
            <a:r>
              <a:rPr dirty="0" err="1"/>
              <a:t>потребує</a:t>
            </a:r>
            <a:r>
              <a:rPr dirty="0"/>
              <a:t> </a:t>
            </a:r>
            <a:r>
              <a:rPr dirty="0" err="1"/>
              <a:t>окремого</a:t>
            </a:r>
            <a:r>
              <a:rPr dirty="0"/>
              <a:t> </a:t>
            </a:r>
            <a:r>
              <a:rPr dirty="0" err="1"/>
              <a:t>класу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цій</a:t>
            </a:r>
            <a:r>
              <a:rPr dirty="0"/>
              <a:t> </a:t>
            </a:r>
            <a:r>
              <a:rPr dirty="0" err="1"/>
              <a:t>моделі</a:t>
            </a:r>
            <a:r>
              <a:rPr dirty="0"/>
              <a:t>. Для </a:t>
            </a:r>
            <a:r>
              <a:rPr dirty="0" err="1"/>
              <a:t>сьогоднішнього</a:t>
            </a:r>
            <a:r>
              <a:rPr dirty="0"/>
              <a:t> </a:t>
            </a:r>
            <a:r>
              <a:rPr dirty="0" err="1"/>
              <a:t>мінімуму</a:t>
            </a:r>
            <a:r>
              <a:rPr dirty="0"/>
              <a:t> </a:t>
            </a:r>
            <a:r>
              <a:rPr dirty="0" err="1"/>
              <a:t>достатньо</a:t>
            </a:r>
            <a:r>
              <a:rPr dirty="0"/>
              <a:t> Course і Student; </a:t>
            </a:r>
            <a:r>
              <a:rPr dirty="0" err="1"/>
              <a:t>окремий</a:t>
            </a:r>
            <a:r>
              <a:rPr dirty="0"/>
              <a:t> Enrollment </a:t>
            </a:r>
            <a:r>
              <a:rPr dirty="0" err="1"/>
              <a:t>знадобиться</a:t>
            </a:r>
            <a:r>
              <a:rPr dirty="0"/>
              <a:t>, </a:t>
            </a:r>
            <a:r>
              <a:rPr dirty="0" err="1"/>
              <a:t>коли</a:t>
            </a:r>
            <a:r>
              <a:rPr dirty="0"/>
              <a:t> </a:t>
            </a:r>
            <a:r>
              <a:rPr dirty="0" err="1"/>
              <a:t>запис</a:t>
            </a:r>
            <a:r>
              <a:rPr dirty="0"/>
              <a:t> </a:t>
            </a:r>
            <a:r>
              <a:rPr dirty="0" err="1"/>
              <a:t>матиме</a:t>
            </a:r>
            <a:r>
              <a:rPr dirty="0"/>
              <a:t> </a:t>
            </a:r>
            <a:r>
              <a:rPr dirty="0" err="1"/>
              <a:t>дату</a:t>
            </a:r>
            <a:r>
              <a:rPr dirty="0"/>
              <a:t> </a:t>
            </a:r>
            <a:r>
              <a:rPr dirty="0" err="1"/>
              <a:t>чи</a:t>
            </a:r>
            <a:r>
              <a:rPr dirty="0"/>
              <a:t> </a:t>
            </a:r>
            <a:r>
              <a:rPr dirty="0" err="1"/>
              <a:t>статус</a:t>
            </a:r>
            <a:r>
              <a:rPr dirty="0"/>
              <a:t>. Не </a:t>
            </a:r>
            <a:r>
              <a:rPr dirty="0" err="1"/>
              <a:t>вводьте</a:t>
            </a:r>
            <a:r>
              <a:rPr dirty="0"/>
              <a:t> </a:t>
            </a:r>
            <a:r>
              <a:rPr dirty="0" err="1"/>
              <a:t>третій</a:t>
            </a:r>
            <a:r>
              <a:rPr dirty="0"/>
              <a:t> </a:t>
            </a:r>
            <a:r>
              <a:rPr dirty="0" err="1"/>
              <a:t>обов'язковий</a:t>
            </a:r>
            <a:r>
              <a:rPr dirty="0"/>
              <a:t> клас.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Тривалість</a:t>
            </a:r>
            <a:r>
              <a:rPr dirty="0"/>
              <a:t>: 4 </a:t>
            </a:r>
            <a:r>
              <a:rPr dirty="0" err="1"/>
              <a:t>хв</a:t>
            </a:r>
            <a:r>
              <a:rPr dirty="0"/>
              <a:t> (18 </a:t>
            </a:r>
            <a:r>
              <a:rPr dirty="0" err="1"/>
              <a:t>хв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Зіставте </a:t>
            </a:r>
            <a:r>
              <a:rPr dirty="0" err="1"/>
              <a:t>стан</a:t>
            </a:r>
            <a:r>
              <a:rPr dirty="0"/>
              <a:t> </a:t>
            </a:r>
            <a:r>
              <a:rPr dirty="0" err="1"/>
              <a:t>курсу</a:t>
            </a:r>
            <a:r>
              <a:rPr dirty="0"/>
              <a:t> до та </a:t>
            </a:r>
            <a:r>
              <a:rPr dirty="0" err="1"/>
              <a:t>після</a:t>
            </a:r>
            <a:r>
              <a:rPr dirty="0"/>
              <a:t> </a:t>
            </a:r>
            <a:r>
              <a:rPr dirty="0" err="1"/>
              <a:t>запису</a:t>
            </a:r>
            <a:r>
              <a:rPr dirty="0"/>
              <a:t>. </a:t>
            </a:r>
            <a:r>
              <a:rPr dirty="0" err="1"/>
              <a:t>Змінюється</a:t>
            </a:r>
            <a:r>
              <a:rPr dirty="0"/>
              <a:t> students, </a:t>
            </a:r>
            <a:r>
              <a:rPr dirty="0" err="1"/>
              <a:t>але</a:t>
            </a:r>
            <a:r>
              <a:rPr dirty="0"/>
              <a:t> не title. Ім'я </a:t>
            </a:r>
            <a:r>
              <a:rPr dirty="0" err="1"/>
              <a:t>конкретного</a:t>
            </a:r>
            <a:r>
              <a:rPr dirty="0"/>
              <a:t> </a:t>
            </a:r>
            <a:r>
              <a:rPr dirty="0" err="1"/>
              <a:t>студента</a:t>
            </a:r>
            <a:r>
              <a:rPr dirty="0"/>
              <a:t> </a:t>
            </a:r>
            <a:r>
              <a:rPr dirty="0" err="1"/>
              <a:t>є</a:t>
            </a:r>
            <a:r>
              <a:rPr dirty="0"/>
              <a:t> </a:t>
            </a:r>
            <a:r>
              <a:rPr dirty="0" err="1"/>
              <a:t>значенням</a:t>
            </a:r>
            <a:r>
              <a:rPr dirty="0"/>
              <a:t>, Student </a:t>
            </a:r>
            <a:r>
              <a:rPr dirty="0" err="1"/>
              <a:t>є</a:t>
            </a:r>
            <a:r>
              <a:rPr dirty="0"/>
              <a:t> </a:t>
            </a:r>
            <a:r>
              <a:rPr dirty="0" err="1"/>
              <a:t>назвою</a:t>
            </a:r>
            <a:r>
              <a:rPr dirty="0"/>
              <a:t> </a:t>
            </a:r>
            <a:r>
              <a:rPr dirty="0" err="1"/>
              <a:t>типу</a:t>
            </a:r>
            <a:r>
              <a:rPr dirty="0"/>
              <a:t> </a:t>
            </a:r>
            <a:r>
              <a:rPr dirty="0" err="1"/>
              <a:t>майбутніх</a:t>
            </a:r>
            <a:r>
              <a:rPr dirty="0"/>
              <a:t> </a:t>
            </a:r>
            <a:r>
              <a:rPr dirty="0" err="1"/>
              <a:t>об'єктів</a:t>
            </a:r>
            <a:r>
              <a:rPr dirty="0"/>
              <a:t>. </a:t>
            </a:r>
            <a:r>
              <a:rPr dirty="0" err="1"/>
              <a:t>Запитайте</a:t>
            </a:r>
            <a:r>
              <a:rPr dirty="0"/>
              <a:t>, </a:t>
            </a:r>
            <a:r>
              <a:rPr dirty="0" err="1"/>
              <a:t>який</a:t>
            </a:r>
            <a:r>
              <a:rPr dirty="0"/>
              <a:t> </a:t>
            </a:r>
            <a:r>
              <a:rPr dirty="0" err="1"/>
              <a:t>метод</a:t>
            </a:r>
            <a:r>
              <a:rPr dirty="0"/>
              <a:t> </a:t>
            </a:r>
            <a:r>
              <a:rPr dirty="0" err="1"/>
              <a:t>лише</a:t>
            </a:r>
            <a:r>
              <a:rPr dirty="0"/>
              <a:t> </a:t>
            </a:r>
            <a:r>
              <a:rPr dirty="0" err="1"/>
              <a:t>повертає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який</a:t>
            </a:r>
            <a:r>
              <a:rPr dirty="0"/>
              <a:t> </a:t>
            </a:r>
            <a:r>
              <a:rPr dirty="0" err="1"/>
              <a:t>змінює</a:t>
            </a:r>
            <a:r>
              <a:rPr dirty="0"/>
              <a:t> </a:t>
            </a:r>
            <a:r>
              <a:rPr dirty="0" err="1"/>
              <a:t>стан</a:t>
            </a:r>
            <a:r>
              <a:rPr dirty="0"/>
              <a:t>. </a:t>
            </a:r>
            <a:r>
              <a:rPr dirty="0" err="1"/>
              <a:t>Очікуйте</a:t>
            </a:r>
            <a:r>
              <a:rPr dirty="0"/>
              <a:t>: </a:t>
            </a:r>
            <a:r>
              <a:rPr dirty="0" err="1"/>
              <a:t>student_count</a:t>
            </a:r>
            <a:r>
              <a:rPr dirty="0"/>
              <a:t> </a:t>
            </a:r>
            <a:r>
              <a:rPr dirty="0" err="1"/>
              <a:t>повертає</a:t>
            </a:r>
            <a:r>
              <a:rPr dirty="0"/>
              <a:t> </a:t>
            </a:r>
            <a:r>
              <a:rPr dirty="0" err="1"/>
              <a:t>кількість</a:t>
            </a:r>
            <a:r>
              <a:rPr dirty="0"/>
              <a:t>, enroll </a:t>
            </a:r>
            <a:r>
              <a:rPr dirty="0" err="1"/>
              <a:t>змінює</a:t>
            </a:r>
            <a:r>
              <a:rPr dirty="0"/>
              <a:t> </a:t>
            </a:r>
            <a:r>
              <a:rPr dirty="0" err="1"/>
              <a:t>склад</a:t>
            </a:r>
            <a:r>
              <a:rPr dirty="0"/>
              <a:t>. Попросіть </a:t>
            </a:r>
            <a:r>
              <a:rPr dirty="0" err="1"/>
              <a:t>запропонувати</a:t>
            </a:r>
            <a:r>
              <a:rPr dirty="0"/>
              <a:t> </a:t>
            </a:r>
            <a:r>
              <a:rPr dirty="0" err="1"/>
              <a:t>аналог</a:t>
            </a:r>
            <a:r>
              <a:rPr dirty="0"/>
              <a:t> для </a:t>
            </a:r>
            <a:r>
              <a:rPr dirty="0" err="1"/>
              <a:t>бібліотеки</a:t>
            </a:r>
            <a:r>
              <a:rPr dirty="0"/>
              <a:t>: Book і Reader. Не </a:t>
            </a:r>
            <a:r>
              <a:rPr dirty="0" err="1"/>
              <a:t>розвивайте</a:t>
            </a:r>
            <a:r>
              <a:rPr dirty="0"/>
              <a:t> </a:t>
            </a:r>
            <a:r>
              <a:rPr dirty="0" err="1"/>
              <a:t>другу</a:t>
            </a:r>
            <a:r>
              <a:rPr dirty="0"/>
              <a:t> </a:t>
            </a:r>
            <a:r>
              <a:rPr dirty="0" err="1"/>
              <a:t>модель</a:t>
            </a:r>
            <a:r>
              <a:rPr dirty="0"/>
              <a:t> </a:t>
            </a:r>
            <a:r>
              <a:rPr dirty="0" err="1"/>
              <a:t>у</a:t>
            </a:r>
            <a:r>
              <a:rPr dirty="0"/>
              <a:t> </a:t>
            </a:r>
            <a:r>
              <a:rPr dirty="0" err="1"/>
              <a:t>коді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Тривалість</a:t>
            </a:r>
            <a:r>
              <a:rPr dirty="0"/>
              <a:t>: 3 </a:t>
            </a:r>
            <a:r>
              <a:rPr dirty="0" err="1"/>
              <a:t>хв</a:t>
            </a:r>
            <a:r>
              <a:rPr dirty="0"/>
              <a:t> (21 </a:t>
            </a:r>
            <a:r>
              <a:rPr dirty="0" err="1"/>
              <a:t>хв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На </a:t>
            </a:r>
            <a:r>
              <a:rPr dirty="0" err="1"/>
              <a:t>спільному</a:t>
            </a:r>
            <a:r>
              <a:rPr dirty="0"/>
              <a:t> </a:t>
            </a:r>
            <a:r>
              <a:rPr dirty="0" err="1"/>
              <a:t>екрані</a:t>
            </a:r>
            <a:r>
              <a:rPr dirty="0"/>
              <a:t> </a:t>
            </a:r>
            <a:r>
              <a:rPr dirty="0" err="1"/>
              <a:t>запишіть</a:t>
            </a:r>
            <a:r>
              <a:rPr dirty="0"/>
              <a:t> </a:t>
            </a:r>
            <a:r>
              <a:rPr dirty="0" err="1"/>
              <a:t>таблицю</a:t>
            </a:r>
            <a:r>
              <a:rPr dirty="0"/>
              <a:t> "</a:t>
            </a:r>
            <a:r>
              <a:rPr dirty="0" err="1"/>
              <a:t>об'єкт</a:t>
            </a:r>
            <a:r>
              <a:rPr dirty="0"/>
              <a:t>, </a:t>
            </a:r>
            <a:r>
              <a:rPr dirty="0" err="1"/>
              <a:t>початкові</a:t>
            </a:r>
            <a:r>
              <a:rPr dirty="0"/>
              <a:t> дані, </a:t>
            </a:r>
            <a:r>
              <a:rPr dirty="0" err="1"/>
              <a:t>дія</a:t>
            </a:r>
            <a:r>
              <a:rPr dirty="0"/>
              <a:t>, </a:t>
            </a:r>
            <a:r>
              <a:rPr dirty="0" err="1"/>
              <a:t>результат</a:t>
            </a:r>
            <a:r>
              <a:rPr dirty="0"/>
              <a:t>". Нехай </a:t>
            </a:r>
            <a:r>
              <a:rPr dirty="0" err="1"/>
              <a:t>студенти</a:t>
            </a:r>
            <a:r>
              <a:rPr dirty="0"/>
              <a:t> </a:t>
            </a:r>
            <a:r>
              <a:rPr dirty="0" err="1"/>
              <a:t>називають</a:t>
            </a:r>
            <a:r>
              <a:rPr dirty="0"/>
              <a:t> </a:t>
            </a:r>
            <a:r>
              <a:rPr dirty="0" err="1"/>
              <a:t>значення</a:t>
            </a:r>
            <a:r>
              <a:rPr dirty="0"/>
              <a:t> для </a:t>
            </a:r>
            <a:r>
              <a:rPr dirty="0" err="1"/>
              <a:t>кожної</a:t>
            </a:r>
            <a:r>
              <a:rPr dirty="0"/>
              <a:t> </a:t>
            </a:r>
            <a:r>
              <a:rPr dirty="0" err="1"/>
              <a:t>колонки</a:t>
            </a:r>
            <a:r>
              <a:rPr dirty="0"/>
              <a:t>. </a:t>
            </a:r>
            <a:r>
              <a:rPr dirty="0" err="1"/>
              <a:t>Поясніть</a:t>
            </a:r>
            <a:r>
              <a:rPr dirty="0"/>
              <a:t>, що </a:t>
            </a:r>
            <a:r>
              <a:rPr dirty="0" err="1"/>
              <a:t>поведінка</a:t>
            </a:r>
            <a:r>
              <a:rPr dirty="0"/>
              <a:t> </a:t>
            </a:r>
            <a:r>
              <a:rPr dirty="0" err="1"/>
              <a:t>потрібна</a:t>
            </a:r>
            <a:r>
              <a:rPr dirty="0"/>
              <a:t> для </a:t>
            </a:r>
            <a:r>
              <a:rPr dirty="0" err="1"/>
              <a:t>сценарію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не для </a:t>
            </a:r>
            <a:r>
              <a:rPr dirty="0" err="1"/>
              <a:t>заповнення</a:t>
            </a:r>
            <a:r>
              <a:rPr dirty="0"/>
              <a:t> </a:t>
            </a:r>
            <a:r>
              <a:rPr dirty="0" err="1"/>
              <a:t>класу</a:t>
            </a:r>
            <a:r>
              <a:rPr dirty="0"/>
              <a:t> </a:t>
            </a:r>
            <a:r>
              <a:rPr dirty="0" err="1"/>
              <a:t>методами</a:t>
            </a:r>
            <a:r>
              <a:rPr dirty="0"/>
              <a:t>. Визначте </a:t>
            </a:r>
            <a:r>
              <a:rPr dirty="0" err="1"/>
              <a:t>політику</a:t>
            </a:r>
            <a:r>
              <a:rPr dirty="0"/>
              <a:t> </a:t>
            </a:r>
            <a:r>
              <a:rPr dirty="0" err="1"/>
              <a:t>повторного</a:t>
            </a:r>
            <a:r>
              <a:rPr dirty="0"/>
              <a:t> </a:t>
            </a:r>
            <a:r>
              <a:rPr dirty="0" err="1"/>
              <a:t>запису</a:t>
            </a:r>
            <a:r>
              <a:rPr dirty="0"/>
              <a:t>: </a:t>
            </a:r>
            <a:r>
              <a:rPr dirty="0" err="1"/>
              <a:t>той</a:t>
            </a:r>
            <a:r>
              <a:rPr dirty="0"/>
              <a:t> </a:t>
            </a:r>
            <a:r>
              <a:rPr dirty="0" err="1"/>
              <a:t>самий</a:t>
            </a:r>
            <a:r>
              <a:rPr dirty="0"/>
              <a:t> </a:t>
            </a:r>
            <a:r>
              <a:rPr dirty="0" err="1"/>
              <a:t>об'єкт</a:t>
            </a:r>
            <a:r>
              <a:rPr dirty="0"/>
              <a:t> </a:t>
            </a:r>
            <a:r>
              <a:rPr dirty="0" err="1"/>
              <a:t>студента</a:t>
            </a:r>
            <a:r>
              <a:rPr dirty="0"/>
              <a:t> не </a:t>
            </a:r>
            <a:r>
              <a:rPr dirty="0" err="1"/>
              <a:t>додається</a:t>
            </a:r>
            <a:r>
              <a:rPr dirty="0"/>
              <a:t> </a:t>
            </a:r>
            <a:r>
              <a:rPr dirty="0" err="1"/>
              <a:t>вдруге</a:t>
            </a:r>
            <a:r>
              <a:rPr dirty="0"/>
              <a:t>. На </a:t>
            </a:r>
            <a:r>
              <a:rPr dirty="0" err="1"/>
              <a:t>цьому</a:t>
            </a:r>
            <a:r>
              <a:rPr dirty="0"/>
              <a:t> </a:t>
            </a:r>
            <a:r>
              <a:rPr dirty="0" err="1"/>
              <a:t>етапі</a:t>
            </a:r>
            <a:r>
              <a:rPr dirty="0"/>
              <a:t> </a:t>
            </a:r>
            <a:r>
              <a:rPr dirty="0" err="1"/>
              <a:t>це</a:t>
            </a:r>
            <a:r>
              <a:rPr dirty="0"/>
              <a:t> </a:t>
            </a:r>
            <a:r>
              <a:rPr dirty="0" err="1"/>
              <a:t>правило</a:t>
            </a:r>
            <a:r>
              <a:rPr dirty="0"/>
              <a:t> словами; </a:t>
            </a:r>
            <a:r>
              <a:rPr dirty="0" err="1"/>
              <a:t>код</a:t>
            </a:r>
            <a:r>
              <a:rPr dirty="0"/>
              <a:t> </a:t>
            </a:r>
            <a:r>
              <a:rPr dirty="0" err="1"/>
              <a:t>буде</a:t>
            </a:r>
            <a:r>
              <a:rPr dirty="0"/>
              <a:t> </a:t>
            </a:r>
            <a:r>
              <a:rPr dirty="0" err="1"/>
              <a:t>у</a:t>
            </a:r>
            <a:r>
              <a:rPr dirty="0"/>
              <a:t> </a:t>
            </a:r>
            <a:r>
              <a:rPr dirty="0" err="1"/>
              <a:t>другій</a:t>
            </a:r>
            <a:r>
              <a:rPr dirty="0"/>
              <a:t> </a:t>
            </a:r>
            <a:r>
              <a:rPr dirty="0" err="1"/>
              <a:t>парі</a:t>
            </a:r>
            <a:r>
              <a:rPr dirty="0"/>
              <a:t>. Підкресліть: </a:t>
            </a:r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окремі</a:t>
            </a:r>
            <a:r>
              <a:rPr dirty="0"/>
              <a:t> Student </a:t>
            </a:r>
            <a:r>
              <a:rPr dirty="0" err="1"/>
              <a:t>з</a:t>
            </a:r>
            <a:r>
              <a:rPr dirty="0"/>
              <a:t> </a:t>
            </a:r>
            <a:r>
              <a:rPr dirty="0" err="1"/>
              <a:t>однаковим</a:t>
            </a:r>
            <a:r>
              <a:rPr dirty="0"/>
              <a:t> email </a:t>
            </a:r>
            <a:r>
              <a:rPr dirty="0" err="1"/>
              <a:t>поки</a:t>
            </a:r>
            <a:r>
              <a:rPr dirty="0"/>
              <a:t> не </a:t>
            </a:r>
            <a:r>
              <a:rPr dirty="0" err="1"/>
              <a:t>вважаються</a:t>
            </a:r>
            <a:r>
              <a:rPr dirty="0"/>
              <a:t> </a:t>
            </a:r>
            <a:r>
              <a:rPr dirty="0" err="1"/>
              <a:t>одним</a:t>
            </a:r>
            <a:r>
              <a:rPr dirty="0"/>
              <a:t> </a:t>
            </a:r>
            <a:r>
              <a:rPr dirty="0" err="1"/>
              <a:t>студентом</a:t>
            </a:r>
            <a:r>
              <a:rPr dirty="0"/>
              <a:t> </a:t>
            </a:r>
            <a:r>
              <a:rPr dirty="0" err="1"/>
              <a:t>автоматично</a:t>
            </a:r>
            <a:r>
              <a:rPr dirty="0"/>
              <a:t>. </a:t>
            </a:r>
            <a:r>
              <a:rPr dirty="0" err="1"/>
              <a:t>Це</a:t>
            </a:r>
            <a:r>
              <a:rPr dirty="0"/>
              <a:t> </a:t>
            </a:r>
            <a:r>
              <a:rPr dirty="0" err="1"/>
              <a:t>межа</a:t>
            </a:r>
            <a:r>
              <a:rPr dirty="0"/>
              <a:t> </a:t>
            </a:r>
            <a:r>
              <a:rPr dirty="0" err="1"/>
              <a:t>навчальної</a:t>
            </a:r>
            <a:r>
              <a:rPr dirty="0"/>
              <a:t> </a:t>
            </a:r>
            <a:r>
              <a:rPr dirty="0" err="1"/>
              <a:t>моделі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Тривалість</a:t>
            </a:r>
            <a:r>
              <a:rPr dirty="0"/>
              <a:t>: 4 </a:t>
            </a:r>
            <a:r>
              <a:rPr dirty="0" err="1"/>
              <a:t>хв</a:t>
            </a:r>
            <a:r>
              <a:rPr dirty="0"/>
              <a:t> (25 </a:t>
            </a:r>
            <a:r>
              <a:rPr dirty="0" err="1"/>
              <a:t>хв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Порівняйте клас </a:t>
            </a:r>
            <a:r>
              <a:rPr dirty="0" err="1"/>
              <a:t>із</a:t>
            </a:r>
            <a:r>
              <a:rPr dirty="0"/>
              <a:t> </a:t>
            </a:r>
            <a:r>
              <a:rPr dirty="0" err="1"/>
              <a:t>формою</a:t>
            </a:r>
            <a:r>
              <a:rPr dirty="0"/>
              <a:t> </a:t>
            </a:r>
            <a:r>
              <a:rPr dirty="0" err="1"/>
              <a:t>картки</a:t>
            </a:r>
            <a:r>
              <a:rPr dirty="0"/>
              <a:t> </a:t>
            </a:r>
            <a:r>
              <a:rPr dirty="0" err="1"/>
              <a:t>курсу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екземпляри</a:t>
            </a:r>
            <a:r>
              <a:rPr dirty="0"/>
              <a:t> </a:t>
            </a:r>
            <a:r>
              <a:rPr dirty="0" err="1"/>
              <a:t>з</a:t>
            </a:r>
            <a:r>
              <a:rPr dirty="0"/>
              <a:t> </a:t>
            </a:r>
            <a:r>
              <a:rPr dirty="0" err="1"/>
              <a:t>двома</a:t>
            </a:r>
            <a:r>
              <a:rPr dirty="0"/>
              <a:t> </a:t>
            </a:r>
            <a:r>
              <a:rPr dirty="0" err="1"/>
              <a:t>заповненими</a:t>
            </a:r>
            <a:r>
              <a:rPr dirty="0"/>
              <a:t> </a:t>
            </a:r>
            <a:r>
              <a:rPr dirty="0" err="1"/>
              <a:t>картками</a:t>
            </a:r>
            <a:r>
              <a:rPr dirty="0"/>
              <a:t>. Одразу </a:t>
            </a:r>
            <a:r>
              <a:rPr dirty="0" err="1"/>
              <a:t>уточніть</a:t>
            </a:r>
            <a:r>
              <a:rPr dirty="0"/>
              <a:t> </a:t>
            </a:r>
            <a:r>
              <a:rPr dirty="0" err="1"/>
              <a:t>межу</a:t>
            </a:r>
            <a:r>
              <a:rPr dirty="0"/>
              <a:t> </a:t>
            </a:r>
            <a:r>
              <a:rPr dirty="0" err="1"/>
              <a:t>аналогії</a:t>
            </a:r>
            <a:r>
              <a:rPr dirty="0"/>
              <a:t>: </a:t>
            </a:r>
            <a:r>
              <a:rPr dirty="0" err="1"/>
              <a:t>об'єкти</a:t>
            </a:r>
            <a:r>
              <a:rPr dirty="0"/>
              <a:t> </a:t>
            </a:r>
            <a:r>
              <a:rPr dirty="0" err="1"/>
              <a:t>також</a:t>
            </a:r>
            <a:r>
              <a:rPr dirty="0"/>
              <a:t> </a:t>
            </a:r>
            <a:r>
              <a:rPr dirty="0" err="1"/>
              <a:t>виконують</a:t>
            </a:r>
            <a:r>
              <a:rPr dirty="0"/>
              <a:t> методи. </a:t>
            </a:r>
            <a:r>
              <a:rPr dirty="0" err="1"/>
              <a:t>Запитайте</a:t>
            </a:r>
            <a:r>
              <a:rPr dirty="0"/>
              <a:t>, </a:t>
            </a:r>
            <a:r>
              <a:rPr dirty="0" err="1"/>
              <a:t>чи</a:t>
            </a:r>
            <a:r>
              <a:rPr dirty="0"/>
              <a:t> </a:t>
            </a:r>
            <a:r>
              <a:rPr dirty="0" err="1"/>
              <a:t>назва</a:t>
            </a:r>
            <a:r>
              <a:rPr dirty="0"/>
              <a:t> Python </a:t>
            </a:r>
            <a:r>
              <a:rPr dirty="0" err="1"/>
              <a:t>є</a:t>
            </a:r>
            <a:r>
              <a:rPr dirty="0"/>
              <a:t> </a:t>
            </a:r>
            <a:r>
              <a:rPr dirty="0" err="1"/>
              <a:t>назвою</a:t>
            </a:r>
            <a:r>
              <a:rPr dirty="0"/>
              <a:t> </a:t>
            </a:r>
            <a:r>
              <a:rPr dirty="0" err="1"/>
              <a:t>класу</a:t>
            </a:r>
            <a:r>
              <a:rPr dirty="0"/>
              <a:t>. </a:t>
            </a:r>
            <a:r>
              <a:rPr dirty="0" err="1"/>
              <a:t>Очікуйте</a:t>
            </a:r>
            <a:r>
              <a:rPr dirty="0"/>
              <a:t>: </a:t>
            </a:r>
            <a:r>
              <a:rPr dirty="0" err="1"/>
              <a:t>ні</a:t>
            </a:r>
            <a:r>
              <a:rPr dirty="0"/>
              <a:t>, </a:t>
            </a:r>
            <a:r>
              <a:rPr dirty="0" err="1"/>
              <a:t>це</a:t>
            </a:r>
            <a:r>
              <a:rPr dirty="0"/>
              <a:t> </a:t>
            </a:r>
            <a:r>
              <a:rPr dirty="0" err="1"/>
              <a:t>значення</a:t>
            </a:r>
            <a:r>
              <a:rPr dirty="0"/>
              <a:t> </a:t>
            </a:r>
            <a:r>
              <a:rPr dirty="0" err="1"/>
              <a:t>атрибута</a:t>
            </a:r>
            <a:r>
              <a:rPr dirty="0"/>
              <a:t> </a:t>
            </a:r>
            <a:r>
              <a:rPr dirty="0" err="1"/>
              <a:t>конкретного</a:t>
            </a:r>
            <a:r>
              <a:rPr dirty="0"/>
              <a:t> Course. Не </a:t>
            </a:r>
            <a:r>
              <a:rPr dirty="0" err="1"/>
              <a:t>використовуйте</a:t>
            </a:r>
            <a:r>
              <a:rPr dirty="0"/>
              <a:t> </a:t>
            </a:r>
            <a:r>
              <a:rPr dirty="0" err="1"/>
              <a:t>абстрактні</a:t>
            </a:r>
            <a:r>
              <a:rPr dirty="0"/>
              <a:t> </a:t>
            </a:r>
            <a:r>
              <a:rPr dirty="0" err="1"/>
              <a:t>ієрархії</a:t>
            </a:r>
            <a:r>
              <a:rPr dirty="0"/>
              <a:t> </a:t>
            </a:r>
            <a:r>
              <a:rPr dirty="0" err="1"/>
              <a:t>чи</a:t>
            </a:r>
            <a:r>
              <a:rPr dirty="0"/>
              <a:t> </a:t>
            </a:r>
            <a:r>
              <a:rPr dirty="0" err="1"/>
              <a:t>успадкування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Тривалість</a:t>
            </a:r>
            <a:r>
              <a:rPr dirty="0"/>
              <a:t>: 8 </a:t>
            </a:r>
            <a:r>
              <a:rPr dirty="0" err="1"/>
              <a:t>хв</a:t>
            </a:r>
            <a:r>
              <a:rPr dirty="0"/>
              <a:t> (33 </a:t>
            </a:r>
            <a:r>
              <a:rPr dirty="0" err="1"/>
              <a:t>хв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К3: </a:t>
            </a:r>
            <a:r>
              <a:rPr dirty="0" err="1"/>
              <a:t>кожен</a:t>
            </a:r>
            <a:r>
              <a:rPr dirty="0"/>
              <a:t> </a:t>
            </a:r>
            <a:r>
              <a:rPr dirty="0" err="1"/>
              <a:t>надсилає</a:t>
            </a:r>
            <a:r>
              <a:rPr dirty="0"/>
              <a:t> </a:t>
            </a:r>
            <a:r>
              <a:rPr dirty="0" err="1"/>
              <a:t>model.py</a:t>
            </a:r>
            <a:r>
              <a:rPr dirty="0"/>
              <a:t> і </a:t>
            </a:r>
            <a:r>
              <a:rPr dirty="0" err="1"/>
              <a:t>вивід</a:t>
            </a:r>
            <a:r>
              <a:rPr dirty="0"/>
              <a:t>. Викладач </a:t>
            </a:r>
            <a:r>
              <a:rPr dirty="0" err="1"/>
              <a:t>перевіряє</a:t>
            </a:r>
            <a:r>
              <a:rPr dirty="0"/>
              <a:t> створення </a:t>
            </a:r>
            <a:r>
              <a:rPr dirty="0" err="1"/>
              <a:t>двох</a:t>
            </a:r>
            <a:r>
              <a:rPr dirty="0"/>
              <a:t> </a:t>
            </a:r>
            <a:r>
              <a:rPr dirty="0" err="1"/>
              <a:t>екземплярів</a:t>
            </a:r>
            <a:r>
              <a:rPr dirty="0"/>
              <a:t> та </a:t>
            </a:r>
            <a:r>
              <a:rPr dirty="0" err="1"/>
              <a:t>збереження</a:t>
            </a:r>
            <a:r>
              <a:rPr dirty="0"/>
              <a:t> title.</a:t>
            </a:r>
          </a:p>
          <a:p>
            <a:endParaRPr dirty="0"/>
          </a:p>
          <a:p>
            <a:r>
              <a:rPr dirty="0"/>
              <a:t>Перед </a:t>
            </a:r>
            <a:r>
              <a:rPr dirty="0" err="1"/>
              <a:t>набором</a:t>
            </a:r>
            <a:r>
              <a:rPr dirty="0"/>
              <a:t> </a:t>
            </a:r>
            <a:r>
              <a:rPr dirty="0" err="1"/>
              <a:t>попросіть</a:t>
            </a:r>
            <a:r>
              <a:rPr dirty="0"/>
              <a:t> </a:t>
            </a:r>
            <a:r>
              <a:rPr dirty="0" err="1"/>
              <a:t>знайти</a:t>
            </a:r>
            <a:r>
              <a:rPr dirty="0"/>
              <a:t> </a:t>
            </a:r>
            <a:r>
              <a:rPr dirty="0" err="1"/>
              <a:t>відомі</a:t>
            </a:r>
            <a:r>
              <a:rPr dirty="0"/>
              <a:t> def і </a:t>
            </a:r>
            <a:r>
              <a:rPr dirty="0" err="1"/>
              <a:t>параметр</a:t>
            </a:r>
            <a:r>
              <a:rPr dirty="0"/>
              <a:t> title. </a:t>
            </a:r>
            <a:r>
              <a:rPr dirty="0" err="1"/>
              <a:t>Поясніть</a:t>
            </a:r>
            <a:r>
              <a:rPr dirty="0"/>
              <a:t> class та </a:t>
            </a:r>
            <a:r>
              <a:rPr dirty="0" err="1"/>
              <a:t>запис</a:t>
            </a:r>
            <a:r>
              <a:rPr dirty="0"/>
              <a:t> </a:t>
            </a:r>
            <a:r>
              <a:rPr dirty="0" err="1"/>
              <a:t>доступу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крапку</a:t>
            </a:r>
            <a:r>
              <a:rPr dirty="0"/>
              <a:t>. __init__ </a:t>
            </a:r>
            <a:r>
              <a:rPr dirty="0" err="1"/>
              <a:t>автоматично</a:t>
            </a:r>
            <a:r>
              <a:rPr dirty="0"/>
              <a:t> </a:t>
            </a:r>
            <a:r>
              <a:rPr dirty="0" err="1"/>
              <a:t>ініціалізує</a:t>
            </a:r>
            <a:r>
              <a:rPr dirty="0"/>
              <a:t> </a:t>
            </a:r>
            <a:r>
              <a:rPr dirty="0" err="1"/>
              <a:t>вже</a:t>
            </a:r>
            <a:r>
              <a:rPr dirty="0"/>
              <a:t> </a:t>
            </a:r>
            <a:r>
              <a:rPr dirty="0" err="1"/>
              <a:t>створюваний</a:t>
            </a:r>
            <a:r>
              <a:rPr dirty="0"/>
              <a:t> </a:t>
            </a:r>
            <a:r>
              <a:rPr dirty="0" err="1"/>
              <a:t>екземпляр</a:t>
            </a:r>
            <a:r>
              <a:rPr dirty="0"/>
              <a:t>; </a:t>
            </a:r>
            <a:r>
              <a:rPr dirty="0" err="1"/>
              <a:t>точніше</a:t>
            </a:r>
            <a:r>
              <a:rPr dirty="0"/>
              <a:t>, </a:t>
            </a:r>
            <a:r>
              <a:rPr dirty="0" err="1"/>
              <a:t>це</a:t>
            </a:r>
            <a:r>
              <a:rPr dirty="0"/>
              <a:t> </a:t>
            </a:r>
            <a:r>
              <a:rPr dirty="0" err="1"/>
              <a:t>ініціалізатор</a:t>
            </a:r>
            <a:r>
              <a:rPr dirty="0"/>
              <a:t>, </a:t>
            </a:r>
            <a:r>
              <a:rPr dirty="0" err="1"/>
              <a:t>хоча</a:t>
            </a:r>
            <a:r>
              <a:rPr dirty="0"/>
              <a:t> </a:t>
            </a:r>
            <a:r>
              <a:rPr dirty="0" err="1"/>
              <a:t>у</a:t>
            </a:r>
            <a:r>
              <a:rPr dirty="0"/>
              <a:t> </a:t>
            </a:r>
            <a:r>
              <a:rPr dirty="0" err="1"/>
              <a:t>вступних</a:t>
            </a:r>
            <a:r>
              <a:rPr dirty="0"/>
              <a:t> </a:t>
            </a:r>
            <a:r>
              <a:rPr dirty="0" err="1"/>
              <a:t>матеріалах</a:t>
            </a:r>
            <a:r>
              <a:rPr dirty="0"/>
              <a:t> </a:t>
            </a:r>
            <a:r>
              <a:rPr dirty="0" err="1"/>
              <a:t>його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називають</a:t>
            </a:r>
            <a:r>
              <a:rPr dirty="0"/>
              <a:t> </a:t>
            </a:r>
            <a:r>
              <a:rPr dirty="0" err="1"/>
              <a:t>конструктором</a:t>
            </a:r>
            <a:r>
              <a:rPr dirty="0"/>
              <a:t>. Не </a:t>
            </a:r>
            <a:r>
              <a:rPr dirty="0" err="1"/>
              <a:t>повертайте</a:t>
            </a:r>
            <a:r>
              <a:rPr dirty="0"/>
              <a:t> </a:t>
            </a:r>
            <a:r>
              <a:rPr dirty="0" err="1"/>
              <a:t>з</a:t>
            </a:r>
            <a:r>
              <a:rPr dirty="0"/>
              <a:t> </a:t>
            </a:r>
            <a:r>
              <a:rPr dirty="0" err="1"/>
              <a:t>нього</a:t>
            </a:r>
            <a:r>
              <a:rPr dirty="0"/>
              <a:t> </a:t>
            </a:r>
            <a:r>
              <a:rPr dirty="0" err="1"/>
              <a:t>створений</a:t>
            </a:r>
            <a:r>
              <a:rPr dirty="0"/>
              <a:t> </a:t>
            </a:r>
            <a:r>
              <a:rPr dirty="0" err="1"/>
              <a:t>об'єкт</a:t>
            </a:r>
            <a:r>
              <a:rPr dirty="0"/>
              <a:t>. </a:t>
            </a:r>
            <a:r>
              <a:rPr dirty="0" err="1"/>
              <a:t>Значення</a:t>
            </a:r>
            <a:r>
              <a:rPr dirty="0"/>
              <a:t> title </a:t>
            </a:r>
            <a:r>
              <a:rPr dirty="0" err="1"/>
              <a:t>праворуч</a:t>
            </a:r>
            <a:r>
              <a:rPr dirty="0"/>
              <a:t> </a:t>
            </a:r>
            <a:r>
              <a:rPr dirty="0" err="1"/>
              <a:t>є</a:t>
            </a:r>
            <a:r>
              <a:rPr dirty="0"/>
              <a:t> </a:t>
            </a:r>
            <a:r>
              <a:rPr dirty="0" err="1"/>
              <a:t>параметром</a:t>
            </a:r>
            <a:r>
              <a:rPr dirty="0"/>
              <a:t>, </a:t>
            </a:r>
            <a:r>
              <a:rPr dirty="0" err="1"/>
              <a:t>self.title</a:t>
            </a:r>
            <a:r>
              <a:rPr dirty="0"/>
              <a:t> </a:t>
            </a:r>
            <a:r>
              <a:rPr dirty="0" err="1"/>
              <a:t>ліворуч</a:t>
            </a:r>
            <a:r>
              <a:rPr dirty="0"/>
              <a:t> </a:t>
            </a:r>
            <a:r>
              <a:rPr dirty="0" err="1"/>
              <a:t>зберігається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екземплярі</a:t>
            </a:r>
            <a:r>
              <a:rPr dirty="0"/>
              <a:t>. 5 </a:t>
            </a:r>
            <a:r>
              <a:rPr dirty="0" err="1"/>
              <a:t>хвилин</a:t>
            </a:r>
            <a:r>
              <a:rPr dirty="0"/>
              <a:t> на </a:t>
            </a:r>
            <a:r>
              <a:rPr dirty="0" err="1"/>
              <a:t>набір</a:t>
            </a:r>
            <a:r>
              <a:rPr dirty="0"/>
              <a:t>, 3 на </a:t>
            </a:r>
            <a:r>
              <a:rPr dirty="0" err="1"/>
              <a:t>запуск</a:t>
            </a:r>
            <a:r>
              <a:rPr dirty="0"/>
              <a:t> і </a:t>
            </a:r>
            <a:r>
              <a:rPr dirty="0" err="1"/>
              <a:t>перевірку</a:t>
            </a:r>
            <a:r>
              <a:rPr dirty="0"/>
              <a:t>. </a:t>
            </a:r>
            <a:r>
              <a:rPr dirty="0" err="1"/>
              <a:t>Помилки</a:t>
            </a:r>
            <a:r>
              <a:rPr dirty="0"/>
              <a:t>: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підкреслювач</a:t>
            </a:r>
            <a:r>
              <a:rPr dirty="0"/>
              <a:t> </a:t>
            </a:r>
            <a:r>
              <a:rPr dirty="0" err="1"/>
              <a:t>замість</a:t>
            </a:r>
            <a:r>
              <a:rPr dirty="0"/>
              <a:t> </a:t>
            </a:r>
            <a:r>
              <a:rPr dirty="0" err="1"/>
              <a:t>двох</a:t>
            </a:r>
            <a:r>
              <a:rPr dirty="0"/>
              <a:t>, </a:t>
            </a:r>
            <a:r>
              <a:rPr dirty="0" err="1"/>
              <a:t>пропущена</a:t>
            </a:r>
            <a:r>
              <a:rPr dirty="0"/>
              <a:t> </a:t>
            </a:r>
            <a:r>
              <a:rPr dirty="0" err="1"/>
              <a:t>двокрапка</a:t>
            </a:r>
            <a:r>
              <a:rPr dirty="0"/>
              <a:t>, </a:t>
            </a:r>
            <a:r>
              <a:rPr dirty="0" err="1"/>
              <a:t>відступ</a:t>
            </a:r>
            <a:r>
              <a:rPr dirty="0"/>
              <a:t> __init__ </a:t>
            </a:r>
            <a:r>
              <a:rPr dirty="0" err="1"/>
              <a:t>поза</a:t>
            </a:r>
            <a:r>
              <a:rPr dirty="0"/>
              <a:t> </a:t>
            </a:r>
            <a:r>
              <a:rPr dirty="0" err="1"/>
              <a:t>класом</a:t>
            </a:r>
            <a:r>
              <a:rPr dirty="0"/>
              <a:t>. </a:t>
            </a:r>
            <a:r>
              <a:rPr dirty="0" err="1"/>
              <a:t>Мінімум</a:t>
            </a:r>
            <a:r>
              <a:rPr dirty="0"/>
              <a:t>: </a:t>
            </a:r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окремі</a:t>
            </a:r>
            <a:r>
              <a:rPr dirty="0"/>
              <a:t> </a:t>
            </a:r>
            <a:r>
              <a:rPr dirty="0" err="1"/>
              <a:t>виклики</a:t>
            </a:r>
            <a:r>
              <a:rPr dirty="0"/>
              <a:t> Course та </a:t>
            </a:r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правильні</a:t>
            </a:r>
            <a:r>
              <a:rPr dirty="0"/>
              <a:t> </a:t>
            </a:r>
            <a:r>
              <a:rPr dirty="0" err="1"/>
              <a:t>рядки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Тривалість</a:t>
            </a:r>
            <a:r>
              <a:rPr dirty="0"/>
              <a:t>: 4 </a:t>
            </a:r>
            <a:r>
              <a:rPr dirty="0" err="1"/>
              <a:t>хв</a:t>
            </a:r>
            <a:r>
              <a:rPr dirty="0"/>
              <a:t> (37 </a:t>
            </a:r>
            <a:r>
              <a:rPr dirty="0" err="1"/>
              <a:t>хв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Додайте </a:t>
            </a:r>
            <a:r>
              <a:rPr dirty="0" err="1"/>
              <a:t>фрагмент</a:t>
            </a:r>
            <a:r>
              <a:rPr dirty="0"/>
              <a:t> </a:t>
            </a:r>
            <a:r>
              <a:rPr dirty="0" err="1"/>
              <a:t>у</a:t>
            </a:r>
            <a:r>
              <a:rPr dirty="0"/>
              <a:t> </a:t>
            </a:r>
            <a:r>
              <a:rPr dirty="0" err="1"/>
              <a:t>кінець</a:t>
            </a:r>
            <a:r>
              <a:rPr dirty="0"/>
              <a:t> </a:t>
            </a:r>
            <a:r>
              <a:rPr dirty="0" err="1"/>
              <a:t>model.py</a:t>
            </a:r>
            <a:r>
              <a:rPr dirty="0"/>
              <a:t> </a:t>
            </a:r>
            <a:r>
              <a:rPr dirty="0" err="1"/>
              <a:t>після</a:t>
            </a:r>
            <a:r>
              <a:rPr dirty="0"/>
              <a:t> </a:t>
            </a:r>
            <a:r>
              <a:rPr dirty="0" err="1"/>
              <a:t>попередніх</a:t>
            </a:r>
            <a:r>
              <a:rPr dirty="0"/>
              <a:t> print. </a:t>
            </a:r>
            <a:r>
              <a:rPr dirty="0" err="1"/>
              <a:t>Поясніть</a:t>
            </a:r>
            <a:r>
              <a:rPr dirty="0"/>
              <a:t>, що </a:t>
            </a:r>
            <a:r>
              <a:rPr dirty="0" err="1"/>
              <a:t>очікування</a:t>
            </a:r>
            <a:r>
              <a:rPr dirty="0"/>
              <a:t> на </a:t>
            </a:r>
            <a:r>
              <a:rPr dirty="0" err="1"/>
              <a:t>слайді</a:t>
            </a:r>
            <a:r>
              <a:rPr dirty="0"/>
              <a:t> </a:t>
            </a:r>
            <a:r>
              <a:rPr dirty="0" err="1"/>
              <a:t>стосується</a:t>
            </a:r>
            <a:r>
              <a:rPr dirty="0"/>
              <a:t> </a:t>
            </a:r>
            <a:r>
              <a:rPr dirty="0" err="1"/>
              <a:t>двох</a:t>
            </a:r>
            <a:r>
              <a:rPr dirty="0"/>
              <a:t> </a:t>
            </a:r>
            <a:r>
              <a:rPr dirty="0" err="1"/>
              <a:t>нових</a:t>
            </a:r>
            <a:r>
              <a:rPr dirty="0"/>
              <a:t> </a:t>
            </a:r>
            <a:r>
              <a:rPr dirty="0" err="1"/>
              <a:t>рядків</a:t>
            </a:r>
            <a:r>
              <a:rPr dirty="0"/>
              <a:t>; </a:t>
            </a:r>
            <a:r>
              <a:rPr dirty="0" err="1"/>
              <a:t>попередні</a:t>
            </a:r>
            <a:r>
              <a:rPr dirty="0"/>
              <a:t> Python і Django </a:t>
            </a:r>
            <a:r>
              <a:rPr dirty="0" err="1"/>
              <a:t>також</a:t>
            </a:r>
            <a:r>
              <a:rPr dirty="0"/>
              <a:t> </a:t>
            </a:r>
            <a:r>
              <a:rPr dirty="0" err="1"/>
              <a:t>залишаються</a:t>
            </a:r>
            <a:r>
              <a:rPr dirty="0"/>
              <a:t>. Перед </a:t>
            </a:r>
            <a:r>
              <a:rPr dirty="0" err="1"/>
              <a:t>запуском</a:t>
            </a:r>
            <a:r>
              <a:rPr dirty="0"/>
              <a:t> </a:t>
            </a:r>
            <a:r>
              <a:rPr dirty="0" err="1"/>
              <a:t>зберіть</a:t>
            </a:r>
            <a:r>
              <a:rPr dirty="0"/>
              <a:t> </a:t>
            </a:r>
            <a:r>
              <a:rPr dirty="0" err="1"/>
              <a:t>прогноз</a:t>
            </a:r>
            <a:r>
              <a:rPr dirty="0"/>
              <a:t>. </a:t>
            </a:r>
            <a:r>
              <a:rPr dirty="0" err="1"/>
              <a:t>Покажіть</a:t>
            </a:r>
            <a:r>
              <a:rPr dirty="0"/>
              <a:t> на </a:t>
            </a:r>
            <a:r>
              <a:rPr dirty="0" err="1"/>
              <a:t>сигнатурі</a:t>
            </a:r>
            <a:r>
              <a:rPr dirty="0"/>
              <a:t>, </a:t>
            </a:r>
            <a:r>
              <a:rPr dirty="0" err="1"/>
              <a:t>звідки</a:t>
            </a:r>
            <a:r>
              <a:rPr dirty="0"/>
              <a:t> self </a:t>
            </a:r>
            <a:r>
              <a:rPr dirty="0" err="1"/>
              <a:t>береться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створенні</a:t>
            </a:r>
            <a:r>
              <a:rPr dirty="0"/>
              <a:t> </a:t>
            </a:r>
            <a:r>
              <a:rPr dirty="0" err="1"/>
              <a:t>різних</a:t>
            </a:r>
            <a:r>
              <a:rPr dirty="0"/>
              <a:t> </a:t>
            </a:r>
            <a:r>
              <a:rPr dirty="0" err="1"/>
              <a:t>екземплярів</a:t>
            </a:r>
            <a:r>
              <a:rPr dirty="0"/>
              <a:t>. Саме </a:t>
            </a:r>
            <a:r>
              <a:rPr dirty="0" err="1"/>
              <a:t>ім'я</a:t>
            </a:r>
            <a:r>
              <a:rPr dirty="0"/>
              <a:t> self </a:t>
            </a:r>
            <a:r>
              <a:rPr dirty="0" err="1"/>
              <a:t>є</a:t>
            </a:r>
            <a:r>
              <a:rPr dirty="0"/>
              <a:t> </a:t>
            </a:r>
            <a:r>
              <a:rPr dirty="0" err="1"/>
              <a:t>домовленістю</a:t>
            </a:r>
            <a:r>
              <a:rPr dirty="0"/>
              <a:t>, </a:t>
            </a:r>
            <a:r>
              <a:rPr dirty="0" err="1"/>
              <a:t>його</a:t>
            </a:r>
            <a:r>
              <a:rPr dirty="0"/>
              <a:t> </a:t>
            </a:r>
            <a:r>
              <a:rPr dirty="0" err="1"/>
              <a:t>слід</a:t>
            </a:r>
            <a:r>
              <a:rPr dirty="0"/>
              <a:t> </a:t>
            </a:r>
            <a:r>
              <a:rPr dirty="0" err="1"/>
              <a:t>дотримуватися</a:t>
            </a:r>
            <a:r>
              <a:rPr dirty="0"/>
              <a:t>. Якщо </a:t>
            </a:r>
            <a:r>
              <a:rPr dirty="0" err="1"/>
              <a:t>написати</a:t>
            </a:r>
            <a:r>
              <a:rPr dirty="0"/>
              <a:t> title = title без self, </a:t>
            </a:r>
            <a:r>
              <a:rPr dirty="0" err="1"/>
              <a:t>довготривалий</a:t>
            </a:r>
            <a:r>
              <a:rPr dirty="0"/>
              <a:t> </a:t>
            </a:r>
            <a:r>
              <a:rPr dirty="0" err="1"/>
              <a:t>атрибут</a:t>
            </a:r>
            <a:r>
              <a:rPr dirty="0"/>
              <a:t> не </a:t>
            </a:r>
            <a:r>
              <a:rPr dirty="0" err="1"/>
              <a:t>з'явиться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Тривалість</a:t>
            </a:r>
            <a:r>
              <a:rPr dirty="0"/>
              <a:t>: 4 </a:t>
            </a:r>
            <a:r>
              <a:rPr dirty="0" err="1"/>
              <a:t>хв</a:t>
            </a:r>
            <a:r>
              <a:rPr dirty="0"/>
              <a:t> (41 </a:t>
            </a:r>
            <a:r>
              <a:rPr dirty="0" err="1"/>
              <a:t>хв</a:t>
            </a:r>
            <a:r>
              <a:rPr dirty="0"/>
              <a:t>)</a:t>
            </a:r>
          </a:p>
          <a:p>
            <a:endParaRPr dirty="0"/>
          </a:p>
          <a:p>
            <a:r>
              <a:rPr dirty="0" err="1"/>
              <a:t>Метод</a:t>
            </a:r>
            <a:r>
              <a:rPr dirty="0"/>
              <a:t> </a:t>
            </a:r>
            <a:r>
              <a:rPr dirty="0" err="1"/>
              <a:t>є</a:t>
            </a:r>
            <a:r>
              <a:rPr dirty="0"/>
              <a:t> </a:t>
            </a:r>
            <a:r>
              <a:rPr dirty="0" err="1"/>
              <a:t>функцією</a:t>
            </a:r>
            <a:r>
              <a:rPr dirty="0"/>
              <a:t>, </a:t>
            </a:r>
            <a:r>
              <a:rPr dirty="0" err="1"/>
              <a:t>визначеною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класі</a:t>
            </a:r>
            <a:r>
              <a:rPr dirty="0"/>
              <a:t>; </a:t>
            </a:r>
            <a:r>
              <a:rPr dirty="0" err="1"/>
              <a:t>тут</a:t>
            </a:r>
            <a:r>
              <a:rPr dirty="0"/>
              <a:t> </a:t>
            </a:r>
            <a:r>
              <a:rPr dirty="0" err="1"/>
              <a:t>він</a:t>
            </a:r>
            <a:r>
              <a:rPr dirty="0"/>
              <a:t> </a:t>
            </a:r>
            <a:r>
              <a:rPr dirty="0" err="1"/>
              <a:t>працює</a:t>
            </a:r>
            <a:r>
              <a:rPr dirty="0"/>
              <a:t> </a:t>
            </a:r>
            <a:r>
              <a:rPr dirty="0" err="1"/>
              <a:t>зі</a:t>
            </a:r>
            <a:r>
              <a:rPr dirty="0"/>
              <a:t> </a:t>
            </a:r>
            <a:r>
              <a:rPr dirty="0" err="1"/>
              <a:t>станом</a:t>
            </a:r>
            <a:r>
              <a:rPr dirty="0"/>
              <a:t> </a:t>
            </a:r>
            <a:r>
              <a:rPr dirty="0" err="1"/>
              <a:t>конкретного</a:t>
            </a:r>
            <a:r>
              <a:rPr dirty="0"/>
              <a:t> </a:t>
            </a:r>
            <a:r>
              <a:rPr dirty="0" err="1"/>
              <a:t>екземпляра</a:t>
            </a:r>
            <a:r>
              <a:rPr dirty="0"/>
              <a:t>. Поясніть </a:t>
            </a:r>
            <a:r>
              <a:rPr dirty="0" err="1"/>
              <a:t>різницю</a:t>
            </a:r>
            <a:r>
              <a:rPr dirty="0"/>
              <a:t> </a:t>
            </a:r>
            <a:r>
              <a:rPr dirty="0" err="1"/>
              <a:t>між</a:t>
            </a:r>
            <a:r>
              <a:rPr dirty="0"/>
              <a:t> </a:t>
            </a:r>
            <a:r>
              <a:rPr dirty="0" err="1"/>
              <a:t>python_course.label</a:t>
            </a:r>
            <a:r>
              <a:rPr dirty="0"/>
              <a:t> і </a:t>
            </a:r>
            <a:r>
              <a:rPr dirty="0" err="1"/>
              <a:t>python_course.label</a:t>
            </a:r>
            <a:r>
              <a:rPr dirty="0"/>
              <a:t>(): </a:t>
            </a:r>
            <a:r>
              <a:rPr dirty="0" err="1"/>
              <a:t>другий</a:t>
            </a:r>
            <a:r>
              <a:rPr dirty="0"/>
              <a:t> </a:t>
            </a:r>
            <a:r>
              <a:rPr dirty="0" err="1"/>
              <a:t>запис</a:t>
            </a:r>
            <a:r>
              <a:rPr dirty="0"/>
              <a:t> </a:t>
            </a:r>
            <a:r>
              <a:rPr dirty="0" err="1"/>
              <a:t>викликає</a:t>
            </a:r>
            <a:r>
              <a:rPr dirty="0"/>
              <a:t> </a:t>
            </a:r>
            <a:r>
              <a:rPr dirty="0" err="1"/>
              <a:t>метод</a:t>
            </a:r>
            <a:r>
              <a:rPr dirty="0"/>
              <a:t>. Для </a:t>
            </a:r>
            <a:r>
              <a:rPr dirty="0" err="1"/>
              <a:t>звичайного</a:t>
            </a:r>
            <a:r>
              <a:rPr dirty="0"/>
              <a:t> </a:t>
            </a:r>
            <a:r>
              <a:rPr dirty="0" err="1"/>
              <a:t>методу</a:t>
            </a:r>
            <a:r>
              <a:rPr dirty="0"/>
              <a:t> </a:t>
            </a:r>
            <a:r>
              <a:rPr dirty="0" err="1"/>
              <a:t>екземпляра</a:t>
            </a:r>
            <a:r>
              <a:rPr dirty="0"/>
              <a:t> </a:t>
            </a:r>
            <a:r>
              <a:rPr dirty="0" err="1"/>
              <a:t>python_course.label</a:t>
            </a:r>
            <a:r>
              <a:rPr dirty="0"/>
              <a:t>() </a:t>
            </a:r>
            <a:r>
              <a:rPr dirty="0" err="1"/>
              <a:t>можна</a:t>
            </a:r>
            <a:r>
              <a:rPr dirty="0"/>
              <a:t> </a:t>
            </a:r>
            <a:r>
              <a:rPr dirty="0" err="1"/>
              <a:t>пояснити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Course.label</a:t>
            </a:r>
            <a:r>
              <a:rPr dirty="0"/>
              <a:t>(</a:t>
            </a:r>
            <a:r>
              <a:rPr dirty="0" err="1"/>
              <a:t>python_course</a:t>
            </a:r>
            <a:r>
              <a:rPr dirty="0"/>
              <a:t>), </a:t>
            </a:r>
            <a:r>
              <a:rPr dirty="0" err="1"/>
              <a:t>але</a:t>
            </a:r>
            <a:r>
              <a:rPr dirty="0"/>
              <a:t> </a:t>
            </a:r>
            <a:r>
              <a:rPr dirty="0" err="1"/>
              <a:t>другий</a:t>
            </a:r>
            <a:r>
              <a:rPr dirty="0"/>
              <a:t> </a:t>
            </a:r>
            <a:r>
              <a:rPr dirty="0" err="1"/>
              <a:t>спосіб</a:t>
            </a:r>
            <a:r>
              <a:rPr dirty="0"/>
              <a:t> не </a:t>
            </a:r>
            <a:r>
              <a:rPr dirty="0" err="1"/>
              <a:t>вимагайте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роботі</a:t>
            </a:r>
            <a:r>
              <a:rPr dirty="0"/>
              <a:t>. Студенти </a:t>
            </a:r>
            <a:r>
              <a:rPr dirty="0" err="1"/>
              <a:t>прогнозують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 для </a:t>
            </a:r>
            <a:r>
              <a:rPr dirty="0" err="1"/>
              <a:t>django_course.label</a:t>
            </a:r>
            <a:r>
              <a:rPr dirty="0"/>
              <a:t>(). </a:t>
            </a:r>
            <a:r>
              <a:rPr dirty="0" err="1"/>
              <a:t>Очікуйте</a:t>
            </a:r>
            <a:r>
              <a:rPr dirty="0"/>
              <a:t> "Курс: Django". Не </a:t>
            </a:r>
            <a:r>
              <a:rPr dirty="0" err="1"/>
              <a:t>додавайте</a:t>
            </a:r>
            <a:r>
              <a:rPr dirty="0"/>
              <a:t> print </a:t>
            </a:r>
            <a:r>
              <a:rPr dirty="0" err="1"/>
              <a:t>усередині</a:t>
            </a:r>
            <a:r>
              <a:rPr dirty="0"/>
              <a:t> label: </a:t>
            </a:r>
            <a:r>
              <a:rPr dirty="0" err="1"/>
              <a:t>повернений</a:t>
            </a:r>
            <a:r>
              <a:rPr dirty="0"/>
              <a:t> </a:t>
            </a:r>
            <a:r>
              <a:rPr dirty="0" err="1"/>
              <a:t>рядок</a:t>
            </a:r>
            <a:r>
              <a:rPr dirty="0"/>
              <a:t> </a:t>
            </a:r>
            <a:r>
              <a:rPr dirty="0" err="1"/>
              <a:t>можна</a:t>
            </a:r>
            <a:r>
              <a:rPr dirty="0"/>
              <a:t> </a:t>
            </a:r>
            <a:r>
              <a:rPr dirty="0" err="1"/>
              <a:t>використати</a:t>
            </a:r>
            <a:r>
              <a:rPr dirty="0"/>
              <a:t> </a:t>
            </a:r>
            <a:r>
              <a:rPr dirty="0" err="1"/>
              <a:t>далі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Тривалість</a:t>
            </a:r>
            <a:r>
              <a:rPr dirty="0"/>
              <a:t>: 12 </a:t>
            </a:r>
            <a:r>
              <a:rPr dirty="0" err="1"/>
              <a:t>хв</a:t>
            </a:r>
            <a:r>
              <a:rPr dirty="0"/>
              <a:t> (53 </a:t>
            </a:r>
            <a:r>
              <a:rPr dirty="0" err="1"/>
              <a:t>хв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К4: </a:t>
            </a:r>
            <a:r>
              <a:rPr dirty="0" err="1"/>
              <a:t>кожен</a:t>
            </a:r>
            <a:r>
              <a:rPr dirty="0"/>
              <a:t> </a:t>
            </a:r>
            <a:r>
              <a:rPr dirty="0" err="1"/>
              <a:t>надсилає</a:t>
            </a:r>
            <a:r>
              <a:rPr dirty="0"/>
              <a:t> файл та </a:t>
            </a:r>
            <a:r>
              <a:rPr dirty="0" err="1"/>
              <a:t>два</a:t>
            </a:r>
            <a:r>
              <a:rPr dirty="0"/>
              <a:t> </a:t>
            </a:r>
            <a:r>
              <a:rPr dirty="0" err="1"/>
              <a:t>профілі</a:t>
            </a:r>
            <a:r>
              <a:rPr dirty="0"/>
              <a:t>. Викладач </a:t>
            </a:r>
            <a:r>
              <a:rPr dirty="0" err="1"/>
              <a:t>перевіряє</a:t>
            </a:r>
            <a:r>
              <a:rPr dirty="0"/>
              <a:t> </a:t>
            </a:r>
            <a:r>
              <a:rPr dirty="0" err="1"/>
              <a:t>обидва</a:t>
            </a:r>
            <a:r>
              <a:rPr dirty="0"/>
              <a:t> </a:t>
            </a:r>
            <a:r>
              <a:rPr dirty="0" err="1"/>
              <a:t>атрибути</a:t>
            </a:r>
            <a:r>
              <a:rPr dirty="0"/>
              <a:t>, return і </a:t>
            </a:r>
            <a:r>
              <a:rPr dirty="0" err="1"/>
              <a:t>пояснення</a:t>
            </a:r>
            <a:r>
              <a:rPr dirty="0"/>
              <a:t>, </a:t>
            </a:r>
            <a:r>
              <a:rPr dirty="0" err="1"/>
              <a:t>який</a:t>
            </a:r>
            <a:r>
              <a:rPr dirty="0"/>
              <a:t> </a:t>
            </a:r>
            <a:r>
              <a:rPr dirty="0" err="1"/>
              <a:t>екземпляр</a:t>
            </a:r>
            <a:r>
              <a:rPr dirty="0"/>
              <a:t> </a:t>
            </a:r>
            <a:r>
              <a:rPr dirty="0" err="1"/>
              <a:t>використовує</a:t>
            </a:r>
            <a:r>
              <a:rPr dirty="0"/>
              <a:t> self.</a:t>
            </a:r>
          </a:p>
          <a:p>
            <a:endParaRPr dirty="0"/>
          </a:p>
          <a:p>
            <a:r>
              <a:rPr dirty="0"/>
              <a:t>7 </a:t>
            </a:r>
            <a:r>
              <a:rPr dirty="0" err="1"/>
              <a:t>хвилин</a:t>
            </a:r>
            <a:r>
              <a:rPr dirty="0"/>
              <a:t> на </a:t>
            </a:r>
            <a:r>
              <a:rPr dirty="0" err="1"/>
              <a:t>спробу</a:t>
            </a:r>
            <a:r>
              <a:rPr dirty="0"/>
              <a:t>, 5 на </a:t>
            </a:r>
            <a:r>
              <a:rPr dirty="0" err="1"/>
              <a:t>допомогу</a:t>
            </a:r>
            <a:r>
              <a:rPr dirty="0"/>
              <a:t> та </a:t>
            </a:r>
            <a:r>
              <a:rPr dirty="0" err="1"/>
              <a:t>перевірку</a:t>
            </a:r>
            <a:r>
              <a:rPr dirty="0"/>
              <a:t>. </a:t>
            </a:r>
            <a:r>
              <a:rPr dirty="0" err="1"/>
              <a:t>Очікуйте</a:t>
            </a:r>
            <a:r>
              <a:rPr dirty="0"/>
              <a:t> "Олена &lt;</a:t>
            </a:r>
            <a:r>
              <a:rPr dirty="0" err="1"/>
              <a:t>olena@example.com</a:t>
            </a:r>
            <a:r>
              <a:rPr dirty="0"/>
              <a:t>&gt;" і "</a:t>
            </a:r>
            <a:r>
              <a:rPr dirty="0" err="1"/>
              <a:t>Іван</a:t>
            </a:r>
            <a:r>
              <a:rPr dirty="0"/>
              <a:t> &lt;</a:t>
            </a:r>
            <a:r>
              <a:rPr dirty="0" err="1"/>
              <a:t>ivan@example.com</a:t>
            </a:r>
            <a:r>
              <a:rPr dirty="0"/>
              <a:t>&gt;". Перший </a:t>
            </a:r>
            <a:r>
              <a:rPr dirty="0" err="1"/>
              <a:t>рівень</a:t>
            </a:r>
            <a:r>
              <a:rPr dirty="0"/>
              <a:t> </a:t>
            </a:r>
            <a:r>
              <a:rPr dirty="0" err="1"/>
              <a:t>допомоги</a:t>
            </a:r>
            <a:r>
              <a:rPr dirty="0"/>
              <a:t>: </a:t>
            </a:r>
            <a:r>
              <a:rPr dirty="0" err="1"/>
              <a:t>зіставте</a:t>
            </a:r>
            <a:r>
              <a:rPr dirty="0"/>
              <a:t> title </a:t>
            </a:r>
            <a:r>
              <a:rPr dirty="0" err="1"/>
              <a:t>із</a:t>
            </a:r>
            <a:r>
              <a:rPr dirty="0"/>
              <a:t> name та email. </a:t>
            </a:r>
            <a:r>
              <a:rPr dirty="0" err="1"/>
              <a:t>Другий</a:t>
            </a:r>
            <a:r>
              <a:rPr dirty="0"/>
              <a:t>: </a:t>
            </a:r>
            <a:r>
              <a:rPr dirty="0" err="1"/>
              <a:t>покажіть</a:t>
            </a:r>
            <a:r>
              <a:rPr dirty="0"/>
              <a:t> </a:t>
            </a:r>
            <a:r>
              <a:rPr dirty="0" err="1"/>
              <a:t>лише</a:t>
            </a:r>
            <a:r>
              <a:rPr dirty="0"/>
              <a:t> </a:t>
            </a:r>
            <a:r>
              <a:rPr dirty="0" err="1"/>
              <a:t>сигнатуру</a:t>
            </a:r>
            <a:r>
              <a:rPr dirty="0"/>
              <a:t> def __init__(self, name, email). </a:t>
            </a:r>
            <a:r>
              <a:rPr dirty="0" err="1"/>
              <a:t>Третій</a:t>
            </a:r>
            <a:r>
              <a:rPr dirty="0"/>
              <a:t>: </a:t>
            </a:r>
            <a:r>
              <a:rPr dirty="0" err="1"/>
              <a:t>нагадайте</a:t>
            </a:r>
            <a:r>
              <a:rPr dirty="0"/>
              <a:t> </a:t>
            </a:r>
            <a:r>
              <a:rPr dirty="0" err="1"/>
              <a:t>self.name</a:t>
            </a:r>
            <a:r>
              <a:rPr dirty="0"/>
              <a:t> = name, </a:t>
            </a:r>
            <a:r>
              <a:rPr dirty="0" err="1"/>
              <a:t>а</a:t>
            </a:r>
            <a:r>
              <a:rPr dirty="0"/>
              <a:t> email </a:t>
            </a:r>
            <a:r>
              <a:rPr dirty="0" err="1"/>
              <a:t>студент</a:t>
            </a:r>
            <a:r>
              <a:rPr dirty="0"/>
              <a:t> </a:t>
            </a:r>
            <a:r>
              <a:rPr dirty="0" err="1"/>
              <a:t>дописує</a:t>
            </a:r>
            <a:r>
              <a:rPr dirty="0"/>
              <a:t> </a:t>
            </a:r>
            <a:r>
              <a:rPr dirty="0" err="1"/>
              <a:t>сам</a:t>
            </a:r>
            <a:r>
              <a:rPr dirty="0"/>
              <a:t>. </a:t>
            </a:r>
            <a:r>
              <a:rPr dirty="0" err="1"/>
              <a:t>Перевіряйте</a:t>
            </a:r>
            <a:r>
              <a:rPr dirty="0"/>
              <a:t>, що Student не </a:t>
            </a:r>
            <a:r>
              <a:rPr dirty="0" err="1"/>
              <a:t>вкладений</a:t>
            </a:r>
            <a:r>
              <a:rPr dirty="0"/>
              <a:t> </a:t>
            </a:r>
            <a:r>
              <a:rPr dirty="0" err="1"/>
              <a:t>усередину</a:t>
            </a:r>
            <a:r>
              <a:rPr dirty="0"/>
              <a:t> Course </a:t>
            </a:r>
            <a:r>
              <a:rPr dirty="0" err="1"/>
              <a:t>випадково</a:t>
            </a:r>
            <a:r>
              <a:rPr dirty="0"/>
              <a:t>. Якщо profile </a:t>
            </a:r>
            <a:r>
              <a:rPr dirty="0" err="1"/>
              <a:t>друкує</a:t>
            </a:r>
            <a:r>
              <a:rPr dirty="0"/>
              <a:t> і </a:t>
            </a:r>
            <a:r>
              <a:rPr dirty="0" err="1"/>
              <a:t>повертає</a:t>
            </a:r>
            <a:r>
              <a:rPr dirty="0"/>
              <a:t> None, </a:t>
            </a:r>
            <a:r>
              <a:rPr dirty="0" err="1"/>
              <a:t>попросіть</a:t>
            </a:r>
            <a:r>
              <a:rPr dirty="0"/>
              <a:t> </a:t>
            </a:r>
            <a:r>
              <a:rPr dirty="0" err="1"/>
              <a:t>відновити</a:t>
            </a:r>
            <a:r>
              <a:rPr dirty="0"/>
              <a:t> return. </a:t>
            </a:r>
            <a:r>
              <a:rPr dirty="0" err="1"/>
              <a:t>У</a:t>
            </a:r>
            <a:r>
              <a:rPr dirty="0"/>
              <a:t> </a:t>
            </a:r>
            <a:r>
              <a:rPr dirty="0" err="1"/>
              <a:t>нотатках</a:t>
            </a:r>
            <a:r>
              <a:rPr dirty="0"/>
              <a:t> </a:t>
            </a:r>
            <a:r>
              <a:rPr dirty="0" err="1"/>
              <a:t>рішення</a:t>
            </a:r>
            <a:r>
              <a:rPr dirty="0"/>
              <a:t> для </a:t>
            </a:r>
            <a:r>
              <a:rPr dirty="0" err="1"/>
              <a:t>викладача</a:t>
            </a:r>
            <a:r>
              <a:rPr dirty="0"/>
              <a:t>: </a:t>
            </a:r>
            <a:r>
              <a:rPr dirty="0" err="1"/>
              <a:t>self.name</a:t>
            </a:r>
            <a:r>
              <a:rPr dirty="0"/>
              <a:t> = name; </a:t>
            </a:r>
            <a:r>
              <a:rPr dirty="0" err="1"/>
              <a:t>self.email</a:t>
            </a:r>
            <a:r>
              <a:rPr dirty="0"/>
              <a:t> = email; profile </a:t>
            </a:r>
            <a:r>
              <a:rPr dirty="0" err="1"/>
              <a:t>повертає</a:t>
            </a:r>
            <a:r>
              <a:rPr dirty="0"/>
              <a:t> f"{</a:t>
            </a:r>
            <a:r>
              <a:rPr dirty="0" err="1"/>
              <a:t>self.name</a:t>
            </a:r>
            <a:r>
              <a:rPr dirty="0"/>
              <a:t>} &lt;{</a:t>
            </a:r>
            <a:r>
              <a:rPr dirty="0" err="1"/>
              <a:t>self.email</a:t>
            </a:r>
            <a:r>
              <a:rPr dirty="0"/>
              <a:t>}&gt;". Не </a:t>
            </a:r>
            <a:r>
              <a:rPr dirty="0" err="1"/>
              <a:t>показуйте</a:t>
            </a:r>
            <a:r>
              <a:rPr dirty="0"/>
              <a:t> </a:t>
            </a:r>
            <a:r>
              <a:rPr dirty="0" err="1"/>
              <a:t>рішення</a:t>
            </a:r>
            <a:r>
              <a:rPr dirty="0"/>
              <a:t> до </a:t>
            </a:r>
            <a:r>
              <a:rPr dirty="0" err="1"/>
              <a:t>спроби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Тривалість</a:t>
            </a:r>
            <a:r>
              <a:rPr dirty="0"/>
              <a:t>: 4 </a:t>
            </a:r>
            <a:r>
              <a:rPr dirty="0" err="1"/>
              <a:t>хв</a:t>
            </a:r>
            <a:r>
              <a:rPr dirty="0"/>
              <a:t> (57 </a:t>
            </a:r>
            <a:r>
              <a:rPr dirty="0" err="1"/>
              <a:t>хв</a:t>
            </a:r>
            <a:r>
              <a:rPr dirty="0"/>
              <a:t>)</a:t>
            </a:r>
          </a:p>
          <a:p>
            <a:endParaRPr dirty="0"/>
          </a:p>
          <a:p>
            <a:r>
              <a:rPr dirty="0" err="1"/>
              <a:t>Поясніть</a:t>
            </a:r>
            <a:r>
              <a:rPr dirty="0"/>
              <a:t>: category </a:t>
            </a:r>
            <a:r>
              <a:rPr dirty="0" err="1"/>
              <a:t>визначений</a:t>
            </a:r>
            <a:r>
              <a:rPr dirty="0"/>
              <a:t> </a:t>
            </a:r>
            <a:r>
              <a:rPr dirty="0" err="1"/>
              <a:t>у</a:t>
            </a:r>
            <a:r>
              <a:rPr dirty="0"/>
              <a:t> </a:t>
            </a:r>
            <a:r>
              <a:rPr dirty="0" err="1"/>
              <a:t>тілі</a:t>
            </a:r>
            <a:r>
              <a:rPr dirty="0"/>
              <a:t> </a:t>
            </a:r>
            <a:r>
              <a:rPr dirty="0" err="1"/>
              <a:t>класу</a:t>
            </a:r>
            <a:r>
              <a:rPr dirty="0"/>
              <a:t>; title </a:t>
            </a:r>
            <a:r>
              <a:rPr dirty="0" err="1"/>
              <a:t>присвоюється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self </a:t>
            </a:r>
            <a:r>
              <a:rPr dirty="0" err="1"/>
              <a:t>в</a:t>
            </a:r>
            <a:r>
              <a:rPr dirty="0"/>
              <a:t> __init__. Читання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екземпляр</a:t>
            </a:r>
            <a:r>
              <a:rPr dirty="0"/>
              <a:t> за </a:t>
            </a:r>
            <a:r>
              <a:rPr dirty="0" err="1"/>
              <a:t>відсутності</a:t>
            </a:r>
            <a:r>
              <a:rPr dirty="0"/>
              <a:t> </a:t>
            </a:r>
            <a:r>
              <a:rPr dirty="0" err="1"/>
              <a:t>власного</a:t>
            </a:r>
            <a:r>
              <a:rPr dirty="0"/>
              <a:t> category </a:t>
            </a:r>
            <a:r>
              <a:rPr dirty="0" err="1"/>
              <a:t>знаходить</a:t>
            </a:r>
            <a:r>
              <a:rPr dirty="0"/>
              <a:t> </a:t>
            </a:r>
            <a:r>
              <a:rPr dirty="0" err="1"/>
              <a:t>атрибут</a:t>
            </a:r>
            <a:r>
              <a:rPr dirty="0"/>
              <a:t> </a:t>
            </a:r>
            <a:r>
              <a:rPr dirty="0" err="1"/>
              <a:t>класу</a:t>
            </a:r>
            <a:r>
              <a:rPr dirty="0"/>
              <a:t>. </a:t>
            </a:r>
            <a:r>
              <a:rPr dirty="0" err="1"/>
              <a:t>Демонстраційно</a:t>
            </a:r>
            <a:r>
              <a:rPr dirty="0"/>
              <a:t> </a:t>
            </a:r>
            <a:r>
              <a:rPr dirty="0" err="1"/>
              <a:t>змініть</a:t>
            </a:r>
            <a:r>
              <a:rPr dirty="0"/>
              <a:t> </a:t>
            </a:r>
            <a:r>
              <a:rPr dirty="0" err="1"/>
              <a:t>Course.category</a:t>
            </a:r>
            <a:r>
              <a:rPr dirty="0"/>
              <a:t> на "</a:t>
            </a:r>
            <a:r>
              <a:rPr dirty="0" err="1"/>
              <a:t>Онлайн</a:t>
            </a:r>
            <a:r>
              <a:rPr dirty="0"/>
              <a:t>" та </a:t>
            </a:r>
            <a:r>
              <a:rPr dirty="0" err="1"/>
              <a:t>прочитайте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обидва</a:t>
            </a:r>
            <a:r>
              <a:rPr dirty="0"/>
              <a:t> </a:t>
            </a:r>
            <a:r>
              <a:rPr dirty="0" err="1"/>
              <a:t>екземпляри</a:t>
            </a:r>
            <a:r>
              <a:rPr dirty="0"/>
              <a:t>: </a:t>
            </a:r>
            <a:r>
              <a:rPr dirty="0" err="1"/>
              <a:t>обидва</a:t>
            </a:r>
            <a:r>
              <a:rPr dirty="0"/>
              <a:t> </a:t>
            </a:r>
            <a:r>
              <a:rPr dirty="0" err="1"/>
              <a:t>покажуть</a:t>
            </a:r>
            <a:r>
              <a:rPr dirty="0"/>
              <a:t> </a:t>
            </a:r>
            <a:r>
              <a:rPr dirty="0" err="1"/>
              <a:t>нове</a:t>
            </a:r>
            <a:r>
              <a:rPr dirty="0"/>
              <a:t> </a:t>
            </a:r>
            <a:r>
              <a:rPr dirty="0" err="1"/>
              <a:t>значення</a:t>
            </a:r>
            <a:r>
              <a:rPr dirty="0"/>
              <a:t>. </a:t>
            </a:r>
            <a:r>
              <a:rPr dirty="0" err="1"/>
              <a:t>Поверніть</a:t>
            </a:r>
            <a:r>
              <a:rPr dirty="0"/>
              <a:t> "</a:t>
            </a:r>
            <a:r>
              <a:rPr dirty="0" err="1"/>
              <a:t>Навчання</a:t>
            </a:r>
            <a:r>
              <a:rPr dirty="0"/>
              <a:t>". Не </a:t>
            </a:r>
            <a:r>
              <a:rPr dirty="0" err="1"/>
              <a:t>створюйте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основному</a:t>
            </a:r>
            <a:r>
              <a:rPr dirty="0"/>
              <a:t> </a:t>
            </a:r>
            <a:r>
              <a:rPr dirty="0" err="1"/>
              <a:t>файлі</a:t>
            </a:r>
            <a:r>
              <a:rPr dirty="0"/>
              <a:t> </a:t>
            </a:r>
            <a:r>
              <a:rPr dirty="0" err="1"/>
              <a:t>python_course.category</a:t>
            </a:r>
            <a:r>
              <a:rPr dirty="0"/>
              <a:t>, </a:t>
            </a:r>
            <a:r>
              <a:rPr dirty="0" err="1"/>
              <a:t>щоб</a:t>
            </a:r>
            <a:r>
              <a:rPr dirty="0"/>
              <a:t> не </a:t>
            </a:r>
            <a:r>
              <a:rPr dirty="0" err="1"/>
              <a:t>вводити</a:t>
            </a:r>
            <a:r>
              <a:rPr dirty="0"/>
              <a:t> </a:t>
            </a:r>
            <a:r>
              <a:rPr dirty="0" err="1"/>
              <a:t>затінення</a:t>
            </a:r>
            <a:r>
              <a:rPr dirty="0"/>
              <a:t> до </a:t>
            </a:r>
            <a:r>
              <a:rPr dirty="0" err="1"/>
              <a:t>перевірки</a:t>
            </a:r>
            <a:r>
              <a:rPr dirty="0"/>
              <a:t> </a:t>
            </a:r>
            <a:r>
              <a:rPr dirty="0" err="1"/>
              <a:t>списків</a:t>
            </a:r>
            <a:r>
              <a:rPr dirty="0"/>
              <a:t>. Усно </a:t>
            </a:r>
            <a:r>
              <a:rPr dirty="0" err="1"/>
              <a:t>попередьте</a:t>
            </a:r>
            <a:r>
              <a:rPr dirty="0"/>
              <a:t>: </a:t>
            </a:r>
            <a:r>
              <a:rPr dirty="0" err="1"/>
              <a:t>присвоєння</a:t>
            </a:r>
            <a:r>
              <a:rPr dirty="0"/>
              <a:t> </a:t>
            </a:r>
            <a:r>
              <a:rPr dirty="0" err="1"/>
              <a:t>атрибута</a:t>
            </a:r>
            <a:r>
              <a:rPr dirty="0"/>
              <a:t> </a:t>
            </a:r>
            <a:r>
              <a:rPr dirty="0" err="1"/>
              <a:t>екземпляру</a:t>
            </a:r>
            <a:r>
              <a:rPr dirty="0"/>
              <a:t> </a:t>
            </a:r>
            <a:r>
              <a:rPr dirty="0" err="1"/>
              <a:t>може</a:t>
            </a:r>
            <a:r>
              <a:rPr dirty="0"/>
              <a:t> </a:t>
            </a:r>
            <a:r>
              <a:rPr dirty="0" err="1"/>
              <a:t>створити</a:t>
            </a:r>
            <a:r>
              <a:rPr dirty="0"/>
              <a:t> </a:t>
            </a:r>
            <a:r>
              <a:rPr dirty="0" err="1"/>
              <a:t>власне</a:t>
            </a:r>
            <a:r>
              <a:rPr dirty="0"/>
              <a:t> </a:t>
            </a:r>
            <a:r>
              <a:rPr dirty="0" err="1"/>
              <a:t>значення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Тривалість</a:t>
            </a:r>
            <a:r>
              <a:rPr dirty="0"/>
              <a:t>: 4 </a:t>
            </a:r>
            <a:r>
              <a:rPr dirty="0" err="1"/>
              <a:t>хв</a:t>
            </a:r>
            <a:r>
              <a:rPr dirty="0"/>
              <a:t> (61 </a:t>
            </a:r>
            <a:r>
              <a:rPr dirty="0" err="1"/>
              <a:t>хв</a:t>
            </a:r>
            <a:r>
              <a:rPr dirty="0"/>
              <a:t>)</a:t>
            </a:r>
          </a:p>
          <a:p>
            <a:endParaRPr dirty="0"/>
          </a:p>
          <a:p>
            <a:r>
              <a:rPr dirty="0" err="1"/>
              <a:t>Дайте</a:t>
            </a:r>
            <a:r>
              <a:rPr dirty="0"/>
              <a:t> 20 </a:t>
            </a:r>
            <a:r>
              <a:rPr dirty="0" err="1"/>
              <a:t>секунд</a:t>
            </a:r>
            <a:r>
              <a:rPr dirty="0"/>
              <a:t> на </a:t>
            </a:r>
            <a:r>
              <a:rPr dirty="0" err="1"/>
              <a:t>прогноз</a:t>
            </a:r>
            <a:r>
              <a:rPr dirty="0"/>
              <a:t>, </a:t>
            </a:r>
            <a:r>
              <a:rPr dirty="0" err="1"/>
              <a:t>потім</a:t>
            </a:r>
            <a:r>
              <a:rPr dirty="0"/>
              <a:t> </a:t>
            </a:r>
            <a:r>
              <a:rPr dirty="0" err="1"/>
              <a:t>запускайте</a:t>
            </a:r>
            <a:r>
              <a:rPr dirty="0"/>
              <a:t>. </a:t>
            </a:r>
            <a:r>
              <a:rPr dirty="0" err="1"/>
              <a:t>У</a:t>
            </a:r>
            <a:r>
              <a:rPr dirty="0"/>
              <a:t> </a:t>
            </a:r>
            <a:r>
              <a:rPr dirty="0" err="1"/>
              <a:t>класі</a:t>
            </a:r>
            <a:r>
              <a:rPr dirty="0"/>
              <a:t> без </a:t>
            </a:r>
            <a:r>
              <a:rPr dirty="0" err="1"/>
              <a:t>власного</a:t>
            </a:r>
            <a:r>
              <a:rPr dirty="0"/>
              <a:t> __init__ </a:t>
            </a:r>
            <a:r>
              <a:rPr dirty="0" err="1"/>
              <a:t>тут</a:t>
            </a:r>
            <a:r>
              <a:rPr dirty="0"/>
              <a:t> </a:t>
            </a:r>
            <a:r>
              <a:rPr dirty="0" err="1"/>
              <a:t>можна</a:t>
            </a:r>
            <a:r>
              <a:rPr dirty="0"/>
              <a:t> </a:t>
            </a:r>
            <a:r>
              <a:rPr dirty="0" err="1"/>
              <a:t>створити</a:t>
            </a:r>
            <a:r>
              <a:rPr dirty="0"/>
              <a:t> </a:t>
            </a:r>
            <a:r>
              <a:rPr dirty="0" err="1"/>
              <a:t>екземпляр</a:t>
            </a:r>
            <a:r>
              <a:rPr dirty="0"/>
              <a:t> без </a:t>
            </a:r>
            <a:r>
              <a:rPr dirty="0" err="1"/>
              <a:t>аргументів</a:t>
            </a:r>
            <a:r>
              <a:rPr dirty="0"/>
              <a:t>. Обидва </a:t>
            </a:r>
            <a:r>
              <a:rPr dirty="0" err="1"/>
              <a:t>доступи</a:t>
            </a:r>
            <a:r>
              <a:rPr dirty="0"/>
              <a:t> </a:t>
            </a:r>
            <a:r>
              <a:rPr dirty="0" err="1"/>
              <a:t>знаходять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атрибута</a:t>
            </a:r>
            <a:r>
              <a:rPr dirty="0"/>
              <a:t> </a:t>
            </a:r>
            <a:r>
              <a:rPr dirty="0" err="1"/>
              <a:t>класу</a:t>
            </a:r>
            <a:r>
              <a:rPr dirty="0"/>
              <a:t>; append </a:t>
            </a:r>
            <a:r>
              <a:rPr dirty="0" err="1"/>
              <a:t>змінює</a:t>
            </a:r>
            <a:r>
              <a:rPr dirty="0"/>
              <a:t> </a:t>
            </a:r>
            <a:r>
              <a:rPr dirty="0" err="1"/>
              <a:t>цей</a:t>
            </a:r>
            <a:r>
              <a:rPr dirty="0"/>
              <a:t> </a:t>
            </a:r>
            <a:r>
              <a:rPr dirty="0" err="1"/>
              <a:t>список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не </a:t>
            </a:r>
            <a:r>
              <a:rPr dirty="0" err="1"/>
              <a:t>створює</a:t>
            </a:r>
            <a:r>
              <a:rPr dirty="0"/>
              <a:t> </a:t>
            </a:r>
            <a:r>
              <a:rPr dirty="0" err="1"/>
              <a:t>окрему</a:t>
            </a:r>
            <a:r>
              <a:rPr dirty="0"/>
              <a:t> </a:t>
            </a:r>
            <a:r>
              <a:rPr dirty="0" err="1"/>
              <a:t>копію</a:t>
            </a:r>
            <a:r>
              <a:rPr dirty="0"/>
              <a:t>. </a:t>
            </a:r>
            <a:r>
              <a:rPr dirty="0" err="1"/>
              <a:t>Причина</a:t>
            </a:r>
            <a:r>
              <a:rPr dirty="0"/>
              <a:t> не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тому</a:t>
            </a:r>
            <a:r>
              <a:rPr dirty="0"/>
              <a:t>, що "ООП </a:t>
            </a:r>
            <a:r>
              <a:rPr dirty="0" err="1"/>
              <a:t>завжди</a:t>
            </a:r>
            <a:r>
              <a:rPr dirty="0"/>
              <a:t> </a:t>
            </a:r>
            <a:r>
              <a:rPr dirty="0" err="1"/>
              <a:t>ділиться</a:t>
            </a:r>
            <a:r>
              <a:rPr dirty="0"/>
              <a:t> </a:t>
            </a:r>
            <a:r>
              <a:rPr dirty="0" err="1"/>
              <a:t>даними</a:t>
            </a:r>
            <a:r>
              <a:rPr dirty="0"/>
              <a:t>". Запитайте </a:t>
            </a:r>
            <a:r>
              <a:rPr dirty="0" err="1"/>
              <a:t>місце</a:t>
            </a:r>
            <a:r>
              <a:rPr dirty="0"/>
              <a:t> для створення </a:t>
            </a:r>
            <a:r>
              <a:rPr dirty="0" err="1"/>
              <a:t>окремого</a:t>
            </a:r>
            <a:r>
              <a:rPr dirty="0"/>
              <a:t> </a:t>
            </a:r>
            <a:r>
              <a:rPr dirty="0" err="1"/>
              <a:t>списку</a:t>
            </a:r>
            <a:r>
              <a:rPr dirty="0"/>
              <a:t>: __init__ </a:t>
            </a:r>
            <a:r>
              <a:rPr dirty="0" err="1"/>
              <a:t>кожного</a:t>
            </a:r>
            <a:r>
              <a:rPr dirty="0"/>
              <a:t> </a:t>
            </a:r>
            <a:r>
              <a:rPr dirty="0" err="1"/>
              <a:t>екземпляра</a:t>
            </a:r>
            <a:r>
              <a:rPr dirty="0"/>
              <a:t>. </a:t>
            </a:r>
            <a:r>
              <a:rPr dirty="0" err="1"/>
              <a:t>Студенти</a:t>
            </a:r>
            <a:r>
              <a:rPr dirty="0"/>
              <a:t> не </a:t>
            </a:r>
            <a:r>
              <a:rPr dirty="0" err="1"/>
              <a:t>повинні</a:t>
            </a:r>
            <a:r>
              <a:rPr dirty="0"/>
              <a:t> </a:t>
            </a:r>
            <a:r>
              <a:rPr dirty="0" err="1"/>
              <a:t>переносити</a:t>
            </a:r>
            <a:r>
              <a:rPr dirty="0"/>
              <a:t> </a:t>
            </a:r>
            <a:r>
              <a:rPr dirty="0" err="1"/>
              <a:t>BadCourse</a:t>
            </a:r>
            <a:r>
              <a:rPr dirty="0"/>
              <a:t> </a:t>
            </a:r>
            <a:r>
              <a:rPr dirty="0" err="1"/>
              <a:t>у</a:t>
            </a:r>
            <a:r>
              <a:rPr dirty="0"/>
              <a:t> </a:t>
            </a:r>
            <a:r>
              <a:rPr dirty="0" err="1"/>
              <a:t>model.py</a:t>
            </a:r>
            <a:r>
              <a:rPr dirty="0"/>
              <a:t>. </a:t>
            </a:r>
            <a:r>
              <a:rPr dirty="0" err="1"/>
              <a:t>Мінімальний</a:t>
            </a:r>
            <a:r>
              <a:rPr dirty="0"/>
              <a:t> </a:t>
            </a:r>
            <a:r>
              <a:rPr dirty="0" err="1"/>
              <a:t>висновок</a:t>
            </a:r>
            <a:r>
              <a:rPr dirty="0"/>
              <a:t>: </a:t>
            </a:r>
            <a:r>
              <a:rPr dirty="0" err="1"/>
              <a:t>спільна</a:t>
            </a:r>
            <a:r>
              <a:rPr dirty="0"/>
              <a:t> </a:t>
            </a:r>
            <a:r>
              <a:rPr dirty="0" err="1"/>
              <a:t>категорія</a:t>
            </a:r>
            <a:r>
              <a:rPr dirty="0"/>
              <a:t> </a:t>
            </a:r>
            <a:r>
              <a:rPr dirty="0" err="1"/>
              <a:t>є</a:t>
            </a:r>
            <a:r>
              <a:rPr dirty="0"/>
              <a:t> </a:t>
            </a:r>
            <a:r>
              <a:rPr dirty="0" err="1"/>
              <a:t>доречною</a:t>
            </a:r>
            <a:r>
              <a:rPr dirty="0"/>
              <a:t>, </a:t>
            </a:r>
            <a:r>
              <a:rPr dirty="0" err="1"/>
              <a:t>спільний</a:t>
            </a:r>
            <a:r>
              <a:rPr dirty="0"/>
              <a:t> </a:t>
            </a:r>
            <a:r>
              <a:rPr dirty="0" err="1"/>
              <a:t>склад</a:t>
            </a:r>
            <a:r>
              <a:rPr dirty="0"/>
              <a:t> </a:t>
            </a:r>
            <a:r>
              <a:rPr dirty="0" err="1"/>
              <a:t>двох</a:t>
            </a:r>
            <a:r>
              <a:rPr dirty="0"/>
              <a:t> </a:t>
            </a:r>
            <a:r>
              <a:rPr dirty="0" err="1"/>
              <a:t>різних</a:t>
            </a:r>
            <a:r>
              <a:rPr dirty="0"/>
              <a:t> </a:t>
            </a:r>
            <a:r>
              <a:rPr dirty="0" err="1"/>
              <a:t>курсів</a:t>
            </a:r>
            <a:r>
              <a:rPr dirty="0"/>
              <a:t> </a:t>
            </a:r>
            <a:r>
              <a:rPr dirty="0" err="1"/>
              <a:t>у</a:t>
            </a:r>
            <a:r>
              <a:rPr dirty="0"/>
              <a:t> </a:t>
            </a:r>
            <a:r>
              <a:rPr dirty="0" err="1"/>
              <a:t>нашій</a:t>
            </a:r>
            <a:r>
              <a:rPr dirty="0"/>
              <a:t> </a:t>
            </a:r>
            <a:r>
              <a:rPr dirty="0" err="1"/>
              <a:t>задачі</a:t>
            </a:r>
            <a:r>
              <a:rPr dirty="0"/>
              <a:t> </a:t>
            </a:r>
            <a:r>
              <a:rPr dirty="0" err="1"/>
              <a:t>є</a:t>
            </a:r>
            <a:r>
              <a:rPr dirty="0"/>
              <a:t> </a:t>
            </a:r>
            <a:r>
              <a:rPr dirty="0" err="1"/>
              <a:t>помилкою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Тривалість</a:t>
            </a:r>
            <a:r>
              <a:rPr dirty="0"/>
              <a:t>: 6 </a:t>
            </a:r>
            <a:r>
              <a:rPr dirty="0" err="1"/>
              <a:t>хв</a:t>
            </a:r>
            <a:r>
              <a:rPr dirty="0"/>
              <a:t> (67 </a:t>
            </a:r>
            <a:r>
              <a:rPr dirty="0" err="1"/>
              <a:t>хв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К5: файл і </a:t>
            </a:r>
            <a:r>
              <a:rPr dirty="0" err="1"/>
              <a:t>три</a:t>
            </a:r>
            <a:r>
              <a:rPr dirty="0"/>
              <a:t> </a:t>
            </a:r>
            <a:r>
              <a:rPr dirty="0" err="1"/>
              <a:t>нові</a:t>
            </a:r>
            <a:r>
              <a:rPr dirty="0"/>
              <a:t> </a:t>
            </a:r>
            <a:r>
              <a:rPr dirty="0" err="1"/>
              <a:t>рядки</a:t>
            </a:r>
            <a:r>
              <a:rPr dirty="0"/>
              <a:t> </a:t>
            </a:r>
            <a:r>
              <a:rPr dirty="0" err="1"/>
              <a:t>кожного</a:t>
            </a:r>
            <a:r>
              <a:rPr dirty="0"/>
              <a:t>. Викладач </a:t>
            </a:r>
            <a:r>
              <a:rPr dirty="0" err="1"/>
              <a:t>перевіряє</a:t>
            </a:r>
            <a:r>
              <a:rPr dirty="0"/>
              <a:t> створення </a:t>
            </a:r>
            <a:r>
              <a:rPr dirty="0" err="1"/>
              <a:t>списку</a:t>
            </a:r>
            <a:r>
              <a:rPr dirty="0"/>
              <a:t> саме </a:t>
            </a:r>
            <a:r>
              <a:rPr dirty="0" err="1"/>
              <a:t>в</a:t>
            </a:r>
            <a:r>
              <a:rPr dirty="0"/>
              <a:t> __init__, </a:t>
            </a:r>
            <a:r>
              <a:rPr dirty="0" err="1"/>
              <a:t>окремість</a:t>
            </a:r>
            <a:r>
              <a:rPr dirty="0"/>
              <a:t> </a:t>
            </a:r>
            <a:r>
              <a:rPr dirty="0" err="1"/>
              <a:t>курсів</a:t>
            </a:r>
            <a:r>
              <a:rPr dirty="0"/>
              <a:t> і </a:t>
            </a:r>
            <a:r>
              <a:rPr dirty="0" err="1"/>
              <a:t>збереження</a:t>
            </a:r>
            <a:r>
              <a:rPr dirty="0"/>
              <a:t> Student </a:t>
            </a:r>
            <a:r>
              <a:rPr dirty="0" err="1"/>
              <a:t>у</a:t>
            </a:r>
            <a:r>
              <a:rPr dirty="0"/>
              <a:t> </a:t>
            </a:r>
            <a:r>
              <a:rPr dirty="0" err="1"/>
              <a:t>списку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Перед </a:t>
            </a:r>
            <a:r>
              <a:rPr dirty="0" err="1"/>
              <a:t>цим</a:t>
            </a:r>
            <a:r>
              <a:rPr dirty="0"/>
              <a:t> </a:t>
            </a:r>
            <a:r>
              <a:rPr dirty="0" err="1"/>
              <a:t>студенти</a:t>
            </a:r>
            <a:r>
              <a:rPr dirty="0"/>
              <a:t> </a:t>
            </a:r>
            <a:r>
              <a:rPr dirty="0" err="1"/>
              <a:t>мають</a:t>
            </a:r>
            <a:r>
              <a:rPr dirty="0"/>
              <a:t> </a:t>
            </a:r>
            <a:r>
              <a:rPr dirty="0" err="1"/>
              <a:t>назвати</a:t>
            </a:r>
            <a:r>
              <a:rPr dirty="0"/>
              <a:t> </a:t>
            </a:r>
            <a:r>
              <a:rPr dirty="0" err="1"/>
              <a:t>створені</a:t>
            </a:r>
            <a:r>
              <a:rPr dirty="0"/>
              <a:t> Student </a:t>
            </a:r>
            <a:r>
              <a:rPr dirty="0" err="1"/>
              <a:t>змінними</a:t>
            </a:r>
            <a:r>
              <a:rPr dirty="0"/>
              <a:t> </a:t>
            </a:r>
            <a:r>
              <a:rPr dirty="0" err="1"/>
              <a:t>olena</a:t>
            </a:r>
            <a:r>
              <a:rPr dirty="0"/>
              <a:t> та </a:t>
            </a:r>
            <a:r>
              <a:rPr dirty="0" err="1"/>
              <a:t>ivan</a:t>
            </a:r>
            <a:r>
              <a:rPr dirty="0"/>
              <a:t>; якщо </a:t>
            </a:r>
            <a:r>
              <a:rPr dirty="0" err="1"/>
              <a:t>назви</a:t>
            </a:r>
            <a:r>
              <a:rPr dirty="0"/>
              <a:t> </a:t>
            </a:r>
            <a:r>
              <a:rPr dirty="0" err="1"/>
              <a:t>інші</a:t>
            </a:r>
            <a:r>
              <a:rPr dirty="0"/>
              <a:t>, </a:t>
            </a:r>
            <a:r>
              <a:rPr dirty="0" err="1"/>
              <a:t>узгодьте</a:t>
            </a:r>
            <a:r>
              <a:rPr dirty="0"/>
              <a:t> </a:t>
            </a:r>
            <a:r>
              <a:rPr dirty="0" err="1"/>
              <a:t>використання</a:t>
            </a:r>
            <a:r>
              <a:rPr dirty="0"/>
              <a:t>. </a:t>
            </a:r>
            <a:r>
              <a:rPr dirty="0" err="1"/>
              <a:t>Покажіть</a:t>
            </a:r>
            <a:r>
              <a:rPr dirty="0"/>
              <a:t>, що </a:t>
            </a:r>
            <a:r>
              <a:rPr dirty="0" err="1"/>
              <a:t>рядок</a:t>
            </a:r>
            <a:r>
              <a:rPr dirty="0"/>
              <a:t> </a:t>
            </a:r>
            <a:r>
              <a:rPr dirty="0" err="1"/>
              <a:t>self.students</a:t>
            </a:r>
            <a:r>
              <a:rPr dirty="0"/>
              <a:t> = [] </a:t>
            </a:r>
            <a:r>
              <a:rPr dirty="0" err="1"/>
              <a:t>виконується</a:t>
            </a:r>
            <a:r>
              <a:rPr dirty="0"/>
              <a:t> для </a:t>
            </a:r>
            <a:r>
              <a:rPr dirty="0" err="1"/>
              <a:t>кожного</a:t>
            </a:r>
            <a:r>
              <a:rPr dirty="0"/>
              <a:t> </a:t>
            </a:r>
            <a:r>
              <a:rPr dirty="0" err="1"/>
              <a:t>створюваного</a:t>
            </a:r>
            <a:r>
              <a:rPr dirty="0"/>
              <a:t> </a:t>
            </a:r>
            <a:r>
              <a:rPr dirty="0" err="1"/>
              <a:t>курсу</a:t>
            </a:r>
            <a:r>
              <a:rPr dirty="0"/>
              <a:t>. </a:t>
            </a:r>
            <a:r>
              <a:rPr dirty="0" err="1"/>
              <a:t>Збережіть</a:t>
            </a:r>
            <a:r>
              <a:rPr dirty="0"/>
              <a:t>, </a:t>
            </a:r>
            <a:r>
              <a:rPr dirty="0" err="1"/>
              <a:t>запустіть</a:t>
            </a:r>
            <a:r>
              <a:rPr dirty="0"/>
              <a:t> файл </a:t>
            </a:r>
            <a:r>
              <a:rPr dirty="0" err="1"/>
              <a:t>заново</a:t>
            </a:r>
            <a:r>
              <a:rPr dirty="0"/>
              <a:t>: </a:t>
            </a:r>
            <a:r>
              <a:rPr dirty="0" err="1"/>
              <a:t>об'єкти</a:t>
            </a:r>
            <a:r>
              <a:rPr dirty="0"/>
              <a:t> </a:t>
            </a:r>
            <a:r>
              <a:rPr dirty="0" err="1"/>
              <a:t>мають</a:t>
            </a:r>
            <a:r>
              <a:rPr dirty="0"/>
              <a:t> </a:t>
            </a:r>
            <a:r>
              <a:rPr dirty="0" err="1"/>
              <a:t>створитися</a:t>
            </a:r>
            <a:r>
              <a:rPr dirty="0"/>
              <a:t> </a:t>
            </a:r>
            <a:r>
              <a:rPr dirty="0" err="1"/>
              <a:t>після</a:t>
            </a:r>
            <a:r>
              <a:rPr dirty="0"/>
              <a:t> </a:t>
            </a:r>
            <a:r>
              <a:rPr dirty="0" err="1"/>
              <a:t>оновлених</a:t>
            </a:r>
            <a:r>
              <a:rPr dirty="0"/>
              <a:t> </a:t>
            </a:r>
            <a:r>
              <a:rPr dirty="0" err="1"/>
              <a:t>визначень</a:t>
            </a:r>
            <a:r>
              <a:rPr dirty="0"/>
              <a:t> </a:t>
            </a:r>
            <a:r>
              <a:rPr dirty="0" err="1"/>
              <a:t>класів</a:t>
            </a:r>
            <a:r>
              <a:rPr dirty="0"/>
              <a:t>. Очікування </a:t>
            </a:r>
            <a:r>
              <a:rPr dirty="0" err="1"/>
              <a:t>стосується</a:t>
            </a:r>
            <a:r>
              <a:rPr dirty="0"/>
              <a:t> </a:t>
            </a:r>
            <a:r>
              <a:rPr dirty="0" err="1"/>
              <a:t>трьох</a:t>
            </a:r>
            <a:r>
              <a:rPr dirty="0"/>
              <a:t> </a:t>
            </a:r>
            <a:r>
              <a:rPr dirty="0" err="1"/>
              <a:t>нових</a:t>
            </a:r>
            <a:r>
              <a:rPr dirty="0"/>
              <a:t> </a:t>
            </a:r>
            <a:r>
              <a:rPr dirty="0" err="1"/>
              <a:t>рядків</a:t>
            </a:r>
            <a:r>
              <a:rPr dirty="0"/>
              <a:t>. len </a:t>
            </a:r>
            <a:r>
              <a:rPr dirty="0" err="1"/>
              <a:t>є</a:t>
            </a:r>
            <a:r>
              <a:rPr dirty="0"/>
              <a:t> </a:t>
            </a:r>
            <a:r>
              <a:rPr dirty="0" err="1"/>
              <a:t>відомим</a:t>
            </a:r>
            <a:r>
              <a:rPr dirty="0"/>
              <a:t> </a:t>
            </a:r>
            <a:r>
              <a:rPr dirty="0" err="1"/>
              <a:t>підрахунком</a:t>
            </a:r>
            <a:r>
              <a:rPr dirty="0"/>
              <a:t> </a:t>
            </a:r>
            <a:r>
              <a:rPr dirty="0" err="1"/>
              <a:t>довжини</a:t>
            </a:r>
            <a:r>
              <a:rPr dirty="0"/>
              <a:t>, </a:t>
            </a:r>
            <a:r>
              <a:rPr dirty="0" err="1"/>
              <a:t>індекс</a:t>
            </a:r>
            <a:r>
              <a:rPr dirty="0"/>
              <a:t> 0 </a:t>
            </a:r>
            <a:r>
              <a:rPr dirty="0" err="1"/>
              <a:t>означає</a:t>
            </a:r>
            <a:r>
              <a:rPr dirty="0"/>
              <a:t> </a:t>
            </a:r>
            <a:r>
              <a:rPr dirty="0" err="1"/>
              <a:t>першого</a:t>
            </a:r>
            <a:r>
              <a:rPr dirty="0"/>
              <a:t> </a:t>
            </a:r>
            <a:r>
              <a:rPr dirty="0" err="1"/>
              <a:t>учасника</a:t>
            </a:r>
            <a:r>
              <a:rPr dirty="0"/>
              <a:t>. Перевіряйте </a:t>
            </a:r>
            <a:r>
              <a:rPr dirty="0" err="1"/>
              <a:t>порожній</a:t>
            </a:r>
            <a:r>
              <a:rPr dirty="0"/>
              <a:t> </a:t>
            </a:r>
            <a:r>
              <a:rPr dirty="0" err="1"/>
              <a:t>другий</a:t>
            </a:r>
            <a:r>
              <a:rPr dirty="0"/>
              <a:t> курс, </a:t>
            </a:r>
            <a:r>
              <a:rPr dirty="0" err="1"/>
              <a:t>а</a:t>
            </a:r>
            <a:r>
              <a:rPr dirty="0"/>
              <a:t> не </a:t>
            </a:r>
            <a:r>
              <a:rPr dirty="0" err="1"/>
              <a:t>лише</a:t>
            </a:r>
            <a:r>
              <a:rPr dirty="0"/>
              <a:t> </a:t>
            </a:r>
            <a:r>
              <a:rPr dirty="0" err="1"/>
              <a:t>перший</a:t>
            </a:r>
            <a:r>
              <a:rPr dirty="0"/>
              <a:t>. Помилка </a:t>
            </a:r>
            <a:r>
              <a:rPr dirty="0" err="1"/>
              <a:t>IndexError</a:t>
            </a:r>
            <a:r>
              <a:rPr dirty="0"/>
              <a:t> </a:t>
            </a:r>
            <a:r>
              <a:rPr dirty="0" err="1"/>
              <a:t>тут</a:t>
            </a:r>
            <a:r>
              <a:rPr dirty="0"/>
              <a:t> </a:t>
            </a:r>
            <a:r>
              <a:rPr dirty="0" err="1"/>
              <a:t>означає</a:t>
            </a:r>
            <a:r>
              <a:rPr dirty="0"/>
              <a:t>, що </a:t>
            </a:r>
            <a:r>
              <a:rPr dirty="0" err="1"/>
              <a:t>додавання</a:t>
            </a:r>
            <a:r>
              <a:rPr dirty="0"/>
              <a:t> не </a:t>
            </a:r>
            <a:r>
              <a:rPr dirty="0" err="1"/>
              <a:t>відбулося</a:t>
            </a:r>
            <a:r>
              <a:rPr dirty="0"/>
              <a:t> </a:t>
            </a:r>
            <a:r>
              <a:rPr dirty="0" err="1"/>
              <a:t>або</a:t>
            </a:r>
            <a:r>
              <a:rPr dirty="0"/>
              <a:t> </a:t>
            </a:r>
            <a:r>
              <a:rPr dirty="0" err="1"/>
              <a:t>перевіряється</a:t>
            </a:r>
            <a:r>
              <a:rPr dirty="0"/>
              <a:t> </a:t>
            </a:r>
            <a:r>
              <a:rPr dirty="0" err="1"/>
              <a:t>інший</a:t>
            </a:r>
            <a:r>
              <a:rPr dirty="0"/>
              <a:t> </a:t>
            </a:r>
            <a:r>
              <a:rPr dirty="0" err="1"/>
              <a:t>список</a:t>
            </a:r>
            <a:r>
              <a:rPr dirty="0"/>
              <a:t>. </a:t>
            </a:r>
            <a:r>
              <a:rPr dirty="0" err="1"/>
              <a:t>Наступна</a:t>
            </a:r>
            <a:r>
              <a:rPr dirty="0"/>
              <a:t> </a:t>
            </a:r>
            <a:r>
              <a:rPr dirty="0" err="1"/>
              <a:t>дія</a:t>
            </a:r>
            <a:r>
              <a:rPr dirty="0"/>
              <a:t>: </a:t>
            </a:r>
            <a:r>
              <a:rPr dirty="0" err="1"/>
              <a:t>замінимо</a:t>
            </a:r>
            <a:r>
              <a:rPr dirty="0"/>
              <a:t> </a:t>
            </a:r>
            <a:r>
              <a:rPr dirty="0" err="1"/>
              <a:t>пряме</a:t>
            </a:r>
            <a:r>
              <a:rPr dirty="0"/>
              <a:t> append </a:t>
            </a:r>
            <a:r>
              <a:rPr dirty="0" err="1"/>
              <a:t>дією</a:t>
            </a:r>
            <a:r>
              <a:rPr dirty="0"/>
              <a:t> </a:t>
            </a:r>
            <a:r>
              <a:rPr dirty="0" err="1"/>
              <a:t>курсу</a:t>
            </a:r>
            <a:r>
              <a:rPr dirty="0"/>
              <a:t> </a:t>
            </a:r>
            <a:r>
              <a:rPr dirty="0" err="1"/>
              <a:t>з</a:t>
            </a:r>
            <a:r>
              <a:rPr dirty="0"/>
              <a:t> </a:t>
            </a:r>
            <a:r>
              <a:rPr dirty="0" err="1"/>
              <a:t>правилом</a:t>
            </a:r>
            <a:r>
              <a:rPr dirty="0"/>
              <a:t> </a:t>
            </a:r>
            <a:r>
              <a:rPr dirty="0" err="1"/>
              <a:t>повторного</a:t>
            </a:r>
            <a:r>
              <a:rPr dirty="0"/>
              <a:t> </a:t>
            </a:r>
            <a:r>
              <a:rPr dirty="0" err="1"/>
              <a:t>запису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Тривалість</a:t>
            </a:r>
            <a:r>
              <a:rPr dirty="0"/>
              <a:t>: 4 </a:t>
            </a:r>
            <a:r>
              <a:rPr dirty="0" err="1"/>
              <a:t>хв</a:t>
            </a:r>
            <a:r>
              <a:rPr dirty="0"/>
              <a:t> (71 </a:t>
            </a:r>
            <a:r>
              <a:rPr dirty="0" err="1"/>
              <a:t>хв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Поясніть </a:t>
            </a:r>
            <a:r>
              <a:rPr dirty="0" err="1"/>
              <a:t>побудову</a:t>
            </a:r>
            <a:r>
              <a:rPr dirty="0"/>
              <a:t> </a:t>
            </a:r>
            <a:r>
              <a:rPr dirty="0" err="1"/>
              <a:t>моделі</a:t>
            </a:r>
            <a:r>
              <a:rPr dirty="0"/>
              <a:t> </a:t>
            </a:r>
            <a:r>
              <a:rPr dirty="0" err="1"/>
              <a:t>з</a:t>
            </a:r>
            <a:r>
              <a:rPr dirty="0"/>
              <a:t> </a:t>
            </a:r>
            <a:r>
              <a:rPr dirty="0" err="1"/>
              <a:t>об'єктів</a:t>
            </a:r>
            <a:r>
              <a:rPr dirty="0"/>
              <a:t>: Course </a:t>
            </a:r>
            <a:r>
              <a:rPr dirty="0" err="1"/>
              <a:t>має</a:t>
            </a:r>
            <a:r>
              <a:rPr dirty="0"/>
              <a:t> </a:t>
            </a:r>
            <a:r>
              <a:rPr dirty="0" err="1"/>
              <a:t>колекцію</a:t>
            </a:r>
            <a:r>
              <a:rPr dirty="0"/>
              <a:t> Student. </a:t>
            </a:r>
            <a:r>
              <a:rPr dirty="0" err="1"/>
              <a:t>У</a:t>
            </a:r>
            <a:r>
              <a:rPr dirty="0"/>
              <a:t> </a:t>
            </a:r>
            <a:r>
              <a:rPr dirty="0" err="1"/>
              <a:t>практичному</a:t>
            </a:r>
            <a:r>
              <a:rPr dirty="0"/>
              <a:t> </a:t>
            </a:r>
            <a:r>
              <a:rPr dirty="0" err="1"/>
              <a:t>плані</a:t>
            </a:r>
            <a:r>
              <a:rPr dirty="0"/>
              <a:t> </a:t>
            </a:r>
            <a:r>
              <a:rPr dirty="0" err="1"/>
              <a:t>це</a:t>
            </a:r>
            <a:r>
              <a:rPr dirty="0"/>
              <a:t> </a:t>
            </a:r>
            <a:r>
              <a:rPr dirty="0" err="1"/>
              <a:t>названо</a:t>
            </a:r>
            <a:r>
              <a:rPr dirty="0"/>
              <a:t> </a:t>
            </a:r>
            <a:r>
              <a:rPr dirty="0" err="1"/>
              <a:t>композицією</a:t>
            </a:r>
            <a:r>
              <a:rPr dirty="0"/>
              <a:t>; </a:t>
            </a:r>
            <a:r>
              <a:rPr dirty="0" err="1"/>
              <a:t>у</a:t>
            </a:r>
            <a:r>
              <a:rPr dirty="0"/>
              <a:t> </a:t>
            </a:r>
            <a:r>
              <a:rPr dirty="0" err="1"/>
              <a:t>строгій</a:t>
            </a:r>
            <a:r>
              <a:rPr dirty="0"/>
              <a:t> </a:t>
            </a:r>
            <a:r>
              <a:rPr dirty="0" err="1"/>
              <a:t>термінології</a:t>
            </a:r>
            <a:r>
              <a:rPr dirty="0"/>
              <a:t> </a:t>
            </a:r>
            <a:r>
              <a:rPr dirty="0" err="1"/>
              <a:t>цей</a:t>
            </a:r>
            <a:r>
              <a:rPr dirty="0"/>
              <a:t> </a:t>
            </a:r>
            <a:r>
              <a:rPr dirty="0" err="1"/>
              <a:t>конкретний</a:t>
            </a:r>
            <a:r>
              <a:rPr dirty="0"/>
              <a:t> </a:t>
            </a:r>
            <a:r>
              <a:rPr dirty="0" err="1"/>
              <a:t>зв'язок</a:t>
            </a:r>
            <a:r>
              <a:rPr dirty="0"/>
              <a:t> </a:t>
            </a:r>
            <a:r>
              <a:rPr dirty="0" err="1"/>
              <a:t>ближчий</a:t>
            </a:r>
            <a:r>
              <a:rPr dirty="0"/>
              <a:t> до </a:t>
            </a:r>
            <a:r>
              <a:rPr dirty="0" err="1"/>
              <a:t>агрегації</a:t>
            </a:r>
            <a:r>
              <a:rPr dirty="0"/>
              <a:t> </a:t>
            </a:r>
            <a:r>
              <a:rPr dirty="0" err="1"/>
              <a:t>або</a:t>
            </a:r>
            <a:r>
              <a:rPr dirty="0"/>
              <a:t> </a:t>
            </a:r>
            <a:r>
              <a:rPr dirty="0" err="1"/>
              <a:t>асоціації</a:t>
            </a:r>
            <a:r>
              <a:rPr dirty="0"/>
              <a:t>, </a:t>
            </a:r>
            <a:r>
              <a:rPr dirty="0" err="1"/>
              <a:t>оскільки</a:t>
            </a:r>
            <a:r>
              <a:rPr dirty="0"/>
              <a:t> </a:t>
            </a:r>
            <a:r>
              <a:rPr dirty="0" err="1"/>
              <a:t>студент</a:t>
            </a:r>
            <a:r>
              <a:rPr dirty="0"/>
              <a:t> </a:t>
            </a:r>
            <a:r>
              <a:rPr dirty="0" err="1"/>
              <a:t>існує</a:t>
            </a:r>
            <a:r>
              <a:rPr dirty="0"/>
              <a:t> </a:t>
            </a:r>
            <a:r>
              <a:rPr dirty="0" err="1"/>
              <a:t>незалежно</a:t>
            </a:r>
            <a:r>
              <a:rPr dirty="0"/>
              <a:t> та </a:t>
            </a:r>
            <a:r>
              <a:rPr dirty="0" err="1"/>
              <a:t>може</a:t>
            </a:r>
            <a:r>
              <a:rPr dirty="0"/>
              <a:t> </a:t>
            </a:r>
            <a:r>
              <a:rPr dirty="0" err="1"/>
              <a:t>належати</a:t>
            </a:r>
            <a:r>
              <a:rPr dirty="0"/>
              <a:t> </a:t>
            </a:r>
            <a:r>
              <a:rPr dirty="0" err="1"/>
              <a:t>різним</a:t>
            </a:r>
            <a:r>
              <a:rPr dirty="0"/>
              <a:t> </a:t>
            </a:r>
            <a:r>
              <a:rPr dirty="0" err="1"/>
              <a:t>курсам</a:t>
            </a:r>
            <a:r>
              <a:rPr dirty="0"/>
              <a:t>. Не </a:t>
            </a:r>
            <a:r>
              <a:rPr dirty="0" err="1"/>
              <a:t>називайте</a:t>
            </a:r>
            <a:r>
              <a:rPr dirty="0"/>
              <a:t> </a:t>
            </a:r>
            <a:r>
              <a:rPr dirty="0" err="1"/>
              <a:t>його</a:t>
            </a:r>
            <a:r>
              <a:rPr dirty="0"/>
              <a:t> </a:t>
            </a:r>
            <a:r>
              <a:rPr dirty="0" err="1"/>
              <a:t>успадкуванням</a:t>
            </a:r>
            <a:r>
              <a:rPr dirty="0"/>
              <a:t>: курс не </a:t>
            </a:r>
            <a:r>
              <a:rPr dirty="0" err="1"/>
              <a:t>є</a:t>
            </a:r>
            <a:r>
              <a:rPr dirty="0"/>
              <a:t> </a:t>
            </a:r>
            <a:r>
              <a:rPr dirty="0" err="1"/>
              <a:t>студентом</a:t>
            </a:r>
            <a:r>
              <a:rPr dirty="0"/>
              <a:t>. Покажіть </a:t>
            </a:r>
            <a:r>
              <a:rPr dirty="0" err="1"/>
              <a:t>посилання</a:t>
            </a:r>
            <a:r>
              <a:rPr dirty="0"/>
              <a:t> словами: </a:t>
            </a:r>
            <a:r>
              <a:rPr dirty="0" err="1"/>
              <a:t>python_course.students</a:t>
            </a:r>
            <a:r>
              <a:rPr dirty="0"/>
              <a:t>[0] </a:t>
            </a:r>
            <a:r>
              <a:rPr dirty="0" err="1"/>
              <a:t>є</a:t>
            </a:r>
            <a:r>
              <a:rPr dirty="0"/>
              <a:t> </a:t>
            </a:r>
            <a:r>
              <a:rPr dirty="0" err="1"/>
              <a:t>тим</a:t>
            </a:r>
            <a:r>
              <a:rPr dirty="0"/>
              <a:t> </a:t>
            </a:r>
            <a:r>
              <a:rPr dirty="0" err="1"/>
              <a:t>самим</a:t>
            </a:r>
            <a:r>
              <a:rPr dirty="0"/>
              <a:t> </a:t>
            </a:r>
            <a:r>
              <a:rPr dirty="0" err="1"/>
              <a:t>olena</a:t>
            </a:r>
            <a:r>
              <a:rPr dirty="0"/>
              <a:t>. </a:t>
            </a:r>
            <a:r>
              <a:rPr dirty="0" err="1"/>
              <a:t>Поки</a:t>
            </a:r>
            <a:r>
              <a:rPr dirty="0"/>
              <a:t> не </a:t>
            </a:r>
            <a:r>
              <a:rPr dirty="0" err="1"/>
              <a:t>змінюйте</a:t>
            </a:r>
            <a:r>
              <a:rPr dirty="0"/>
              <a:t> </a:t>
            </a:r>
            <a:r>
              <a:rPr dirty="0" err="1"/>
              <a:t>його</a:t>
            </a:r>
            <a:r>
              <a:rPr dirty="0"/>
              <a:t>, </a:t>
            </a:r>
            <a:r>
              <a:rPr dirty="0" err="1"/>
              <a:t>відповідний</a:t>
            </a:r>
            <a:r>
              <a:rPr dirty="0"/>
              <a:t> </a:t>
            </a:r>
            <a:r>
              <a:rPr dirty="0" err="1"/>
              <a:t>прогноз</a:t>
            </a:r>
            <a:r>
              <a:rPr dirty="0"/>
              <a:t> </a:t>
            </a:r>
            <a:r>
              <a:rPr dirty="0" err="1"/>
              <a:t>є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резерві</a:t>
            </a:r>
            <a:r>
              <a:rPr dirty="0"/>
              <a:t>. Усі </a:t>
            </a:r>
            <a:r>
              <a:rPr dirty="0" err="1"/>
              <a:t>мають</a:t>
            </a:r>
            <a:r>
              <a:rPr dirty="0"/>
              <a:t> </a:t>
            </a:r>
            <a:r>
              <a:rPr dirty="0" err="1"/>
              <a:t>пояснити</a:t>
            </a:r>
            <a:r>
              <a:rPr dirty="0"/>
              <a:t> </a:t>
            </a:r>
            <a:r>
              <a:rPr dirty="0" err="1"/>
              <a:t>різницю</a:t>
            </a:r>
            <a:r>
              <a:rPr dirty="0"/>
              <a:t> </a:t>
            </a:r>
            <a:r>
              <a:rPr dirty="0" err="1"/>
              <a:t>між</a:t>
            </a:r>
            <a:r>
              <a:rPr dirty="0"/>
              <a:t> </a:t>
            </a:r>
            <a:r>
              <a:rPr dirty="0" err="1"/>
              <a:t>власним</a:t>
            </a:r>
            <a:r>
              <a:rPr dirty="0"/>
              <a:t> </a:t>
            </a:r>
            <a:r>
              <a:rPr dirty="0" err="1"/>
              <a:t>списком</a:t>
            </a:r>
            <a:r>
              <a:rPr dirty="0"/>
              <a:t> та </a:t>
            </a:r>
            <a:r>
              <a:rPr dirty="0" err="1"/>
              <a:t>спільним</a:t>
            </a:r>
            <a:r>
              <a:rPr dirty="0"/>
              <a:t> </a:t>
            </a:r>
            <a:r>
              <a:rPr dirty="0" err="1"/>
              <a:t>студентом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Тривалість</a:t>
            </a:r>
            <a:r>
              <a:rPr dirty="0"/>
              <a:t>: 6 </a:t>
            </a:r>
            <a:r>
              <a:rPr dirty="0" err="1"/>
              <a:t>хв</a:t>
            </a:r>
            <a:r>
              <a:rPr dirty="0"/>
              <a:t> (77 </a:t>
            </a:r>
            <a:r>
              <a:rPr dirty="0" err="1"/>
              <a:t>хв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К6: </a:t>
            </a:r>
            <a:r>
              <a:rPr dirty="0" err="1"/>
              <a:t>викладач</a:t>
            </a:r>
            <a:r>
              <a:rPr dirty="0"/>
              <a:t> </a:t>
            </a:r>
            <a:r>
              <a:rPr dirty="0" err="1"/>
              <a:t>переглядає</a:t>
            </a:r>
            <a:r>
              <a:rPr dirty="0"/>
              <a:t> </a:t>
            </a:r>
            <a:r>
              <a:rPr dirty="0" err="1"/>
              <a:t>обидва</a:t>
            </a:r>
            <a:r>
              <a:rPr dirty="0"/>
              <a:t> методи </a:t>
            </a:r>
            <a:r>
              <a:rPr dirty="0" err="1"/>
              <a:t>кожного</a:t>
            </a:r>
            <a:r>
              <a:rPr dirty="0"/>
              <a:t> та </a:t>
            </a:r>
            <a:r>
              <a:rPr dirty="0" err="1"/>
              <a:t>перевіряє</a:t>
            </a:r>
            <a:r>
              <a:rPr dirty="0"/>
              <a:t> </a:t>
            </a:r>
            <a:r>
              <a:rPr dirty="0" err="1"/>
              <a:t>їхній</a:t>
            </a:r>
            <a:r>
              <a:rPr dirty="0"/>
              <a:t> </a:t>
            </a:r>
            <a:r>
              <a:rPr dirty="0" err="1"/>
              <a:t>запуск</a:t>
            </a:r>
            <a:r>
              <a:rPr dirty="0"/>
              <a:t> </a:t>
            </a:r>
            <a:r>
              <a:rPr dirty="0" err="1"/>
              <a:t>наступним</a:t>
            </a:r>
            <a:r>
              <a:rPr dirty="0"/>
              <a:t> </a:t>
            </a:r>
            <a:r>
              <a:rPr dirty="0" err="1"/>
              <a:t>контрольним</a:t>
            </a:r>
            <a:r>
              <a:rPr dirty="0"/>
              <a:t> </a:t>
            </a:r>
            <a:r>
              <a:rPr dirty="0" err="1"/>
              <a:t>сценарієм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Поясніть</a:t>
            </a:r>
            <a:r>
              <a:rPr dirty="0"/>
              <a:t> if, </a:t>
            </a:r>
            <a:r>
              <a:rPr dirty="0" err="1"/>
              <a:t>перевірку</a:t>
            </a:r>
            <a:r>
              <a:rPr dirty="0"/>
              <a:t> </a:t>
            </a:r>
            <a:r>
              <a:rPr dirty="0" err="1"/>
              <a:t>входження</a:t>
            </a:r>
            <a:r>
              <a:rPr dirty="0"/>
              <a:t> in та </a:t>
            </a:r>
            <a:r>
              <a:rPr dirty="0" err="1"/>
              <a:t>ранній</a:t>
            </a:r>
            <a:r>
              <a:rPr dirty="0"/>
              <a:t> return. Метод </a:t>
            </a:r>
            <a:r>
              <a:rPr dirty="0" err="1"/>
              <a:t>приймає</a:t>
            </a:r>
            <a:r>
              <a:rPr dirty="0"/>
              <a:t> student </a:t>
            </a:r>
            <a:r>
              <a:rPr dirty="0" err="1"/>
              <a:t>як</a:t>
            </a:r>
            <a:r>
              <a:rPr dirty="0"/>
              <a:t> </a:t>
            </a:r>
            <a:r>
              <a:rPr dirty="0" err="1"/>
              <a:t>звичайний</a:t>
            </a:r>
            <a:r>
              <a:rPr dirty="0"/>
              <a:t> </a:t>
            </a:r>
            <a:r>
              <a:rPr dirty="0" err="1"/>
              <a:t>аргумент</a:t>
            </a:r>
            <a:r>
              <a:rPr dirty="0"/>
              <a:t>; self </a:t>
            </a:r>
            <a:r>
              <a:rPr dirty="0" err="1"/>
              <a:t>передається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виклику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екземпляр</a:t>
            </a:r>
            <a:r>
              <a:rPr dirty="0"/>
              <a:t>. Булевий </a:t>
            </a:r>
            <a:r>
              <a:rPr dirty="0" err="1"/>
              <a:t>результат</a:t>
            </a:r>
            <a:r>
              <a:rPr dirty="0"/>
              <a:t> </a:t>
            </a:r>
            <a:r>
              <a:rPr dirty="0" err="1"/>
              <a:t>повідомляє</a:t>
            </a:r>
            <a:r>
              <a:rPr dirty="0"/>
              <a:t>, </a:t>
            </a:r>
            <a:r>
              <a:rPr dirty="0" err="1"/>
              <a:t>чи</a:t>
            </a:r>
            <a:r>
              <a:rPr dirty="0"/>
              <a:t> </a:t>
            </a:r>
            <a:r>
              <a:rPr dirty="0" err="1"/>
              <a:t>виконано</a:t>
            </a:r>
            <a:r>
              <a:rPr dirty="0"/>
              <a:t> </a:t>
            </a:r>
            <a:r>
              <a:rPr dirty="0" err="1"/>
              <a:t>додавання</a:t>
            </a:r>
            <a:r>
              <a:rPr dirty="0"/>
              <a:t>. </a:t>
            </a:r>
            <a:r>
              <a:rPr dirty="0" err="1"/>
              <a:t>student_count</a:t>
            </a:r>
            <a:r>
              <a:rPr dirty="0"/>
              <a:t> не </a:t>
            </a:r>
            <a:r>
              <a:rPr dirty="0" err="1"/>
              <a:t>змінює</a:t>
            </a:r>
            <a:r>
              <a:rPr dirty="0"/>
              <a:t> </a:t>
            </a:r>
            <a:r>
              <a:rPr dirty="0" err="1"/>
              <a:t>список</a:t>
            </a:r>
            <a:r>
              <a:rPr dirty="0"/>
              <a:t>. </a:t>
            </a:r>
            <a:r>
              <a:rPr dirty="0" err="1"/>
              <a:t>Дайте</a:t>
            </a:r>
            <a:r>
              <a:rPr dirty="0"/>
              <a:t> 4 </a:t>
            </a:r>
            <a:r>
              <a:rPr dirty="0" err="1"/>
              <a:t>хвилини</a:t>
            </a:r>
            <a:r>
              <a:rPr dirty="0"/>
              <a:t> на </a:t>
            </a:r>
            <a:r>
              <a:rPr dirty="0" err="1"/>
              <a:t>набір</a:t>
            </a:r>
            <a:r>
              <a:rPr dirty="0"/>
              <a:t> і 2 на </a:t>
            </a:r>
            <a:r>
              <a:rPr dirty="0" err="1"/>
              <a:t>перевірку</a:t>
            </a:r>
            <a:r>
              <a:rPr dirty="0"/>
              <a:t>. </a:t>
            </a:r>
            <a:r>
              <a:rPr dirty="0" err="1"/>
              <a:t>Поки</a:t>
            </a:r>
            <a:r>
              <a:rPr dirty="0"/>
              <a:t> не </a:t>
            </a:r>
            <a:r>
              <a:rPr dirty="0" err="1"/>
              <a:t>оцінюйте</a:t>
            </a:r>
            <a:r>
              <a:rPr dirty="0"/>
              <a:t> </a:t>
            </a:r>
            <a:r>
              <a:rPr dirty="0" err="1"/>
              <a:t>послідовність</a:t>
            </a:r>
            <a:r>
              <a:rPr dirty="0"/>
              <a:t> </a:t>
            </a:r>
            <a:r>
              <a:rPr dirty="0" err="1"/>
              <a:t>повернень</a:t>
            </a:r>
            <a:r>
              <a:rPr dirty="0"/>
              <a:t> на </a:t>
            </a:r>
            <a:r>
              <a:rPr dirty="0" err="1"/>
              <a:t>старому</a:t>
            </a:r>
            <a:r>
              <a:rPr dirty="0"/>
              <a:t> </a:t>
            </a:r>
            <a:r>
              <a:rPr dirty="0" err="1"/>
              <a:t>демонстраційному</a:t>
            </a:r>
            <a:r>
              <a:rPr dirty="0"/>
              <a:t> </a:t>
            </a:r>
            <a:r>
              <a:rPr dirty="0" err="1"/>
              <a:t>коді</a:t>
            </a:r>
            <a:r>
              <a:rPr dirty="0"/>
              <a:t>, </a:t>
            </a:r>
            <a:r>
              <a:rPr dirty="0" err="1"/>
              <a:t>оскільки</a:t>
            </a:r>
            <a:r>
              <a:rPr dirty="0"/>
              <a:t> </a:t>
            </a:r>
            <a:r>
              <a:rPr dirty="0" err="1"/>
              <a:t>olena</a:t>
            </a:r>
            <a:r>
              <a:rPr dirty="0"/>
              <a:t> </a:t>
            </a:r>
            <a:r>
              <a:rPr dirty="0" err="1"/>
              <a:t>вже</a:t>
            </a:r>
            <a:r>
              <a:rPr dirty="0"/>
              <a:t> </a:t>
            </a:r>
            <a:r>
              <a:rPr dirty="0" err="1"/>
              <a:t>додана</a:t>
            </a:r>
            <a:r>
              <a:rPr dirty="0"/>
              <a:t> </a:t>
            </a:r>
            <a:r>
              <a:rPr dirty="0" err="1"/>
              <a:t>прямим</a:t>
            </a:r>
            <a:r>
              <a:rPr dirty="0"/>
              <a:t> append. Після </a:t>
            </a:r>
            <a:r>
              <a:rPr dirty="0" err="1"/>
              <a:t>перерви</a:t>
            </a:r>
            <a:r>
              <a:rPr dirty="0"/>
              <a:t> на </a:t>
            </a:r>
            <a:r>
              <a:rPr dirty="0" err="1"/>
              <a:t>слайді</a:t>
            </a:r>
            <a:r>
              <a:rPr dirty="0"/>
              <a:t> 19 </a:t>
            </a:r>
            <a:r>
              <a:rPr dirty="0" err="1"/>
              <a:t>замініть</a:t>
            </a:r>
            <a:r>
              <a:rPr dirty="0"/>
              <a:t> </a:t>
            </a:r>
            <a:r>
              <a:rPr dirty="0" err="1"/>
              <a:t>весь</a:t>
            </a:r>
            <a:r>
              <a:rPr dirty="0"/>
              <a:t> </a:t>
            </a:r>
            <a:r>
              <a:rPr dirty="0" err="1"/>
              <a:t>блок</a:t>
            </a:r>
            <a:r>
              <a:rPr dirty="0"/>
              <a:t> </a:t>
            </a:r>
            <a:r>
              <a:rPr dirty="0" err="1"/>
              <a:t>запуску</a:t>
            </a:r>
            <a:r>
              <a:rPr dirty="0"/>
              <a:t>. </a:t>
            </a:r>
            <a:r>
              <a:rPr dirty="0" err="1"/>
              <a:t>Мінімум</a:t>
            </a:r>
            <a:r>
              <a:rPr dirty="0"/>
              <a:t> К6: </a:t>
            </a:r>
            <a:r>
              <a:rPr dirty="0" err="1"/>
              <a:t>два</a:t>
            </a:r>
            <a:r>
              <a:rPr dirty="0"/>
              <a:t> методи </a:t>
            </a:r>
            <a:r>
              <a:rPr dirty="0" err="1"/>
              <a:t>всередині</a:t>
            </a:r>
            <a:r>
              <a:rPr dirty="0"/>
              <a:t> Course </a:t>
            </a:r>
            <a:r>
              <a:rPr dirty="0" err="1"/>
              <a:t>із</a:t>
            </a:r>
            <a:r>
              <a:rPr dirty="0"/>
              <a:t> </a:t>
            </a:r>
            <a:r>
              <a:rPr dirty="0" err="1"/>
              <a:t>правильними</a:t>
            </a:r>
            <a:r>
              <a:rPr dirty="0"/>
              <a:t> </a:t>
            </a:r>
            <a:r>
              <a:rPr dirty="0" err="1"/>
              <a:t>відступами</a:t>
            </a:r>
            <a:r>
              <a:rPr dirty="0"/>
              <a:t>; </a:t>
            </a:r>
            <a:r>
              <a:rPr dirty="0" err="1"/>
              <a:t>остаточна</a:t>
            </a:r>
            <a:r>
              <a:rPr dirty="0"/>
              <a:t> </a:t>
            </a:r>
            <a:r>
              <a:rPr dirty="0" err="1"/>
              <a:t>поведінка</a:t>
            </a:r>
            <a:r>
              <a:rPr dirty="0"/>
              <a:t> </a:t>
            </a:r>
            <a:r>
              <a:rPr dirty="0" err="1"/>
              <a:t>перевіряється</a:t>
            </a:r>
            <a:r>
              <a:rPr dirty="0"/>
              <a:t> </a:t>
            </a:r>
            <a:r>
              <a:rPr dirty="0" err="1"/>
              <a:t>після</a:t>
            </a:r>
            <a:r>
              <a:rPr dirty="0"/>
              <a:t> </a:t>
            </a:r>
            <a:r>
              <a:rPr dirty="0" err="1"/>
              <a:t>перерви</a:t>
            </a:r>
            <a:r>
              <a:rPr dirty="0"/>
              <a:t> на </a:t>
            </a:r>
            <a:r>
              <a:rPr dirty="0" err="1"/>
              <a:t>слайді</a:t>
            </a:r>
            <a:r>
              <a:rPr dirty="0"/>
              <a:t> 19. Не </a:t>
            </a:r>
            <a:r>
              <a:rPr dirty="0" err="1"/>
              <a:t>вводьте</a:t>
            </a:r>
            <a:r>
              <a:rPr dirty="0"/>
              <a:t> </a:t>
            </a:r>
            <a:r>
              <a:rPr dirty="0" err="1"/>
              <a:t>перевірку</a:t>
            </a:r>
            <a:r>
              <a:rPr dirty="0"/>
              <a:t> </a:t>
            </a:r>
            <a:r>
              <a:rPr dirty="0" err="1"/>
              <a:t>типу</a:t>
            </a:r>
            <a:r>
              <a:rPr dirty="0"/>
              <a:t> student, </a:t>
            </a:r>
            <a:r>
              <a:rPr dirty="0" err="1"/>
              <a:t>валідацію</a:t>
            </a:r>
            <a:r>
              <a:rPr dirty="0"/>
              <a:t> email </a:t>
            </a:r>
            <a:r>
              <a:rPr dirty="0" err="1"/>
              <a:t>чи</a:t>
            </a:r>
            <a:r>
              <a:rPr dirty="0"/>
              <a:t> </a:t>
            </a:r>
            <a:r>
              <a:rPr dirty="0" err="1"/>
              <a:t>винятки</a:t>
            </a:r>
            <a:r>
              <a:rPr dirty="0"/>
              <a:t> до </a:t>
            </a:r>
            <a:r>
              <a:rPr dirty="0" err="1"/>
              <a:t>їх</a:t>
            </a:r>
            <a:r>
              <a:rPr dirty="0"/>
              <a:t> </a:t>
            </a:r>
            <a:r>
              <a:rPr dirty="0" err="1"/>
              <a:t>пояснення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Тривалість</a:t>
            </a:r>
            <a:r>
              <a:rPr dirty="0"/>
              <a:t>: </a:t>
            </a:r>
            <a:r>
              <a:rPr lang="uk-UA" dirty="0"/>
              <a:t>5</a:t>
            </a:r>
            <a:r>
              <a:rPr dirty="0"/>
              <a:t> </a:t>
            </a:r>
            <a:r>
              <a:rPr dirty="0" err="1"/>
              <a:t>хв</a:t>
            </a:r>
            <a:r>
              <a:rPr dirty="0"/>
              <a:t> (8</a:t>
            </a:r>
            <a:r>
              <a:rPr lang="uk-UA" dirty="0"/>
              <a:t>2</a:t>
            </a:r>
            <a:r>
              <a:rPr dirty="0"/>
              <a:t> </a:t>
            </a:r>
            <a:r>
              <a:rPr dirty="0" err="1"/>
              <a:t>хв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Кожен </a:t>
            </a:r>
            <a:r>
              <a:rPr dirty="0" err="1"/>
              <a:t>підтверджує</a:t>
            </a:r>
            <a:r>
              <a:rPr dirty="0"/>
              <a:t> </a:t>
            </a:r>
            <a:r>
              <a:rPr dirty="0" err="1"/>
              <a:t>збереження</a:t>
            </a:r>
            <a:r>
              <a:rPr dirty="0"/>
              <a:t> </a:t>
            </a:r>
            <a:r>
              <a:rPr dirty="0" err="1"/>
              <a:t>model.py</a:t>
            </a:r>
            <a:r>
              <a:rPr dirty="0"/>
              <a:t>; </a:t>
            </a:r>
            <a:r>
              <a:rPr dirty="0" err="1"/>
              <a:t>викладач</a:t>
            </a:r>
            <a:r>
              <a:rPr dirty="0"/>
              <a:t> </a:t>
            </a:r>
            <a:r>
              <a:rPr dirty="0" err="1"/>
              <a:t>звіряє</a:t>
            </a:r>
            <a:r>
              <a:rPr dirty="0"/>
              <a:t> </a:t>
            </a:r>
            <a:r>
              <a:rPr dirty="0" err="1"/>
              <a:t>фактично</a:t>
            </a:r>
            <a:r>
              <a:rPr dirty="0"/>
              <a:t> </a:t>
            </a:r>
            <a:r>
              <a:rPr dirty="0" err="1"/>
              <a:t>отримані</a:t>
            </a:r>
            <a:r>
              <a:rPr dirty="0"/>
              <a:t> </a:t>
            </a:r>
            <a:r>
              <a:rPr dirty="0" err="1"/>
              <a:t>результати</a:t>
            </a:r>
            <a:r>
              <a:rPr dirty="0"/>
              <a:t> К3-К5 та </a:t>
            </a:r>
            <a:r>
              <a:rPr dirty="0" err="1"/>
              <a:t>визначення</a:t>
            </a:r>
            <a:r>
              <a:rPr dirty="0"/>
              <a:t> </a:t>
            </a:r>
            <a:r>
              <a:rPr dirty="0" err="1"/>
              <a:t>методів</a:t>
            </a:r>
            <a:r>
              <a:rPr dirty="0"/>
              <a:t> К6.</a:t>
            </a:r>
          </a:p>
          <a:p>
            <a:endParaRPr dirty="0"/>
          </a:p>
          <a:p>
            <a:r>
              <a:rPr dirty="0" err="1"/>
              <a:t>Очікуйте</a:t>
            </a:r>
            <a:r>
              <a:rPr dirty="0"/>
              <a:t>: клас і </a:t>
            </a:r>
            <a:r>
              <a:rPr dirty="0" err="1"/>
              <a:t>екземпляр</a:t>
            </a:r>
            <a:r>
              <a:rPr dirty="0"/>
              <a:t>; </a:t>
            </a:r>
            <a:r>
              <a:rPr dirty="0" err="1"/>
              <a:t>у</a:t>
            </a:r>
            <a:r>
              <a:rPr dirty="0"/>
              <a:t> </a:t>
            </a:r>
            <a:r>
              <a:rPr dirty="0" err="1"/>
              <a:t>self.name</a:t>
            </a:r>
            <a:r>
              <a:rPr dirty="0"/>
              <a:t> </a:t>
            </a:r>
            <a:r>
              <a:rPr dirty="0" err="1"/>
              <a:t>конкретного</a:t>
            </a:r>
            <a:r>
              <a:rPr dirty="0"/>
              <a:t> </a:t>
            </a:r>
            <a:r>
              <a:rPr dirty="0" err="1"/>
              <a:t>студента</a:t>
            </a:r>
            <a:r>
              <a:rPr dirty="0"/>
              <a:t>; </a:t>
            </a:r>
            <a:r>
              <a:rPr dirty="0" err="1"/>
              <a:t>метод</a:t>
            </a:r>
            <a:r>
              <a:rPr dirty="0"/>
              <a:t> </a:t>
            </a:r>
            <a:r>
              <a:rPr dirty="0" err="1"/>
              <a:t>читає</a:t>
            </a:r>
            <a:r>
              <a:rPr dirty="0"/>
              <a:t> дані </a:t>
            </a:r>
            <a:r>
              <a:rPr dirty="0" err="1"/>
              <a:t>поточного</a:t>
            </a:r>
            <a:r>
              <a:rPr dirty="0"/>
              <a:t> об'єкта. </a:t>
            </a:r>
            <a:r>
              <a:rPr dirty="0" err="1"/>
              <a:t>Перевірте</a:t>
            </a:r>
            <a:r>
              <a:rPr dirty="0"/>
              <a:t> К3-К5 та </a:t>
            </a:r>
            <a:r>
              <a:rPr dirty="0" err="1"/>
              <a:t>визначення</a:t>
            </a:r>
            <a:r>
              <a:rPr dirty="0"/>
              <a:t> </a:t>
            </a:r>
            <a:r>
              <a:rPr dirty="0" err="1"/>
              <a:t>методів</a:t>
            </a:r>
            <a:r>
              <a:rPr dirty="0"/>
              <a:t> К6, за </a:t>
            </a:r>
            <a:r>
              <a:rPr dirty="0" err="1"/>
              <a:t>потреби</a:t>
            </a:r>
            <a:r>
              <a:rPr dirty="0"/>
              <a:t> </a:t>
            </a:r>
            <a:r>
              <a:rPr dirty="0" err="1"/>
              <a:t>дайте</a:t>
            </a:r>
            <a:r>
              <a:rPr dirty="0"/>
              <a:t> </a:t>
            </a:r>
            <a:r>
              <a:rPr dirty="0" err="1"/>
              <a:t>робочу</a:t>
            </a:r>
            <a:r>
              <a:rPr dirty="0"/>
              <a:t> </a:t>
            </a:r>
            <a:r>
              <a:rPr dirty="0" err="1"/>
              <a:t>основу</a:t>
            </a:r>
            <a:r>
              <a:rPr dirty="0"/>
              <a:t> </a:t>
            </a:r>
            <a:r>
              <a:rPr dirty="0" err="1"/>
              <a:t>із</a:t>
            </a:r>
            <a:r>
              <a:rPr dirty="0"/>
              <a:t> </a:t>
            </a:r>
            <a:r>
              <a:rPr dirty="0" err="1"/>
              <a:t>двома</a:t>
            </a:r>
            <a:r>
              <a:rPr dirty="0"/>
              <a:t> </a:t>
            </a:r>
            <a:r>
              <a:rPr dirty="0" err="1"/>
              <a:t>класами</a:t>
            </a:r>
            <a:r>
              <a:rPr dirty="0"/>
              <a:t>, </a:t>
            </a:r>
            <a:r>
              <a:rPr dirty="0" err="1"/>
              <a:t>але</a:t>
            </a:r>
            <a:r>
              <a:rPr dirty="0"/>
              <a:t> </a:t>
            </a:r>
            <a:r>
              <a:rPr dirty="0" err="1"/>
              <a:t>попросіть</a:t>
            </a:r>
            <a:r>
              <a:rPr dirty="0"/>
              <a:t> </a:t>
            </a:r>
            <a:r>
              <a:rPr dirty="0" err="1"/>
              <a:t>самостійно</a:t>
            </a:r>
            <a:r>
              <a:rPr dirty="0"/>
              <a:t> </a:t>
            </a:r>
            <a:r>
              <a:rPr dirty="0" err="1"/>
              <a:t>відновити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атрибут</a:t>
            </a:r>
            <a:r>
              <a:rPr dirty="0"/>
              <a:t> і </a:t>
            </a:r>
            <a:r>
              <a:rPr dirty="0" err="1"/>
              <a:t>пояснити</a:t>
            </a:r>
            <a:r>
              <a:rPr dirty="0"/>
              <a:t> </a:t>
            </a:r>
            <a:r>
              <a:rPr dirty="0" err="1"/>
              <a:t>його</a:t>
            </a:r>
            <a:r>
              <a:rPr dirty="0"/>
              <a:t>. Зафіксуйте </a:t>
            </a:r>
            <a:r>
              <a:rPr dirty="0" err="1"/>
              <a:t>незавершені</a:t>
            </a:r>
            <a:r>
              <a:rPr dirty="0"/>
              <a:t> </a:t>
            </a:r>
            <a:r>
              <a:rPr dirty="0" err="1"/>
              <a:t>перевірки</a:t>
            </a:r>
            <a:r>
              <a:rPr dirty="0"/>
              <a:t>. Оголосіть </a:t>
            </a:r>
            <a:r>
              <a:rPr dirty="0" err="1"/>
              <a:t>точний</a:t>
            </a:r>
            <a:r>
              <a:rPr dirty="0"/>
              <a:t> </a:t>
            </a:r>
            <a:r>
              <a:rPr dirty="0" err="1"/>
              <a:t>час</a:t>
            </a:r>
            <a:r>
              <a:rPr dirty="0"/>
              <a:t> </a:t>
            </a:r>
            <a:r>
              <a:rPr dirty="0" err="1"/>
              <a:t>повернення</a:t>
            </a:r>
            <a:r>
              <a:rPr dirty="0"/>
              <a:t> за </a:t>
            </a:r>
            <a:r>
              <a:rPr dirty="0" err="1"/>
              <a:t>розкладом</a:t>
            </a:r>
            <a:r>
              <a:rPr dirty="0"/>
              <a:t>, </a:t>
            </a:r>
            <a:r>
              <a:rPr dirty="0" err="1"/>
              <a:t>продублюйте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чаті</a:t>
            </a:r>
            <a:r>
              <a:rPr dirty="0"/>
              <a:t>. На </a:t>
            </a:r>
            <a:r>
              <a:rPr dirty="0" err="1"/>
              <a:t>перерву</a:t>
            </a:r>
            <a:r>
              <a:rPr dirty="0"/>
              <a:t> </a:t>
            </a:r>
            <a:r>
              <a:rPr dirty="0" err="1"/>
              <a:t>обов'язкових</a:t>
            </a:r>
            <a:r>
              <a:rPr dirty="0"/>
              <a:t> </a:t>
            </a:r>
            <a:r>
              <a:rPr dirty="0" err="1"/>
              <a:t>завдань</a:t>
            </a:r>
            <a:r>
              <a:rPr dirty="0"/>
              <a:t> </a:t>
            </a:r>
            <a:r>
              <a:rPr dirty="0" err="1"/>
              <a:t>немає</a:t>
            </a:r>
            <a:r>
              <a:rPr dirty="0"/>
              <a:t>. Перша </a:t>
            </a:r>
            <a:r>
              <a:rPr dirty="0" err="1"/>
              <a:t>пара</a:t>
            </a:r>
            <a:r>
              <a:rPr dirty="0"/>
              <a:t> </a:t>
            </a:r>
            <a:r>
              <a:rPr dirty="0" err="1"/>
              <a:t>завершується</a:t>
            </a:r>
            <a:r>
              <a:rPr dirty="0"/>
              <a:t> </a:t>
            </a:r>
            <a:r>
              <a:rPr dirty="0" err="1"/>
              <a:t>рівно</a:t>
            </a:r>
            <a:r>
              <a:rPr dirty="0"/>
              <a:t> на 80-й </a:t>
            </a:r>
            <a:r>
              <a:rPr dirty="0" err="1"/>
              <a:t>навчальній</a:t>
            </a:r>
            <a:r>
              <a:rPr dirty="0"/>
              <a:t> </a:t>
            </a:r>
            <a:r>
              <a:rPr dirty="0" err="1"/>
              <a:t>хвилині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Тривалість</a:t>
            </a:r>
            <a:r>
              <a:rPr dirty="0"/>
              <a:t>: 5 </a:t>
            </a:r>
            <a:r>
              <a:rPr dirty="0" err="1"/>
              <a:t>хв</a:t>
            </a:r>
            <a:r>
              <a:rPr dirty="0"/>
              <a:t> (87 </a:t>
            </a:r>
            <a:r>
              <a:rPr dirty="0" err="1"/>
              <a:t>хв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К6: </a:t>
            </a:r>
            <a:r>
              <a:rPr dirty="0" err="1"/>
              <a:t>кожен</a:t>
            </a:r>
            <a:r>
              <a:rPr dirty="0"/>
              <a:t> </a:t>
            </a:r>
            <a:r>
              <a:rPr dirty="0" err="1"/>
              <a:t>надсилає</a:t>
            </a:r>
            <a:r>
              <a:rPr dirty="0"/>
              <a:t> файл і </a:t>
            </a:r>
            <a:r>
              <a:rPr dirty="0" err="1"/>
              <a:t>п'ять</a:t>
            </a:r>
            <a:r>
              <a:rPr dirty="0"/>
              <a:t> </a:t>
            </a:r>
            <a:r>
              <a:rPr dirty="0" err="1"/>
              <a:t>рядків</a:t>
            </a:r>
            <a:r>
              <a:rPr dirty="0"/>
              <a:t>. </a:t>
            </a:r>
            <a:r>
              <a:rPr dirty="0" err="1"/>
              <a:t>Викладач</a:t>
            </a:r>
            <a:r>
              <a:rPr dirty="0"/>
              <a:t> </a:t>
            </a:r>
            <a:r>
              <a:rPr dirty="0" err="1"/>
              <a:t>звіряє</a:t>
            </a:r>
            <a:r>
              <a:rPr dirty="0"/>
              <a:t> </a:t>
            </a:r>
            <a:r>
              <a:rPr dirty="0" err="1"/>
              <a:t>точний</a:t>
            </a:r>
            <a:r>
              <a:rPr dirty="0"/>
              <a:t> </a:t>
            </a:r>
            <a:r>
              <a:rPr dirty="0" err="1"/>
              <a:t>порядок</a:t>
            </a:r>
            <a:r>
              <a:rPr dirty="0"/>
              <a:t>, </a:t>
            </a:r>
            <a:r>
              <a:rPr dirty="0" err="1"/>
              <a:t>незалежність</a:t>
            </a:r>
            <a:r>
              <a:rPr dirty="0"/>
              <a:t> </a:t>
            </a:r>
            <a:r>
              <a:rPr dirty="0" err="1"/>
              <a:t>списків</a:t>
            </a:r>
            <a:r>
              <a:rPr dirty="0"/>
              <a:t> і </a:t>
            </a:r>
            <a:r>
              <a:rPr dirty="0" err="1"/>
              <a:t>обробку</a:t>
            </a:r>
            <a:r>
              <a:rPr dirty="0"/>
              <a:t> </a:t>
            </a:r>
            <a:r>
              <a:rPr dirty="0" err="1"/>
              <a:t>повтору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Визначення </a:t>
            </a:r>
            <a:r>
              <a:rPr dirty="0" err="1"/>
              <a:t>двох</a:t>
            </a:r>
            <a:r>
              <a:rPr dirty="0"/>
              <a:t> </a:t>
            </a:r>
            <a:r>
              <a:rPr dirty="0" err="1"/>
              <a:t>класів</a:t>
            </a:r>
            <a:r>
              <a:rPr dirty="0"/>
              <a:t> </a:t>
            </a:r>
            <a:r>
              <a:rPr dirty="0" err="1"/>
              <a:t>залишаються</a:t>
            </a:r>
            <a:r>
              <a:rPr dirty="0"/>
              <a:t> </a:t>
            </a:r>
            <a:r>
              <a:rPr dirty="0" err="1"/>
              <a:t>нагорі</a:t>
            </a:r>
            <a:r>
              <a:rPr dirty="0"/>
              <a:t>. </a:t>
            </a:r>
            <a:r>
              <a:rPr dirty="0" err="1"/>
              <a:t>Видаліть</a:t>
            </a:r>
            <a:r>
              <a:rPr dirty="0"/>
              <a:t> </a:t>
            </a:r>
            <a:r>
              <a:rPr dirty="0" err="1"/>
              <a:t>увесь</a:t>
            </a:r>
            <a:r>
              <a:rPr dirty="0"/>
              <a:t> </a:t>
            </a:r>
            <a:r>
              <a:rPr dirty="0" err="1"/>
              <a:t>старий</a:t>
            </a:r>
            <a:r>
              <a:rPr dirty="0"/>
              <a:t> </a:t>
            </a:r>
            <a:r>
              <a:rPr dirty="0" err="1"/>
              <a:t>блок</a:t>
            </a:r>
            <a:r>
              <a:rPr dirty="0"/>
              <a:t> </a:t>
            </a:r>
            <a:r>
              <a:rPr dirty="0" err="1"/>
              <a:t>запуску</a:t>
            </a:r>
            <a:r>
              <a:rPr dirty="0"/>
              <a:t>, </a:t>
            </a:r>
            <a:r>
              <a:rPr dirty="0" err="1"/>
              <a:t>включно</a:t>
            </a:r>
            <a:r>
              <a:rPr dirty="0"/>
              <a:t> </a:t>
            </a:r>
            <a:r>
              <a:rPr dirty="0" err="1"/>
              <a:t>з</a:t>
            </a:r>
            <a:r>
              <a:rPr dirty="0"/>
              <a:t> </a:t>
            </a:r>
            <a:r>
              <a:rPr dirty="0" err="1"/>
              <a:t>прямим</a:t>
            </a:r>
            <a:r>
              <a:rPr dirty="0"/>
              <a:t> append та </a:t>
            </a:r>
            <a:r>
              <a:rPr dirty="0" err="1"/>
              <a:t>зміною</a:t>
            </a:r>
            <a:r>
              <a:rPr dirty="0"/>
              <a:t> title, і </a:t>
            </a:r>
            <a:r>
              <a:rPr dirty="0" err="1"/>
              <a:t>вставте</a:t>
            </a:r>
            <a:r>
              <a:rPr dirty="0"/>
              <a:t> </a:t>
            </a:r>
            <a:r>
              <a:rPr dirty="0" err="1"/>
              <a:t>наведений</a:t>
            </a:r>
            <a:r>
              <a:rPr dirty="0"/>
              <a:t>. Три </a:t>
            </a:r>
            <a:r>
              <a:rPr dirty="0" err="1"/>
              <a:t>сценарії</a:t>
            </a:r>
            <a:r>
              <a:rPr dirty="0"/>
              <a:t>: </a:t>
            </a:r>
            <a:r>
              <a:rPr dirty="0" err="1"/>
              <a:t>порожній</a:t>
            </a:r>
            <a:r>
              <a:rPr dirty="0"/>
              <a:t> курс, </a:t>
            </a:r>
            <a:r>
              <a:rPr dirty="0" err="1"/>
              <a:t>перший</a:t>
            </a:r>
            <a:r>
              <a:rPr dirty="0"/>
              <a:t> </a:t>
            </a:r>
            <a:r>
              <a:rPr dirty="0" err="1"/>
              <a:t>запис</a:t>
            </a:r>
            <a:r>
              <a:rPr dirty="0"/>
              <a:t>, </a:t>
            </a:r>
            <a:r>
              <a:rPr dirty="0" err="1"/>
              <a:t>повторний</a:t>
            </a:r>
            <a:r>
              <a:rPr dirty="0"/>
              <a:t> </a:t>
            </a:r>
            <a:r>
              <a:rPr dirty="0" err="1"/>
              <a:t>запис</a:t>
            </a:r>
            <a:r>
              <a:rPr dirty="0"/>
              <a:t>; </a:t>
            </a:r>
            <a:r>
              <a:rPr dirty="0" err="1"/>
              <a:t>окремо</a:t>
            </a:r>
            <a:r>
              <a:rPr dirty="0"/>
              <a:t> </a:t>
            </a:r>
            <a:r>
              <a:rPr dirty="0" err="1"/>
              <a:t>перевіряється</a:t>
            </a:r>
            <a:r>
              <a:rPr dirty="0"/>
              <a:t> </a:t>
            </a:r>
            <a:r>
              <a:rPr dirty="0" err="1"/>
              <a:t>незалежність</a:t>
            </a:r>
            <a:r>
              <a:rPr dirty="0"/>
              <a:t> </a:t>
            </a:r>
            <a:r>
              <a:rPr dirty="0" err="1"/>
              <a:t>другого</a:t>
            </a:r>
            <a:r>
              <a:rPr dirty="0"/>
              <a:t> </a:t>
            </a:r>
            <a:r>
              <a:rPr dirty="0" err="1"/>
              <a:t>курсу</a:t>
            </a:r>
            <a:r>
              <a:rPr dirty="0"/>
              <a:t>. Перш </a:t>
            </a:r>
            <a:r>
              <a:rPr dirty="0" err="1"/>
              <a:t>ніж</a:t>
            </a:r>
            <a:r>
              <a:rPr dirty="0"/>
              <a:t> </a:t>
            </a:r>
            <a:r>
              <a:rPr dirty="0" err="1"/>
              <a:t>запустити</a:t>
            </a:r>
            <a:r>
              <a:rPr dirty="0"/>
              <a:t>, </a:t>
            </a:r>
            <a:r>
              <a:rPr dirty="0" err="1"/>
              <a:t>усі</a:t>
            </a:r>
            <a:r>
              <a:rPr dirty="0"/>
              <a:t> </a:t>
            </a:r>
            <a:r>
              <a:rPr dirty="0" err="1"/>
              <a:t>надсилають</a:t>
            </a:r>
            <a:r>
              <a:rPr dirty="0"/>
              <a:t> </a:t>
            </a:r>
            <a:r>
              <a:rPr dirty="0" err="1"/>
              <a:t>прогноз</a:t>
            </a:r>
            <a:r>
              <a:rPr dirty="0"/>
              <a:t> </a:t>
            </a:r>
            <a:r>
              <a:rPr dirty="0" err="1"/>
              <a:t>п'яти</a:t>
            </a:r>
            <a:r>
              <a:rPr dirty="0"/>
              <a:t> </a:t>
            </a:r>
            <a:r>
              <a:rPr dirty="0" err="1"/>
              <a:t>рядків</a:t>
            </a:r>
            <a:r>
              <a:rPr dirty="0"/>
              <a:t>. Перегляньте </a:t>
            </a:r>
            <a:r>
              <a:rPr dirty="0" err="1"/>
              <a:t>результат</a:t>
            </a:r>
            <a:r>
              <a:rPr dirty="0"/>
              <a:t> </a:t>
            </a:r>
            <a:r>
              <a:rPr dirty="0" err="1"/>
              <a:t>кожного</a:t>
            </a:r>
            <a:r>
              <a:rPr dirty="0"/>
              <a:t>. Якщо </a:t>
            </a:r>
            <a:r>
              <a:rPr dirty="0" err="1"/>
              <a:t>обидва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 True, </a:t>
            </a:r>
            <a:r>
              <a:rPr dirty="0" err="1"/>
              <a:t>перевірте</a:t>
            </a:r>
            <a:r>
              <a:rPr dirty="0"/>
              <a:t> if; якщо </a:t>
            </a:r>
            <a:r>
              <a:rPr dirty="0" err="1"/>
              <a:t>другий</a:t>
            </a:r>
            <a:r>
              <a:rPr dirty="0"/>
              <a:t> курс </a:t>
            </a:r>
            <a:r>
              <a:rPr dirty="0" err="1"/>
              <a:t>має</a:t>
            </a:r>
            <a:r>
              <a:rPr dirty="0"/>
              <a:t> 1, </a:t>
            </a:r>
            <a:r>
              <a:rPr dirty="0" err="1"/>
              <a:t>перевірте</a:t>
            </a:r>
            <a:r>
              <a:rPr dirty="0"/>
              <a:t> </a:t>
            </a:r>
            <a:r>
              <a:rPr dirty="0" err="1"/>
              <a:t>місце</a:t>
            </a:r>
            <a:r>
              <a:rPr dirty="0"/>
              <a:t> створення students. Попросіть </a:t>
            </a:r>
            <a:r>
              <a:rPr dirty="0" err="1"/>
              <a:t>одного</a:t>
            </a:r>
            <a:r>
              <a:rPr dirty="0"/>
              <a:t> </a:t>
            </a:r>
            <a:r>
              <a:rPr dirty="0" err="1"/>
              <a:t>учасника</a:t>
            </a:r>
            <a:r>
              <a:rPr dirty="0"/>
              <a:t> </a:t>
            </a:r>
            <a:r>
              <a:rPr dirty="0" err="1"/>
              <a:t>пояснити</a:t>
            </a:r>
            <a:r>
              <a:rPr dirty="0"/>
              <a:t>, </a:t>
            </a:r>
            <a:r>
              <a:rPr dirty="0" err="1"/>
              <a:t>чому</a:t>
            </a:r>
            <a:r>
              <a:rPr dirty="0"/>
              <a:t> False не </a:t>
            </a:r>
            <a:r>
              <a:rPr dirty="0" err="1"/>
              <a:t>є</a:t>
            </a:r>
            <a:r>
              <a:rPr dirty="0"/>
              <a:t> </a:t>
            </a:r>
            <a:r>
              <a:rPr dirty="0" err="1"/>
              <a:t>помилкою</a:t>
            </a:r>
            <a:r>
              <a:rPr dirty="0"/>
              <a:t> </a:t>
            </a:r>
            <a:r>
              <a:rPr dirty="0" err="1"/>
              <a:t>виконання</a:t>
            </a:r>
            <a:r>
              <a:rPr dirty="0"/>
              <a:t>: </a:t>
            </a:r>
            <a:r>
              <a:rPr dirty="0" err="1"/>
              <a:t>це</a:t>
            </a:r>
            <a:r>
              <a:rPr dirty="0"/>
              <a:t> </a:t>
            </a:r>
            <a:r>
              <a:rPr dirty="0" err="1"/>
              <a:t>очікувана</a:t>
            </a:r>
            <a:r>
              <a:rPr dirty="0"/>
              <a:t> </a:t>
            </a:r>
            <a:r>
              <a:rPr dirty="0" err="1"/>
              <a:t>відповідь</a:t>
            </a:r>
            <a:r>
              <a:rPr dirty="0"/>
              <a:t> на </a:t>
            </a:r>
            <a:r>
              <a:rPr dirty="0" err="1"/>
              <a:t>заборонений</a:t>
            </a:r>
            <a:r>
              <a:rPr dirty="0"/>
              <a:t> </a:t>
            </a:r>
            <a:r>
              <a:rPr dirty="0" err="1"/>
              <a:t>повтор</a:t>
            </a:r>
            <a:r>
              <a:rPr dirty="0"/>
              <a:t>. Завершіть </a:t>
            </a:r>
            <a:r>
              <a:rPr dirty="0" err="1"/>
              <a:t>перевірку</a:t>
            </a:r>
            <a:r>
              <a:rPr dirty="0"/>
              <a:t> К6.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Тривалість</a:t>
            </a:r>
            <a:r>
              <a:rPr dirty="0"/>
              <a:t>: 5 </a:t>
            </a:r>
            <a:r>
              <a:rPr dirty="0" err="1"/>
              <a:t>хв</a:t>
            </a:r>
            <a:r>
              <a:rPr dirty="0"/>
              <a:t> (92 </a:t>
            </a:r>
            <a:r>
              <a:rPr dirty="0" err="1"/>
              <a:t>хв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К7: </a:t>
            </a:r>
            <a:r>
              <a:rPr dirty="0" err="1"/>
              <a:t>викладач</a:t>
            </a:r>
            <a:r>
              <a:rPr dirty="0"/>
              <a:t> </a:t>
            </a:r>
            <a:r>
              <a:rPr dirty="0" err="1"/>
              <a:t>перевіряє</a:t>
            </a:r>
            <a:r>
              <a:rPr dirty="0"/>
              <a:t> </a:t>
            </a:r>
            <a:r>
              <a:rPr dirty="0" err="1"/>
              <a:t>п'ять</a:t>
            </a:r>
            <a:r>
              <a:rPr dirty="0"/>
              <a:t> </a:t>
            </a:r>
            <a:r>
              <a:rPr dirty="0" err="1"/>
              <a:t>нових</a:t>
            </a:r>
            <a:r>
              <a:rPr dirty="0"/>
              <a:t> </a:t>
            </a:r>
            <a:r>
              <a:rPr dirty="0" err="1"/>
              <a:t>рядків</a:t>
            </a:r>
            <a:r>
              <a:rPr dirty="0"/>
              <a:t> і </a:t>
            </a:r>
            <a:r>
              <a:rPr dirty="0" err="1"/>
              <a:t>код</a:t>
            </a:r>
            <a:r>
              <a:rPr dirty="0"/>
              <a:t> </a:t>
            </a:r>
            <a:r>
              <a:rPr dirty="0" err="1"/>
              <a:t>кожного</a:t>
            </a:r>
            <a:r>
              <a:rPr dirty="0"/>
              <a:t>; </a:t>
            </a:r>
            <a:r>
              <a:rPr dirty="0" err="1"/>
              <a:t>після</a:t>
            </a:r>
            <a:r>
              <a:rPr dirty="0"/>
              <a:t> </a:t>
            </a:r>
            <a:r>
              <a:rPr dirty="0" err="1"/>
              <a:t>допомоги</a:t>
            </a:r>
            <a:r>
              <a:rPr dirty="0"/>
              <a:t> </a:t>
            </a:r>
            <a:r>
              <a:rPr dirty="0" err="1"/>
              <a:t>потрібен</a:t>
            </a:r>
            <a:r>
              <a:rPr dirty="0"/>
              <a:t> </a:t>
            </a:r>
            <a:r>
              <a:rPr dirty="0" err="1"/>
              <a:t>повторний</a:t>
            </a:r>
            <a:r>
              <a:rPr dirty="0"/>
              <a:t> </a:t>
            </a:r>
            <a:r>
              <a:rPr dirty="0" err="1"/>
              <a:t>запуск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3 </a:t>
            </a:r>
            <a:r>
              <a:rPr dirty="0" err="1"/>
              <a:t>хвилини</a:t>
            </a:r>
            <a:r>
              <a:rPr dirty="0"/>
              <a:t> на </a:t>
            </a:r>
            <a:r>
              <a:rPr dirty="0" err="1"/>
              <a:t>самостійну</a:t>
            </a:r>
            <a:r>
              <a:rPr dirty="0"/>
              <a:t> </a:t>
            </a:r>
            <a:r>
              <a:rPr dirty="0" err="1"/>
              <a:t>зміну</a:t>
            </a:r>
            <a:r>
              <a:rPr dirty="0"/>
              <a:t>, 2 на </a:t>
            </a:r>
            <a:r>
              <a:rPr dirty="0" err="1"/>
              <a:t>перевірку</a:t>
            </a:r>
            <a:r>
              <a:rPr dirty="0"/>
              <a:t>. Нового </a:t>
            </a:r>
            <a:r>
              <a:rPr dirty="0" err="1"/>
              <a:t>синтаксису</a:t>
            </a:r>
            <a:r>
              <a:rPr dirty="0"/>
              <a:t> </a:t>
            </a:r>
            <a:r>
              <a:rPr dirty="0" err="1"/>
              <a:t>немає</a:t>
            </a:r>
            <a:r>
              <a:rPr dirty="0"/>
              <a:t>: </a:t>
            </a:r>
            <a:r>
              <a:rPr dirty="0" err="1"/>
              <a:t>це</a:t>
            </a:r>
            <a:r>
              <a:rPr dirty="0"/>
              <a:t> </a:t>
            </a:r>
            <a:r>
              <a:rPr dirty="0" err="1"/>
              <a:t>перенесення</a:t>
            </a:r>
            <a:r>
              <a:rPr dirty="0"/>
              <a:t> </a:t>
            </a:r>
            <a:r>
              <a:rPr dirty="0" err="1"/>
              <a:t>знайомої</a:t>
            </a:r>
            <a:r>
              <a:rPr dirty="0"/>
              <a:t> </a:t>
            </a:r>
            <a:r>
              <a:rPr dirty="0" err="1"/>
              <a:t>дії</a:t>
            </a:r>
            <a:r>
              <a:rPr dirty="0"/>
              <a:t> на </a:t>
            </a:r>
            <a:r>
              <a:rPr dirty="0" err="1"/>
              <a:t>інший</a:t>
            </a:r>
            <a:r>
              <a:rPr dirty="0"/>
              <a:t> </a:t>
            </a:r>
            <a:r>
              <a:rPr dirty="0" err="1"/>
              <a:t>об'єкт</a:t>
            </a:r>
            <a:r>
              <a:rPr dirty="0"/>
              <a:t>. Ключові </a:t>
            </a:r>
            <a:r>
              <a:rPr dirty="0" err="1"/>
              <a:t>виклики</a:t>
            </a:r>
            <a:r>
              <a:rPr dirty="0"/>
              <a:t> для </a:t>
            </a:r>
            <a:r>
              <a:rPr dirty="0" err="1"/>
              <a:t>викладача</a:t>
            </a:r>
            <a:r>
              <a:rPr dirty="0"/>
              <a:t>: </a:t>
            </a:r>
            <a:r>
              <a:rPr dirty="0" err="1"/>
              <a:t>django_course.enroll</a:t>
            </a:r>
            <a:r>
              <a:rPr dirty="0"/>
              <a:t>(</a:t>
            </a:r>
            <a:r>
              <a:rPr dirty="0" err="1"/>
              <a:t>ivan</a:t>
            </a:r>
            <a:r>
              <a:rPr dirty="0"/>
              <a:t>) </a:t>
            </a:r>
            <a:r>
              <a:rPr dirty="0" err="1"/>
              <a:t>двічі</a:t>
            </a:r>
            <a:r>
              <a:rPr dirty="0"/>
              <a:t>, </a:t>
            </a:r>
            <a:r>
              <a:rPr dirty="0" err="1"/>
              <a:t>student_count</a:t>
            </a:r>
            <a:r>
              <a:rPr dirty="0"/>
              <a:t> для </a:t>
            </a:r>
            <a:r>
              <a:rPr dirty="0" err="1"/>
              <a:t>обох</a:t>
            </a:r>
            <a:r>
              <a:rPr dirty="0"/>
              <a:t> </a:t>
            </a:r>
            <a:r>
              <a:rPr dirty="0" err="1"/>
              <a:t>курсів</a:t>
            </a:r>
            <a:r>
              <a:rPr dirty="0"/>
              <a:t>, </a:t>
            </a:r>
            <a:r>
              <a:rPr dirty="0" err="1"/>
              <a:t>django_course.students</a:t>
            </a:r>
            <a:r>
              <a:rPr dirty="0"/>
              <a:t>[0].profile(). Не </a:t>
            </a:r>
            <a:r>
              <a:rPr dirty="0" err="1"/>
              <a:t>показуйте</a:t>
            </a:r>
            <a:r>
              <a:rPr dirty="0"/>
              <a:t> </a:t>
            </a:r>
            <a:r>
              <a:rPr dirty="0" err="1"/>
              <a:t>їх</a:t>
            </a:r>
            <a:r>
              <a:rPr dirty="0"/>
              <a:t> до </a:t>
            </a:r>
            <a:r>
              <a:rPr dirty="0" err="1"/>
              <a:t>спроби</a:t>
            </a:r>
            <a:r>
              <a:rPr dirty="0"/>
              <a:t>. Якщо </a:t>
            </a:r>
            <a:r>
              <a:rPr dirty="0" err="1"/>
              <a:t>додається</a:t>
            </a:r>
            <a:r>
              <a:rPr dirty="0"/>
              <a:t> </a:t>
            </a:r>
            <a:r>
              <a:rPr dirty="0" err="1"/>
              <a:t>olena</a:t>
            </a:r>
            <a:r>
              <a:rPr dirty="0"/>
              <a:t> </a:t>
            </a:r>
            <a:r>
              <a:rPr dirty="0" err="1"/>
              <a:t>замість</a:t>
            </a:r>
            <a:r>
              <a:rPr dirty="0"/>
              <a:t> </a:t>
            </a:r>
            <a:r>
              <a:rPr dirty="0" err="1"/>
              <a:t>ivan</a:t>
            </a:r>
            <a:r>
              <a:rPr dirty="0"/>
              <a:t>, </a:t>
            </a:r>
            <a:r>
              <a:rPr dirty="0" err="1"/>
              <a:t>попросіть</a:t>
            </a:r>
            <a:r>
              <a:rPr dirty="0"/>
              <a:t> </a:t>
            </a:r>
            <a:r>
              <a:rPr dirty="0" err="1"/>
              <a:t>зіставити</a:t>
            </a:r>
            <a:r>
              <a:rPr dirty="0"/>
              <a:t> </a:t>
            </a:r>
            <a:r>
              <a:rPr dirty="0" err="1"/>
              <a:t>конкретний</a:t>
            </a:r>
            <a:r>
              <a:rPr dirty="0"/>
              <a:t> </a:t>
            </a:r>
            <a:r>
              <a:rPr dirty="0" err="1"/>
              <a:t>сценарій</a:t>
            </a:r>
            <a:r>
              <a:rPr dirty="0"/>
              <a:t> та </a:t>
            </a:r>
            <a:r>
              <a:rPr dirty="0" err="1"/>
              <a:t>аргумент</a:t>
            </a:r>
            <a:r>
              <a:rPr dirty="0"/>
              <a:t>. Якщо </a:t>
            </a:r>
            <a:r>
              <a:rPr dirty="0" err="1"/>
              <a:t>друкується</a:t>
            </a:r>
            <a:r>
              <a:rPr dirty="0"/>
              <a:t> </a:t>
            </a:r>
            <a:r>
              <a:rPr dirty="0" err="1"/>
              <a:t>об'єкт</a:t>
            </a:r>
            <a:r>
              <a:rPr dirty="0"/>
              <a:t> </a:t>
            </a:r>
            <a:r>
              <a:rPr dirty="0" err="1"/>
              <a:t>із</a:t>
            </a:r>
            <a:r>
              <a:rPr dirty="0"/>
              <a:t> </a:t>
            </a:r>
            <a:r>
              <a:rPr dirty="0" err="1"/>
              <a:t>технічним</a:t>
            </a:r>
            <a:r>
              <a:rPr dirty="0"/>
              <a:t> </a:t>
            </a:r>
            <a:r>
              <a:rPr dirty="0" err="1"/>
              <a:t>представленням</a:t>
            </a:r>
            <a:r>
              <a:rPr dirty="0"/>
              <a:t>, </a:t>
            </a:r>
            <a:r>
              <a:rPr dirty="0" err="1"/>
              <a:t>нагадайте</a:t>
            </a:r>
            <a:r>
              <a:rPr dirty="0"/>
              <a:t> profile(). </a:t>
            </a:r>
            <a:r>
              <a:rPr dirty="0" err="1"/>
              <a:t>Мінімум</a:t>
            </a:r>
            <a:r>
              <a:rPr dirty="0"/>
              <a:t>: </a:t>
            </a:r>
            <a:r>
              <a:rPr dirty="0" err="1"/>
              <a:t>незалежний</a:t>
            </a:r>
            <a:r>
              <a:rPr dirty="0"/>
              <a:t> </a:t>
            </a:r>
            <a:r>
              <a:rPr dirty="0" err="1"/>
              <a:t>другий</a:t>
            </a:r>
            <a:r>
              <a:rPr dirty="0"/>
              <a:t> курс </a:t>
            </a:r>
            <a:r>
              <a:rPr dirty="0" err="1"/>
              <a:t>із</a:t>
            </a:r>
            <a:r>
              <a:rPr dirty="0"/>
              <a:t> </a:t>
            </a:r>
            <a:r>
              <a:rPr dirty="0" err="1"/>
              <a:t>одним</a:t>
            </a:r>
            <a:r>
              <a:rPr dirty="0"/>
              <a:t> Іваном та False для </a:t>
            </a:r>
            <a:r>
              <a:rPr dirty="0" err="1"/>
              <a:t>повтору</a:t>
            </a:r>
            <a:r>
              <a:rPr dirty="0"/>
              <a:t>. Не </a:t>
            </a:r>
            <a:r>
              <a:rPr dirty="0" err="1"/>
              <a:t>вимагайте</a:t>
            </a:r>
            <a:r>
              <a:rPr dirty="0"/>
              <a:t> __str__.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Тривалість</a:t>
            </a:r>
            <a:r>
              <a:rPr dirty="0"/>
              <a:t>: 3 </a:t>
            </a:r>
            <a:r>
              <a:rPr dirty="0" err="1"/>
              <a:t>хв</a:t>
            </a:r>
            <a:r>
              <a:rPr dirty="0"/>
              <a:t> (95 </a:t>
            </a:r>
            <a:r>
              <a:rPr dirty="0" err="1"/>
              <a:t>хв</a:t>
            </a:r>
            <a:r>
              <a:rPr dirty="0"/>
              <a:t>)</a:t>
            </a:r>
          </a:p>
          <a:p>
            <a:endParaRPr dirty="0"/>
          </a:p>
          <a:p>
            <a:r>
              <a:rPr dirty="0" err="1"/>
              <a:t>Запитайте</a:t>
            </a:r>
            <a:r>
              <a:rPr dirty="0"/>
              <a:t>, </a:t>
            </a:r>
            <a:r>
              <a:rPr dirty="0" err="1"/>
              <a:t>чому</a:t>
            </a:r>
            <a:r>
              <a:rPr dirty="0"/>
              <a:t> </a:t>
            </a:r>
            <a:r>
              <a:rPr dirty="0" err="1"/>
              <a:t>оновлене</a:t>
            </a:r>
            <a:r>
              <a:rPr dirty="0"/>
              <a:t> </a:t>
            </a:r>
            <a:r>
              <a:rPr dirty="0" err="1"/>
              <a:t>ім'я</a:t>
            </a:r>
            <a:r>
              <a:rPr dirty="0"/>
              <a:t> </a:t>
            </a:r>
            <a:r>
              <a:rPr dirty="0" err="1"/>
              <a:t>видно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курс. </a:t>
            </a:r>
            <a:r>
              <a:rPr dirty="0" err="1"/>
              <a:t>Очікуйте</a:t>
            </a:r>
            <a:r>
              <a:rPr dirty="0"/>
              <a:t>: </a:t>
            </a:r>
            <a:r>
              <a:rPr dirty="0" err="1"/>
              <a:t>список</a:t>
            </a:r>
            <a:r>
              <a:rPr dirty="0"/>
              <a:t> </a:t>
            </a:r>
            <a:r>
              <a:rPr dirty="0" err="1"/>
              <a:t>зберігає</a:t>
            </a:r>
            <a:r>
              <a:rPr dirty="0"/>
              <a:t> </a:t>
            </a:r>
            <a:r>
              <a:rPr dirty="0" err="1"/>
              <a:t>той</a:t>
            </a:r>
            <a:r>
              <a:rPr dirty="0"/>
              <a:t> </a:t>
            </a:r>
            <a:r>
              <a:rPr dirty="0" err="1"/>
              <a:t>самий</a:t>
            </a:r>
            <a:r>
              <a:rPr dirty="0"/>
              <a:t> </a:t>
            </a:r>
            <a:r>
              <a:rPr dirty="0" err="1"/>
              <a:t>об'єкт</a:t>
            </a:r>
            <a:r>
              <a:rPr dirty="0"/>
              <a:t> </a:t>
            </a:r>
            <a:r>
              <a:rPr dirty="0" err="1"/>
              <a:t>olena</a:t>
            </a:r>
            <a:r>
              <a:rPr dirty="0"/>
              <a:t>. rename </a:t>
            </a:r>
            <a:r>
              <a:rPr dirty="0" err="1"/>
              <a:t>змінює</a:t>
            </a:r>
            <a:r>
              <a:rPr dirty="0"/>
              <a:t> </a:t>
            </a:r>
            <a:r>
              <a:rPr dirty="0" err="1"/>
              <a:t>стан</a:t>
            </a:r>
            <a:r>
              <a:rPr dirty="0"/>
              <a:t>; profile </a:t>
            </a:r>
            <a:r>
              <a:rPr dirty="0" err="1"/>
              <a:t>повертає</a:t>
            </a:r>
            <a:r>
              <a:rPr dirty="0"/>
              <a:t> </a:t>
            </a:r>
            <a:r>
              <a:rPr dirty="0" err="1"/>
              <a:t>рядок</a:t>
            </a:r>
            <a:r>
              <a:rPr dirty="0"/>
              <a:t> без </a:t>
            </a:r>
            <a:r>
              <a:rPr dirty="0" err="1"/>
              <a:t>зміни</a:t>
            </a:r>
            <a:r>
              <a:rPr dirty="0"/>
              <a:t> </a:t>
            </a:r>
            <a:r>
              <a:rPr dirty="0" err="1"/>
              <a:t>стану</a:t>
            </a:r>
            <a:r>
              <a:rPr dirty="0"/>
              <a:t>. rename без </a:t>
            </a:r>
            <a:r>
              <a:rPr dirty="0" err="1"/>
              <a:t>явного</a:t>
            </a:r>
            <a:r>
              <a:rPr dirty="0"/>
              <a:t> return </a:t>
            </a:r>
            <a:r>
              <a:rPr dirty="0" err="1"/>
              <a:t>повертає</a:t>
            </a:r>
            <a:r>
              <a:rPr dirty="0"/>
              <a:t> None, </a:t>
            </a:r>
            <a:r>
              <a:rPr dirty="0" err="1"/>
              <a:t>тому</a:t>
            </a:r>
            <a:r>
              <a:rPr dirty="0"/>
              <a:t> не </a:t>
            </a:r>
            <a:r>
              <a:rPr dirty="0" err="1"/>
              <a:t>обгортайте</a:t>
            </a:r>
            <a:r>
              <a:rPr dirty="0"/>
              <a:t> </a:t>
            </a:r>
            <a:r>
              <a:rPr dirty="0" err="1"/>
              <a:t>цей</a:t>
            </a:r>
            <a:r>
              <a:rPr dirty="0"/>
              <a:t> </a:t>
            </a:r>
            <a:r>
              <a:rPr dirty="0" err="1"/>
              <a:t>виклик</a:t>
            </a:r>
            <a:r>
              <a:rPr dirty="0"/>
              <a:t> </a:t>
            </a:r>
            <a:r>
              <a:rPr dirty="0" err="1"/>
              <a:t>у</a:t>
            </a:r>
            <a:r>
              <a:rPr dirty="0"/>
              <a:t> print. </a:t>
            </a:r>
            <a:r>
              <a:rPr dirty="0" err="1"/>
              <a:t>У</a:t>
            </a:r>
            <a:r>
              <a:rPr dirty="0"/>
              <a:t> </a:t>
            </a:r>
            <a:r>
              <a:rPr dirty="0" err="1"/>
              <a:t>навчальній</a:t>
            </a:r>
            <a:r>
              <a:rPr dirty="0"/>
              <a:t> </a:t>
            </a:r>
            <a:r>
              <a:rPr dirty="0" err="1"/>
              <a:t>версії</a:t>
            </a:r>
            <a:r>
              <a:rPr dirty="0"/>
              <a:t> </a:t>
            </a:r>
            <a:r>
              <a:rPr dirty="0" err="1"/>
              <a:t>new_name</a:t>
            </a:r>
            <a:r>
              <a:rPr dirty="0"/>
              <a:t> </a:t>
            </a:r>
            <a:r>
              <a:rPr dirty="0" err="1"/>
              <a:t>вважається</a:t>
            </a:r>
            <a:r>
              <a:rPr dirty="0"/>
              <a:t> </a:t>
            </a:r>
            <a:r>
              <a:rPr dirty="0" err="1"/>
              <a:t>непорожнім</a:t>
            </a:r>
            <a:r>
              <a:rPr dirty="0"/>
              <a:t> </a:t>
            </a:r>
            <a:r>
              <a:rPr dirty="0" err="1"/>
              <a:t>рядком</a:t>
            </a:r>
            <a:r>
              <a:rPr dirty="0"/>
              <a:t>. Контрольовані </a:t>
            </a:r>
            <a:r>
              <a:rPr dirty="0" err="1"/>
              <a:t>зміни</a:t>
            </a:r>
            <a:r>
              <a:rPr dirty="0"/>
              <a:t> </a:t>
            </a:r>
            <a:r>
              <a:rPr dirty="0" err="1"/>
              <a:t>й</a:t>
            </a:r>
            <a:r>
              <a:rPr dirty="0"/>
              <a:t> </a:t>
            </a:r>
            <a:r>
              <a:rPr dirty="0" err="1"/>
              <a:t>властивості</a:t>
            </a:r>
            <a:r>
              <a:rPr dirty="0"/>
              <a:t> </a:t>
            </a:r>
            <a:r>
              <a:rPr dirty="0" err="1"/>
              <a:t>залиште</a:t>
            </a:r>
            <a:r>
              <a:rPr dirty="0"/>
              <a:t> до заняття 4. </a:t>
            </a:r>
            <a:r>
              <a:rPr dirty="0" err="1"/>
              <a:t>Перевірте</a:t>
            </a:r>
            <a:r>
              <a:rPr dirty="0"/>
              <a:t>, що дані Івана не </a:t>
            </a:r>
            <a:r>
              <a:rPr dirty="0" err="1"/>
              <a:t>змінилися</a:t>
            </a:r>
            <a:r>
              <a:rPr dirty="0"/>
              <a:t>. </a:t>
            </a:r>
            <a:r>
              <a:rPr dirty="0" err="1"/>
              <a:t>Додатково</a:t>
            </a:r>
            <a:r>
              <a:rPr dirty="0"/>
              <a:t> не </a:t>
            </a:r>
            <a:r>
              <a:rPr dirty="0" err="1"/>
              <a:t>переписуйте</a:t>
            </a:r>
            <a:r>
              <a:rPr dirty="0"/>
              <a:t> list та не </a:t>
            </a:r>
            <a:r>
              <a:rPr dirty="0" err="1"/>
              <a:t>створюйте</a:t>
            </a:r>
            <a:r>
              <a:rPr dirty="0"/>
              <a:t> </a:t>
            </a:r>
            <a:r>
              <a:rPr dirty="0" err="1"/>
              <a:t>копій</a:t>
            </a:r>
            <a:r>
              <a:rPr dirty="0"/>
              <a:t> </a:t>
            </a:r>
            <a:r>
              <a:rPr dirty="0" err="1"/>
              <a:t>студентів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Тривалість</a:t>
            </a:r>
            <a:r>
              <a:rPr dirty="0"/>
              <a:t>: 7 </a:t>
            </a:r>
            <a:r>
              <a:rPr dirty="0" err="1"/>
              <a:t>хв</a:t>
            </a:r>
            <a:r>
              <a:rPr dirty="0"/>
              <a:t> (102 </a:t>
            </a:r>
            <a:r>
              <a:rPr dirty="0" err="1"/>
              <a:t>хв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До заняття </a:t>
            </a:r>
            <a:r>
              <a:rPr dirty="0" err="1"/>
              <a:t>підготуйте</a:t>
            </a:r>
            <a:r>
              <a:rPr dirty="0"/>
              <a:t> </a:t>
            </a:r>
            <a:r>
              <a:rPr dirty="0" err="1"/>
              <a:t>колонки</a:t>
            </a:r>
            <a:r>
              <a:rPr dirty="0"/>
              <a:t> </a:t>
            </a:r>
            <a:r>
              <a:rPr dirty="0" err="1"/>
              <a:t>команд</a:t>
            </a:r>
            <a:r>
              <a:rPr dirty="0"/>
              <a:t> на </a:t>
            </a:r>
            <a:r>
              <a:rPr dirty="0" err="1"/>
              <a:t>спільній</a:t>
            </a:r>
            <a:r>
              <a:rPr dirty="0"/>
              <a:t> </a:t>
            </a:r>
            <a:r>
              <a:rPr dirty="0" err="1"/>
              <a:t>дошці</a:t>
            </a:r>
            <a:r>
              <a:rPr dirty="0"/>
              <a:t> та </a:t>
            </a:r>
            <a:r>
              <a:rPr dirty="0" err="1"/>
              <a:t>перевірте</a:t>
            </a:r>
            <a:r>
              <a:rPr dirty="0"/>
              <a:t> </a:t>
            </a:r>
            <a:r>
              <a:rPr dirty="0" err="1"/>
              <a:t>можливість</a:t>
            </a:r>
            <a:r>
              <a:rPr dirty="0"/>
              <a:t> </a:t>
            </a:r>
            <a:r>
              <a:rPr dirty="0" err="1"/>
              <a:t>редагування</a:t>
            </a:r>
            <a:r>
              <a:rPr dirty="0"/>
              <a:t>. </a:t>
            </a:r>
            <a:r>
              <a:rPr dirty="0" err="1"/>
              <a:t>Команди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2-3 </a:t>
            </a:r>
            <a:r>
              <a:rPr dirty="0" err="1"/>
              <a:t>учасники</a:t>
            </a:r>
            <a:r>
              <a:rPr dirty="0"/>
              <a:t> </a:t>
            </a:r>
            <a:r>
              <a:rPr dirty="0" err="1"/>
              <a:t>сформуйте</a:t>
            </a:r>
            <a:r>
              <a:rPr dirty="0"/>
              <a:t> </a:t>
            </a:r>
            <a:r>
              <a:rPr dirty="0" err="1"/>
              <a:t>після</a:t>
            </a:r>
            <a:r>
              <a:rPr dirty="0"/>
              <a:t> </a:t>
            </a:r>
            <a:r>
              <a:rPr dirty="0" err="1"/>
              <a:t>перевірки</a:t>
            </a:r>
            <a:r>
              <a:rPr dirty="0"/>
              <a:t> </a:t>
            </a:r>
            <a:r>
              <a:rPr dirty="0" err="1"/>
              <a:t>присутніх</a:t>
            </a:r>
            <a:r>
              <a:rPr dirty="0"/>
              <a:t>. Покажіть </a:t>
            </a:r>
            <a:r>
              <a:rPr dirty="0" err="1"/>
              <a:t>колонку</a:t>
            </a:r>
            <a:r>
              <a:rPr dirty="0"/>
              <a:t> </a:t>
            </a:r>
            <a:r>
              <a:rPr dirty="0" err="1"/>
              <a:t>кожної</a:t>
            </a:r>
            <a:r>
              <a:rPr dirty="0"/>
              <a:t> </a:t>
            </a:r>
            <a:r>
              <a:rPr dirty="0" err="1"/>
              <a:t>команди</a:t>
            </a:r>
            <a:r>
              <a:rPr dirty="0"/>
              <a:t> </a:t>
            </a:r>
            <a:r>
              <a:rPr dirty="0" err="1"/>
              <a:t>й</a:t>
            </a:r>
            <a:r>
              <a:rPr dirty="0"/>
              <a:t> </a:t>
            </a:r>
            <a:r>
              <a:rPr dirty="0" err="1"/>
              <a:t>запустіть</a:t>
            </a:r>
            <a:r>
              <a:rPr dirty="0"/>
              <a:t> </a:t>
            </a:r>
            <a:r>
              <a:rPr dirty="0" err="1"/>
              <a:t>таймер</a:t>
            </a:r>
            <a:r>
              <a:rPr dirty="0"/>
              <a:t> на 7 </a:t>
            </a:r>
            <a:r>
              <a:rPr dirty="0" err="1"/>
              <a:t>хвилин</a:t>
            </a:r>
            <a:r>
              <a:rPr dirty="0"/>
              <a:t>. </a:t>
            </a:r>
            <a:r>
              <a:rPr dirty="0" err="1"/>
              <a:t>Спочатку</a:t>
            </a:r>
            <a:r>
              <a:rPr dirty="0"/>
              <a:t> 2 </a:t>
            </a:r>
            <a:r>
              <a:rPr dirty="0" err="1"/>
              <a:t>хвилини</a:t>
            </a:r>
            <a:r>
              <a:rPr dirty="0"/>
              <a:t> </a:t>
            </a:r>
            <a:r>
              <a:rPr dirty="0" err="1"/>
              <a:t>кожен</a:t>
            </a:r>
            <a:r>
              <a:rPr dirty="0"/>
              <a:t> </a:t>
            </a:r>
            <a:r>
              <a:rPr dirty="0" err="1"/>
              <a:t>мовчки</a:t>
            </a:r>
            <a:r>
              <a:rPr dirty="0"/>
              <a:t> </a:t>
            </a:r>
            <a:r>
              <a:rPr dirty="0" err="1"/>
              <a:t>додає</a:t>
            </a:r>
            <a:r>
              <a:rPr dirty="0"/>
              <a:t> </a:t>
            </a:r>
            <a:r>
              <a:rPr dirty="0" err="1"/>
              <a:t>власні</a:t>
            </a:r>
            <a:r>
              <a:rPr dirty="0"/>
              <a:t> </a:t>
            </a:r>
            <a:r>
              <a:rPr dirty="0" err="1"/>
              <a:t>ідеї</a:t>
            </a:r>
            <a:r>
              <a:rPr dirty="0"/>
              <a:t>; </a:t>
            </a:r>
            <a:r>
              <a:rPr dirty="0" err="1"/>
              <a:t>наступні</a:t>
            </a:r>
            <a:r>
              <a:rPr dirty="0"/>
              <a:t> 5 </a:t>
            </a:r>
            <a:r>
              <a:rPr dirty="0" err="1"/>
              <a:t>хвилин</a:t>
            </a:r>
            <a:r>
              <a:rPr dirty="0"/>
              <a:t> </a:t>
            </a: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доповнює</a:t>
            </a:r>
            <a:r>
              <a:rPr dirty="0"/>
              <a:t> </a:t>
            </a:r>
            <a:r>
              <a:rPr dirty="0" err="1"/>
              <a:t>їх</a:t>
            </a:r>
            <a:r>
              <a:rPr dirty="0"/>
              <a:t> </a:t>
            </a:r>
            <a:r>
              <a:rPr dirty="0" err="1"/>
              <a:t>разом</a:t>
            </a:r>
            <a:r>
              <a:rPr dirty="0"/>
              <a:t>. Не </a:t>
            </a:r>
            <a:r>
              <a:rPr dirty="0" err="1"/>
              <a:t>починайте</a:t>
            </a:r>
            <a:r>
              <a:rPr dirty="0"/>
              <a:t> </a:t>
            </a:r>
            <a:r>
              <a:rPr dirty="0" err="1"/>
              <a:t>з</a:t>
            </a:r>
            <a:r>
              <a:rPr dirty="0"/>
              <a:t> </a:t>
            </a:r>
            <a:r>
              <a:rPr dirty="0" err="1"/>
              <a:t>готової</a:t>
            </a:r>
            <a:r>
              <a:rPr dirty="0"/>
              <a:t> </a:t>
            </a:r>
            <a:r>
              <a:rPr dirty="0" err="1"/>
              <a:t>ідеї</a:t>
            </a:r>
            <a:r>
              <a:rPr dirty="0"/>
              <a:t> </a:t>
            </a:r>
            <a:r>
              <a:rPr dirty="0" err="1"/>
              <a:t>викладача</a:t>
            </a:r>
            <a:r>
              <a:rPr dirty="0"/>
              <a:t> </a:t>
            </a:r>
            <a:r>
              <a:rPr dirty="0" err="1"/>
              <a:t>й</a:t>
            </a:r>
            <a:r>
              <a:rPr dirty="0"/>
              <a:t> не </a:t>
            </a:r>
            <a:r>
              <a:rPr dirty="0" err="1"/>
              <a:t>відкидайте</a:t>
            </a:r>
            <a:r>
              <a:rPr dirty="0"/>
              <a:t> </a:t>
            </a:r>
            <a:r>
              <a:rPr dirty="0" err="1"/>
              <a:t>пропозиції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складність</a:t>
            </a:r>
            <a:r>
              <a:rPr dirty="0"/>
              <a:t> </a:t>
            </a:r>
            <a:r>
              <a:rPr dirty="0" err="1"/>
              <a:t>реалізації</a:t>
            </a:r>
            <a:r>
              <a:rPr dirty="0"/>
              <a:t>. 20-30 </a:t>
            </a:r>
            <a:r>
              <a:rPr dirty="0" err="1"/>
              <a:t>стікерів</a:t>
            </a:r>
            <a:r>
              <a:rPr dirty="0"/>
              <a:t> </a:t>
            </a:r>
            <a:r>
              <a:rPr dirty="0" err="1"/>
              <a:t>є</a:t>
            </a:r>
            <a:r>
              <a:rPr dirty="0"/>
              <a:t> </a:t>
            </a:r>
            <a:r>
              <a:rPr dirty="0" err="1"/>
              <a:t>орієнтиром</a:t>
            </a:r>
            <a:r>
              <a:rPr dirty="0"/>
              <a:t> </a:t>
            </a:r>
            <a:r>
              <a:rPr dirty="0" err="1"/>
              <a:t>різноманітності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не </a:t>
            </a:r>
            <a:r>
              <a:rPr dirty="0" err="1"/>
              <a:t>умовою</a:t>
            </a:r>
            <a:r>
              <a:rPr dirty="0"/>
              <a:t> </a:t>
            </a:r>
            <a:r>
              <a:rPr dirty="0" err="1"/>
              <a:t>допуску</a:t>
            </a:r>
            <a:r>
              <a:rPr dirty="0"/>
              <a:t> до </a:t>
            </a:r>
            <a:r>
              <a:rPr dirty="0" err="1"/>
              <a:t>наступного</a:t>
            </a:r>
            <a:r>
              <a:rPr dirty="0"/>
              <a:t> </a:t>
            </a:r>
            <a:r>
              <a:rPr dirty="0" err="1"/>
              <a:t>раунду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У</a:t>
            </a:r>
            <a:r>
              <a:rPr dirty="0"/>
              <a:t> </a:t>
            </a:r>
            <a:r>
              <a:rPr dirty="0" err="1"/>
              <a:t>трійці</a:t>
            </a:r>
            <a:r>
              <a:rPr dirty="0"/>
              <a:t> </a:t>
            </a:r>
            <a:r>
              <a:rPr dirty="0" err="1"/>
              <a:t>розподіліть</a:t>
            </a:r>
            <a:r>
              <a:rPr dirty="0"/>
              <a:t> </a:t>
            </a:r>
            <a:r>
              <a:rPr dirty="0" err="1"/>
              <a:t>ролі</a:t>
            </a:r>
            <a:r>
              <a:rPr dirty="0"/>
              <a:t> </a:t>
            </a:r>
            <a:r>
              <a:rPr dirty="0" err="1"/>
              <a:t>фасилітатора</a:t>
            </a:r>
            <a:r>
              <a:rPr dirty="0"/>
              <a:t>, </a:t>
            </a:r>
            <a:r>
              <a:rPr dirty="0" err="1"/>
              <a:t>секретаря</a:t>
            </a:r>
            <a:r>
              <a:rPr dirty="0"/>
              <a:t> та </a:t>
            </a:r>
            <a:r>
              <a:rPr dirty="0" err="1"/>
              <a:t>доповідача</a:t>
            </a:r>
            <a:r>
              <a:rPr dirty="0"/>
              <a:t>; </a:t>
            </a:r>
            <a:r>
              <a:rPr dirty="0" err="1"/>
              <a:t>у</a:t>
            </a:r>
            <a:r>
              <a:rPr dirty="0"/>
              <a:t> </a:t>
            </a:r>
            <a:r>
              <a:rPr dirty="0" err="1"/>
              <a:t>парі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учасник</a:t>
            </a:r>
            <a:r>
              <a:rPr dirty="0"/>
              <a:t> </a:t>
            </a:r>
            <a:r>
              <a:rPr dirty="0" err="1"/>
              <a:t>поєднує</a:t>
            </a:r>
            <a:r>
              <a:rPr dirty="0"/>
              <a:t> </a:t>
            </a:r>
            <a:r>
              <a:rPr dirty="0" err="1"/>
              <a:t>фасилітацію</a:t>
            </a:r>
            <a:r>
              <a:rPr dirty="0"/>
              <a:t> і </a:t>
            </a:r>
            <a:r>
              <a:rPr dirty="0" err="1"/>
              <a:t>стеження</a:t>
            </a:r>
            <a:r>
              <a:rPr dirty="0"/>
              <a:t> за </a:t>
            </a:r>
            <a:r>
              <a:rPr dirty="0" err="1"/>
              <a:t>часом</a:t>
            </a:r>
            <a:r>
              <a:rPr dirty="0"/>
              <a:t>, </a:t>
            </a:r>
            <a:r>
              <a:rPr dirty="0" err="1"/>
              <a:t>інший</a:t>
            </a:r>
            <a:r>
              <a:rPr dirty="0"/>
              <a:t> </a:t>
            </a:r>
            <a:r>
              <a:rPr dirty="0" err="1"/>
              <a:t>записує</a:t>
            </a:r>
            <a:r>
              <a:rPr dirty="0"/>
              <a:t> </a:t>
            </a:r>
            <a:r>
              <a:rPr dirty="0" err="1"/>
              <a:t>ідеї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пояснюють</a:t>
            </a:r>
            <a:r>
              <a:rPr dirty="0"/>
              <a:t> </a:t>
            </a:r>
            <a:r>
              <a:rPr dirty="0" err="1"/>
              <a:t>обидва</a:t>
            </a:r>
            <a:r>
              <a:rPr dirty="0"/>
              <a:t>. Протягом роботи </a:t>
            </a:r>
            <a:r>
              <a:rPr dirty="0" err="1"/>
              <a:t>змінюйте</a:t>
            </a:r>
            <a:r>
              <a:rPr dirty="0"/>
              <a:t> </a:t>
            </a:r>
            <a:r>
              <a:rPr dirty="0" err="1"/>
              <a:t>ролі</a:t>
            </a:r>
            <a:r>
              <a:rPr dirty="0"/>
              <a:t>. Відстежуйте </a:t>
            </a:r>
            <a:r>
              <a:rPr dirty="0" err="1"/>
              <a:t>участь</a:t>
            </a:r>
            <a:r>
              <a:rPr dirty="0"/>
              <a:t> </a:t>
            </a:r>
            <a:r>
              <a:rPr dirty="0" err="1"/>
              <a:t>кожного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не </a:t>
            </a:r>
            <a:r>
              <a:rPr dirty="0" err="1"/>
              <a:t>лише</a:t>
            </a:r>
            <a:r>
              <a:rPr dirty="0"/>
              <a:t> </a:t>
            </a:r>
            <a:r>
              <a:rPr dirty="0" err="1"/>
              <a:t>активного</a:t>
            </a:r>
            <a:r>
              <a:rPr dirty="0"/>
              <a:t> </a:t>
            </a:r>
            <a:r>
              <a:rPr dirty="0" err="1"/>
              <a:t>доповідача</a:t>
            </a:r>
            <a:r>
              <a:rPr dirty="0"/>
              <a:t>. Якщо </a:t>
            </a:r>
            <a:r>
              <a:rPr dirty="0" err="1"/>
              <a:t>дошка</a:t>
            </a:r>
            <a:r>
              <a:rPr dirty="0"/>
              <a:t> </a:t>
            </a:r>
            <a:r>
              <a:rPr dirty="0" err="1"/>
              <a:t>недоступна</a:t>
            </a:r>
            <a:r>
              <a:rPr dirty="0"/>
              <a:t>, </a:t>
            </a:r>
            <a:r>
              <a:rPr dirty="0" err="1"/>
              <a:t>використайте</a:t>
            </a:r>
            <a:r>
              <a:rPr dirty="0"/>
              <a:t> </a:t>
            </a:r>
            <a:r>
              <a:rPr dirty="0" err="1"/>
              <a:t>спільний</a:t>
            </a:r>
            <a:r>
              <a:rPr dirty="0"/>
              <a:t> текстовий </a:t>
            </a:r>
            <a:r>
              <a:rPr dirty="0" err="1"/>
              <a:t>документ</a:t>
            </a:r>
            <a:r>
              <a:rPr dirty="0"/>
              <a:t> </a:t>
            </a:r>
            <a:r>
              <a:rPr dirty="0" err="1"/>
              <a:t>з</a:t>
            </a:r>
            <a:r>
              <a:rPr dirty="0"/>
              <a:t> </a:t>
            </a:r>
            <a:r>
              <a:rPr dirty="0" err="1"/>
              <a:t>окремими</a:t>
            </a:r>
            <a:r>
              <a:rPr dirty="0"/>
              <a:t> </a:t>
            </a:r>
            <a:r>
              <a:rPr dirty="0" err="1"/>
              <a:t>розділами</a:t>
            </a:r>
            <a:r>
              <a:rPr dirty="0"/>
              <a:t> </a:t>
            </a:r>
            <a:r>
              <a:rPr dirty="0" err="1"/>
              <a:t>команд</a:t>
            </a:r>
            <a:r>
              <a:rPr dirty="0"/>
              <a:t> і </a:t>
            </a:r>
            <a:r>
              <a:rPr dirty="0" err="1"/>
              <a:t>одним</a:t>
            </a:r>
            <a:r>
              <a:rPr dirty="0"/>
              <a:t> </a:t>
            </a:r>
            <a:r>
              <a:rPr dirty="0" err="1"/>
              <a:t>рядком</a:t>
            </a:r>
            <a:r>
              <a:rPr dirty="0"/>
              <a:t> на </a:t>
            </a:r>
            <a:r>
              <a:rPr dirty="0" err="1"/>
              <a:t>ідею</a:t>
            </a:r>
            <a:r>
              <a:rPr dirty="0"/>
              <a:t>. Не </a:t>
            </a:r>
            <a:r>
              <a:rPr dirty="0" err="1"/>
              <a:t>витрачайте</a:t>
            </a:r>
            <a:r>
              <a:rPr dirty="0"/>
              <a:t> </a:t>
            </a:r>
            <a:r>
              <a:rPr dirty="0" err="1"/>
              <a:t>навчальний</a:t>
            </a:r>
            <a:r>
              <a:rPr dirty="0"/>
              <a:t> </a:t>
            </a:r>
            <a:r>
              <a:rPr dirty="0" err="1"/>
              <a:t>час</a:t>
            </a:r>
            <a:r>
              <a:rPr dirty="0"/>
              <a:t> на </a:t>
            </a:r>
            <a:r>
              <a:rPr dirty="0" err="1"/>
              <a:t>реєстрацію</a:t>
            </a:r>
            <a:r>
              <a:rPr dirty="0"/>
              <a:t> </a:t>
            </a:r>
            <a:r>
              <a:rPr dirty="0" err="1"/>
              <a:t>нового</a:t>
            </a:r>
            <a:r>
              <a:rPr dirty="0"/>
              <a:t> </a:t>
            </a:r>
            <a:r>
              <a:rPr dirty="0" err="1"/>
              <a:t>сервісу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Тривалість</a:t>
            </a:r>
            <a:r>
              <a:rPr dirty="0"/>
              <a:t>: 5 </a:t>
            </a:r>
            <a:r>
              <a:rPr dirty="0" err="1"/>
              <a:t>хв</a:t>
            </a:r>
            <a:r>
              <a:rPr dirty="0"/>
              <a:t> (107 </a:t>
            </a:r>
            <a:r>
              <a:rPr dirty="0" err="1"/>
              <a:t>хв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За </a:t>
            </a:r>
            <a:r>
              <a:rPr dirty="0" err="1"/>
              <a:t>першу</a:t>
            </a:r>
            <a:r>
              <a:rPr dirty="0"/>
              <a:t> </a:t>
            </a:r>
            <a:r>
              <a:rPr dirty="0" err="1"/>
              <a:t>хвилину</a:t>
            </a:r>
            <a:r>
              <a:rPr dirty="0"/>
              <a:t> </a:t>
            </a:r>
            <a:r>
              <a:rPr dirty="0" err="1"/>
              <a:t>команди</a:t>
            </a:r>
            <a:r>
              <a:rPr dirty="0"/>
              <a:t> </a:t>
            </a:r>
            <a:r>
              <a:rPr dirty="0" err="1"/>
              <a:t>групують</a:t>
            </a:r>
            <a:r>
              <a:rPr dirty="0"/>
              <a:t> </a:t>
            </a:r>
            <a:r>
              <a:rPr dirty="0" err="1"/>
              <a:t>стікери</a:t>
            </a:r>
            <a:r>
              <a:rPr dirty="0"/>
              <a:t>, </a:t>
            </a:r>
            <a:r>
              <a:rPr dirty="0" err="1"/>
              <a:t>наступні</a:t>
            </a:r>
            <a:r>
              <a:rPr dirty="0"/>
              <a:t> 4 </a:t>
            </a:r>
            <a:r>
              <a:rPr dirty="0" err="1"/>
              <a:t>хвилини</a:t>
            </a:r>
            <a:r>
              <a:rPr dirty="0"/>
              <a:t> </a:t>
            </a:r>
            <a:r>
              <a:rPr dirty="0" err="1"/>
              <a:t>заповнюють</a:t>
            </a:r>
            <a:r>
              <a:rPr dirty="0"/>
              <a:t> </a:t>
            </a:r>
            <a:r>
              <a:rPr dirty="0" err="1"/>
              <a:t>три</a:t>
            </a:r>
            <a:r>
              <a:rPr dirty="0"/>
              <a:t> </a:t>
            </a:r>
            <a:r>
              <a:rPr dirty="0" err="1"/>
              <a:t>картки</a:t>
            </a:r>
            <a:r>
              <a:rPr dirty="0"/>
              <a:t>. Нагадайте </a:t>
            </a:r>
            <a:r>
              <a:rPr dirty="0" err="1"/>
              <a:t>простими</a:t>
            </a:r>
            <a:r>
              <a:rPr dirty="0"/>
              <a:t> словами: клас </a:t>
            </a:r>
            <a:r>
              <a:rPr dirty="0" err="1"/>
              <a:t>описує</a:t>
            </a:r>
            <a:r>
              <a:rPr dirty="0"/>
              <a:t> </a:t>
            </a:r>
            <a:r>
              <a:rPr dirty="0" err="1"/>
              <a:t>спільну</a:t>
            </a:r>
            <a:r>
              <a:rPr dirty="0"/>
              <a:t> </a:t>
            </a:r>
            <a:r>
              <a:rPr dirty="0" err="1"/>
              <a:t>будову</a:t>
            </a:r>
            <a:r>
              <a:rPr dirty="0"/>
              <a:t>, </a:t>
            </a:r>
            <a:r>
              <a:rPr dirty="0" err="1"/>
              <a:t>об'єкт</a:t>
            </a:r>
            <a:r>
              <a:rPr dirty="0"/>
              <a:t> </a:t>
            </a:r>
            <a:r>
              <a:rPr dirty="0" err="1"/>
              <a:t>є</a:t>
            </a:r>
            <a:r>
              <a:rPr dirty="0"/>
              <a:t> </a:t>
            </a:r>
            <a:r>
              <a:rPr dirty="0" err="1"/>
              <a:t>конкретним</a:t>
            </a:r>
            <a:r>
              <a:rPr dirty="0"/>
              <a:t> </a:t>
            </a:r>
            <a:r>
              <a:rPr dirty="0" err="1"/>
              <a:t>прикладом</a:t>
            </a:r>
            <a:r>
              <a:rPr dirty="0"/>
              <a:t>. Синтаксис Python </a:t>
            </a:r>
            <a:r>
              <a:rPr dirty="0" err="1"/>
              <a:t>буде</a:t>
            </a:r>
            <a:r>
              <a:rPr dirty="0"/>
              <a:t> </a:t>
            </a:r>
            <a:r>
              <a:rPr dirty="0" err="1"/>
              <a:t>опрацьовано</a:t>
            </a:r>
            <a:r>
              <a:rPr dirty="0"/>
              <a:t> </a:t>
            </a:r>
            <a:r>
              <a:rPr dirty="0" err="1"/>
              <a:t>після</a:t>
            </a:r>
            <a:r>
              <a:rPr dirty="0"/>
              <a:t> </a:t>
            </a:r>
            <a:r>
              <a:rPr dirty="0" err="1"/>
              <a:t>штурму</a:t>
            </a:r>
            <a:r>
              <a:rPr dirty="0"/>
              <a:t>. Не </a:t>
            </a:r>
            <a:r>
              <a:rPr dirty="0" err="1"/>
              <a:t>вимагайте</a:t>
            </a:r>
            <a:r>
              <a:rPr dirty="0"/>
              <a:t> </a:t>
            </a:r>
            <a:r>
              <a:rPr dirty="0" err="1"/>
              <a:t>коду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цьому</a:t>
            </a:r>
            <a:r>
              <a:rPr dirty="0"/>
              <a:t> </a:t>
            </a:r>
            <a:r>
              <a:rPr dirty="0" err="1"/>
              <a:t>раунді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Перевірте</a:t>
            </a:r>
            <a:r>
              <a:rPr dirty="0"/>
              <a:t>, </a:t>
            </a:r>
            <a:r>
              <a:rPr dirty="0" err="1"/>
              <a:t>чи</a:t>
            </a:r>
            <a:r>
              <a:rPr dirty="0"/>
              <a:t> </a:t>
            </a:r>
            <a:r>
              <a:rPr dirty="0" err="1"/>
              <a:t>метод</a:t>
            </a:r>
            <a:r>
              <a:rPr dirty="0"/>
              <a:t> </a:t>
            </a:r>
            <a:r>
              <a:rPr dirty="0" err="1"/>
              <a:t>описує</a:t>
            </a:r>
            <a:r>
              <a:rPr dirty="0"/>
              <a:t> </a:t>
            </a:r>
            <a:r>
              <a:rPr dirty="0" err="1"/>
              <a:t>дію</a:t>
            </a:r>
            <a:r>
              <a:rPr dirty="0"/>
              <a:t>, </a:t>
            </a:r>
            <a:r>
              <a:rPr dirty="0" err="1"/>
              <a:t>а</a:t>
            </a:r>
            <a:r>
              <a:rPr dirty="0"/>
              <a:t> </a:t>
            </a:r>
            <a:r>
              <a:rPr dirty="0" err="1"/>
              <a:t>атрибут</a:t>
            </a:r>
            <a:r>
              <a:rPr dirty="0"/>
              <a:t> - дані. Якщо </a:t>
            </a:r>
            <a:r>
              <a:rPr dirty="0" err="1"/>
              <a:t>команда</a:t>
            </a:r>
            <a:r>
              <a:rPr dirty="0"/>
              <a:t> </a:t>
            </a:r>
            <a:r>
              <a:rPr dirty="0" err="1"/>
              <a:t>назвала</a:t>
            </a:r>
            <a:r>
              <a:rPr dirty="0"/>
              <a:t> "</a:t>
            </a:r>
            <a:r>
              <a:rPr dirty="0" err="1"/>
              <a:t>Бронювання</a:t>
            </a:r>
            <a:r>
              <a:rPr dirty="0"/>
              <a:t>" </a:t>
            </a:r>
            <a:r>
              <a:rPr dirty="0" err="1"/>
              <a:t>методом</a:t>
            </a:r>
            <a:r>
              <a:rPr dirty="0"/>
              <a:t>, </a:t>
            </a:r>
            <a:r>
              <a:rPr dirty="0" err="1"/>
              <a:t>попросіть</a:t>
            </a:r>
            <a:r>
              <a:rPr dirty="0"/>
              <a:t> </a:t>
            </a:r>
            <a:r>
              <a:rPr dirty="0" err="1"/>
              <a:t>уточнити</a:t>
            </a:r>
            <a:r>
              <a:rPr dirty="0"/>
              <a:t>: </a:t>
            </a:r>
            <a:r>
              <a:rPr dirty="0" err="1"/>
              <a:t>це</a:t>
            </a:r>
            <a:r>
              <a:rPr dirty="0"/>
              <a:t> </a:t>
            </a:r>
            <a:r>
              <a:rPr dirty="0" err="1"/>
              <a:t>запис</a:t>
            </a:r>
            <a:r>
              <a:rPr dirty="0"/>
              <a:t> </a:t>
            </a:r>
            <a:r>
              <a:rPr dirty="0" err="1"/>
              <a:t>із</a:t>
            </a:r>
            <a:r>
              <a:rPr dirty="0"/>
              <a:t> </a:t>
            </a:r>
            <a:r>
              <a:rPr dirty="0" err="1"/>
              <a:t>власними</a:t>
            </a:r>
            <a:r>
              <a:rPr dirty="0"/>
              <a:t> </a:t>
            </a:r>
            <a:r>
              <a:rPr dirty="0" err="1"/>
              <a:t>даними</a:t>
            </a:r>
            <a:r>
              <a:rPr dirty="0"/>
              <a:t> </a:t>
            </a:r>
            <a:r>
              <a:rPr dirty="0" err="1"/>
              <a:t>чи</a:t>
            </a:r>
            <a:r>
              <a:rPr dirty="0"/>
              <a:t> </a:t>
            </a:r>
            <a:r>
              <a:rPr dirty="0" err="1"/>
              <a:t>дія</a:t>
            </a:r>
            <a:r>
              <a:rPr dirty="0"/>
              <a:t> book() </a:t>
            </a:r>
            <a:r>
              <a:rPr dirty="0" err="1"/>
              <a:t>іншого</a:t>
            </a:r>
            <a:r>
              <a:rPr dirty="0"/>
              <a:t> об'єкта? Обидва </a:t>
            </a:r>
            <a:r>
              <a:rPr dirty="0" err="1"/>
              <a:t>рішення</a:t>
            </a:r>
            <a:r>
              <a:rPr dirty="0"/>
              <a:t> </a:t>
            </a:r>
            <a:r>
              <a:rPr dirty="0" err="1"/>
              <a:t>можливі</a:t>
            </a:r>
            <a:r>
              <a:rPr dirty="0"/>
              <a:t> за </a:t>
            </a:r>
            <a:r>
              <a:rPr dirty="0" err="1"/>
              <a:t>послідовної</a:t>
            </a:r>
            <a:r>
              <a:rPr dirty="0"/>
              <a:t> </a:t>
            </a:r>
            <a:r>
              <a:rPr dirty="0" err="1"/>
              <a:t>моделі</a:t>
            </a:r>
            <a:r>
              <a:rPr dirty="0"/>
              <a:t>. Не </a:t>
            </a:r>
            <a:r>
              <a:rPr dirty="0" err="1"/>
              <a:t>підміняйте</a:t>
            </a:r>
            <a:r>
              <a:rPr dirty="0"/>
              <a:t> </a:t>
            </a:r>
            <a:r>
              <a:rPr dirty="0" err="1"/>
              <a:t>командний</a:t>
            </a:r>
            <a:r>
              <a:rPr dirty="0"/>
              <a:t> </a:t>
            </a:r>
            <a:r>
              <a:rPr dirty="0" err="1"/>
              <a:t>вибір</a:t>
            </a:r>
            <a:r>
              <a:rPr dirty="0"/>
              <a:t> </a:t>
            </a:r>
            <a:r>
              <a:rPr dirty="0" err="1"/>
              <a:t>каталогом</a:t>
            </a:r>
            <a:r>
              <a:rPr dirty="0"/>
              <a:t> </a:t>
            </a:r>
            <a:r>
              <a:rPr dirty="0" err="1"/>
              <a:t>курсів</a:t>
            </a:r>
            <a:r>
              <a:rPr dirty="0"/>
              <a:t>. К1: </a:t>
            </a:r>
            <a:r>
              <a:rPr dirty="0" err="1"/>
              <a:t>перегляньте</a:t>
            </a:r>
            <a:r>
              <a:rPr dirty="0"/>
              <a:t> </a:t>
            </a:r>
            <a:r>
              <a:rPr dirty="0" err="1"/>
              <a:t>три</a:t>
            </a:r>
            <a:r>
              <a:rPr dirty="0"/>
              <a:t> </a:t>
            </a:r>
            <a:r>
              <a:rPr dirty="0" err="1"/>
              <a:t>картки</a:t>
            </a:r>
            <a:r>
              <a:rPr dirty="0"/>
              <a:t> </a:t>
            </a:r>
            <a:r>
              <a:rPr dirty="0" err="1"/>
              <a:t>кожної</a:t>
            </a:r>
            <a:r>
              <a:rPr dirty="0"/>
              <a:t> </a:t>
            </a:r>
            <a:r>
              <a:rPr dirty="0" err="1"/>
              <a:t>команди</a:t>
            </a:r>
            <a:r>
              <a:rPr dirty="0"/>
              <a:t>, </a:t>
            </a:r>
            <a:r>
              <a:rPr dirty="0" err="1"/>
              <a:t>попросіть</a:t>
            </a:r>
            <a:r>
              <a:rPr dirty="0"/>
              <a:t> </a:t>
            </a:r>
            <a:r>
              <a:rPr dirty="0" err="1"/>
              <a:t>різних</a:t>
            </a:r>
            <a:r>
              <a:rPr dirty="0"/>
              <a:t> </a:t>
            </a:r>
            <a:r>
              <a:rPr dirty="0" err="1"/>
              <a:t>учасників</a:t>
            </a:r>
            <a:r>
              <a:rPr dirty="0"/>
              <a:t> </a:t>
            </a:r>
            <a:r>
              <a:rPr dirty="0" err="1"/>
              <a:t>пояснити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одному</a:t>
            </a:r>
            <a:r>
              <a:rPr dirty="0"/>
              <a:t> </a:t>
            </a:r>
            <a:r>
              <a:rPr dirty="0" err="1"/>
              <a:t>атрибуту</a:t>
            </a:r>
            <a:r>
              <a:rPr dirty="0"/>
              <a:t> та </a:t>
            </a:r>
            <a:r>
              <a:rPr dirty="0" err="1"/>
              <a:t>об'єкту</a:t>
            </a:r>
            <a:r>
              <a:rPr dirty="0"/>
              <a:t>. Збережіть </a:t>
            </a:r>
            <a:r>
              <a:rPr dirty="0" err="1"/>
              <a:t>картки</a:t>
            </a:r>
            <a:r>
              <a:rPr dirty="0"/>
              <a:t> </a:t>
            </a:r>
            <a:r>
              <a:rPr dirty="0" err="1"/>
              <a:t>у</a:t>
            </a:r>
            <a:r>
              <a:rPr dirty="0"/>
              <a:t> </a:t>
            </a:r>
            <a:r>
              <a:rPr dirty="0" err="1"/>
              <a:t>domain.md</a:t>
            </a:r>
            <a:r>
              <a:rPr dirty="0"/>
              <a:t> </a:t>
            </a:r>
            <a:r>
              <a:rPr dirty="0" err="1"/>
              <a:t>або</a:t>
            </a:r>
            <a:r>
              <a:rPr dirty="0"/>
              <a:t> </a:t>
            </a:r>
            <a:r>
              <a:rPr dirty="0" err="1"/>
              <a:t>дайте</a:t>
            </a:r>
            <a:r>
              <a:rPr dirty="0"/>
              <a:t> </a:t>
            </a:r>
            <a:r>
              <a:rPr dirty="0" err="1"/>
              <a:t>посилання</a:t>
            </a:r>
            <a:r>
              <a:rPr dirty="0"/>
              <a:t> на </a:t>
            </a:r>
            <a:r>
              <a:rPr dirty="0" err="1"/>
              <a:t>дошку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Тривалість</a:t>
            </a:r>
            <a:r>
              <a:rPr dirty="0"/>
              <a:t>: 5 </a:t>
            </a:r>
            <a:r>
              <a:rPr dirty="0" err="1"/>
              <a:t>хв</a:t>
            </a:r>
            <a:r>
              <a:rPr dirty="0"/>
              <a:t> (112 </a:t>
            </a:r>
            <a:r>
              <a:rPr dirty="0" err="1"/>
              <a:t>хв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Попросіть </a:t>
            </a:r>
            <a:r>
              <a:rPr dirty="0" err="1"/>
              <a:t>розподілити</a:t>
            </a:r>
            <a:r>
              <a:rPr dirty="0"/>
              <a:t> </a:t>
            </a:r>
            <a:r>
              <a:rPr dirty="0" err="1"/>
              <a:t>три</a:t>
            </a:r>
            <a:r>
              <a:rPr dirty="0"/>
              <a:t> </a:t>
            </a:r>
            <a:r>
              <a:rPr dirty="0" err="1"/>
              <a:t>сценарії</a:t>
            </a:r>
            <a:r>
              <a:rPr dirty="0"/>
              <a:t> </a:t>
            </a:r>
            <a:r>
              <a:rPr dirty="0" err="1"/>
              <a:t>між</a:t>
            </a:r>
            <a:r>
              <a:rPr dirty="0"/>
              <a:t> </a:t>
            </a:r>
            <a:r>
              <a:rPr dirty="0" err="1"/>
              <a:t>учасниками</a:t>
            </a:r>
            <a:r>
              <a:rPr dirty="0"/>
              <a:t>, </a:t>
            </a:r>
            <a:r>
              <a:rPr dirty="0" err="1"/>
              <a:t>потім</a:t>
            </a:r>
            <a:r>
              <a:rPr dirty="0"/>
              <a:t> </a:t>
            </a:r>
            <a:r>
              <a:rPr dirty="0" err="1"/>
              <a:t>узгодити</a:t>
            </a:r>
            <a:r>
              <a:rPr dirty="0"/>
              <a:t> </a:t>
            </a:r>
            <a:r>
              <a:rPr dirty="0" err="1"/>
              <a:t>їх</a:t>
            </a:r>
            <a:r>
              <a:rPr dirty="0"/>
              <a:t> </a:t>
            </a:r>
            <a:r>
              <a:rPr dirty="0" err="1"/>
              <a:t>командою</a:t>
            </a:r>
            <a:r>
              <a:rPr dirty="0"/>
              <a:t>. Не </a:t>
            </a:r>
            <a:r>
              <a:rPr dirty="0" err="1"/>
              <a:t>приймайте</a:t>
            </a:r>
            <a:r>
              <a:rPr dirty="0"/>
              <a:t> </a:t>
            </a:r>
            <a:r>
              <a:rPr dirty="0" err="1"/>
              <a:t>формулювання</a:t>
            </a:r>
            <a:r>
              <a:rPr dirty="0"/>
              <a:t> "</a:t>
            </a:r>
            <a:r>
              <a:rPr dirty="0" err="1"/>
              <a:t>усе</a:t>
            </a:r>
            <a:r>
              <a:rPr dirty="0"/>
              <a:t> </a:t>
            </a:r>
            <a:r>
              <a:rPr dirty="0" err="1"/>
              <a:t>зберігається</a:t>
            </a:r>
            <a:r>
              <a:rPr dirty="0"/>
              <a:t>" </a:t>
            </a:r>
            <a:r>
              <a:rPr dirty="0" err="1"/>
              <a:t>як</a:t>
            </a:r>
            <a:r>
              <a:rPr dirty="0"/>
              <a:t> </a:t>
            </a:r>
            <a:r>
              <a:rPr dirty="0" err="1"/>
              <a:t>очікуваний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: </a:t>
            </a:r>
            <a:r>
              <a:rPr dirty="0" err="1"/>
              <a:t>потрібні</a:t>
            </a:r>
            <a:r>
              <a:rPr dirty="0"/>
              <a:t> </a:t>
            </a:r>
            <a:r>
              <a:rPr dirty="0" err="1"/>
              <a:t>конкретна</a:t>
            </a:r>
            <a:r>
              <a:rPr dirty="0"/>
              <a:t> </a:t>
            </a:r>
            <a:r>
              <a:rPr dirty="0" err="1"/>
              <a:t>кількість</a:t>
            </a:r>
            <a:r>
              <a:rPr dirty="0"/>
              <a:t>, </a:t>
            </a:r>
            <a:r>
              <a:rPr dirty="0" err="1"/>
              <a:t>значення</a:t>
            </a:r>
            <a:r>
              <a:rPr dirty="0"/>
              <a:t> </a:t>
            </a:r>
            <a:r>
              <a:rPr dirty="0" err="1"/>
              <a:t>чи</a:t>
            </a:r>
            <a:r>
              <a:rPr dirty="0"/>
              <a:t> </a:t>
            </a:r>
            <a:r>
              <a:rPr dirty="0" err="1"/>
              <a:t>статус</a:t>
            </a:r>
            <a:r>
              <a:rPr dirty="0"/>
              <a:t>. Для </a:t>
            </a:r>
            <a:r>
              <a:rPr dirty="0" err="1"/>
              <a:t>перешкоди</a:t>
            </a:r>
            <a:r>
              <a:rPr dirty="0"/>
              <a:t> </a:t>
            </a:r>
            <a:r>
              <a:rPr dirty="0" err="1"/>
              <a:t>достатньо</a:t>
            </a:r>
            <a:r>
              <a:rPr dirty="0"/>
              <a:t> </a:t>
            </a:r>
            <a:r>
              <a:rPr dirty="0" err="1"/>
              <a:t>одного</a:t>
            </a:r>
            <a:r>
              <a:rPr dirty="0"/>
              <a:t> </a:t>
            </a:r>
            <a:r>
              <a:rPr dirty="0" err="1"/>
              <a:t>правила</a:t>
            </a:r>
            <a:r>
              <a:rPr dirty="0"/>
              <a:t>, </a:t>
            </a:r>
            <a:r>
              <a:rPr dirty="0" err="1"/>
              <a:t>наприклад</a:t>
            </a:r>
            <a:r>
              <a:rPr dirty="0"/>
              <a:t> </a:t>
            </a:r>
            <a:r>
              <a:rPr dirty="0" err="1"/>
              <a:t>повторний</a:t>
            </a:r>
            <a:r>
              <a:rPr dirty="0"/>
              <a:t> </a:t>
            </a:r>
            <a:r>
              <a:rPr dirty="0" err="1"/>
              <a:t>запис</a:t>
            </a:r>
            <a:r>
              <a:rPr dirty="0"/>
              <a:t> </a:t>
            </a:r>
            <a:r>
              <a:rPr dirty="0" err="1"/>
              <a:t>того</a:t>
            </a:r>
            <a:r>
              <a:rPr dirty="0"/>
              <a:t> </a:t>
            </a:r>
            <a:r>
              <a:rPr dirty="0" err="1"/>
              <a:t>самого</a:t>
            </a:r>
            <a:r>
              <a:rPr dirty="0"/>
              <a:t> об'єкта </a:t>
            </a:r>
            <a:r>
              <a:rPr dirty="0" err="1"/>
              <a:t>або</a:t>
            </a:r>
            <a:r>
              <a:rPr dirty="0"/>
              <a:t> </a:t>
            </a:r>
            <a:r>
              <a:rPr dirty="0" err="1"/>
              <a:t>відсутність</a:t>
            </a:r>
            <a:r>
              <a:rPr dirty="0"/>
              <a:t> </a:t>
            </a:r>
            <a:r>
              <a:rPr dirty="0" err="1"/>
              <a:t>місця</a:t>
            </a:r>
            <a:r>
              <a:rPr dirty="0"/>
              <a:t>. </a:t>
            </a:r>
            <a:r>
              <a:rPr dirty="0" err="1"/>
              <a:t>Винятки</a:t>
            </a:r>
            <a:r>
              <a:rPr dirty="0"/>
              <a:t> </a:t>
            </a:r>
            <a:r>
              <a:rPr dirty="0" err="1"/>
              <a:t>чи</a:t>
            </a:r>
            <a:r>
              <a:rPr dirty="0"/>
              <a:t> </a:t>
            </a:r>
            <a:r>
              <a:rPr dirty="0" err="1"/>
              <a:t>складну</a:t>
            </a:r>
            <a:r>
              <a:rPr dirty="0"/>
              <a:t> </a:t>
            </a:r>
            <a:r>
              <a:rPr dirty="0" err="1"/>
              <a:t>валідацію</a:t>
            </a:r>
            <a:r>
              <a:rPr dirty="0"/>
              <a:t> </a:t>
            </a:r>
            <a:r>
              <a:rPr dirty="0" err="1"/>
              <a:t>сьогодні</a:t>
            </a:r>
            <a:r>
              <a:rPr dirty="0"/>
              <a:t> не </a:t>
            </a:r>
            <a:r>
              <a:rPr dirty="0" err="1"/>
              <a:t>вимагайте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К2: </a:t>
            </a:r>
            <a:r>
              <a:rPr dirty="0" err="1"/>
              <a:t>перегляньте</a:t>
            </a:r>
            <a:r>
              <a:rPr dirty="0"/>
              <a:t> </a:t>
            </a:r>
            <a:r>
              <a:rPr dirty="0" err="1"/>
              <a:t>три</a:t>
            </a:r>
            <a:r>
              <a:rPr dirty="0"/>
              <a:t> </a:t>
            </a:r>
            <a:r>
              <a:rPr dirty="0" err="1"/>
              <a:t>сценарії</a:t>
            </a:r>
            <a:r>
              <a:rPr dirty="0"/>
              <a:t> </a:t>
            </a:r>
            <a:r>
              <a:rPr dirty="0" err="1"/>
              <a:t>команди</a:t>
            </a:r>
            <a:r>
              <a:rPr dirty="0"/>
              <a:t>, </a:t>
            </a:r>
            <a:r>
              <a:rPr dirty="0" err="1"/>
              <a:t>попросіть</a:t>
            </a:r>
            <a:r>
              <a:rPr dirty="0"/>
              <a:t> </a:t>
            </a:r>
            <a:r>
              <a:rPr dirty="0" err="1"/>
              <a:t>учасника</a:t>
            </a:r>
            <a:r>
              <a:rPr dirty="0"/>
              <a:t>, </a:t>
            </a:r>
            <a:r>
              <a:rPr dirty="0" err="1"/>
              <a:t>який</a:t>
            </a:r>
            <a:r>
              <a:rPr dirty="0"/>
              <a:t> </a:t>
            </a:r>
            <a:r>
              <a:rPr dirty="0" err="1"/>
              <a:t>ще</a:t>
            </a:r>
            <a:r>
              <a:rPr dirty="0"/>
              <a:t> не </a:t>
            </a:r>
            <a:r>
              <a:rPr dirty="0" err="1"/>
              <a:t>відповідав</a:t>
            </a:r>
            <a:r>
              <a:rPr dirty="0"/>
              <a:t>, </a:t>
            </a:r>
            <a:r>
              <a:rPr dirty="0" err="1"/>
              <a:t>назвати</a:t>
            </a:r>
            <a:r>
              <a:rPr dirty="0"/>
              <a:t> </a:t>
            </a:r>
            <a:r>
              <a:rPr dirty="0" err="1"/>
              <a:t>об'єкт</a:t>
            </a:r>
            <a:r>
              <a:rPr dirty="0"/>
              <a:t> </a:t>
            </a:r>
            <a:r>
              <a:rPr dirty="0" err="1"/>
              <a:t>зі</a:t>
            </a:r>
            <a:r>
              <a:rPr dirty="0"/>
              <a:t> </a:t>
            </a:r>
            <a:r>
              <a:rPr dirty="0" err="1"/>
              <a:t>зміненим</a:t>
            </a:r>
            <a:r>
              <a:rPr dirty="0"/>
              <a:t> </a:t>
            </a:r>
            <a:r>
              <a:rPr dirty="0" err="1"/>
              <a:t>станом</a:t>
            </a:r>
            <a:r>
              <a:rPr dirty="0"/>
              <a:t>. Окремо </a:t>
            </a:r>
            <a:r>
              <a:rPr dirty="0" err="1"/>
              <a:t>попросіть</a:t>
            </a:r>
            <a:r>
              <a:rPr dirty="0"/>
              <a:t> </a:t>
            </a:r>
            <a:r>
              <a:rPr dirty="0" err="1"/>
              <a:t>вказати</a:t>
            </a:r>
            <a:r>
              <a:rPr dirty="0"/>
              <a:t> </a:t>
            </a:r>
            <a:r>
              <a:rPr dirty="0" err="1"/>
              <a:t>другий</a:t>
            </a:r>
            <a:r>
              <a:rPr dirty="0"/>
              <a:t> </a:t>
            </a:r>
            <a:r>
              <a:rPr dirty="0" err="1"/>
              <a:t>об'єкт</a:t>
            </a:r>
            <a:r>
              <a:rPr dirty="0"/>
              <a:t> </a:t>
            </a:r>
            <a:r>
              <a:rPr dirty="0" err="1"/>
              <a:t>того</a:t>
            </a:r>
            <a:r>
              <a:rPr dirty="0"/>
              <a:t> </a:t>
            </a:r>
            <a:r>
              <a:rPr dirty="0" err="1"/>
              <a:t>самого</a:t>
            </a:r>
            <a:r>
              <a:rPr dirty="0"/>
              <a:t> </a:t>
            </a:r>
            <a:r>
              <a:rPr dirty="0" err="1"/>
              <a:t>класу</a:t>
            </a:r>
            <a:r>
              <a:rPr dirty="0"/>
              <a:t>, </a:t>
            </a:r>
            <a:r>
              <a:rPr dirty="0" err="1"/>
              <a:t>який</a:t>
            </a:r>
            <a:r>
              <a:rPr dirty="0"/>
              <a:t> </a:t>
            </a:r>
            <a:r>
              <a:rPr dirty="0" err="1"/>
              <a:t>ця</a:t>
            </a:r>
            <a:r>
              <a:rPr dirty="0"/>
              <a:t> </a:t>
            </a:r>
            <a:r>
              <a:rPr dirty="0" err="1"/>
              <a:t>дія</a:t>
            </a:r>
            <a:r>
              <a:rPr dirty="0"/>
              <a:t> не </a:t>
            </a:r>
            <a:r>
              <a:rPr dirty="0" err="1"/>
              <a:t>має</a:t>
            </a:r>
            <a:r>
              <a:rPr dirty="0"/>
              <a:t> </a:t>
            </a:r>
            <a:r>
              <a:rPr dirty="0" err="1"/>
              <a:t>змінити</a:t>
            </a:r>
            <a:r>
              <a:rPr dirty="0"/>
              <a:t>. Правила </a:t>
            </a:r>
            <a:r>
              <a:rPr dirty="0" err="1"/>
              <a:t>повторної</a:t>
            </a:r>
            <a:r>
              <a:rPr dirty="0"/>
              <a:t> </a:t>
            </a:r>
            <a:r>
              <a:rPr dirty="0" err="1"/>
              <a:t>дії</a:t>
            </a:r>
            <a:r>
              <a:rPr dirty="0"/>
              <a:t> </a:t>
            </a:r>
            <a:r>
              <a:rPr dirty="0" err="1"/>
              <a:t>залежать</a:t>
            </a:r>
            <a:r>
              <a:rPr dirty="0"/>
              <a:t> </a:t>
            </a:r>
            <a:r>
              <a:rPr dirty="0" err="1"/>
              <a:t>від</a:t>
            </a:r>
            <a:r>
              <a:rPr dirty="0"/>
              <a:t> </a:t>
            </a:r>
            <a:r>
              <a:rPr dirty="0" err="1"/>
              <a:t>обраної</a:t>
            </a:r>
            <a:r>
              <a:rPr dirty="0"/>
              <a:t> </a:t>
            </a:r>
            <a:r>
              <a:rPr dirty="0" err="1"/>
              <a:t>предметної</a:t>
            </a:r>
            <a:r>
              <a:rPr dirty="0"/>
              <a:t> </a:t>
            </a:r>
            <a:r>
              <a:rPr dirty="0" err="1"/>
              <a:t>області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Тривалість</a:t>
            </a:r>
            <a:r>
              <a:rPr dirty="0"/>
              <a:t>: 3 </a:t>
            </a:r>
            <a:r>
              <a:rPr dirty="0" err="1"/>
              <a:t>хв</a:t>
            </a:r>
            <a:r>
              <a:rPr dirty="0"/>
              <a:t> (115 </a:t>
            </a:r>
            <a:r>
              <a:rPr dirty="0" err="1"/>
              <a:t>хв</a:t>
            </a:r>
            <a:r>
              <a:rPr dirty="0"/>
              <a:t>)</a:t>
            </a:r>
          </a:p>
          <a:p>
            <a:endParaRPr dirty="0"/>
          </a:p>
          <a:p>
            <a:r>
              <a:rPr dirty="0" err="1"/>
              <a:t>Відведіть</a:t>
            </a:r>
            <a:r>
              <a:rPr dirty="0"/>
              <a:t> 2 </a:t>
            </a:r>
            <a:r>
              <a:rPr dirty="0" err="1"/>
              <a:t>хвилини</a:t>
            </a:r>
            <a:r>
              <a:rPr dirty="0"/>
              <a:t> на </a:t>
            </a:r>
            <a:r>
              <a:rPr dirty="0" err="1"/>
              <a:t>вибір</a:t>
            </a:r>
            <a:r>
              <a:rPr dirty="0"/>
              <a:t> і </a:t>
            </a:r>
            <a:r>
              <a:rPr dirty="0" err="1"/>
              <a:t>фіксацію</a:t>
            </a:r>
            <a:r>
              <a:rPr dirty="0"/>
              <a:t>, </a:t>
            </a:r>
            <a:r>
              <a:rPr dirty="0" err="1"/>
              <a:t>останню</a:t>
            </a:r>
            <a:r>
              <a:rPr dirty="0"/>
              <a:t> </a:t>
            </a:r>
            <a:r>
              <a:rPr dirty="0" err="1"/>
              <a:t>хвилину</a:t>
            </a:r>
            <a:r>
              <a:rPr dirty="0"/>
              <a:t> на </a:t>
            </a:r>
            <a:r>
              <a:rPr dirty="0" err="1"/>
              <a:t>коротке</a:t>
            </a:r>
            <a:r>
              <a:rPr dirty="0"/>
              <a:t> </a:t>
            </a:r>
            <a:r>
              <a:rPr dirty="0" err="1"/>
              <a:t>пояснення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колонці</a:t>
            </a:r>
            <a:r>
              <a:rPr dirty="0"/>
              <a:t> </a:t>
            </a:r>
            <a:r>
              <a:rPr dirty="0" err="1"/>
              <a:t>команди</a:t>
            </a:r>
            <a:r>
              <a:rPr dirty="0"/>
              <a:t>. Не </a:t>
            </a:r>
            <a:r>
              <a:rPr dirty="0" err="1"/>
              <a:t>плануйте</a:t>
            </a:r>
            <a:r>
              <a:rPr dirty="0"/>
              <a:t> </a:t>
            </a:r>
            <a:r>
              <a:rPr dirty="0" err="1"/>
              <a:t>послідовні</a:t>
            </a:r>
            <a:r>
              <a:rPr dirty="0"/>
              <a:t> </a:t>
            </a:r>
            <a:r>
              <a:rPr dirty="0" err="1"/>
              <a:t>усні</a:t>
            </a:r>
            <a:r>
              <a:rPr dirty="0"/>
              <a:t> </a:t>
            </a:r>
            <a:r>
              <a:rPr dirty="0" err="1"/>
              <a:t>виступи</a:t>
            </a:r>
            <a:r>
              <a:rPr dirty="0"/>
              <a:t> </a:t>
            </a:r>
            <a:r>
              <a:rPr dirty="0" err="1"/>
              <a:t>всіх</a:t>
            </a:r>
            <a:r>
              <a:rPr dirty="0"/>
              <a:t> </a:t>
            </a:r>
            <a:r>
              <a:rPr dirty="0" err="1"/>
              <a:t>команд</a:t>
            </a:r>
            <a:r>
              <a:rPr dirty="0"/>
              <a:t> за </a:t>
            </a:r>
            <a:r>
              <a:rPr dirty="0" err="1"/>
              <a:t>одну</a:t>
            </a:r>
            <a:r>
              <a:rPr dirty="0"/>
              <a:t> </a:t>
            </a:r>
            <a:r>
              <a:rPr dirty="0" err="1"/>
              <a:t>хвилину</a:t>
            </a:r>
            <a:r>
              <a:rPr dirty="0"/>
              <a:t>: </a:t>
            </a:r>
            <a:r>
              <a:rPr dirty="0" err="1"/>
              <a:t>прочитайте</a:t>
            </a:r>
            <a:r>
              <a:rPr dirty="0"/>
              <a:t> </a:t>
            </a:r>
            <a:r>
              <a:rPr dirty="0" err="1"/>
              <a:t>їхні</a:t>
            </a:r>
            <a:r>
              <a:rPr dirty="0"/>
              <a:t> </a:t>
            </a:r>
            <a:r>
              <a:rPr dirty="0" err="1"/>
              <a:t>записи</a:t>
            </a:r>
            <a:r>
              <a:rPr dirty="0"/>
              <a:t>, </a:t>
            </a:r>
            <a:r>
              <a:rPr dirty="0" err="1"/>
              <a:t>запросіть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стислий</a:t>
            </a:r>
            <a:r>
              <a:rPr dirty="0"/>
              <a:t> </a:t>
            </a:r>
            <a:r>
              <a:rPr dirty="0" err="1"/>
              <a:t>приклад</a:t>
            </a:r>
            <a:r>
              <a:rPr dirty="0"/>
              <a:t> </a:t>
            </a:r>
            <a:r>
              <a:rPr dirty="0" err="1"/>
              <a:t>голосом</a:t>
            </a:r>
            <a:r>
              <a:rPr dirty="0"/>
              <a:t>. Попросіть </a:t>
            </a:r>
            <a:r>
              <a:rPr dirty="0" err="1"/>
              <a:t>обрати</a:t>
            </a:r>
            <a:r>
              <a:rPr dirty="0"/>
              <a:t> </a:t>
            </a:r>
            <a:r>
              <a:rPr dirty="0" err="1"/>
              <a:t>сценарій</a:t>
            </a:r>
            <a:r>
              <a:rPr dirty="0"/>
              <a:t> без </a:t>
            </a:r>
            <a:r>
              <a:rPr dirty="0" err="1"/>
              <a:t>мережі</a:t>
            </a:r>
            <a:r>
              <a:rPr dirty="0"/>
              <a:t>, </a:t>
            </a:r>
            <a:r>
              <a:rPr dirty="0" err="1"/>
              <a:t>бази</a:t>
            </a:r>
            <a:r>
              <a:rPr dirty="0"/>
              <a:t> даних </a:t>
            </a:r>
            <a:r>
              <a:rPr dirty="0" err="1"/>
              <a:t>чи</a:t>
            </a:r>
            <a:r>
              <a:rPr dirty="0"/>
              <a:t> </a:t>
            </a:r>
            <a:r>
              <a:rPr dirty="0" err="1"/>
              <a:t>інтерфейсу</a:t>
            </a:r>
            <a:r>
              <a:rPr dirty="0"/>
              <a:t>. Якщо </a:t>
            </a:r>
            <a:r>
              <a:rPr dirty="0" err="1"/>
              <a:t>ідея</a:t>
            </a:r>
            <a:r>
              <a:rPr dirty="0"/>
              <a:t> </a:t>
            </a:r>
            <a:r>
              <a:rPr dirty="0" err="1"/>
              <a:t>завелика</a:t>
            </a:r>
            <a:r>
              <a:rPr dirty="0"/>
              <a:t>, </a:t>
            </a:r>
            <a:r>
              <a:rPr dirty="0" err="1"/>
              <a:t>зменште</a:t>
            </a:r>
            <a:r>
              <a:rPr dirty="0"/>
              <a:t> її до </a:t>
            </a:r>
            <a:r>
              <a:rPr dirty="0" err="1"/>
              <a:t>однієї</a:t>
            </a:r>
            <a:r>
              <a:rPr dirty="0"/>
              <a:t> </a:t>
            </a:r>
            <a:r>
              <a:rPr dirty="0" err="1"/>
              <a:t>дії</a:t>
            </a:r>
            <a:r>
              <a:rPr dirty="0"/>
              <a:t> </a:t>
            </a:r>
            <a:r>
              <a:rPr dirty="0" err="1"/>
              <a:t>над</a:t>
            </a:r>
            <a:r>
              <a:rPr dirty="0"/>
              <a:t> </a:t>
            </a:r>
            <a:r>
              <a:rPr dirty="0" err="1"/>
              <a:t>двома</a:t>
            </a:r>
            <a:r>
              <a:rPr dirty="0"/>
              <a:t> </a:t>
            </a:r>
            <a:r>
              <a:rPr dirty="0" err="1"/>
              <a:t>пов'язаними</a:t>
            </a:r>
            <a:r>
              <a:rPr dirty="0"/>
              <a:t> </a:t>
            </a:r>
            <a:r>
              <a:rPr dirty="0" err="1"/>
              <a:t>класами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У</a:t>
            </a:r>
            <a:r>
              <a:rPr dirty="0"/>
              <a:t> </a:t>
            </a:r>
            <a:r>
              <a:rPr dirty="0" err="1"/>
              <a:t>картках</a:t>
            </a:r>
            <a:r>
              <a:rPr dirty="0"/>
              <a:t> </a:t>
            </a:r>
            <a:r>
              <a:rPr dirty="0" err="1"/>
              <a:t>можуть</a:t>
            </a:r>
            <a:r>
              <a:rPr dirty="0"/>
              <a:t> </a:t>
            </a:r>
            <a:r>
              <a:rPr dirty="0" err="1"/>
              <a:t>залишитися</a:t>
            </a:r>
            <a:r>
              <a:rPr dirty="0"/>
              <a:t> 3-5 </a:t>
            </a:r>
            <a:r>
              <a:rPr dirty="0" err="1"/>
              <a:t>атрибутів</a:t>
            </a:r>
            <a:r>
              <a:rPr dirty="0"/>
              <a:t> та 2-3 методи; </a:t>
            </a:r>
            <a:r>
              <a:rPr dirty="0" err="1"/>
              <a:t>у</a:t>
            </a:r>
            <a:r>
              <a:rPr dirty="0"/>
              <a:t> </a:t>
            </a:r>
            <a:r>
              <a:rPr dirty="0" err="1"/>
              <a:t>коді</a:t>
            </a:r>
            <a:r>
              <a:rPr dirty="0"/>
              <a:t> </a:t>
            </a:r>
            <a:r>
              <a:rPr dirty="0" err="1"/>
              <a:t>обов'язковий</a:t>
            </a:r>
            <a:r>
              <a:rPr dirty="0"/>
              <a:t> </a:t>
            </a:r>
            <a:r>
              <a:rPr dirty="0" err="1"/>
              <a:t>лише</a:t>
            </a:r>
            <a:r>
              <a:rPr dirty="0"/>
              <a:t> </a:t>
            </a:r>
            <a:r>
              <a:rPr dirty="0" err="1"/>
              <a:t>мінімум</a:t>
            </a:r>
            <a:r>
              <a:rPr dirty="0"/>
              <a:t>, </a:t>
            </a:r>
            <a:r>
              <a:rPr dirty="0" err="1"/>
              <a:t>потрібний</a:t>
            </a:r>
            <a:r>
              <a:rPr dirty="0"/>
              <a:t> для </a:t>
            </a:r>
            <a:r>
              <a:rPr dirty="0" err="1"/>
              <a:t>вибраної</a:t>
            </a:r>
            <a:r>
              <a:rPr dirty="0"/>
              <a:t> </a:t>
            </a:r>
            <a:r>
              <a:rPr dirty="0" err="1"/>
              <a:t>дії</a:t>
            </a:r>
            <a:r>
              <a:rPr dirty="0"/>
              <a:t>. Третій клас і </a:t>
            </a:r>
            <a:r>
              <a:rPr dirty="0" err="1"/>
              <a:t>решту</a:t>
            </a:r>
            <a:r>
              <a:rPr dirty="0"/>
              <a:t> </a:t>
            </a:r>
            <a:r>
              <a:rPr dirty="0" err="1"/>
              <a:t>сценаріїв</a:t>
            </a:r>
            <a:r>
              <a:rPr dirty="0"/>
              <a:t> </a:t>
            </a:r>
            <a:r>
              <a:rPr dirty="0" err="1"/>
              <a:t>збережіть</a:t>
            </a:r>
            <a:r>
              <a:rPr dirty="0"/>
              <a:t> </a:t>
            </a:r>
            <a:r>
              <a:rPr dirty="0" err="1"/>
              <a:t>як</a:t>
            </a:r>
            <a:r>
              <a:rPr dirty="0"/>
              <a:t> </a:t>
            </a:r>
            <a:r>
              <a:rPr dirty="0" err="1"/>
              <a:t>план</a:t>
            </a:r>
            <a:r>
              <a:rPr dirty="0"/>
              <a:t> </a:t>
            </a:r>
            <a:r>
              <a:rPr dirty="0" err="1"/>
              <a:t>розвитку</a:t>
            </a:r>
            <a:r>
              <a:rPr dirty="0"/>
              <a:t>. К1-К2 </a:t>
            </a:r>
            <a:r>
              <a:rPr dirty="0" err="1"/>
              <a:t>перевіряються</a:t>
            </a:r>
            <a:r>
              <a:rPr dirty="0"/>
              <a:t> на </a:t>
            </a:r>
            <a:r>
              <a:rPr dirty="0" err="1"/>
              <a:t>командному</a:t>
            </a:r>
            <a:r>
              <a:rPr dirty="0"/>
              <a:t> </a:t>
            </a:r>
            <a:r>
              <a:rPr dirty="0" err="1"/>
              <a:t>матеріалі</a:t>
            </a:r>
            <a:r>
              <a:rPr dirty="0"/>
              <a:t>, </a:t>
            </a:r>
            <a:r>
              <a:rPr dirty="0" err="1"/>
              <a:t>але</a:t>
            </a:r>
            <a:r>
              <a:rPr dirty="0"/>
              <a:t> </a:t>
            </a:r>
            <a:r>
              <a:rPr dirty="0" err="1"/>
              <a:t>пояснення</a:t>
            </a:r>
            <a:r>
              <a:rPr dirty="0"/>
              <a:t> </a:t>
            </a:r>
            <a:r>
              <a:rPr dirty="0" err="1"/>
              <a:t>потрібне</a:t>
            </a:r>
            <a:r>
              <a:rPr dirty="0"/>
              <a:t> </a:t>
            </a:r>
            <a:r>
              <a:rPr dirty="0" err="1"/>
              <a:t>від</a:t>
            </a:r>
            <a:r>
              <a:rPr dirty="0"/>
              <a:t> </a:t>
            </a:r>
            <a:r>
              <a:rPr dirty="0" err="1"/>
              <a:t>кожного</a:t>
            </a:r>
            <a:r>
              <a:rPr dirty="0"/>
              <a:t> </a:t>
            </a:r>
            <a:r>
              <a:rPr dirty="0" err="1"/>
              <a:t>учасника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Тривалість</a:t>
            </a:r>
            <a:r>
              <a:rPr dirty="0"/>
              <a:t>: 21 </a:t>
            </a:r>
            <a:r>
              <a:rPr dirty="0" err="1"/>
              <a:t>хв</a:t>
            </a:r>
            <a:r>
              <a:rPr dirty="0"/>
              <a:t> (136 </a:t>
            </a:r>
            <a:r>
              <a:rPr dirty="0" err="1"/>
              <a:t>хв</a:t>
            </a:r>
            <a:r>
              <a:rPr dirty="0"/>
              <a:t>)</a:t>
            </a:r>
          </a:p>
          <a:p>
            <a:endParaRPr dirty="0"/>
          </a:p>
          <a:p>
            <a:r>
              <a:rPr dirty="0" err="1"/>
              <a:t>Перші</a:t>
            </a:r>
            <a:r>
              <a:rPr dirty="0"/>
              <a:t> 2 </a:t>
            </a:r>
            <a:r>
              <a:rPr dirty="0" err="1"/>
              <a:t>хвилини</a:t>
            </a:r>
            <a:r>
              <a:rPr dirty="0"/>
              <a:t> </a:t>
            </a:r>
            <a:r>
              <a:rPr dirty="0" err="1"/>
              <a:t>кожен</a:t>
            </a:r>
            <a:r>
              <a:rPr dirty="0"/>
              <a:t> </a:t>
            </a:r>
            <a:r>
              <a:rPr dirty="0" err="1"/>
              <a:t>визначає</a:t>
            </a:r>
            <a:r>
              <a:rPr dirty="0"/>
              <a:t> </a:t>
            </a:r>
            <a:r>
              <a:rPr dirty="0" err="1"/>
              <a:t>мінімум</a:t>
            </a:r>
            <a:r>
              <a:rPr dirty="0"/>
              <a:t> </a:t>
            </a:r>
            <a:r>
              <a:rPr dirty="0" err="1"/>
              <a:t>своєї</a:t>
            </a:r>
            <a:r>
              <a:rPr dirty="0"/>
              <a:t> </a:t>
            </a:r>
            <a:r>
              <a:rPr dirty="0" err="1"/>
              <a:t>реалізації</a:t>
            </a:r>
            <a:r>
              <a:rPr dirty="0"/>
              <a:t> за </a:t>
            </a:r>
            <a:r>
              <a:rPr dirty="0" err="1"/>
              <a:t>командними</a:t>
            </a:r>
            <a:r>
              <a:rPr dirty="0"/>
              <a:t> </a:t>
            </a:r>
            <a:r>
              <a:rPr dirty="0" err="1"/>
              <a:t>картками</a:t>
            </a:r>
            <a:r>
              <a:rPr dirty="0"/>
              <a:t>. </a:t>
            </a:r>
            <a:r>
              <a:rPr dirty="0" err="1"/>
              <a:t>Наступні</a:t>
            </a:r>
            <a:r>
              <a:rPr dirty="0"/>
              <a:t> 13 </a:t>
            </a:r>
            <a:r>
              <a:rPr dirty="0" err="1"/>
              <a:t>хвилин</a:t>
            </a:r>
            <a:r>
              <a:rPr dirty="0"/>
              <a:t> </a:t>
            </a:r>
            <a:r>
              <a:rPr dirty="0" err="1"/>
              <a:t>самостійно</a:t>
            </a:r>
            <a:r>
              <a:rPr dirty="0"/>
              <a:t> </a:t>
            </a:r>
            <a:r>
              <a:rPr dirty="0" err="1"/>
              <a:t>пише</a:t>
            </a:r>
            <a:r>
              <a:rPr dirty="0"/>
              <a:t> </a:t>
            </a:r>
            <a:r>
              <a:rPr dirty="0" err="1"/>
              <a:t>й</a:t>
            </a:r>
            <a:r>
              <a:rPr dirty="0"/>
              <a:t> </a:t>
            </a:r>
            <a:r>
              <a:rPr dirty="0" err="1"/>
              <a:t>запускає</a:t>
            </a:r>
            <a:r>
              <a:rPr dirty="0"/>
              <a:t> </a:t>
            </a:r>
            <a:r>
              <a:rPr dirty="0" err="1"/>
              <a:t>код</a:t>
            </a:r>
            <a:r>
              <a:rPr dirty="0"/>
              <a:t>, </a:t>
            </a:r>
            <a:r>
              <a:rPr dirty="0" err="1"/>
              <a:t>останні</a:t>
            </a:r>
            <a:r>
              <a:rPr dirty="0"/>
              <a:t> 6 </a:t>
            </a:r>
            <a:r>
              <a:rPr dirty="0" err="1"/>
              <a:t>хвилин</a:t>
            </a:r>
            <a:r>
              <a:rPr dirty="0"/>
              <a:t> </a:t>
            </a:r>
            <a:r>
              <a:rPr dirty="0" err="1"/>
              <a:t>перевіряє</a:t>
            </a:r>
            <a:r>
              <a:rPr dirty="0"/>
              <a:t> </a:t>
            </a:r>
            <a:r>
              <a:rPr dirty="0" err="1"/>
              <a:t>результати</a:t>
            </a:r>
            <a:r>
              <a:rPr dirty="0"/>
              <a:t> та </a:t>
            </a:r>
            <a:r>
              <a:rPr dirty="0" err="1"/>
              <a:t>надсилає</a:t>
            </a:r>
            <a:r>
              <a:rPr dirty="0"/>
              <a:t> </a:t>
            </a:r>
            <a:r>
              <a:rPr dirty="0" err="1"/>
              <a:t>файли</a:t>
            </a:r>
            <a:r>
              <a:rPr dirty="0"/>
              <a:t>. Учасники </a:t>
            </a:r>
            <a:r>
              <a:rPr dirty="0" err="1"/>
              <a:t>однієї</a:t>
            </a:r>
            <a:r>
              <a:rPr dirty="0"/>
              <a:t> </a:t>
            </a:r>
            <a:r>
              <a:rPr dirty="0" err="1"/>
              <a:t>команди</a:t>
            </a:r>
            <a:r>
              <a:rPr dirty="0"/>
              <a:t> </a:t>
            </a:r>
            <a:r>
              <a:rPr dirty="0" err="1"/>
              <a:t>можуть</a:t>
            </a:r>
            <a:r>
              <a:rPr dirty="0"/>
              <a:t> </a:t>
            </a:r>
            <a:r>
              <a:rPr dirty="0" err="1"/>
              <a:t>використати</a:t>
            </a:r>
            <a:r>
              <a:rPr dirty="0"/>
              <a:t> </a:t>
            </a:r>
            <a:r>
              <a:rPr dirty="0" err="1"/>
              <a:t>спільну</a:t>
            </a:r>
            <a:r>
              <a:rPr dirty="0"/>
              <a:t> </a:t>
            </a:r>
            <a:r>
              <a:rPr dirty="0" err="1"/>
              <a:t>ідею</a:t>
            </a:r>
            <a:r>
              <a:rPr dirty="0"/>
              <a:t> та </a:t>
            </a:r>
            <a:r>
              <a:rPr dirty="0" err="1"/>
              <a:t>сценарій</a:t>
            </a:r>
            <a:r>
              <a:rPr dirty="0"/>
              <a:t>, </a:t>
            </a:r>
            <a:r>
              <a:rPr dirty="0" err="1"/>
              <a:t>але</a:t>
            </a:r>
            <a:r>
              <a:rPr dirty="0"/>
              <a:t> </a:t>
            </a:r>
            <a:r>
              <a:rPr dirty="0" err="1"/>
              <a:t>кожен</a:t>
            </a:r>
            <a:r>
              <a:rPr dirty="0"/>
              <a:t> </a:t>
            </a:r>
            <a:r>
              <a:rPr dirty="0" err="1"/>
              <a:t>пише</a:t>
            </a:r>
            <a:r>
              <a:rPr dirty="0"/>
              <a:t> </a:t>
            </a:r>
            <a:r>
              <a:rPr dirty="0" err="1"/>
              <a:t>власну</a:t>
            </a:r>
            <a:r>
              <a:rPr dirty="0"/>
              <a:t> </a:t>
            </a:r>
            <a:r>
              <a:rPr dirty="0" err="1"/>
              <a:t>реалізацію</a:t>
            </a:r>
            <a:r>
              <a:rPr dirty="0"/>
              <a:t> і </a:t>
            </a:r>
            <a:r>
              <a:rPr dirty="0" err="1"/>
              <a:t>пояснює</a:t>
            </a:r>
            <a:r>
              <a:rPr dirty="0"/>
              <a:t> її. Спільний файл </a:t>
            </a:r>
            <a:r>
              <a:rPr dirty="0" err="1"/>
              <a:t>команди</a:t>
            </a:r>
            <a:r>
              <a:rPr dirty="0"/>
              <a:t> не </a:t>
            </a:r>
            <a:r>
              <a:rPr dirty="0" err="1"/>
              <a:t>замінює</a:t>
            </a:r>
            <a:r>
              <a:rPr dirty="0"/>
              <a:t> </a:t>
            </a:r>
            <a:r>
              <a:rPr dirty="0" err="1"/>
              <a:t>особистого</a:t>
            </a:r>
            <a:r>
              <a:rPr dirty="0"/>
              <a:t> </a:t>
            </a:r>
            <a:r>
              <a:rPr dirty="0" err="1"/>
              <a:t>результату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Перевірте</a:t>
            </a:r>
            <a:r>
              <a:rPr dirty="0"/>
              <a:t>, що </a:t>
            </a:r>
            <a:r>
              <a:rPr dirty="0" err="1"/>
              <a:t>код</a:t>
            </a:r>
            <a:r>
              <a:rPr dirty="0"/>
              <a:t> </a:t>
            </a:r>
            <a:r>
              <a:rPr dirty="0" err="1"/>
              <a:t>відповідає</a:t>
            </a:r>
            <a:r>
              <a:rPr dirty="0"/>
              <a:t> </a:t>
            </a:r>
            <a:r>
              <a:rPr dirty="0" err="1"/>
              <a:t>обраній</a:t>
            </a:r>
            <a:r>
              <a:rPr dirty="0"/>
              <a:t> </a:t>
            </a:r>
            <a:r>
              <a:rPr dirty="0" err="1"/>
              <a:t>ідеї</a:t>
            </a:r>
            <a:r>
              <a:rPr dirty="0"/>
              <a:t> </a:t>
            </a:r>
            <a:r>
              <a:rPr dirty="0" err="1"/>
              <a:t>застосунку</a:t>
            </a:r>
            <a:r>
              <a:rPr dirty="0"/>
              <a:t> для </a:t>
            </a:r>
            <a:r>
              <a:rPr dirty="0" err="1"/>
              <a:t>студентського</a:t>
            </a:r>
            <a:r>
              <a:rPr dirty="0"/>
              <a:t> </a:t>
            </a:r>
            <a:r>
              <a:rPr dirty="0" err="1"/>
              <a:t>життя</a:t>
            </a:r>
            <a:r>
              <a:rPr dirty="0"/>
              <a:t>. Для </a:t>
            </a:r>
            <a:r>
              <a:rPr dirty="0" err="1"/>
              <a:t>підтримки</a:t>
            </a:r>
            <a:r>
              <a:rPr dirty="0"/>
              <a:t> </a:t>
            </a:r>
            <a:r>
              <a:rPr dirty="0" err="1"/>
              <a:t>підкажіть</a:t>
            </a:r>
            <a:r>
              <a:rPr dirty="0"/>
              <a:t> </a:t>
            </a:r>
            <a:r>
              <a:rPr dirty="0" err="1"/>
              <a:t>наступний</a:t>
            </a:r>
            <a:r>
              <a:rPr dirty="0"/>
              <a:t> </a:t>
            </a:r>
            <a:r>
              <a:rPr dirty="0" err="1"/>
              <a:t>крок</a:t>
            </a:r>
            <a:r>
              <a:rPr dirty="0"/>
              <a:t> на </a:t>
            </a:r>
            <a:r>
              <a:rPr dirty="0" err="1"/>
              <a:t>власній</a:t>
            </a:r>
            <a:r>
              <a:rPr dirty="0"/>
              <a:t> </a:t>
            </a:r>
            <a:r>
              <a:rPr dirty="0" err="1"/>
              <a:t>моделі</a:t>
            </a:r>
            <a:r>
              <a:rPr dirty="0"/>
              <a:t> </a:t>
            </a:r>
            <a:r>
              <a:rPr dirty="0" err="1"/>
              <a:t>студента</a:t>
            </a:r>
            <a:r>
              <a:rPr dirty="0"/>
              <a:t>: </a:t>
            </a:r>
            <a:r>
              <a:rPr dirty="0" err="1"/>
              <a:t>який</a:t>
            </a:r>
            <a:r>
              <a:rPr dirty="0"/>
              <a:t> </a:t>
            </a:r>
            <a:r>
              <a:rPr dirty="0" err="1"/>
              <a:t>атрибут</a:t>
            </a:r>
            <a:r>
              <a:rPr dirty="0"/>
              <a:t> </a:t>
            </a:r>
            <a:r>
              <a:rPr dirty="0" err="1"/>
              <a:t>зберегти</a:t>
            </a:r>
            <a:r>
              <a:rPr dirty="0"/>
              <a:t>, </a:t>
            </a:r>
            <a:r>
              <a:rPr dirty="0" err="1"/>
              <a:t>де</a:t>
            </a:r>
            <a:r>
              <a:rPr dirty="0"/>
              <a:t> </a:t>
            </a:r>
            <a:r>
              <a:rPr dirty="0" err="1"/>
              <a:t>створити</a:t>
            </a:r>
            <a:r>
              <a:rPr dirty="0"/>
              <a:t> </a:t>
            </a:r>
            <a:r>
              <a:rPr dirty="0" err="1"/>
              <a:t>список</a:t>
            </a:r>
            <a:r>
              <a:rPr dirty="0"/>
              <a:t>, </a:t>
            </a:r>
            <a:r>
              <a:rPr dirty="0" err="1"/>
              <a:t>який</a:t>
            </a:r>
            <a:r>
              <a:rPr dirty="0"/>
              <a:t> </a:t>
            </a:r>
            <a:r>
              <a:rPr dirty="0" err="1"/>
              <a:t>метод</a:t>
            </a:r>
            <a:r>
              <a:rPr dirty="0"/>
              <a:t> </a:t>
            </a:r>
            <a:r>
              <a:rPr dirty="0" err="1"/>
              <a:t>має</a:t>
            </a:r>
            <a:r>
              <a:rPr dirty="0"/>
              <a:t> </a:t>
            </a:r>
            <a:r>
              <a:rPr dirty="0" err="1"/>
              <a:t>змінити</a:t>
            </a:r>
            <a:r>
              <a:rPr dirty="0"/>
              <a:t> </a:t>
            </a:r>
            <a:r>
              <a:rPr dirty="0" err="1"/>
              <a:t>стан</a:t>
            </a:r>
            <a:r>
              <a:rPr dirty="0"/>
              <a:t>. Не </a:t>
            </a:r>
            <a:r>
              <a:rPr dirty="0" err="1"/>
              <a:t>відкривайте</a:t>
            </a:r>
            <a:r>
              <a:rPr dirty="0"/>
              <a:t> </a:t>
            </a:r>
            <a:r>
              <a:rPr dirty="0" err="1"/>
              <a:t>повторно</a:t>
            </a:r>
            <a:r>
              <a:rPr dirty="0"/>
              <a:t> </a:t>
            </a:r>
            <a:r>
              <a:rPr dirty="0" err="1"/>
              <a:t>приклади</a:t>
            </a:r>
            <a:r>
              <a:rPr dirty="0"/>
              <a:t> </a:t>
            </a:r>
            <a:r>
              <a:rPr dirty="0" err="1"/>
              <a:t>навчальної</a:t>
            </a:r>
            <a:r>
              <a:rPr dirty="0"/>
              <a:t> </a:t>
            </a:r>
            <a:r>
              <a:rPr dirty="0" err="1"/>
              <a:t>платформи</a:t>
            </a:r>
            <a:r>
              <a:rPr dirty="0"/>
              <a:t>. Залиште </a:t>
            </a:r>
            <a:r>
              <a:rPr dirty="0" err="1"/>
              <a:t>третій</a:t>
            </a:r>
            <a:r>
              <a:rPr dirty="0"/>
              <a:t> клас і </a:t>
            </a:r>
            <a:r>
              <a:rPr dirty="0" err="1"/>
              <a:t>додаткові</a:t>
            </a:r>
            <a:r>
              <a:rPr dirty="0"/>
              <a:t> методи </a:t>
            </a:r>
            <a:r>
              <a:rPr dirty="0" err="1"/>
              <a:t>як</a:t>
            </a:r>
            <a:r>
              <a:rPr dirty="0"/>
              <a:t> </a:t>
            </a:r>
            <a:r>
              <a:rPr dirty="0" err="1"/>
              <a:t>необов'язковий</a:t>
            </a:r>
            <a:r>
              <a:rPr dirty="0"/>
              <a:t> </a:t>
            </a:r>
            <a:r>
              <a:rPr dirty="0" err="1"/>
              <a:t>розвиток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К8: </a:t>
            </a:r>
            <a:r>
              <a:rPr dirty="0" err="1"/>
              <a:t>перегляньте</a:t>
            </a:r>
            <a:r>
              <a:rPr dirty="0"/>
              <a:t> </a:t>
            </a:r>
            <a:r>
              <a:rPr dirty="0" err="1"/>
              <a:t>project_model.py</a:t>
            </a:r>
            <a:r>
              <a:rPr dirty="0"/>
              <a:t> </a:t>
            </a:r>
            <a:r>
              <a:rPr dirty="0" err="1"/>
              <a:t>кожного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одночасний</a:t>
            </a:r>
            <a:r>
              <a:rPr dirty="0"/>
              <a:t> </a:t>
            </a:r>
            <a:r>
              <a:rPr dirty="0" err="1"/>
              <a:t>доступ</a:t>
            </a:r>
            <a:r>
              <a:rPr dirty="0"/>
              <a:t>. Звірте </a:t>
            </a:r>
            <a:r>
              <a:rPr dirty="0" err="1"/>
              <a:t>очікуваний</a:t>
            </a:r>
            <a:r>
              <a:rPr dirty="0"/>
              <a:t> та </a:t>
            </a:r>
            <a:r>
              <a:rPr dirty="0" err="1"/>
              <a:t>фактичний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, </a:t>
            </a:r>
            <a:r>
              <a:rPr dirty="0" err="1"/>
              <a:t>граничний</a:t>
            </a:r>
            <a:r>
              <a:rPr dirty="0"/>
              <a:t> </a:t>
            </a:r>
            <a:r>
              <a:rPr dirty="0" err="1"/>
              <a:t>випадок</a:t>
            </a:r>
            <a:r>
              <a:rPr dirty="0"/>
              <a:t> і </a:t>
            </a:r>
            <a:r>
              <a:rPr dirty="0" err="1"/>
              <a:t>незалежність</a:t>
            </a:r>
            <a:r>
              <a:rPr dirty="0"/>
              <a:t> </a:t>
            </a:r>
            <a:r>
              <a:rPr dirty="0" err="1"/>
              <a:t>другого</a:t>
            </a:r>
            <a:r>
              <a:rPr dirty="0"/>
              <a:t> </a:t>
            </a:r>
            <a:r>
              <a:rPr dirty="0" err="1"/>
              <a:t>екземпляра</a:t>
            </a:r>
            <a:r>
              <a:rPr dirty="0"/>
              <a:t>. Попросіть </a:t>
            </a:r>
            <a:r>
              <a:rPr dirty="0" err="1"/>
              <a:t>кожного</a:t>
            </a:r>
            <a:r>
              <a:rPr dirty="0"/>
              <a:t> </a:t>
            </a:r>
            <a:r>
              <a:rPr dirty="0" err="1"/>
              <a:t>коротко</a:t>
            </a:r>
            <a:r>
              <a:rPr dirty="0"/>
              <a:t> </a:t>
            </a:r>
            <a:r>
              <a:rPr dirty="0" err="1"/>
              <a:t>пояснити</a:t>
            </a:r>
            <a:r>
              <a:rPr dirty="0"/>
              <a:t> self та </a:t>
            </a:r>
            <a:r>
              <a:rPr dirty="0" err="1"/>
              <a:t>місце</a:t>
            </a:r>
            <a:r>
              <a:rPr dirty="0"/>
              <a:t> </a:t>
            </a:r>
            <a:r>
              <a:rPr dirty="0" err="1"/>
              <a:t>зміни</a:t>
            </a:r>
            <a:r>
              <a:rPr dirty="0"/>
              <a:t> </a:t>
            </a:r>
            <a:r>
              <a:rPr dirty="0" err="1"/>
              <a:t>стану</a:t>
            </a:r>
            <a:r>
              <a:rPr dirty="0"/>
              <a:t>. Після </a:t>
            </a:r>
            <a:r>
              <a:rPr dirty="0" err="1"/>
              <a:t>допомоги</a:t>
            </a:r>
            <a:r>
              <a:rPr dirty="0"/>
              <a:t> </a:t>
            </a:r>
            <a:r>
              <a:rPr dirty="0" err="1"/>
              <a:t>перевірте</a:t>
            </a:r>
            <a:r>
              <a:rPr dirty="0"/>
              <a:t> </a:t>
            </a:r>
            <a:r>
              <a:rPr dirty="0" err="1"/>
              <a:t>повторний</a:t>
            </a:r>
            <a:r>
              <a:rPr dirty="0"/>
              <a:t> </a:t>
            </a:r>
            <a:r>
              <a:rPr dirty="0" err="1"/>
              <a:t>запуск</a:t>
            </a:r>
            <a:r>
              <a:rPr dirty="0"/>
              <a:t>. Не </a:t>
            </a:r>
            <a:r>
              <a:rPr dirty="0" err="1"/>
              <a:t>замінюйте</a:t>
            </a:r>
            <a:r>
              <a:rPr dirty="0"/>
              <a:t> </a:t>
            </a:r>
            <a:r>
              <a:rPr dirty="0" err="1"/>
              <a:t>індивідуальну</a:t>
            </a:r>
            <a:r>
              <a:rPr dirty="0"/>
              <a:t> </a:t>
            </a:r>
            <a:r>
              <a:rPr dirty="0" err="1"/>
              <a:t>перевірку</a:t>
            </a:r>
            <a:r>
              <a:rPr dirty="0"/>
              <a:t> </a:t>
            </a:r>
            <a:r>
              <a:rPr dirty="0" err="1"/>
              <a:t>виступом</a:t>
            </a:r>
            <a:r>
              <a:rPr dirty="0"/>
              <a:t> </a:t>
            </a:r>
            <a:r>
              <a:rPr dirty="0" err="1"/>
              <a:t>одного</a:t>
            </a:r>
            <a:r>
              <a:rPr dirty="0"/>
              <a:t> </a:t>
            </a:r>
            <a:r>
              <a:rPr dirty="0" err="1"/>
              <a:t>представника</a:t>
            </a:r>
            <a:r>
              <a:rPr dirty="0"/>
              <a:t> </a:t>
            </a:r>
            <a:r>
              <a:rPr dirty="0" err="1"/>
              <a:t>команди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Тривалість</a:t>
            </a:r>
            <a:r>
              <a:rPr dirty="0"/>
              <a:t>: 3 </a:t>
            </a:r>
            <a:r>
              <a:rPr dirty="0" err="1"/>
              <a:t>хв</a:t>
            </a:r>
            <a:r>
              <a:rPr dirty="0"/>
              <a:t> (139 </a:t>
            </a:r>
            <a:r>
              <a:rPr dirty="0" err="1"/>
              <a:t>хв</a:t>
            </a:r>
            <a:r>
              <a:rPr dirty="0"/>
              <a:t>)</a:t>
            </a:r>
          </a:p>
          <a:p>
            <a:endParaRPr dirty="0"/>
          </a:p>
          <a:p>
            <a:r>
              <a:rPr dirty="0"/>
              <a:t>Викладач </a:t>
            </a:r>
            <a:r>
              <a:rPr dirty="0" err="1"/>
              <a:t>звіряє</a:t>
            </a:r>
            <a:r>
              <a:rPr dirty="0"/>
              <a:t> </a:t>
            </a:r>
            <a:r>
              <a:rPr dirty="0" err="1"/>
              <a:t>збережені</a:t>
            </a:r>
            <a:r>
              <a:rPr dirty="0"/>
              <a:t> </a:t>
            </a:r>
            <a:r>
              <a:rPr dirty="0" err="1"/>
              <a:t>файли</a:t>
            </a:r>
            <a:r>
              <a:rPr dirty="0"/>
              <a:t> </a:t>
            </a:r>
            <a:r>
              <a:rPr dirty="0" err="1"/>
              <a:t>кожного</a:t>
            </a:r>
            <a:r>
              <a:rPr dirty="0"/>
              <a:t> </a:t>
            </a:r>
            <a:r>
              <a:rPr dirty="0" err="1"/>
              <a:t>із</a:t>
            </a:r>
            <a:r>
              <a:rPr dirty="0"/>
              <a:t> </a:t>
            </a:r>
            <a:r>
              <a:rPr dirty="0" err="1"/>
              <a:t>журналом</a:t>
            </a:r>
            <a:r>
              <a:rPr dirty="0"/>
              <a:t> і </a:t>
            </a:r>
            <a:r>
              <a:rPr dirty="0" err="1"/>
              <a:t>явно</a:t>
            </a:r>
            <a:r>
              <a:rPr dirty="0"/>
              <a:t> </a:t>
            </a:r>
            <a:r>
              <a:rPr dirty="0" err="1"/>
              <a:t>позначає</a:t>
            </a:r>
            <a:r>
              <a:rPr dirty="0"/>
              <a:t> </a:t>
            </a:r>
            <a:r>
              <a:rPr dirty="0" err="1"/>
              <a:t>незавершені</a:t>
            </a:r>
            <a:r>
              <a:rPr dirty="0"/>
              <a:t> </a:t>
            </a:r>
            <a:r>
              <a:rPr dirty="0" err="1"/>
              <a:t>або</a:t>
            </a:r>
            <a:r>
              <a:rPr dirty="0"/>
              <a:t> </a:t>
            </a:r>
            <a:r>
              <a:rPr dirty="0" err="1"/>
              <a:t>перенесені</a:t>
            </a:r>
            <a:r>
              <a:rPr dirty="0"/>
              <a:t> </a:t>
            </a:r>
            <a:r>
              <a:rPr dirty="0" err="1"/>
              <a:t>перевірки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Звірте </a:t>
            </a:r>
            <a:r>
              <a:rPr dirty="0" err="1"/>
              <a:t>отримані</a:t>
            </a:r>
            <a:r>
              <a:rPr dirty="0"/>
              <a:t> </a:t>
            </a:r>
            <a:r>
              <a:rPr dirty="0" err="1"/>
              <a:t>файли</a:t>
            </a:r>
            <a:r>
              <a:rPr dirty="0"/>
              <a:t> </a:t>
            </a:r>
            <a:r>
              <a:rPr dirty="0" err="1"/>
              <a:t>із</a:t>
            </a:r>
            <a:r>
              <a:rPr dirty="0"/>
              <a:t> </a:t>
            </a:r>
            <a:r>
              <a:rPr dirty="0" err="1"/>
              <a:t>журналом</a:t>
            </a:r>
            <a:r>
              <a:rPr dirty="0"/>
              <a:t> К1-К8. </a:t>
            </a:r>
            <a:r>
              <a:rPr dirty="0" err="1"/>
              <a:t>Допоміжний</a:t>
            </a:r>
            <a:r>
              <a:rPr dirty="0"/>
              <a:t> </a:t>
            </a:r>
            <a:r>
              <a:rPr dirty="0" err="1"/>
              <a:t>shared_state_demo.py</a:t>
            </a:r>
            <a:r>
              <a:rPr dirty="0"/>
              <a:t> не </a:t>
            </a:r>
            <a:r>
              <a:rPr dirty="0" err="1"/>
              <a:t>є</a:t>
            </a:r>
            <a:r>
              <a:rPr dirty="0"/>
              <a:t> </a:t>
            </a:r>
            <a:r>
              <a:rPr dirty="0" err="1"/>
              <a:t>обов'язковою</a:t>
            </a:r>
            <a:r>
              <a:rPr dirty="0"/>
              <a:t> </a:t>
            </a:r>
            <a:r>
              <a:rPr dirty="0" err="1"/>
              <a:t>частиною</a:t>
            </a:r>
            <a:r>
              <a:rPr dirty="0"/>
              <a:t> </a:t>
            </a:r>
            <a:r>
              <a:rPr dirty="0" err="1"/>
              <a:t>здавання</a:t>
            </a:r>
            <a:r>
              <a:rPr dirty="0"/>
              <a:t>. Не </a:t>
            </a:r>
            <a:r>
              <a:rPr dirty="0" err="1"/>
              <a:t>позначайте</a:t>
            </a:r>
            <a:r>
              <a:rPr dirty="0"/>
              <a:t> </a:t>
            </a:r>
            <a:r>
              <a:rPr dirty="0" err="1"/>
              <a:t>відсутній</a:t>
            </a:r>
            <a:r>
              <a:rPr dirty="0"/>
              <a:t> файл </a:t>
            </a:r>
            <a:r>
              <a:rPr dirty="0" err="1"/>
              <a:t>як</a:t>
            </a:r>
            <a:r>
              <a:rPr dirty="0"/>
              <a:t> </a:t>
            </a:r>
            <a:r>
              <a:rPr dirty="0" err="1"/>
              <a:t>перевірений</a:t>
            </a:r>
            <a:r>
              <a:rPr dirty="0"/>
              <a:t>. </a:t>
            </a:r>
            <a:r>
              <a:rPr dirty="0" err="1"/>
              <a:t>Дайте</a:t>
            </a:r>
            <a:r>
              <a:rPr dirty="0"/>
              <a:t> 30 </a:t>
            </a:r>
            <a:r>
              <a:rPr dirty="0" err="1"/>
              <a:t>секунд</a:t>
            </a:r>
            <a:r>
              <a:rPr dirty="0"/>
              <a:t> на </a:t>
            </a:r>
            <a:r>
              <a:rPr dirty="0" err="1"/>
              <a:t>коротку</a:t>
            </a:r>
            <a:r>
              <a:rPr dirty="0"/>
              <a:t> </a:t>
            </a:r>
            <a:r>
              <a:rPr dirty="0" err="1"/>
              <a:t>рефлексію</a:t>
            </a:r>
            <a:r>
              <a:rPr dirty="0"/>
              <a:t> </a:t>
            </a:r>
            <a:r>
              <a:rPr dirty="0" err="1"/>
              <a:t>перед</a:t>
            </a:r>
            <a:r>
              <a:rPr dirty="0"/>
              <a:t> Kahoot, </a:t>
            </a:r>
            <a:r>
              <a:rPr dirty="0" err="1"/>
              <a:t>запросіть</a:t>
            </a:r>
            <a:r>
              <a:rPr dirty="0"/>
              <a:t> </a:t>
            </a:r>
            <a:r>
              <a:rPr dirty="0" err="1"/>
              <a:t>менш</a:t>
            </a:r>
            <a:r>
              <a:rPr dirty="0"/>
              <a:t> </a:t>
            </a:r>
            <a:r>
              <a:rPr dirty="0" err="1"/>
              <a:t>активного</a:t>
            </a:r>
            <a:r>
              <a:rPr dirty="0"/>
              <a:t> </a:t>
            </a:r>
            <a:r>
              <a:rPr dirty="0" err="1"/>
              <a:t>учасника</a:t>
            </a:r>
            <a:r>
              <a:rPr dirty="0"/>
              <a:t> за </a:t>
            </a:r>
            <a:r>
              <a:rPr dirty="0" err="1"/>
              <a:t>фактичним</a:t>
            </a:r>
            <a:r>
              <a:rPr dirty="0"/>
              <a:t> </a:t>
            </a:r>
            <a:r>
              <a:rPr dirty="0" err="1"/>
              <a:t>іменем</a:t>
            </a:r>
            <a:r>
              <a:rPr dirty="0"/>
              <a:t> і на "ви". Зіставте </a:t>
            </a:r>
            <a:r>
              <a:rPr dirty="0" err="1"/>
              <a:t>результат</a:t>
            </a:r>
            <a:r>
              <a:rPr dirty="0"/>
              <a:t> </a:t>
            </a:r>
            <a:r>
              <a:rPr dirty="0" err="1"/>
              <a:t>із</a:t>
            </a:r>
            <a:r>
              <a:rPr dirty="0"/>
              <a:t> </a:t>
            </a:r>
            <a:r>
              <a:rPr dirty="0" err="1"/>
              <a:t>цілями</a:t>
            </a:r>
            <a:r>
              <a:rPr dirty="0"/>
              <a:t> </a:t>
            </a:r>
            <a:r>
              <a:rPr dirty="0" err="1"/>
              <a:t>слайда</a:t>
            </a:r>
            <a:r>
              <a:rPr dirty="0"/>
              <a:t> 2. Підготуйте </a:t>
            </a:r>
            <a:r>
              <a:rPr dirty="0" err="1"/>
              <a:t>оцінки</a:t>
            </a:r>
            <a:r>
              <a:rPr dirty="0"/>
              <a:t> за </a:t>
            </a:r>
            <a:r>
              <a:rPr dirty="0" err="1"/>
              <a:t>фактичними</a:t>
            </a:r>
            <a:r>
              <a:rPr dirty="0"/>
              <a:t> </a:t>
            </a:r>
            <a:r>
              <a:rPr dirty="0" err="1"/>
              <a:t>доказами</a:t>
            </a:r>
            <a:r>
              <a:rPr dirty="0"/>
              <a:t>; </a:t>
            </a:r>
            <a:r>
              <a:rPr dirty="0" err="1"/>
              <a:t>доповніть</a:t>
            </a:r>
            <a:r>
              <a:rPr dirty="0"/>
              <a:t> </a:t>
            </a:r>
            <a:r>
              <a:rPr dirty="0" err="1"/>
              <a:t>запис</a:t>
            </a:r>
            <a:r>
              <a:rPr dirty="0"/>
              <a:t> logbook </a:t>
            </a:r>
            <a:r>
              <a:rPr dirty="0" err="1"/>
              <a:t>після</a:t>
            </a:r>
            <a:r>
              <a:rPr dirty="0"/>
              <a:t> Kahoot; за </a:t>
            </a:r>
            <a:r>
              <a:rPr dirty="0" err="1"/>
              <a:t>чинними</a:t>
            </a:r>
            <a:r>
              <a:rPr dirty="0"/>
              <a:t> </a:t>
            </a:r>
            <a:r>
              <a:rPr dirty="0" err="1"/>
              <a:t>правилами</a:t>
            </a:r>
            <a:r>
              <a:rPr dirty="0"/>
              <a:t> </a:t>
            </a:r>
            <a:r>
              <a:rPr dirty="0" err="1"/>
              <a:t>відзначте</a:t>
            </a:r>
            <a:r>
              <a:rPr dirty="0"/>
              <a:t> </a:t>
            </a:r>
            <a:r>
              <a:rPr dirty="0" err="1"/>
              <a:t>кристалами</a:t>
            </a:r>
            <a:r>
              <a:rPr dirty="0"/>
              <a:t> </a:t>
            </a:r>
            <a:r>
              <a:rPr dirty="0" err="1"/>
              <a:t>конкретну</a:t>
            </a:r>
            <a:r>
              <a:rPr dirty="0"/>
              <a:t> </a:t>
            </a:r>
            <a:r>
              <a:rPr dirty="0" err="1"/>
              <a:t>дію</a:t>
            </a:r>
            <a:r>
              <a:rPr dirty="0"/>
              <a:t>, </a:t>
            </a:r>
            <a:r>
              <a:rPr dirty="0" err="1"/>
              <a:t>наприклад</a:t>
            </a:r>
            <a:r>
              <a:rPr dirty="0"/>
              <a:t> </a:t>
            </a:r>
            <a:r>
              <a:rPr dirty="0" err="1"/>
              <a:t>самостійно</a:t>
            </a:r>
            <a:r>
              <a:rPr dirty="0"/>
              <a:t> </a:t>
            </a:r>
            <a:r>
              <a:rPr dirty="0" err="1"/>
              <a:t>знайдену</a:t>
            </a:r>
            <a:r>
              <a:rPr dirty="0"/>
              <a:t> </a:t>
            </a:r>
            <a:r>
              <a:rPr dirty="0" err="1"/>
              <a:t>причину</a:t>
            </a:r>
            <a:r>
              <a:rPr dirty="0"/>
              <a:t> </a:t>
            </a:r>
            <a:r>
              <a:rPr dirty="0" err="1"/>
              <a:t>спільного</a:t>
            </a:r>
            <a:r>
              <a:rPr dirty="0"/>
              <a:t> </a:t>
            </a:r>
            <a:r>
              <a:rPr dirty="0" err="1"/>
              <a:t>стану</a:t>
            </a:r>
            <a:r>
              <a:rPr dirty="0"/>
              <a:t>. </a:t>
            </a:r>
            <a:r>
              <a:rPr dirty="0" err="1"/>
              <a:t>Анонсуйте</a:t>
            </a:r>
            <a:r>
              <a:rPr dirty="0"/>
              <a:t> заняття 4: методи </a:t>
            </a:r>
            <a:r>
              <a:rPr dirty="0" err="1"/>
              <a:t>допоможуть</a:t>
            </a:r>
            <a:r>
              <a:rPr dirty="0"/>
              <a:t> </a:t>
            </a:r>
            <a:r>
              <a:rPr dirty="0" err="1"/>
              <a:t>контролювати</a:t>
            </a:r>
            <a:r>
              <a:rPr dirty="0"/>
              <a:t>, які </a:t>
            </a:r>
            <a:r>
              <a:rPr dirty="0" err="1"/>
              <a:t>зміни</a:t>
            </a:r>
            <a:r>
              <a:rPr dirty="0"/>
              <a:t> даних </a:t>
            </a:r>
            <a:r>
              <a:rPr dirty="0" err="1"/>
              <a:t>дозволені</a:t>
            </a:r>
            <a:r>
              <a:rPr dirty="0"/>
              <a:t>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Тривалість</a:t>
            </a:r>
            <a:r>
              <a:rPr dirty="0"/>
              <a:t>: 6 </a:t>
            </a:r>
            <a:r>
              <a:rPr dirty="0" err="1"/>
              <a:t>хв</a:t>
            </a:r>
            <a:r>
              <a:rPr dirty="0"/>
              <a:t> (145 </a:t>
            </a:r>
            <a:r>
              <a:rPr dirty="0" err="1"/>
              <a:t>хв</a:t>
            </a:r>
            <a:r>
              <a:rPr dirty="0"/>
              <a:t>)</a:t>
            </a:r>
          </a:p>
          <a:p>
            <a:endParaRPr dirty="0"/>
          </a:p>
          <a:p>
            <a:r>
              <a:rPr dirty="0" err="1"/>
              <a:t>Поясніть</a:t>
            </a:r>
            <a:r>
              <a:rPr dirty="0"/>
              <a:t> ДЗ до </a:t>
            </a:r>
            <a:r>
              <a:rPr dirty="0" err="1"/>
              <a:t>початку</a:t>
            </a:r>
            <a:r>
              <a:rPr dirty="0"/>
              <a:t> </a:t>
            </a:r>
            <a:r>
              <a:rPr dirty="0" err="1"/>
              <a:t>фінальних</a:t>
            </a:r>
            <a:r>
              <a:rPr dirty="0"/>
              <a:t> 15 </a:t>
            </a:r>
            <a:r>
              <a:rPr dirty="0" err="1"/>
              <a:t>хвилин</a:t>
            </a:r>
            <a:r>
              <a:rPr dirty="0"/>
              <a:t> Kahoot. Ідея </a:t>
            </a:r>
            <a:r>
              <a:rPr dirty="0" err="1"/>
              <a:t>команди</a:t>
            </a:r>
            <a:r>
              <a:rPr dirty="0"/>
              <a:t> </a:t>
            </a:r>
            <a:r>
              <a:rPr dirty="0" err="1"/>
              <a:t>є</a:t>
            </a:r>
            <a:r>
              <a:rPr dirty="0"/>
              <a:t> </a:t>
            </a:r>
            <a:r>
              <a:rPr dirty="0" err="1"/>
              <a:t>основою</a:t>
            </a:r>
            <a:r>
              <a:rPr dirty="0"/>
              <a:t>; </a:t>
            </a:r>
            <a:r>
              <a:rPr dirty="0" err="1"/>
              <a:t>кожен</a:t>
            </a:r>
            <a:r>
              <a:rPr dirty="0"/>
              <a:t> </a:t>
            </a:r>
            <a:r>
              <a:rPr dirty="0" err="1"/>
              <a:t>завершує</a:t>
            </a:r>
            <a:r>
              <a:rPr dirty="0"/>
              <a:t> </a:t>
            </a:r>
            <a:r>
              <a:rPr dirty="0" err="1"/>
              <a:t>власну</a:t>
            </a:r>
            <a:r>
              <a:rPr dirty="0"/>
              <a:t> </a:t>
            </a:r>
            <a:r>
              <a:rPr dirty="0" err="1"/>
              <a:t>реалізацію</a:t>
            </a:r>
            <a:r>
              <a:rPr dirty="0"/>
              <a:t>, </a:t>
            </a:r>
            <a:r>
              <a:rPr dirty="0" err="1"/>
              <a:t>розпочату</a:t>
            </a:r>
            <a:r>
              <a:rPr dirty="0"/>
              <a:t> </a:t>
            </a:r>
            <a:r>
              <a:rPr dirty="0" err="1"/>
              <a:t>після</a:t>
            </a:r>
            <a:r>
              <a:rPr dirty="0"/>
              <a:t> </a:t>
            </a:r>
            <a:r>
              <a:rPr dirty="0" err="1"/>
              <a:t>штурму</a:t>
            </a:r>
            <a:r>
              <a:rPr dirty="0"/>
              <a:t>. Відкрийте </a:t>
            </a:r>
            <a:r>
              <a:rPr dirty="0" err="1"/>
              <a:t>чинне</a:t>
            </a:r>
            <a:r>
              <a:rPr dirty="0"/>
              <a:t> Домашнє </a:t>
            </a:r>
            <a:r>
              <a:rPr dirty="0" err="1"/>
              <a:t>завдання.md</a:t>
            </a:r>
            <a:r>
              <a:rPr dirty="0"/>
              <a:t> заняття 3: </a:t>
            </a:r>
            <a:r>
              <a:rPr dirty="0" err="1"/>
              <a:t>наведені</a:t>
            </a:r>
            <a:r>
              <a:rPr dirty="0"/>
              <a:t> </a:t>
            </a:r>
            <a:r>
              <a:rPr dirty="0" err="1"/>
              <a:t>кроки</a:t>
            </a:r>
            <a:r>
              <a:rPr dirty="0"/>
              <a:t> </a:t>
            </a:r>
            <a:r>
              <a:rPr dirty="0" err="1"/>
              <a:t>конкретизують</a:t>
            </a:r>
            <a:r>
              <a:rPr dirty="0"/>
              <a:t> </a:t>
            </a:r>
            <a:r>
              <a:rPr dirty="0" err="1"/>
              <a:t>його</a:t>
            </a:r>
            <a:r>
              <a:rPr dirty="0"/>
              <a:t> без </a:t>
            </a:r>
            <a:r>
              <a:rPr dirty="0" err="1"/>
              <a:t>розширення</a:t>
            </a:r>
            <a:r>
              <a:rPr dirty="0"/>
              <a:t> </a:t>
            </a:r>
            <a:r>
              <a:rPr dirty="0" err="1"/>
              <a:t>обов'язкового</a:t>
            </a:r>
            <a:r>
              <a:rPr dirty="0"/>
              <a:t> </a:t>
            </a:r>
            <a:r>
              <a:rPr dirty="0" err="1"/>
              <a:t>обсягу</a:t>
            </a:r>
            <a:r>
              <a:rPr dirty="0"/>
              <a:t>. Для </a:t>
            </a:r>
            <a:r>
              <a:rPr dirty="0" err="1"/>
              <a:t>власної</a:t>
            </a:r>
            <a:r>
              <a:rPr dirty="0"/>
              <a:t> </a:t>
            </a:r>
            <a:r>
              <a:rPr dirty="0" err="1"/>
              <a:t>моделі</a:t>
            </a:r>
            <a:r>
              <a:rPr dirty="0"/>
              <a:t> </a:t>
            </a:r>
            <a:r>
              <a:rPr dirty="0" err="1"/>
              <a:t>запишіть</a:t>
            </a:r>
            <a:r>
              <a:rPr dirty="0"/>
              <a:t> </a:t>
            </a:r>
            <a:r>
              <a:rPr dirty="0" err="1"/>
              <a:t>конкретні</a:t>
            </a:r>
            <a:r>
              <a:rPr dirty="0"/>
              <a:t> </a:t>
            </a:r>
            <a:r>
              <a:rPr dirty="0" err="1"/>
              <a:t>очікування</a:t>
            </a:r>
            <a:r>
              <a:rPr dirty="0"/>
              <a:t>: </a:t>
            </a:r>
            <a:r>
              <a:rPr dirty="0" err="1"/>
              <a:t>початковий</a:t>
            </a:r>
            <a:r>
              <a:rPr dirty="0"/>
              <a:t> </a:t>
            </a:r>
            <a:r>
              <a:rPr dirty="0" err="1"/>
              <a:t>стан</a:t>
            </a:r>
            <a:r>
              <a:rPr dirty="0"/>
              <a:t>, </a:t>
            </a:r>
            <a:r>
              <a:rPr dirty="0" err="1"/>
              <a:t>результат</a:t>
            </a:r>
            <a:r>
              <a:rPr dirty="0"/>
              <a:t> </a:t>
            </a:r>
            <a:r>
              <a:rPr dirty="0" err="1"/>
              <a:t>першої</a:t>
            </a:r>
            <a:r>
              <a:rPr dirty="0"/>
              <a:t> </a:t>
            </a:r>
            <a:r>
              <a:rPr dirty="0" err="1"/>
              <a:t>дії</a:t>
            </a:r>
            <a:r>
              <a:rPr dirty="0"/>
              <a:t>, </a:t>
            </a:r>
            <a:r>
              <a:rPr dirty="0" err="1"/>
              <a:t>поведінку</a:t>
            </a:r>
            <a:r>
              <a:rPr dirty="0"/>
              <a:t> за </a:t>
            </a:r>
            <a:r>
              <a:rPr dirty="0" err="1"/>
              <a:t>визначеної</a:t>
            </a:r>
            <a:r>
              <a:rPr dirty="0"/>
              <a:t> </a:t>
            </a:r>
            <a:r>
              <a:rPr dirty="0" err="1"/>
              <a:t>перешкоди</a:t>
            </a:r>
            <a:r>
              <a:rPr dirty="0"/>
              <a:t> та </a:t>
            </a:r>
            <a:r>
              <a:rPr dirty="0" err="1"/>
              <a:t>стан</a:t>
            </a:r>
            <a:r>
              <a:rPr dirty="0"/>
              <a:t> </a:t>
            </a:r>
            <a:r>
              <a:rPr dirty="0" err="1"/>
              <a:t>іншого</a:t>
            </a:r>
            <a:r>
              <a:rPr dirty="0"/>
              <a:t> </a:t>
            </a:r>
            <a:r>
              <a:rPr dirty="0" err="1"/>
              <a:t>незалежного</a:t>
            </a:r>
            <a:r>
              <a:rPr dirty="0"/>
              <a:t> об'єкта. </a:t>
            </a:r>
            <a:r>
              <a:rPr dirty="0" err="1"/>
              <a:t>У</a:t>
            </a:r>
            <a:r>
              <a:rPr dirty="0"/>
              <a:t> </a:t>
            </a:r>
            <a:r>
              <a:rPr dirty="0" err="1"/>
              <a:t>власній</a:t>
            </a:r>
            <a:r>
              <a:rPr dirty="0"/>
              <a:t> </a:t>
            </a:r>
            <a:r>
              <a:rPr dirty="0" err="1"/>
              <a:t>моделі</a:t>
            </a:r>
            <a:r>
              <a:rPr dirty="0"/>
              <a:t> </a:t>
            </a:r>
            <a:r>
              <a:rPr dirty="0" err="1"/>
              <a:t>можна</a:t>
            </a:r>
            <a:r>
              <a:rPr dirty="0"/>
              <a:t> </a:t>
            </a:r>
            <a:r>
              <a:rPr dirty="0" err="1"/>
              <a:t>обрати</a:t>
            </a:r>
            <a:r>
              <a:rPr dirty="0"/>
              <a:t> </a:t>
            </a:r>
            <a:r>
              <a:rPr dirty="0" err="1"/>
              <a:t>інший</a:t>
            </a:r>
            <a:r>
              <a:rPr dirty="0"/>
              <a:t> </a:t>
            </a:r>
            <a:r>
              <a:rPr dirty="0" err="1"/>
              <a:t>граничний</a:t>
            </a:r>
            <a:r>
              <a:rPr dirty="0"/>
              <a:t> </a:t>
            </a:r>
            <a:r>
              <a:rPr dirty="0" err="1"/>
              <a:t>випадок</a:t>
            </a:r>
            <a:r>
              <a:rPr dirty="0"/>
              <a:t>, </a:t>
            </a:r>
            <a:r>
              <a:rPr dirty="0" err="1"/>
              <a:t>але</a:t>
            </a:r>
            <a:r>
              <a:rPr dirty="0"/>
              <a:t> потрібно </a:t>
            </a:r>
            <a:r>
              <a:rPr dirty="0" err="1"/>
              <a:t>вказати</a:t>
            </a:r>
            <a:r>
              <a:rPr dirty="0"/>
              <a:t> </a:t>
            </a:r>
            <a:r>
              <a:rPr dirty="0" err="1"/>
              <a:t>очікування</a:t>
            </a:r>
            <a:r>
              <a:rPr dirty="0"/>
              <a:t> та </a:t>
            </a:r>
            <a:r>
              <a:rPr dirty="0" err="1"/>
              <a:t>фактичний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. </a:t>
            </a:r>
            <a:r>
              <a:rPr dirty="0" err="1"/>
              <a:t>README.md</a:t>
            </a:r>
            <a:r>
              <a:rPr dirty="0"/>
              <a:t> </a:t>
            </a:r>
            <a:r>
              <a:rPr dirty="0" err="1"/>
              <a:t>має</a:t>
            </a:r>
            <a:r>
              <a:rPr dirty="0"/>
              <a:t> </a:t>
            </a:r>
            <a:r>
              <a:rPr dirty="0" err="1"/>
              <a:t>містити</a:t>
            </a:r>
            <a:r>
              <a:rPr dirty="0"/>
              <a:t> </a:t>
            </a:r>
            <a:r>
              <a:rPr dirty="0" err="1"/>
              <a:t>назву</a:t>
            </a:r>
            <a:r>
              <a:rPr dirty="0"/>
              <a:t> файлу, </a:t>
            </a:r>
            <a:r>
              <a:rPr dirty="0" err="1"/>
              <a:t>спосіб</a:t>
            </a:r>
            <a:r>
              <a:rPr dirty="0"/>
              <a:t> </a:t>
            </a:r>
            <a:r>
              <a:rPr dirty="0" err="1"/>
              <a:t>запуску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Python і </a:t>
            </a:r>
            <a:r>
              <a:rPr dirty="0" err="1"/>
              <a:t>приклади</a:t>
            </a:r>
            <a:r>
              <a:rPr dirty="0"/>
              <a:t> </a:t>
            </a:r>
            <a:r>
              <a:rPr dirty="0" err="1"/>
              <a:t>виводу</a:t>
            </a:r>
            <a:r>
              <a:rPr dirty="0"/>
              <a:t>. Програму </a:t>
            </a:r>
            <a:r>
              <a:rPr dirty="0" err="1"/>
              <a:t>має</a:t>
            </a:r>
            <a:r>
              <a:rPr dirty="0"/>
              <a:t> </a:t>
            </a:r>
            <a:r>
              <a:rPr dirty="0" err="1"/>
              <a:t>бути</a:t>
            </a:r>
            <a:r>
              <a:rPr dirty="0"/>
              <a:t> </a:t>
            </a:r>
            <a:r>
              <a:rPr dirty="0" err="1"/>
              <a:t>можливо</a:t>
            </a:r>
            <a:r>
              <a:rPr dirty="0"/>
              <a:t> </a:t>
            </a:r>
            <a:r>
              <a:rPr dirty="0" err="1"/>
              <a:t>запустити</a:t>
            </a:r>
            <a:r>
              <a:rPr dirty="0"/>
              <a:t> без </a:t>
            </a:r>
            <a:r>
              <a:rPr dirty="0" err="1"/>
              <a:t>сторонніх</a:t>
            </a:r>
            <a:r>
              <a:rPr dirty="0"/>
              <a:t> </a:t>
            </a:r>
            <a:r>
              <a:rPr dirty="0" err="1"/>
              <a:t>бібліотек</a:t>
            </a:r>
            <a:r>
              <a:rPr dirty="0"/>
              <a:t>. Назвіть </a:t>
            </a:r>
            <a:r>
              <a:rPr dirty="0" err="1"/>
              <a:t>фактичні</a:t>
            </a:r>
            <a:r>
              <a:rPr dirty="0"/>
              <a:t> </a:t>
            </a:r>
            <a:r>
              <a:rPr dirty="0" err="1"/>
              <a:t>дедлайн</a:t>
            </a:r>
            <a:r>
              <a:rPr dirty="0"/>
              <a:t>, </a:t>
            </a:r>
            <a:r>
              <a:rPr dirty="0" err="1"/>
              <a:t>канал</a:t>
            </a:r>
            <a:r>
              <a:rPr dirty="0"/>
              <a:t> </a:t>
            </a:r>
            <a:r>
              <a:rPr dirty="0" err="1"/>
              <a:t>здавання</a:t>
            </a:r>
            <a:r>
              <a:rPr dirty="0"/>
              <a:t> та </a:t>
            </a:r>
            <a:r>
              <a:rPr dirty="0" err="1"/>
              <a:t>посилання</a:t>
            </a:r>
            <a:r>
              <a:rPr dirty="0"/>
              <a:t> logbook, </a:t>
            </a:r>
            <a:r>
              <a:rPr dirty="0" err="1"/>
              <a:t>заповнені</a:t>
            </a:r>
            <a:r>
              <a:rPr dirty="0"/>
              <a:t> до </a:t>
            </a:r>
            <a:r>
              <a:rPr dirty="0" err="1"/>
              <a:t>проведення</a:t>
            </a:r>
            <a:r>
              <a:rPr dirty="0"/>
              <a:t>. </a:t>
            </a:r>
            <a:r>
              <a:rPr dirty="0" err="1"/>
              <a:t>Дайте</a:t>
            </a:r>
            <a:r>
              <a:rPr dirty="0"/>
              <a:t> </a:t>
            </a:r>
            <a:r>
              <a:rPr dirty="0" err="1"/>
              <a:t>час</a:t>
            </a:r>
            <a:r>
              <a:rPr dirty="0"/>
              <a:t> на </a:t>
            </a:r>
            <a:r>
              <a:rPr dirty="0" err="1"/>
              <a:t>питання</a:t>
            </a:r>
            <a:r>
              <a:rPr dirty="0"/>
              <a:t> </a:t>
            </a:r>
            <a:r>
              <a:rPr dirty="0" err="1"/>
              <a:t>й</a:t>
            </a:r>
            <a:r>
              <a:rPr dirty="0"/>
              <a:t> </a:t>
            </a:r>
            <a:r>
              <a:rPr dirty="0" err="1"/>
              <a:t>попросіть</a:t>
            </a:r>
            <a:r>
              <a:rPr dirty="0"/>
              <a:t> </a:t>
            </a:r>
            <a:r>
              <a:rPr dirty="0" err="1"/>
              <a:t>кожного</a:t>
            </a:r>
            <a:r>
              <a:rPr dirty="0"/>
              <a:t> </a:t>
            </a:r>
            <a:r>
              <a:rPr dirty="0" err="1"/>
              <a:t>назвати</a:t>
            </a:r>
            <a:r>
              <a:rPr dirty="0"/>
              <a:t> </a:t>
            </a:r>
            <a:r>
              <a:rPr dirty="0" err="1"/>
              <a:t>перший</a:t>
            </a:r>
            <a:r>
              <a:rPr dirty="0"/>
              <a:t> </a:t>
            </a:r>
            <a:r>
              <a:rPr dirty="0" err="1"/>
              <a:t>наступний</a:t>
            </a:r>
            <a:r>
              <a:rPr dirty="0"/>
              <a:t> </a:t>
            </a:r>
            <a:r>
              <a:rPr dirty="0" err="1"/>
              <a:t>крок</a:t>
            </a:r>
            <a:r>
              <a:rPr dirty="0"/>
              <a:t>. Не </a:t>
            </a:r>
            <a:r>
              <a:rPr dirty="0" err="1"/>
              <a:t>вигадуйте</a:t>
            </a:r>
            <a:r>
              <a:rPr dirty="0"/>
              <a:t> </a:t>
            </a:r>
            <a:r>
              <a:rPr dirty="0" err="1"/>
              <a:t>дедлайн</a:t>
            </a:r>
            <a:r>
              <a:rPr dirty="0"/>
              <a:t> </a:t>
            </a:r>
            <a:r>
              <a:rPr dirty="0" err="1"/>
              <a:t>із</a:t>
            </a:r>
            <a:r>
              <a:rPr dirty="0"/>
              <a:t> </a:t>
            </a:r>
            <a:r>
              <a:rPr dirty="0" err="1"/>
              <a:t>дати</a:t>
            </a:r>
            <a:r>
              <a:rPr dirty="0"/>
              <a:t> </a:t>
            </a:r>
            <a:r>
              <a:rPr dirty="0" err="1"/>
              <a:t>наступного</a:t>
            </a:r>
            <a:r>
              <a:rPr dirty="0"/>
              <a:t> заняття. Резервні </a:t>
            </a:r>
            <a:r>
              <a:rPr dirty="0" err="1"/>
              <a:t>задачі</a:t>
            </a:r>
            <a:r>
              <a:rPr dirty="0"/>
              <a:t> </a:t>
            </a:r>
            <a:r>
              <a:rPr dirty="0" err="1"/>
              <a:t>наприкінці</a:t>
            </a:r>
            <a:r>
              <a:rPr dirty="0"/>
              <a:t> </a:t>
            </a:r>
            <a:r>
              <a:rPr dirty="0" err="1"/>
              <a:t>сценарію</a:t>
            </a:r>
            <a:r>
              <a:rPr dirty="0"/>
              <a:t> </a:t>
            </a:r>
            <a:r>
              <a:rPr dirty="0" err="1"/>
              <a:t>необов'язкові</a:t>
            </a:r>
            <a:r>
              <a:rPr dirty="0"/>
              <a:t> </a:t>
            </a:r>
            <a:r>
              <a:rPr dirty="0" err="1"/>
              <a:t>й</a:t>
            </a:r>
            <a:r>
              <a:rPr dirty="0"/>
              <a:t> не </a:t>
            </a:r>
            <a:r>
              <a:rPr dirty="0" err="1"/>
              <a:t>додаються</a:t>
            </a:r>
            <a:r>
              <a:rPr dirty="0"/>
              <a:t> до ДЗ. Після </a:t>
            </a:r>
            <a:r>
              <a:rPr dirty="0" err="1"/>
              <a:t>пояснення</a:t>
            </a:r>
            <a:r>
              <a:rPr dirty="0"/>
              <a:t> </a:t>
            </a:r>
            <a:r>
              <a:rPr dirty="0" err="1"/>
              <a:t>почніть</a:t>
            </a:r>
            <a:r>
              <a:rPr dirty="0"/>
              <a:t> Kahoot.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Тривалість: 4 хв (160 хв основного заняття; резерв окремо)</a:t>
            </a:r>
          </a:p>
          <a:p>
            <a:endParaRPr/>
          </a:p>
          <a:p>
            <a:r>
              <a:t>Завдання необов'язкове, виконується на власній моделі після завершення основної самостійної роботи. Попросіть спершу записати прогноз, потім запустити код. Перевірте результат і коротке пояснення. Працюйте в копії файлу. Не забирайте час підсумку, ДЗ чи Kahoot та не повертайтеся до навчальної платформи.</a:t>
            </a:r>
          </a:p>
          <a:p>
            <a:endParaRPr/>
          </a:p>
          <a:p>
            <a:r>
              <a:t>Джерело: /Users/dmitrostefan/Edu/python-back/python-back-educator/Курс Розробка веб-додатків з використанням Python (36 пар)/Плани по днях/03 - 2026-10-20 - ООП - класи, об'єкти та предметна область/Презентація/03 - ООП - класи, об'єкти та предметна область - сценарій.md</a:t>
            </a:r>
          </a:p>
          <a:p>
            <a:r>
              <a:t>Слайд 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Тривалість: 5 хв (160 хв основного заняття; резерв окремо)</a:t>
            </a:r>
          </a:p>
          <a:p>
            <a:endParaRPr/>
          </a:p>
          <a:p>
            <a:r>
              <a:t>Завдання необов'язкове, виконується на власній моделі після завершення основної самостійної роботи. Попросіть спершу записати прогноз, потім запустити код. Перевірте результат і коротке пояснення. Працюйте в копії файлу. Не забирайте час підсумку, ДЗ чи Kahoot та не повертайтеся до навчальної платформи.</a:t>
            </a:r>
          </a:p>
          <a:p>
            <a:endParaRPr/>
          </a:p>
          <a:p>
            <a:r>
              <a:t>Джерело: /Users/dmitrostefan/Edu/python-back/python-back-educator/Курс Розробка веб-додатків з використанням Python (36 пар)/Плани по днях/03 - 2026-10-20 - ООП - класи, об'єкти та предметна область/Презентація/03 - ООП - класи, об'єкти та предметна область - сценарій.md</a:t>
            </a:r>
          </a:p>
          <a:p>
            <a:r>
              <a:t>Слайд 31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Тривалість: 4 хв (160 хв основного заняття; резерв окремо)</a:t>
            </a:r>
          </a:p>
          <a:p>
            <a:endParaRPr/>
          </a:p>
          <a:p>
            <a:r>
              <a:t>Завдання необов'язкове, виконується на власній моделі після завершення основної самостійної роботи. Попросіть спершу записати прогноз, потім запустити код. Перевірте результат і коротке пояснення. Працюйте в копії файлу. Не забирайте час підсумку, ДЗ чи Kahoot та не повертайтеся до навчальної платформи.</a:t>
            </a:r>
          </a:p>
          <a:p>
            <a:endParaRPr/>
          </a:p>
          <a:p>
            <a:r>
              <a:t>Джерело: /Users/dmitrostefan/Edu/python-back/python-back-educator/Курс Розробка веб-додатків з використанням Python (36 пар)/Плани по днях/03 - 2026-10-20 - ООП - класи, об'єкти та предметна область/Презентація/03 - ООП - класи, об'єкти та предметна область - сценарій.md</a:t>
            </a:r>
          </a:p>
          <a:p>
            <a:r>
              <a:t>Слайд 32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Тривалість: 5 хв (160 хв основного заняття; резерв окремо)</a:t>
            </a:r>
          </a:p>
          <a:p>
            <a:endParaRPr/>
          </a:p>
          <a:p>
            <a:r>
              <a:t>Завдання необов'язкове, виконується на власній моделі після завершення основної самостійної роботи. Попросіть спершу записати прогноз, потім запустити код. Перевірте результат і коротке пояснення. Працюйте в копії файлу. Не забирайте час підсумку, ДЗ чи Kahoot та не повертайтеся до навчальної платформи.</a:t>
            </a:r>
          </a:p>
          <a:p>
            <a:endParaRPr/>
          </a:p>
          <a:p>
            <a:r>
              <a:t>Джерело: /Users/dmitrostefan/Edu/python-back/python-back-educator/Курс Розробка веб-додатків з використанням Python (36 пар)/Плани по днях/03 - 2026-10-20 - ООП - класи, об'єкти та предметна область/Презентація/03 - ООП - класи, об'єкти та предметна область - сценарій.md</a:t>
            </a:r>
          </a:p>
          <a:p>
            <a:r>
              <a:t>Слайд 33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A6D97C9-7B67-4479-A550-B05F2D67A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52D66512-B0CB-41F4-9F21-852408C7C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687316E8-33D9-42DD-B48F-ABF9949AB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17B2CFF-C4A8-4016-9855-1971EECEC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1694F9C-BDBC-4690-A757-3ACF39929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63641B4-EC29-426A-BAEC-422C97748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558004A-B5B1-414F-B08A-FDCB3D46D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37E27B6F-7AC8-4A33-858D-39F3EF468D0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60B77CB-6954-4A44-8AB9-9BA85E6F6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4DC432F-FAF0-4753-B41B-3D1CC03C3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C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CE40F176-94B5-4BE1-B7A5-A88C5F269A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550" y="504825"/>
            <a:ext cx="514350" cy="5143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B039736-B3B0-43A3-B99A-EBB96723A915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9763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7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FFFFFF"/>
                </a:solidFill>
                <a:latin typeface="Onest"/>
                <a:ea typeface="Onest"/>
                <a:cs typeface="Onest"/>
              </a:rPr>
              <a:t>Від функцій до об'єктів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FC3334-42F1-4048-8C98-E427AF9AF401}"/>
              </a:ext>
            </a:extLst>
          </p:cNvPr>
          <p:cNvSpPr>
            <a:spLocks noGrp="1"/>
          </p:cNvSpPr>
          <p:nvPr/>
        </p:nvSpPr>
        <p:spPr>
          <a:xfrm>
            <a:off x="723900" y="2028825"/>
            <a:ext cx="6286500" cy="1476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9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39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3900" b="1">
                <a:solidFill>
                  <a:srgbClr val="FFFFFF"/>
                </a:solidFill>
                <a:latin typeface="Onest"/>
                <a:ea typeface="Onest"/>
                <a:cs typeface="Onest"/>
              </a:rPr>
              <a:t>Дані та дії</a:t>
            </a:r>
          </a:p>
          <a:p>
            <a:pPr>
              <a:lnSpc>
                <a:spcPct val="105000"/>
              </a:lnSpc>
              <a:buNone/>
              <a:defRPr sz="39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3900" b="1">
                <a:solidFill>
                  <a:srgbClr val="FFFFFF"/>
                </a:solidFill>
                <a:latin typeface="Onest"/>
                <a:ea typeface="Onest"/>
                <a:cs typeface="Onest"/>
              </a:rPr>
              <a:t>в одній моделі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08209CB-D7B4-43CF-A2D0-BF83D65A1924}"/>
              </a:ext>
            </a:extLst>
          </p:cNvPr>
          <p:cNvSpPr>
            <a:spLocks noGrp="1"/>
          </p:cNvSpPr>
          <p:nvPr/>
        </p:nvSpPr>
        <p:spPr>
          <a:xfrm>
            <a:off x="723900" y="3762375"/>
            <a:ext cx="6191250" cy="1143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FFFFFF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0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1950" b="0">
                <a:solidFill>
                  <a:srgbClr val="FFFFFF"/>
                </a:solidFill>
                <a:latin typeface="Onest"/>
                <a:ea typeface="Onest"/>
                <a:cs typeface="Onest"/>
              </a:rPr>
              <a:t>Минулого разу ми відокремлювали дії у функції.</a:t>
            </a:r>
          </a:p>
          <a:p>
            <a:pPr>
              <a:lnSpc>
                <a:spcPct val="105000"/>
              </a:lnSpc>
              <a:buNone/>
              <a:defRPr sz="1950" b="0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1950" b="0">
                <a:solidFill>
                  <a:srgbClr val="FFFFFF"/>
                </a:solidFill>
                <a:latin typeface="Onest"/>
                <a:ea typeface="Onest"/>
                <a:cs typeface="Onest"/>
              </a:rPr>
              <a:t>Сьогодні створюємо модель навчального каталогу.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B2E08D0-343B-4C42-AD6C-C684FCD3E0EC}"/>
              </a:ext>
            </a:extLst>
          </p:cNvPr>
          <p:cNvSpPr>
            <a:spLocks noGrp="1"/>
          </p:cNvSpPr>
          <p:nvPr/>
        </p:nvSpPr>
        <p:spPr>
          <a:xfrm>
            <a:off x="7620000" y="1695450"/>
            <a:ext cx="3848100" cy="1714500"/>
          </a:xfrm>
          <a:prstGeom prst="roundRect">
            <a:avLst>
              <a:gd name="adj" fmla="val 5556"/>
            </a:avLst>
          </a:prstGeom>
          <a:solidFill>
            <a:srgbClr val="E8F3ED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DCBB3C-B274-4572-AC67-0C4F98F00371}"/>
              </a:ext>
            </a:extLst>
          </p:cNvPr>
          <p:cNvSpPr>
            <a:spLocks noGrp="1"/>
          </p:cNvSpPr>
          <p:nvPr/>
        </p:nvSpPr>
        <p:spPr>
          <a:xfrm>
            <a:off x="7620000" y="1695450"/>
            <a:ext cx="47625" cy="1714500"/>
          </a:xfrm>
          <a:prstGeom prst="rect">
            <a:avLst/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B609CB-862D-4DE3-B596-8A368C6F52A7}"/>
              </a:ext>
            </a:extLst>
          </p:cNvPr>
          <p:cNvSpPr>
            <a:spLocks noGrp="1"/>
          </p:cNvSpPr>
          <p:nvPr/>
        </p:nvSpPr>
        <p:spPr>
          <a:xfrm>
            <a:off x="7848600" y="1876425"/>
            <a:ext cx="3390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Course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EAE55B-0FFC-4A80-A59A-DD1993C60037}"/>
              </a:ext>
            </a:extLst>
          </p:cNvPr>
          <p:cNvSpPr>
            <a:spLocks noGrp="1"/>
          </p:cNvSpPr>
          <p:nvPr/>
        </p:nvSpPr>
        <p:spPr>
          <a:xfrm>
            <a:off x="7848600" y="2409825"/>
            <a:ext cx="3390900" cy="3154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Назва курсу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58C64E-60EF-4521-97B3-A1E161BFC154}"/>
              </a:ext>
            </a:extLst>
          </p:cNvPr>
          <p:cNvSpPr>
            <a:spLocks noGrp="1"/>
          </p:cNvSpPr>
          <p:nvPr/>
        </p:nvSpPr>
        <p:spPr>
          <a:xfrm>
            <a:off x="7848600" y="2820543"/>
            <a:ext cx="3390900" cy="3154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Список студентів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3E536B5-F0AE-4E7C-B0F5-6335F2B5E6AD}"/>
              </a:ext>
            </a:extLst>
          </p:cNvPr>
          <p:cNvSpPr>
            <a:spLocks noGrp="1"/>
          </p:cNvSpPr>
          <p:nvPr/>
        </p:nvSpPr>
        <p:spPr>
          <a:xfrm>
            <a:off x="7620000" y="3638550"/>
            <a:ext cx="3848100" cy="1714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8A89DDF-8173-412C-A934-4593810A7712}"/>
              </a:ext>
            </a:extLst>
          </p:cNvPr>
          <p:cNvSpPr>
            <a:spLocks noGrp="1"/>
          </p:cNvSpPr>
          <p:nvPr/>
        </p:nvSpPr>
        <p:spPr>
          <a:xfrm>
            <a:off x="7620000" y="3638550"/>
            <a:ext cx="47625" cy="1714500"/>
          </a:xfrm>
          <a:prstGeom prst="rect">
            <a:avLst/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FAB9A1-9AA1-49B7-85E5-666ADC5E0750}"/>
              </a:ext>
            </a:extLst>
          </p:cNvPr>
          <p:cNvSpPr>
            <a:spLocks noGrp="1"/>
          </p:cNvSpPr>
          <p:nvPr/>
        </p:nvSpPr>
        <p:spPr>
          <a:xfrm>
            <a:off x="7848600" y="3819525"/>
            <a:ext cx="33909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Student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090185A-0B08-484C-9A38-2FBEB13B42C1}"/>
              </a:ext>
            </a:extLst>
          </p:cNvPr>
          <p:cNvSpPr>
            <a:spLocks noGrp="1"/>
          </p:cNvSpPr>
          <p:nvPr/>
        </p:nvSpPr>
        <p:spPr>
          <a:xfrm>
            <a:off x="7848600" y="4352925"/>
            <a:ext cx="3390900" cy="3154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Ім'я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ADFEC83-6815-411D-B0B9-E488C6E85ABE}"/>
              </a:ext>
            </a:extLst>
          </p:cNvPr>
          <p:cNvSpPr>
            <a:spLocks noGrp="1"/>
          </p:cNvSpPr>
          <p:nvPr/>
        </p:nvSpPr>
        <p:spPr>
          <a:xfrm>
            <a:off x="7848600" y="4763643"/>
            <a:ext cx="3390900" cy="3154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Електронна адреса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DF29F49-4938-492B-889F-AEE090A1D98B}"/>
              </a:ext>
            </a:extLst>
          </p:cNvPr>
          <p:cNvSpPr>
            <a:spLocks noGrp="1"/>
          </p:cNvSpPr>
          <p:nvPr/>
        </p:nvSpPr>
        <p:spPr>
          <a:xfrm>
            <a:off x="723900" y="5676900"/>
            <a:ext cx="10096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1">
                <a:solidFill>
                  <a:srgbClr val="91D6B5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100" b="1">
                <a:solidFill>
                  <a:srgbClr val="91D6B5"/>
                </a:solidFill>
                <a:latin typeface="Onest"/>
                <a:ea typeface="Onest"/>
                <a:cs typeface="Onest"/>
              </a:defRPr>
            </a:pPr>
            <a:r>
              <a:rPr sz="2100" b="1">
                <a:solidFill>
                  <a:srgbClr val="91D6B5"/>
                </a:solidFill>
                <a:latin typeface="Onest"/>
                <a:ea typeface="Onest"/>
                <a:cs typeface="Onest"/>
              </a:rPr>
              <a:t>Запис змінює стан потрібного об'єкта</a:t>
            </a:r>
          </a:p>
        </p:txBody>
      </p:sp>
    </p:spTree>
    <p:extLst>
      <p:ext uri="{BB962C8B-B14F-4D97-AF65-F5344CB8AC3E}">
        <p14:creationId xmlns:p14="http://schemas.microsoft.com/office/powerpoint/2010/main" val="1805725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6FBED9DA-7719-47C7-8D5A-9BFE09190A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550" y="504825"/>
            <a:ext cx="514350" cy="51435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3E41C26-5720-4851-B11A-5A9E6B0235B2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9763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192D3B"/>
                </a:solidFill>
                <a:latin typeface="Onest"/>
                <a:ea typeface="Onest"/>
                <a:cs typeface="Onest"/>
              </a:rPr>
              <a:t>На занятті розглянемо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789D70-E860-4A9C-92FB-4FD51A1679FD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pPr>
            <a:r>
              <a:rPr sz="1050" b="0">
                <a:solidFill>
                  <a:srgbClr val="566A78"/>
                </a:solidFill>
                <a:latin typeface="Onest"/>
                <a:ea typeface="Onest"/>
                <a:cs typeface="Onest"/>
              </a:rPr>
              <a:t>02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EB87B92-2D50-4315-B04D-2A6C9365FB30}"/>
              </a:ext>
            </a:extLst>
          </p:cNvPr>
          <p:cNvSpPr>
            <a:spLocks noGrp="1"/>
          </p:cNvSpPr>
          <p:nvPr/>
        </p:nvSpPr>
        <p:spPr>
          <a:xfrm>
            <a:off x="723900" y="14097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36E2FD-86D1-4AA7-8F29-A8629C140154}"/>
              </a:ext>
            </a:extLst>
          </p:cNvPr>
          <p:cNvSpPr>
            <a:spLocks noGrp="1"/>
          </p:cNvSpPr>
          <p:nvPr/>
        </p:nvSpPr>
        <p:spPr>
          <a:xfrm>
            <a:off x="834120" y="1494609"/>
            <a:ext cx="323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1500" b="1" dirty="0">
                <a:solidFill>
                  <a:srgbClr val="FFFFFF"/>
                </a:solidFill>
                <a:latin typeface="Onest"/>
                <a:ea typeface="Onest"/>
                <a:cs typeface="Onest"/>
              </a:rPr>
              <a:t>01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1074EE-54C8-454B-8202-C5334F79E2C1}"/>
              </a:ext>
            </a:extLst>
          </p:cNvPr>
          <p:cNvSpPr>
            <a:spLocks noGrp="1"/>
          </p:cNvSpPr>
          <p:nvPr/>
        </p:nvSpPr>
        <p:spPr>
          <a:xfrm>
            <a:off x="1371600" y="1447800"/>
            <a:ext cx="10020300" cy="3286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Предметну область, сутності, їх стан і поведінку.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76531C4-B075-4B07-8AC0-B93171C93BE9}"/>
              </a:ext>
            </a:extLst>
          </p:cNvPr>
          <p:cNvSpPr>
            <a:spLocks noGrp="1"/>
          </p:cNvSpPr>
          <p:nvPr/>
        </p:nvSpPr>
        <p:spPr>
          <a:xfrm>
            <a:off x="723900" y="20383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714B794-0781-4121-AF25-81C0CAEAAC31}"/>
              </a:ext>
            </a:extLst>
          </p:cNvPr>
          <p:cNvSpPr>
            <a:spLocks noGrp="1"/>
          </p:cNvSpPr>
          <p:nvPr/>
        </p:nvSpPr>
        <p:spPr>
          <a:xfrm>
            <a:off x="834120" y="2123259"/>
            <a:ext cx="323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1500" b="1" dirty="0">
                <a:solidFill>
                  <a:srgbClr val="FFFFFF"/>
                </a:solidFill>
                <a:latin typeface="Onest"/>
                <a:ea typeface="Onest"/>
                <a:cs typeface="Onest"/>
              </a:rPr>
              <a:t>02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2CC5B12-CB6B-4945-B4A7-8735103086F2}"/>
              </a:ext>
            </a:extLst>
          </p:cNvPr>
          <p:cNvSpPr>
            <a:spLocks noGrp="1"/>
          </p:cNvSpPr>
          <p:nvPr/>
        </p:nvSpPr>
        <p:spPr>
          <a:xfrm>
            <a:off x="1371600" y="2076450"/>
            <a:ext cx="10020300" cy="3286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Класи, екземпляри та початковий стан через __init__.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24ACC3E-75CE-4C84-9E69-30848C083450}"/>
              </a:ext>
            </a:extLst>
          </p:cNvPr>
          <p:cNvSpPr>
            <a:spLocks noGrp="1"/>
          </p:cNvSpPr>
          <p:nvPr/>
        </p:nvSpPr>
        <p:spPr>
          <a:xfrm>
            <a:off x="723900" y="26670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A434CB5-5054-44C9-9CB3-B87925DB858D}"/>
              </a:ext>
            </a:extLst>
          </p:cNvPr>
          <p:cNvSpPr>
            <a:spLocks noGrp="1"/>
          </p:cNvSpPr>
          <p:nvPr/>
        </p:nvSpPr>
        <p:spPr>
          <a:xfrm>
            <a:off x="834120" y="2751909"/>
            <a:ext cx="323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1500" b="1">
                <a:solidFill>
                  <a:srgbClr val="FFFFFF"/>
                </a:solidFill>
                <a:latin typeface="Onest"/>
                <a:ea typeface="Onest"/>
                <a:cs typeface="Onest"/>
              </a:rPr>
              <a:t>03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49790C4-7861-42CA-8DBF-9D7792CF6D86}"/>
              </a:ext>
            </a:extLst>
          </p:cNvPr>
          <p:cNvSpPr>
            <a:spLocks noGrp="1"/>
          </p:cNvSpPr>
          <p:nvPr/>
        </p:nvSpPr>
        <p:spPr>
          <a:xfrm>
            <a:off x="1371600" y="2705100"/>
            <a:ext cx="10020300" cy="3286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self, атрибути екземпляра й атрибути класу.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20B66E11-3359-4DB5-9E1F-EE848977F91C}"/>
              </a:ext>
            </a:extLst>
          </p:cNvPr>
          <p:cNvSpPr>
            <a:spLocks noGrp="1"/>
          </p:cNvSpPr>
          <p:nvPr/>
        </p:nvSpPr>
        <p:spPr>
          <a:xfrm>
            <a:off x="723900" y="32956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0A11F93-C69A-4AFD-A6CF-86342168A1A9}"/>
              </a:ext>
            </a:extLst>
          </p:cNvPr>
          <p:cNvSpPr>
            <a:spLocks noGrp="1"/>
          </p:cNvSpPr>
          <p:nvPr/>
        </p:nvSpPr>
        <p:spPr>
          <a:xfrm>
            <a:off x="834120" y="3380559"/>
            <a:ext cx="323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1500" b="1">
                <a:solidFill>
                  <a:srgbClr val="FFFFFF"/>
                </a:solidFill>
                <a:latin typeface="Onest"/>
                <a:ea typeface="Onest"/>
                <a:cs typeface="Onest"/>
              </a:rPr>
              <a:t>04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2F81806-C172-4772-B1AC-BF38877F9FD9}"/>
              </a:ext>
            </a:extLst>
          </p:cNvPr>
          <p:cNvSpPr>
            <a:spLocks noGrp="1"/>
          </p:cNvSpPr>
          <p:nvPr/>
        </p:nvSpPr>
        <p:spPr>
          <a:xfrm>
            <a:off x="1371600" y="3333750"/>
            <a:ext cx="10020300" cy="3286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Зв'язки об'єктів і незалежність їхніх колекцій.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01FCF2A-3E54-482E-91AE-596EDDF02828}"/>
              </a:ext>
            </a:extLst>
          </p:cNvPr>
          <p:cNvSpPr>
            <a:spLocks noGrp="1"/>
          </p:cNvSpPr>
          <p:nvPr/>
        </p:nvSpPr>
        <p:spPr>
          <a:xfrm>
            <a:off x="723900" y="39243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275A953-7213-4F1A-B447-E7C04E349EF7}"/>
              </a:ext>
            </a:extLst>
          </p:cNvPr>
          <p:cNvSpPr>
            <a:spLocks noGrp="1"/>
          </p:cNvSpPr>
          <p:nvPr/>
        </p:nvSpPr>
        <p:spPr>
          <a:xfrm>
            <a:off x="834120" y="4009209"/>
            <a:ext cx="323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1500" b="1">
                <a:solidFill>
                  <a:srgbClr val="FFFFFF"/>
                </a:solidFill>
                <a:latin typeface="Onest"/>
                <a:ea typeface="Onest"/>
                <a:cs typeface="Onest"/>
              </a:rPr>
              <a:t>05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D2526DF-4F0D-452B-97AC-2DE4ACBA594C}"/>
              </a:ext>
            </a:extLst>
          </p:cNvPr>
          <p:cNvSpPr>
            <a:spLocks noGrp="1"/>
          </p:cNvSpPr>
          <p:nvPr/>
        </p:nvSpPr>
        <p:spPr>
          <a:xfrm>
            <a:off x="1371600" y="3962400"/>
            <a:ext cx="10020300" cy="3286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Командний пошук ідеї та самостійну реалізацію класів.</a:t>
            </a:r>
          </a:p>
        </p:txBody>
      </p:sp>
    </p:spTree>
    <p:extLst>
      <p:ext uri="{BB962C8B-B14F-4D97-AF65-F5344CB8AC3E}">
        <p14:creationId xmlns:p14="http://schemas.microsoft.com/office/powerpoint/2010/main" val="924175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0CDCE763-22B9-4E0E-AE7C-F75A49B071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550" y="504825"/>
            <a:ext cx="514350" cy="5143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901BD3F-BBBF-40E0-897D-5DDC1A24D763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9763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192D3B"/>
                </a:solidFill>
                <a:latin typeface="Onest"/>
                <a:ea typeface="Onest"/>
                <a:cs typeface="Onest"/>
              </a:rPr>
              <a:t>Повертаємося до попередньої роботи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D44C13-6FD7-4AAF-AF0B-3AA3CDFAB693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pPr>
            <a:r>
              <a:rPr sz="1050" b="0">
                <a:solidFill>
                  <a:srgbClr val="566A78"/>
                </a:solidFill>
                <a:latin typeface="Onest"/>
                <a:ea typeface="Onest"/>
                <a:cs typeface="Onest"/>
              </a:rPr>
              <a:t>03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4996C2D-5931-4253-85BA-78913C76A4F1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5238750" cy="1866900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AC6C7F-0BFF-41D6-82F7-4BF208481424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47625" cy="1866900"/>
          </a:xfrm>
          <a:prstGeom prst="rect">
            <a:avLst/>
          </a:prstGeom>
          <a:solidFill>
            <a:srgbClr val="BF7540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F4CBF3-6B55-454E-B173-7636F7E57A71}"/>
              </a:ext>
            </a:extLst>
          </p:cNvPr>
          <p:cNvSpPr>
            <a:spLocks noGrp="1"/>
          </p:cNvSpPr>
          <p:nvPr/>
        </p:nvSpPr>
        <p:spPr>
          <a:xfrm>
            <a:off x="952500" y="1609725"/>
            <a:ext cx="47815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BF7540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BF7540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BF7540"/>
                </a:solidFill>
                <a:latin typeface="Onest"/>
                <a:ea typeface="Onest"/>
                <a:cs typeface="Onest"/>
              </a:rPr>
              <a:t>Питання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DD76C6-531D-477E-A148-CD0F2A41882B}"/>
              </a:ext>
            </a:extLst>
          </p:cNvPr>
          <p:cNvSpPr>
            <a:spLocks noGrp="1"/>
          </p:cNvSpPr>
          <p:nvPr/>
        </p:nvSpPr>
        <p:spPr>
          <a:xfrm>
            <a:off x="952500" y="2143125"/>
            <a:ext cx="478155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Як перевірити, що два лічильники із замикань змінюють стан незалежно?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8DB337E-AD96-45CB-94E5-9C84A8AB8BF2}"/>
              </a:ext>
            </a:extLst>
          </p:cNvPr>
          <p:cNvSpPr>
            <a:spLocks noGrp="1"/>
          </p:cNvSpPr>
          <p:nvPr/>
        </p:nvSpPr>
        <p:spPr>
          <a:xfrm>
            <a:off x="6229350" y="1428750"/>
            <a:ext cx="5238750" cy="1866900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6759AC-F642-4C8B-955E-7B0F53F32EAC}"/>
              </a:ext>
            </a:extLst>
          </p:cNvPr>
          <p:cNvSpPr>
            <a:spLocks noGrp="1"/>
          </p:cNvSpPr>
          <p:nvPr/>
        </p:nvSpPr>
        <p:spPr>
          <a:xfrm>
            <a:off x="6229350" y="1428750"/>
            <a:ext cx="47625" cy="1866900"/>
          </a:xfrm>
          <a:prstGeom prst="rect">
            <a:avLst/>
          </a:prstGeom>
          <a:solidFill>
            <a:srgbClr val="BF7540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32C853-64CA-41E0-A14F-6BC2370D35AA}"/>
              </a:ext>
            </a:extLst>
          </p:cNvPr>
          <p:cNvSpPr>
            <a:spLocks noGrp="1"/>
          </p:cNvSpPr>
          <p:nvPr/>
        </p:nvSpPr>
        <p:spPr>
          <a:xfrm>
            <a:off x="6457950" y="1609725"/>
            <a:ext cx="47815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BF7540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BF7540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BF7540"/>
                </a:solidFill>
                <a:latin typeface="Onest"/>
                <a:ea typeface="Onest"/>
                <a:cs typeface="Onest"/>
              </a:rPr>
              <a:t>Питання 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537E86-907C-45AC-8997-94B39FACB197}"/>
              </a:ext>
            </a:extLst>
          </p:cNvPr>
          <p:cNvSpPr>
            <a:spLocks noGrp="1"/>
          </p:cNvSpPr>
          <p:nvPr/>
        </p:nvSpPr>
        <p:spPr>
          <a:xfrm>
            <a:off x="6457950" y="2143125"/>
            <a:ext cx="478155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Як перевірити функцію на маленькому наборі товарів?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4627BBF-AE72-4562-94AB-F7F76A60F27B}"/>
              </a:ext>
            </a:extLst>
          </p:cNvPr>
          <p:cNvSpPr>
            <a:spLocks noGrp="1"/>
          </p:cNvSpPr>
          <p:nvPr/>
        </p:nvSpPr>
        <p:spPr>
          <a:xfrm>
            <a:off x="723900" y="3562350"/>
            <a:ext cx="5238750" cy="1866900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A0D3E5-4C33-457E-8556-A0983281D569}"/>
              </a:ext>
            </a:extLst>
          </p:cNvPr>
          <p:cNvSpPr>
            <a:spLocks noGrp="1"/>
          </p:cNvSpPr>
          <p:nvPr/>
        </p:nvSpPr>
        <p:spPr>
          <a:xfrm>
            <a:off x="723900" y="3562350"/>
            <a:ext cx="47625" cy="1866900"/>
          </a:xfrm>
          <a:prstGeom prst="rect">
            <a:avLst/>
          </a:prstGeom>
          <a:solidFill>
            <a:srgbClr val="BF7540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75D61B-F18A-464E-B3E3-701E53531CD8}"/>
              </a:ext>
            </a:extLst>
          </p:cNvPr>
          <p:cNvSpPr>
            <a:spLocks noGrp="1"/>
          </p:cNvSpPr>
          <p:nvPr/>
        </p:nvSpPr>
        <p:spPr>
          <a:xfrm>
            <a:off x="952500" y="3743325"/>
            <a:ext cx="47815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BF7540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BF7540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BF7540"/>
                </a:solidFill>
                <a:latin typeface="Onest"/>
                <a:ea typeface="Onest"/>
                <a:cs typeface="Onest"/>
              </a:rPr>
              <a:t>Питання 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5F4B8A-EDE5-4E63-A057-57791DAC60C4}"/>
              </a:ext>
            </a:extLst>
          </p:cNvPr>
          <p:cNvSpPr>
            <a:spLocks noGrp="1"/>
          </p:cNvSpPr>
          <p:nvPr/>
        </p:nvSpPr>
        <p:spPr>
          <a:xfrm>
            <a:off x="952500" y="4276725"/>
            <a:ext cx="478155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Чому два незалежні накопичувачі мають власний стан?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60F8212-6779-4236-8517-089DE8DF1EBC}"/>
              </a:ext>
            </a:extLst>
          </p:cNvPr>
          <p:cNvSpPr>
            <a:spLocks noGrp="1"/>
          </p:cNvSpPr>
          <p:nvPr/>
        </p:nvSpPr>
        <p:spPr>
          <a:xfrm>
            <a:off x="6229350" y="3562350"/>
            <a:ext cx="5238750" cy="1866900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40BDCAC-1E8D-4E82-9EC1-627CE9173B26}"/>
              </a:ext>
            </a:extLst>
          </p:cNvPr>
          <p:cNvSpPr>
            <a:spLocks noGrp="1"/>
          </p:cNvSpPr>
          <p:nvPr/>
        </p:nvSpPr>
        <p:spPr>
          <a:xfrm>
            <a:off x="6229350" y="3562350"/>
            <a:ext cx="47625" cy="1866900"/>
          </a:xfrm>
          <a:prstGeom prst="rect">
            <a:avLst/>
          </a:prstGeom>
          <a:solidFill>
            <a:srgbClr val="BF7540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E0A50CD-F7D7-412B-A06D-FE442F513CD7}"/>
              </a:ext>
            </a:extLst>
          </p:cNvPr>
          <p:cNvSpPr>
            <a:spLocks noGrp="1"/>
          </p:cNvSpPr>
          <p:nvPr/>
        </p:nvSpPr>
        <p:spPr>
          <a:xfrm>
            <a:off x="6457950" y="3743325"/>
            <a:ext cx="47815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BF7540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BF7540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BF7540"/>
                </a:solidFill>
                <a:latin typeface="Onest"/>
                <a:ea typeface="Onest"/>
                <a:cs typeface="Onest"/>
              </a:rPr>
              <a:t>Питання 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7B32D4-59A1-47F4-80F2-FEE00ED955C9}"/>
              </a:ext>
            </a:extLst>
          </p:cNvPr>
          <p:cNvSpPr>
            <a:spLocks noGrp="1"/>
          </p:cNvSpPr>
          <p:nvPr/>
        </p:nvSpPr>
        <p:spPr>
          <a:xfrm>
            <a:off x="6457950" y="4276725"/>
            <a:ext cx="478155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Яку перевірку ви додали до попереднього завдання?</a:t>
            </a:r>
          </a:p>
        </p:txBody>
      </p:sp>
    </p:spTree>
    <p:extLst>
      <p:ext uri="{BB962C8B-B14F-4D97-AF65-F5344CB8AC3E}">
        <p14:creationId xmlns:p14="http://schemas.microsoft.com/office/powerpoint/2010/main" val="2108151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383A681F-CAC3-4640-873A-87ADCE77FB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550" y="504825"/>
            <a:ext cx="514350" cy="5143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7DD25B0-EBFA-4A4C-9EC0-96DA1424AD38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9763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192D3B"/>
                </a:solidFill>
                <a:latin typeface="Onest"/>
                <a:ea typeface="Onest"/>
                <a:cs typeface="Onest"/>
              </a:rPr>
              <a:t>Яку частину світу моделюємо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DAD5EA-B361-4263-AAE0-CA97EF2CE01F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pPr>
            <a:r>
              <a:rPr sz="1050" b="0">
                <a:solidFill>
                  <a:srgbClr val="566A78"/>
                </a:solidFill>
                <a:latin typeface="Onest"/>
                <a:ea typeface="Onest"/>
                <a:cs typeface="Onest"/>
              </a:rPr>
              <a:t>04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97D53DD-667F-497B-B944-F7457CB10E5C}"/>
              </a:ext>
            </a:extLst>
          </p:cNvPr>
          <p:cNvSpPr>
            <a:spLocks noGrp="1"/>
          </p:cNvSpPr>
          <p:nvPr/>
        </p:nvSpPr>
        <p:spPr>
          <a:xfrm>
            <a:off x="723900" y="1390651"/>
            <a:ext cx="10744200" cy="5143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F9051A-E37A-4EC7-87A8-8624E1FE9FBF}"/>
              </a:ext>
            </a:extLst>
          </p:cNvPr>
          <p:cNvSpPr>
            <a:spLocks noGrp="1"/>
          </p:cNvSpPr>
          <p:nvPr/>
        </p:nvSpPr>
        <p:spPr>
          <a:xfrm>
            <a:off x="933450" y="1533525"/>
            <a:ext cx="103251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Предметна область - частина діяльності, яку описує програма.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E22BC7-EA2C-44FB-9A28-71C1CA9F3E9C}"/>
              </a:ext>
            </a:extLst>
          </p:cNvPr>
          <p:cNvSpPr>
            <a:spLocks noGrp="1"/>
          </p:cNvSpPr>
          <p:nvPr/>
        </p:nvSpPr>
        <p:spPr>
          <a:xfrm>
            <a:off x="723900" y="2438400"/>
            <a:ext cx="10744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10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2100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Навчальний каталог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44E299A-11E3-48B8-AF75-5377C6211B40}"/>
              </a:ext>
            </a:extLst>
          </p:cNvPr>
          <p:cNvGraphicFramePr/>
          <p:nvPr/>
        </p:nvGraphicFramePr>
        <p:xfrm>
          <a:off x="723900" y="2971800"/>
          <a:ext cx="10744200" cy="2209800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r>
                        <a:rPr sz="1875" b="1" dirty="0" err="1">
                          <a:solidFill>
                            <a:srgbClr val="FFFFFF"/>
                          </a:solidFill>
                          <a:latin typeface="Onest"/>
                          <a:ea typeface="Onest"/>
                          <a:cs typeface="Onest"/>
                        </a:rPr>
                        <a:t>Учасник</a:t>
                      </a:r>
                      <a:endParaRPr sz="1875" b="1" dirty="0">
                        <a:solidFill>
                          <a:srgbClr val="FFFFFF"/>
                        </a:solidFill>
                        <a:latin typeface="Onest"/>
                        <a:ea typeface="Onest"/>
                        <a:cs typeface="Onest"/>
                      </a:endParaRPr>
                    </a:p>
                  </a:txBody>
                  <a:tcPr>
                    <a:lnL w="9525">
                      <a:solidFill>
                        <a:srgbClr val="B9CDC6"/>
                      </a:solidFill>
                      <a:prstDash val="soli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>
                      <a:solidFill>
                        <a:srgbClr val="B9CDC6"/>
                      </a:solidFill>
                      <a:prstDash val="soli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1B6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Onest"/>
                          <a:ea typeface="Onest"/>
                          <a:cs typeface="Onest"/>
                        </a:rPr>
                        <a:t>Дія</a:t>
                      </a:r>
                    </a:p>
                  </a:txBody>
                  <a:tcPr>
                    <a:lnL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>
                      <a:solidFill>
                        <a:srgbClr val="B9CDC6"/>
                      </a:solidFill>
                      <a:prstDash val="soli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1B6C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Користувач</a:t>
                      </a:r>
                    </a:p>
                  </a:txBody>
                  <a:tcPr>
                    <a:lnL w="9525">
                      <a:solidFill>
                        <a:srgbClr val="B9CDC6"/>
                      </a:solidFill>
                      <a:prstDash val="soli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Переглядає курси</a:t>
                      </a:r>
                    </a:p>
                  </a:txBody>
                  <a:tcPr>
                    <a:lnL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Студент</a:t>
                      </a:r>
                    </a:p>
                  </a:txBody>
                  <a:tcPr>
                    <a:lnL w="9525">
                      <a:solidFill>
                        <a:srgbClr val="B9CDC6"/>
                      </a:solidFill>
                      <a:prstDash val="soli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E8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Записується на курс</a:t>
                      </a:r>
                    </a:p>
                  </a:txBody>
                  <a:tcPr>
                    <a:lnL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E8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Викладач</a:t>
                      </a:r>
                    </a:p>
                  </a:txBody>
                  <a:tcPr>
                    <a:lnL w="9525">
                      <a:solidFill>
                        <a:srgbClr val="B9CDC6"/>
                      </a:solidFill>
                      <a:prstDash val="soli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 dirty="0" err="1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Створює</a:t>
                      </a:r>
                      <a:r>
                        <a:rPr sz="1875" b="0" dirty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 </a:t>
                      </a:r>
                      <a:r>
                        <a:rPr sz="1875" b="0" dirty="0" err="1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курси</a:t>
                      </a:r>
                      <a:endParaRPr sz="1875" b="0" dirty="0">
                        <a:solidFill>
                          <a:srgbClr val="192D3B"/>
                        </a:solidFill>
                        <a:latin typeface="Onest"/>
                        <a:ea typeface="Onest"/>
                        <a:cs typeface="Onest"/>
                      </a:endParaRPr>
                    </a:p>
                  </a:txBody>
                  <a:tcPr>
                    <a:lnL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3FE8F08-5B3A-437E-B01F-9450EA9A01BE}"/>
              </a:ext>
            </a:extLst>
          </p:cNvPr>
          <p:cNvSpPr>
            <a:spLocks noGrp="1"/>
          </p:cNvSpPr>
          <p:nvPr/>
        </p:nvSpPr>
        <p:spPr>
          <a:xfrm>
            <a:off x="723900" y="5524500"/>
            <a:ext cx="10744200" cy="542925"/>
          </a:xfrm>
          <a:prstGeom prst="roundRect">
            <a:avLst>
              <a:gd name="adj" fmla="val 15152"/>
            </a:avLst>
          </a:prstGeom>
          <a:solidFill>
            <a:srgbClr val="E8F3ED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D00293-96A5-44C1-8793-5B69F60D5963}"/>
              </a:ext>
            </a:extLst>
          </p:cNvPr>
          <p:cNvSpPr>
            <a:spLocks noGrp="1"/>
          </p:cNvSpPr>
          <p:nvPr/>
        </p:nvSpPr>
        <p:spPr>
          <a:xfrm>
            <a:off x="933450" y="5667375"/>
            <a:ext cx="103251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00" b="0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B6C57"/>
                </a:solidFill>
                <a:latin typeface="Onest"/>
                <a:ea typeface="Onest"/>
                <a:cs typeface="Onest"/>
              </a:rPr>
              <a:t>Які дані та дії потрібні саме для запису?</a:t>
            </a:r>
          </a:p>
        </p:txBody>
      </p:sp>
    </p:spTree>
    <p:extLst>
      <p:ext uri="{BB962C8B-B14F-4D97-AF65-F5344CB8AC3E}">
        <p14:creationId xmlns:p14="http://schemas.microsoft.com/office/powerpoint/2010/main" val="4998451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D2AE6C1-F612-48E7-97CE-DDC82AEBFE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550" y="504825"/>
            <a:ext cx="514350" cy="5143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CE76B1E-1A4A-4C93-8A6C-DDC4C3431838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9763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192D3B"/>
                </a:solidFill>
                <a:latin typeface="Onest"/>
                <a:ea typeface="Onest"/>
                <a:cs typeface="Onest"/>
              </a:rPr>
              <a:t>Сутність, стан і поведінка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62F5B2-45D1-4380-9E5B-D2797FEF2FF5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pPr>
            <a:r>
              <a:rPr sz="1050" b="0">
                <a:solidFill>
                  <a:srgbClr val="566A78"/>
                </a:solidFill>
                <a:latin typeface="Onest"/>
                <a:ea typeface="Onest"/>
                <a:cs typeface="Onest"/>
              </a:rPr>
              <a:t>05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7A3DB9D-07C9-44F2-A886-D830F75AD14A}"/>
              </a:ext>
            </a:extLst>
          </p:cNvPr>
          <p:cNvGraphicFramePr/>
          <p:nvPr/>
        </p:nvGraphicFramePr>
        <p:xfrm>
          <a:off x="723900" y="1428750"/>
          <a:ext cx="10744200" cy="2143125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43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Onest"/>
                          <a:ea typeface="Onest"/>
                          <a:cs typeface="Onest"/>
                        </a:rPr>
                        <a:t>Сутність</a:t>
                      </a:r>
                    </a:p>
                  </a:txBody>
                  <a:tcPr>
                    <a:lnL w="9525">
                      <a:solidFill>
                        <a:srgbClr val="B9CDC6"/>
                      </a:solidFill>
                      <a:prstDash val="soli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>
                      <a:solidFill>
                        <a:srgbClr val="B9CDC6"/>
                      </a:solidFill>
                      <a:prstDash val="soli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1B6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Onest"/>
                          <a:ea typeface="Onest"/>
                          <a:cs typeface="Onest"/>
                        </a:rPr>
                        <a:t>Приклад стану</a:t>
                      </a:r>
                    </a:p>
                  </a:txBody>
                  <a:tcPr>
                    <a:lnL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>
                      <a:solidFill>
                        <a:srgbClr val="B9CDC6"/>
                      </a:solidFill>
                      <a:prstDash val="soli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1B6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Onest"/>
                          <a:ea typeface="Onest"/>
                          <a:cs typeface="Onest"/>
                        </a:rPr>
                        <a:t>Поведінка</a:t>
                      </a:r>
                    </a:p>
                  </a:txBody>
                  <a:tcPr>
                    <a:lnL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>
                      <a:solidFill>
                        <a:srgbClr val="B9CDC6"/>
                      </a:solidFill>
                      <a:prstDash val="soli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1B6C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Course</a:t>
                      </a:r>
                    </a:p>
                  </a:txBody>
                  <a:tcPr>
                    <a:lnL w="9525">
                      <a:solidFill>
                        <a:srgbClr val="B9CDC6"/>
                      </a:solidFill>
                      <a:prstDash val="soli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title, students</a:t>
                      </a:r>
                    </a:p>
                  </a:txBody>
                  <a:tcPr>
                    <a:lnL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enroll(), student_count()</a:t>
                      </a:r>
                    </a:p>
                  </a:txBody>
                  <a:tcPr>
                    <a:lnL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Student</a:t>
                      </a:r>
                    </a:p>
                  </a:txBody>
                  <a:tcPr>
                    <a:lnL w="9525">
                      <a:solidFill>
                        <a:srgbClr val="B9CDC6"/>
                      </a:solidFill>
                      <a:prstDash val="soli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E8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name, email</a:t>
                      </a:r>
                    </a:p>
                  </a:txBody>
                  <a:tcPr>
                    <a:lnL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E8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rename(), profile()</a:t>
                      </a:r>
                    </a:p>
                  </a:txBody>
                  <a:tcPr>
                    <a:lnL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E8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3001C2E-F392-4C76-A728-08407E64ECCE}"/>
              </a:ext>
            </a:extLst>
          </p:cNvPr>
          <p:cNvSpPr>
            <a:spLocks noGrp="1"/>
          </p:cNvSpPr>
          <p:nvPr/>
        </p:nvSpPr>
        <p:spPr>
          <a:xfrm>
            <a:off x="723900" y="3924300"/>
            <a:ext cx="5238750" cy="125730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3DE56C-E53E-4BF5-8476-BD6C01663895}"/>
              </a:ext>
            </a:extLst>
          </p:cNvPr>
          <p:cNvSpPr>
            <a:spLocks noGrp="1"/>
          </p:cNvSpPr>
          <p:nvPr/>
        </p:nvSpPr>
        <p:spPr>
          <a:xfrm>
            <a:off x="723900" y="3924300"/>
            <a:ext cx="47625" cy="1257300"/>
          </a:xfrm>
          <a:prstGeom prst="rect">
            <a:avLst/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3F0D93D-B94E-4412-9EFE-A4B1A30E8DF1}"/>
              </a:ext>
            </a:extLst>
          </p:cNvPr>
          <p:cNvSpPr>
            <a:spLocks noGrp="1"/>
          </p:cNvSpPr>
          <p:nvPr/>
        </p:nvSpPr>
        <p:spPr>
          <a:xfrm>
            <a:off x="952500" y="4105275"/>
            <a:ext cx="47815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Стан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49C6FE-6073-4838-A684-45EDD0CCAF0C}"/>
              </a:ext>
            </a:extLst>
          </p:cNvPr>
          <p:cNvSpPr>
            <a:spLocks noGrp="1"/>
          </p:cNvSpPr>
          <p:nvPr/>
        </p:nvSpPr>
        <p:spPr>
          <a:xfrm>
            <a:off x="952500" y="4638675"/>
            <a:ext cx="4781550" cy="3154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Поточні дані конкретного об'єкта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B665EF2-8E02-441F-AFBE-2ABE535505B3}"/>
              </a:ext>
            </a:extLst>
          </p:cNvPr>
          <p:cNvSpPr>
            <a:spLocks noGrp="1"/>
          </p:cNvSpPr>
          <p:nvPr/>
        </p:nvSpPr>
        <p:spPr>
          <a:xfrm>
            <a:off x="6229350" y="3924300"/>
            <a:ext cx="5238750" cy="125730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4BF8CD-BC8C-413F-A2FF-D596E8C2767F}"/>
              </a:ext>
            </a:extLst>
          </p:cNvPr>
          <p:cNvSpPr>
            <a:spLocks noGrp="1"/>
          </p:cNvSpPr>
          <p:nvPr/>
        </p:nvSpPr>
        <p:spPr>
          <a:xfrm>
            <a:off x="6229350" y="3924300"/>
            <a:ext cx="47625" cy="1257300"/>
          </a:xfrm>
          <a:prstGeom prst="rect">
            <a:avLst/>
          </a:prstGeom>
          <a:solidFill>
            <a:srgbClr val="BF7540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87D887-BA2E-4223-B933-7DEC687CD392}"/>
              </a:ext>
            </a:extLst>
          </p:cNvPr>
          <p:cNvSpPr>
            <a:spLocks noGrp="1"/>
          </p:cNvSpPr>
          <p:nvPr/>
        </p:nvSpPr>
        <p:spPr>
          <a:xfrm>
            <a:off x="6457950" y="4105275"/>
            <a:ext cx="47815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BF7540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BF7540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BF7540"/>
                </a:solidFill>
                <a:latin typeface="Onest"/>
                <a:ea typeface="Onest"/>
                <a:cs typeface="Onest"/>
              </a:rPr>
              <a:t>Поведінка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14B016-6A3E-4186-A22F-EC0D36CC90EB}"/>
              </a:ext>
            </a:extLst>
          </p:cNvPr>
          <p:cNvSpPr>
            <a:spLocks noGrp="1"/>
          </p:cNvSpPr>
          <p:nvPr/>
        </p:nvSpPr>
        <p:spPr>
          <a:xfrm>
            <a:off x="6457950" y="4638675"/>
            <a:ext cx="4781550" cy="3154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Дії, які виконує об'єкт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6597A7-CDA4-483F-86F9-5B696CC690EE}"/>
              </a:ext>
            </a:extLst>
          </p:cNvPr>
          <p:cNvSpPr>
            <a:spLocks noGrp="1"/>
          </p:cNvSpPr>
          <p:nvPr/>
        </p:nvSpPr>
        <p:spPr>
          <a:xfrm>
            <a:off x="723900" y="5562600"/>
            <a:ext cx="10744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1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100" b="1">
                <a:solidFill>
                  <a:srgbClr val="192D3B"/>
                </a:solidFill>
                <a:latin typeface="Onest"/>
                <a:ea typeface="Onest"/>
                <a:cs typeface="Onest"/>
              </a:rPr>
              <a:t>Що зміниться після запису студента?</a:t>
            </a:r>
          </a:p>
        </p:txBody>
      </p:sp>
    </p:spTree>
    <p:extLst>
      <p:ext uri="{BB962C8B-B14F-4D97-AF65-F5344CB8AC3E}">
        <p14:creationId xmlns:p14="http://schemas.microsoft.com/office/powerpoint/2010/main" val="1042594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ABC66D8E-3FA8-4949-B778-BB0BA6776D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550" y="504825"/>
            <a:ext cx="514350" cy="5143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1480E13-4316-4737-B633-FCB614A07456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9763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192D3B"/>
                </a:solidFill>
                <a:latin typeface="Onest"/>
                <a:ea typeface="Onest"/>
                <a:cs typeface="Onest"/>
              </a:rPr>
              <a:t>Спочатку сценарій користувача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FDB5DD-B170-4B6A-BFD5-4D3D3F04B6E0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pPr>
            <a:r>
              <a:rPr sz="1050" b="0">
                <a:solidFill>
                  <a:srgbClr val="566A78"/>
                </a:solidFill>
                <a:latin typeface="Onest"/>
                <a:ea typeface="Onest"/>
                <a:cs typeface="Onest"/>
              </a:rPr>
              <a:t>06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1F9545-2DE0-474D-BA9C-0F08D98853B8}"/>
              </a:ext>
            </a:extLst>
          </p:cNvPr>
          <p:cNvSpPr>
            <a:spLocks noGrp="1"/>
          </p:cNvSpPr>
          <p:nvPr/>
        </p:nvSpPr>
        <p:spPr>
          <a:xfrm>
            <a:off x="723900" y="1390650"/>
            <a:ext cx="10744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10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2100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Сценарій: студентка Олена обирає Python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C063404-C894-4EF4-9510-3AA061E5810B}"/>
              </a:ext>
            </a:extLst>
          </p:cNvPr>
          <p:cNvSpPr>
            <a:spLocks noGrp="1"/>
          </p:cNvSpPr>
          <p:nvPr/>
        </p:nvSpPr>
        <p:spPr>
          <a:xfrm>
            <a:off x="723900" y="20955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29D044-57A1-459A-BFF2-8885D3142895}"/>
              </a:ext>
            </a:extLst>
          </p:cNvPr>
          <p:cNvSpPr>
            <a:spLocks noGrp="1"/>
          </p:cNvSpPr>
          <p:nvPr/>
        </p:nvSpPr>
        <p:spPr>
          <a:xfrm>
            <a:off x="833107" y="2182333"/>
            <a:ext cx="323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1500" b="1" dirty="0">
                <a:solidFill>
                  <a:srgbClr val="FFFFFF"/>
                </a:solidFill>
                <a:latin typeface="Onest"/>
                <a:ea typeface="Onest"/>
                <a:cs typeface="Onest"/>
              </a:rPr>
              <a:t>01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061DFC-9C46-4283-A230-F0A04A6E04C7}"/>
              </a:ext>
            </a:extLst>
          </p:cNvPr>
          <p:cNvSpPr>
            <a:spLocks noGrp="1"/>
          </p:cNvSpPr>
          <p:nvPr/>
        </p:nvSpPr>
        <p:spPr>
          <a:xfrm>
            <a:off x="1371600" y="2133600"/>
            <a:ext cx="9277350" cy="3286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Створюємо курс Python і студентку Олену.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09E7EC8-57D0-481E-8B65-5DD7ACA34285}"/>
              </a:ext>
            </a:extLst>
          </p:cNvPr>
          <p:cNvSpPr>
            <a:spLocks noGrp="1"/>
          </p:cNvSpPr>
          <p:nvPr/>
        </p:nvSpPr>
        <p:spPr>
          <a:xfrm>
            <a:off x="723900" y="29337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029E48-5012-438D-BD01-450C906B01ED}"/>
              </a:ext>
            </a:extLst>
          </p:cNvPr>
          <p:cNvSpPr>
            <a:spLocks noGrp="1"/>
          </p:cNvSpPr>
          <p:nvPr/>
        </p:nvSpPr>
        <p:spPr>
          <a:xfrm>
            <a:off x="833107" y="3020533"/>
            <a:ext cx="323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1500" b="1" dirty="0">
                <a:solidFill>
                  <a:srgbClr val="FFFFFF"/>
                </a:solidFill>
                <a:latin typeface="Onest"/>
                <a:ea typeface="Onest"/>
                <a:cs typeface="Onest"/>
              </a:rPr>
              <a:t>02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0EB182A-878B-41D8-8427-63593B256DE1}"/>
              </a:ext>
            </a:extLst>
          </p:cNvPr>
          <p:cNvSpPr>
            <a:spLocks noGrp="1"/>
          </p:cNvSpPr>
          <p:nvPr/>
        </p:nvSpPr>
        <p:spPr>
          <a:xfrm>
            <a:off x="1371600" y="2971800"/>
            <a:ext cx="9277350" cy="3286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Записуємо Олену на Python.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1BF4B90-1D4F-4A57-824C-7008A61DF9CB}"/>
              </a:ext>
            </a:extLst>
          </p:cNvPr>
          <p:cNvSpPr>
            <a:spLocks noGrp="1"/>
          </p:cNvSpPr>
          <p:nvPr/>
        </p:nvSpPr>
        <p:spPr>
          <a:xfrm>
            <a:off x="723900" y="37719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928320D-4442-4CBF-A7A3-8B6738F8D28D}"/>
              </a:ext>
            </a:extLst>
          </p:cNvPr>
          <p:cNvSpPr>
            <a:spLocks noGrp="1"/>
          </p:cNvSpPr>
          <p:nvPr/>
        </p:nvSpPr>
        <p:spPr>
          <a:xfrm>
            <a:off x="833107" y="3858733"/>
            <a:ext cx="323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1500" b="1">
                <a:solidFill>
                  <a:srgbClr val="FFFFFF"/>
                </a:solidFill>
                <a:latin typeface="Onest"/>
                <a:ea typeface="Onest"/>
                <a:cs typeface="Onest"/>
              </a:rPr>
              <a:t>03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AC9FCC8-6AA1-4BA6-AFD3-1616E68AF68E}"/>
              </a:ext>
            </a:extLst>
          </p:cNvPr>
          <p:cNvSpPr>
            <a:spLocks noGrp="1"/>
          </p:cNvSpPr>
          <p:nvPr/>
        </p:nvSpPr>
        <p:spPr>
          <a:xfrm>
            <a:off x="1371600" y="3810000"/>
            <a:ext cx="9277350" cy="3286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Перевіряємо кількість і профіль учасника.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42C01C3-DAC4-4420-B356-4C38D7B418EC}"/>
              </a:ext>
            </a:extLst>
          </p:cNvPr>
          <p:cNvSpPr>
            <a:spLocks noGrp="1"/>
          </p:cNvSpPr>
          <p:nvPr/>
        </p:nvSpPr>
        <p:spPr>
          <a:xfrm>
            <a:off x="723900" y="4810125"/>
            <a:ext cx="5238750" cy="1619250"/>
          </a:xfrm>
          <a:prstGeom prst="roundRect">
            <a:avLst>
              <a:gd name="adj" fmla="val 6452"/>
            </a:avLst>
          </a:prstGeom>
          <a:solidFill>
            <a:srgbClr val="FBF3E8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266C65-CA57-4F44-9442-771304C8493D}"/>
              </a:ext>
            </a:extLst>
          </p:cNvPr>
          <p:cNvSpPr>
            <a:spLocks noGrp="1"/>
          </p:cNvSpPr>
          <p:nvPr/>
        </p:nvSpPr>
        <p:spPr>
          <a:xfrm>
            <a:off x="723900" y="4810125"/>
            <a:ext cx="45719" cy="1619250"/>
          </a:xfrm>
          <a:prstGeom prst="rect">
            <a:avLst/>
          </a:prstGeom>
          <a:solidFill>
            <a:srgbClr val="BF7540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27370AA-41C5-44A2-9B27-8771117F733C}"/>
              </a:ext>
            </a:extLst>
          </p:cNvPr>
          <p:cNvSpPr>
            <a:spLocks noGrp="1"/>
          </p:cNvSpPr>
          <p:nvPr/>
        </p:nvSpPr>
        <p:spPr>
          <a:xfrm>
            <a:off x="952500" y="4991100"/>
            <a:ext cx="47815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BF7540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BF7540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BF7540"/>
                </a:solidFill>
                <a:latin typeface="Onest"/>
                <a:ea typeface="Onest"/>
                <a:cs typeface="Onest"/>
              </a:rPr>
              <a:t>Межа моделі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7DDC4FE-1FF0-49D5-9BDA-EB4D07291DF2}"/>
              </a:ext>
            </a:extLst>
          </p:cNvPr>
          <p:cNvSpPr>
            <a:spLocks noGrp="1"/>
          </p:cNvSpPr>
          <p:nvPr/>
        </p:nvSpPr>
        <p:spPr>
          <a:xfrm>
            <a:off x="952500" y="5524500"/>
            <a:ext cx="4781550" cy="3023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7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72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Без оплати, розкладу та бази даних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20F84412-8D4D-4AFA-A07B-529C7DDABF6A}"/>
              </a:ext>
            </a:extLst>
          </p:cNvPr>
          <p:cNvSpPr>
            <a:spLocks noGrp="1"/>
          </p:cNvSpPr>
          <p:nvPr/>
        </p:nvSpPr>
        <p:spPr>
          <a:xfrm>
            <a:off x="6229350" y="4810125"/>
            <a:ext cx="5238750" cy="1619250"/>
          </a:xfrm>
          <a:prstGeom prst="roundRect">
            <a:avLst>
              <a:gd name="adj" fmla="val 6452"/>
            </a:avLst>
          </a:prstGeom>
          <a:solidFill>
            <a:srgbClr val="E8F3ED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BFBFC5C-A88F-4381-B8C9-D1857FB87F1F}"/>
              </a:ext>
            </a:extLst>
          </p:cNvPr>
          <p:cNvSpPr>
            <a:spLocks noGrp="1"/>
          </p:cNvSpPr>
          <p:nvPr/>
        </p:nvSpPr>
        <p:spPr>
          <a:xfrm>
            <a:off x="6229350" y="4810125"/>
            <a:ext cx="45719" cy="1619250"/>
          </a:xfrm>
          <a:prstGeom prst="rect">
            <a:avLst/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2A37C6D-4DC4-4578-A111-A32B708EB304}"/>
              </a:ext>
            </a:extLst>
          </p:cNvPr>
          <p:cNvSpPr>
            <a:spLocks noGrp="1"/>
          </p:cNvSpPr>
          <p:nvPr/>
        </p:nvSpPr>
        <p:spPr>
          <a:xfrm>
            <a:off x="6457950" y="4991100"/>
            <a:ext cx="47815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Критерій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F2AFA9C-6F2B-404F-A23E-3F94E1B6C6D7}"/>
              </a:ext>
            </a:extLst>
          </p:cNvPr>
          <p:cNvSpPr>
            <a:spLocks noGrp="1"/>
          </p:cNvSpPr>
          <p:nvPr/>
        </p:nvSpPr>
        <p:spPr>
          <a:xfrm>
            <a:off x="6457950" y="5524500"/>
            <a:ext cx="4781550" cy="3023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7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72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Python має одного учасника.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9CD9226-9550-45D4-8C11-29ACEBE9C7F1}"/>
              </a:ext>
            </a:extLst>
          </p:cNvPr>
          <p:cNvSpPr>
            <a:spLocks noGrp="1"/>
          </p:cNvSpPr>
          <p:nvPr/>
        </p:nvSpPr>
        <p:spPr>
          <a:xfrm>
            <a:off x="6457950" y="5922074"/>
            <a:ext cx="4781550" cy="3023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7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72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Інший курс порожній.</a:t>
            </a:r>
          </a:p>
        </p:txBody>
      </p:sp>
    </p:spTree>
    <p:extLst>
      <p:ext uri="{BB962C8B-B14F-4D97-AF65-F5344CB8AC3E}">
        <p14:creationId xmlns:p14="http://schemas.microsoft.com/office/powerpoint/2010/main" val="1040157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C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ABC66D8E-3FA8-4949-B778-BB0BA6776D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550" y="504825"/>
            <a:ext cx="514350" cy="5143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E63E8D5-D578-453D-959D-F66150BAED7E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9763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7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FFFFFF"/>
                </a:solidFill>
                <a:latin typeface="Onest"/>
                <a:ea typeface="Onest"/>
                <a:cs typeface="Onest"/>
              </a:rPr>
              <a:t>Клас та його екземпляри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DB5942-AAEA-4E75-8205-31955EFD1163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91D6B5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050" b="0">
                <a:solidFill>
                  <a:srgbClr val="91D6B5"/>
                </a:solidFill>
                <a:latin typeface="Onest"/>
                <a:ea typeface="Onest"/>
                <a:cs typeface="Onest"/>
              </a:defRPr>
            </a:pPr>
            <a:r>
              <a:rPr sz="1050" b="0">
                <a:solidFill>
                  <a:srgbClr val="91D6B5"/>
                </a:solidFill>
                <a:latin typeface="Onest"/>
                <a:ea typeface="Onest"/>
                <a:cs typeface="Onest"/>
              </a:rPr>
              <a:t>07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92B4A5-D9D7-4D76-9894-810514A21053}"/>
              </a:ext>
            </a:extLst>
          </p:cNvPr>
          <p:cNvSpPr>
            <a:spLocks noGrp="1"/>
          </p:cNvSpPr>
          <p:nvPr/>
        </p:nvSpPr>
        <p:spPr>
          <a:xfrm>
            <a:off x="723900" y="1571625"/>
            <a:ext cx="4191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300" b="1">
                <a:solidFill>
                  <a:srgbClr val="91D6B5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3300" b="1">
                <a:solidFill>
                  <a:srgbClr val="91D6B5"/>
                </a:solidFill>
                <a:latin typeface="Onest"/>
                <a:ea typeface="Onest"/>
                <a:cs typeface="Onest"/>
              </a:defRPr>
            </a:pPr>
            <a:r>
              <a:rPr sz="3300" b="1">
                <a:solidFill>
                  <a:srgbClr val="91D6B5"/>
                </a:solidFill>
                <a:latin typeface="Onest"/>
                <a:ea typeface="Onest"/>
                <a:cs typeface="Onest"/>
              </a:rPr>
              <a:t>Клас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51753F-C5B4-4CE7-810D-1A848652F681}"/>
              </a:ext>
            </a:extLst>
          </p:cNvPr>
          <p:cNvSpPr>
            <a:spLocks noGrp="1"/>
          </p:cNvSpPr>
          <p:nvPr/>
        </p:nvSpPr>
        <p:spPr>
          <a:xfrm>
            <a:off x="723900" y="2343150"/>
            <a:ext cx="4191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FFFFFF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250" b="0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2250" b="0">
                <a:solidFill>
                  <a:srgbClr val="FFFFFF"/>
                </a:solidFill>
                <a:latin typeface="Onest"/>
                <a:ea typeface="Onest"/>
                <a:cs typeface="Onest"/>
              </a:rPr>
              <a:t>Описує спільну будову</a:t>
            </a:r>
          </a:p>
          <a:p>
            <a:pPr>
              <a:lnSpc>
                <a:spcPct val="105000"/>
              </a:lnSpc>
              <a:buNone/>
              <a:defRPr sz="2250" b="0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2250" b="0">
                <a:solidFill>
                  <a:srgbClr val="FFFFFF"/>
                </a:solidFill>
                <a:latin typeface="Onest"/>
                <a:ea typeface="Onest"/>
                <a:cs typeface="Onest"/>
              </a:rPr>
              <a:t>й поведінку об'єктів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4F3F91-5734-4BDC-ACDC-10E829C98F78}"/>
              </a:ext>
            </a:extLst>
          </p:cNvPr>
          <p:cNvSpPr>
            <a:spLocks noGrp="1"/>
          </p:cNvSpPr>
          <p:nvPr/>
        </p:nvSpPr>
        <p:spPr>
          <a:xfrm>
            <a:off x="6400800" y="1571625"/>
            <a:ext cx="5048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300" b="1">
                <a:solidFill>
                  <a:srgbClr val="91D6B5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3300" b="1">
                <a:solidFill>
                  <a:srgbClr val="91D6B5"/>
                </a:solidFill>
                <a:latin typeface="Onest"/>
                <a:ea typeface="Onest"/>
                <a:cs typeface="Onest"/>
              </a:defRPr>
            </a:pPr>
            <a:r>
              <a:rPr sz="3300" b="1">
                <a:solidFill>
                  <a:srgbClr val="91D6B5"/>
                </a:solidFill>
                <a:latin typeface="Onest"/>
                <a:ea typeface="Onest"/>
                <a:cs typeface="Onest"/>
              </a:rPr>
              <a:t>Екземпляри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CFFD6DF-2426-47B8-89D2-0FE6CDD1A228}"/>
              </a:ext>
            </a:extLst>
          </p:cNvPr>
          <p:cNvSpPr>
            <a:spLocks noGrp="1"/>
          </p:cNvSpPr>
          <p:nvPr/>
        </p:nvSpPr>
        <p:spPr>
          <a:xfrm>
            <a:off x="6400800" y="2400300"/>
            <a:ext cx="5067300" cy="123825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7BBFF6-02CE-4267-998D-D75271993068}"/>
              </a:ext>
            </a:extLst>
          </p:cNvPr>
          <p:cNvSpPr>
            <a:spLocks noGrp="1"/>
          </p:cNvSpPr>
          <p:nvPr/>
        </p:nvSpPr>
        <p:spPr>
          <a:xfrm>
            <a:off x="6400800" y="2400300"/>
            <a:ext cx="47625" cy="1238250"/>
          </a:xfrm>
          <a:prstGeom prst="rect">
            <a:avLst/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CECC98-ADC8-42B0-8B56-F2E4D922FEA6}"/>
              </a:ext>
            </a:extLst>
          </p:cNvPr>
          <p:cNvSpPr>
            <a:spLocks noGrp="1"/>
          </p:cNvSpPr>
          <p:nvPr/>
        </p:nvSpPr>
        <p:spPr>
          <a:xfrm>
            <a:off x="6629400" y="2581275"/>
            <a:ext cx="46101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Курс Python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DD2791-74BF-4415-8461-40A68A61673D}"/>
              </a:ext>
            </a:extLst>
          </p:cNvPr>
          <p:cNvSpPr>
            <a:spLocks noGrp="1"/>
          </p:cNvSpPr>
          <p:nvPr/>
        </p:nvSpPr>
        <p:spPr>
          <a:xfrm>
            <a:off x="6629400" y="3114675"/>
            <a:ext cx="4610100" cy="3154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Один конкретний об'єкт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DCACBBC-41CA-4259-A24A-BBD620B1FA9C}"/>
              </a:ext>
            </a:extLst>
          </p:cNvPr>
          <p:cNvSpPr>
            <a:spLocks noGrp="1"/>
          </p:cNvSpPr>
          <p:nvPr/>
        </p:nvSpPr>
        <p:spPr>
          <a:xfrm>
            <a:off x="6400800" y="3867150"/>
            <a:ext cx="5067300" cy="1238250"/>
          </a:xfrm>
          <a:prstGeom prst="roundRect">
            <a:avLst>
              <a:gd name="adj" fmla="val 7692"/>
            </a:avLst>
          </a:prstGeom>
          <a:solidFill>
            <a:srgbClr val="E8F3ED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6F6E87-4AB1-4E81-A0AD-A7D048CD3010}"/>
              </a:ext>
            </a:extLst>
          </p:cNvPr>
          <p:cNvSpPr>
            <a:spLocks noGrp="1"/>
          </p:cNvSpPr>
          <p:nvPr/>
        </p:nvSpPr>
        <p:spPr>
          <a:xfrm>
            <a:off x="6400800" y="3867150"/>
            <a:ext cx="47625" cy="1238250"/>
          </a:xfrm>
          <a:prstGeom prst="rect">
            <a:avLst/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1A8006B-8B1F-4519-B3F7-83131C731CD9}"/>
              </a:ext>
            </a:extLst>
          </p:cNvPr>
          <p:cNvSpPr>
            <a:spLocks noGrp="1"/>
          </p:cNvSpPr>
          <p:nvPr/>
        </p:nvSpPr>
        <p:spPr>
          <a:xfrm>
            <a:off x="6629400" y="4048125"/>
            <a:ext cx="46101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Курс Django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DC6C03-0154-4B89-AEC2-8E99C3FB01EF}"/>
              </a:ext>
            </a:extLst>
          </p:cNvPr>
          <p:cNvSpPr>
            <a:spLocks noGrp="1"/>
          </p:cNvSpPr>
          <p:nvPr/>
        </p:nvSpPr>
        <p:spPr>
          <a:xfrm>
            <a:off x="6629400" y="4581525"/>
            <a:ext cx="4610100" cy="3154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Інший конкретний об'єкт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875EA86-FFF1-4D10-B89B-FF0656E935B1}"/>
              </a:ext>
            </a:extLst>
          </p:cNvPr>
          <p:cNvSpPr>
            <a:spLocks noGrp="1"/>
          </p:cNvSpPr>
          <p:nvPr/>
        </p:nvSpPr>
        <p:spPr>
          <a:xfrm>
            <a:off x="723900" y="3943350"/>
            <a:ext cx="4191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85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85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2850" b="1">
                <a:solidFill>
                  <a:srgbClr val="FFFFFF"/>
                </a:solidFill>
                <a:latin typeface="Onest"/>
                <a:ea typeface="Onest"/>
                <a:cs typeface="Onest"/>
              </a:rPr>
              <a:t>Course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B34F79B-E3B9-47E9-9831-C35D5BE87340}"/>
              </a:ext>
            </a:extLst>
          </p:cNvPr>
          <p:cNvSpPr>
            <a:spLocks noGrp="1"/>
          </p:cNvSpPr>
          <p:nvPr/>
        </p:nvSpPr>
        <p:spPr>
          <a:xfrm>
            <a:off x="723900" y="5657850"/>
            <a:ext cx="10744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325" b="1">
                <a:solidFill>
                  <a:srgbClr val="91D6B5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325" b="1">
                <a:solidFill>
                  <a:srgbClr val="91D6B5"/>
                </a:solidFill>
                <a:latin typeface="Onest"/>
                <a:ea typeface="Onest"/>
                <a:cs typeface="Onest"/>
              </a:defRPr>
            </a:pPr>
            <a:r>
              <a:rPr sz="2325" b="1">
                <a:solidFill>
                  <a:srgbClr val="91D6B5"/>
                </a:solidFill>
                <a:latin typeface="Onest"/>
                <a:ea typeface="Onest"/>
                <a:cs typeface="Onest"/>
              </a:rPr>
              <a:t>Однаковий клас не означає однаковий стан</a:t>
            </a:r>
          </a:p>
        </p:txBody>
      </p:sp>
    </p:spTree>
    <p:extLst>
      <p:ext uri="{BB962C8B-B14F-4D97-AF65-F5344CB8AC3E}">
        <p14:creationId xmlns:p14="http://schemas.microsoft.com/office/powerpoint/2010/main" val="1040157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CE40F176-94B5-4BE1-B7A5-A88C5F269A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550" y="504825"/>
            <a:ext cx="514350" cy="5143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198BF24-2A41-4605-B582-8DC390400719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9763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192D3B"/>
                </a:solidFill>
                <a:latin typeface="Onest"/>
                <a:ea typeface="Onest"/>
                <a:cs typeface="Onest"/>
              </a:rPr>
              <a:t>Створюємо два курси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C4DB099-A32A-4EFF-8B73-25CA1509AC1F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pPr>
            <a:r>
              <a:rPr sz="1050" b="0">
                <a:solidFill>
                  <a:srgbClr val="566A78"/>
                </a:solidFill>
                <a:latin typeface="Onest"/>
                <a:ea typeface="Onest"/>
                <a:cs typeface="Onest"/>
              </a:rPr>
              <a:t>08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AB8570-0902-4BA0-A9C3-44DF00474F1C}"/>
              </a:ext>
            </a:extLst>
          </p:cNvPr>
          <p:cNvSpPr>
            <a:spLocks noGrp="1"/>
          </p:cNvSpPr>
          <p:nvPr/>
        </p:nvSpPr>
        <p:spPr>
          <a:xfrm>
            <a:off x="723900" y="1371600"/>
            <a:ext cx="10744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Створіть model.py. Повна початкова програма.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C80A673-77FA-42AE-9349-8FB33330C764}"/>
              </a:ext>
            </a:extLst>
          </p:cNvPr>
          <p:cNvSpPr>
            <a:spLocks noGrp="1"/>
          </p:cNvSpPr>
          <p:nvPr/>
        </p:nvSpPr>
        <p:spPr>
          <a:xfrm>
            <a:off x="723900" y="1895475"/>
            <a:ext cx="10744200" cy="2917698"/>
          </a:xfrm>
          <a:prstGeom prst="roundRect">
            <a:avLst>
              <a:gd name="adj" fmla="val 3265"/>
            </a:avLst>
          </a:prstGeom>
          <a:solidFill>
            <a:srgbClr val="142C40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92352F-BE51-4806-80CB-6541418840A8}"/>
              </a:ext>
            </a:extLst>
          </p:cNvPr>
          <p:cNvSpPr>
            <a:spLocks noGrp="1"/>
          </p:cNvSpPr>
          <p:nvPr/>
        </p:nvSpPr>
        <p:spPr>
          <a:xfrm>
            <a:off x="933450" y="2066925"/>
            <a:ext cx="10325100" cy="267004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class Course:</a:t>
            </a:r>
          </a:p>
          <a:p>
            <a:pPr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def __init__(self, title):</a:t>
            </a:r>
          </a:p>
          <a:p>
            <a:pPr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 self.title = title</a:t>
            </a:r>
          </a:p>
          <a:p>
            <a:endParaRPr sz="1725" b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python_course = Course("Python")</a:t>
            </a:r>
          </a:p>
          <a:p>
            <a:pPr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django_course = Course("Django")</a:t>
            </a:r>
          </a:p>
          <a:p>
            <a:pPr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print(python_course.title)</a:t>
            </a:r>
          </a:p>
          <a:p>
            <a:pPr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print(django_course.title)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0C24705-EFCD-4B4B-9C08-4BEB493956D6}"/>
              </a:ext>
            </a:extLst>
          </p:cNvPr>
          <p:cNvSpPr>
            <a:spLocks noGrp="1"/>
          </p:cNvSpPr>
          <p:nvPr/>
        </p:nvSpPr>
        <p:spPr>
          <a:xfrm>
            <a:off x="723900" y="5334000"/>
            <a:ext cx="10744200" cy="542925"/>
          </a:xfrm>
          <a:prstGeom prst="roundRect">
            <a:avLst>
              <a:gd name="adj" fmla="val 15152"/>
            </a:avLst>
          </a:prstGeom>
          <a:solidFill>
            <a:srgbClr val="E8F3ED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0D39613-93C8-463E-BAFA-2BFC70378306}"/>
              </a:ext>
            </a:extLst>
          </p:cNvPr>
          <p:cNvSpPr>
            <a:spLocks noGrp="1"/>
          </p:cNvSpPr>
          <p:nvPr/>
        </p:nvSpPr>
        <p:spPr>
          <a:xfrm>
            <a:off x="933450" y="5476875"/>
            <a:ext cx="103251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00" b="0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800" b="0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Очікуємо</a:t>
            </a:r>
            <a:r>
              <a:rPr sz="1800" b="0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: Python і Django на </a:t>
            </a:r>
            <a:r>
              <a:rPr sz="1800" b="0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окремих</a:t>
            </a:r>
            <a:r>
              <a:rPr sz="1800" b="0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рядках</a:t>
            </a:r>
            <a:r>
              <a:rPr sz="1800" b="0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5725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C32F1786-9D1C-412B-87CE-94FBD64F82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550" y="504825"/>
            <a:ext cx="514350" cy="5143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D3350AD-5F86-4A84-AA2B-B7C05D456538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9763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192D3B"/>
                </a:solidFill>
                <a:latin typeface="Onest"/>
                <a:ea typeface="Onest"/>
                <a:cs typeface="Onest"/>
              </a:rPr>
              <a:t>Self позначає поточний об'єкт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BE8B40-9F92-491B-9779-09340454BE33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pPr>
            <a:r>
              <a:rPr sz="1050" b="0">
                <a:solidFill>
                  <a:srgbClr val="566A78"/>
                </a:solidFill>
                <a:latin typeface="Onest"/>
                <a:ea typeface="Onest"/>
                <a:cs typeface="Onest"/>
              </a:rPr>
              <a:t>09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9559451-CEDD-427A-AA53-A3D9B2E470E4}"/>
              </a:ext>
            </a:extLst>
          </p:cNvPr>
          <p:cNvSpPr>
            <a:spLocks noGrp="1"/>
          </p:cNvSpPr>
          <p:nvPr/>
        </p:nvSpPr>
        <p:spPr>
          <a:xfrm>
            <a:off x="723900" y="1524000"/>
            <a:ext cx="6572250" cy="1781175"/>
          </a:xfrm>
          <a:prstGeom prst="roundRect">
            <a:avLst>
              <a:gd name="adj" fmla="val 5348"/>
            </a:avLst>
          </a:prstGeom>
          <a:solidFill>
            <a:srgbClr val="142C40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8599A3-969C-4ACA-9BAC-98B672669A82}"/>
              </a:ext>
            </a:extLst>
          </p:cNvPr>
          <p:cNvSpPr>
            <a:spLocks noGrp="1"/>
          </p:cNvSpPr>
          <p:nvPr/>
        </p:nvSpPr>
        <p:spPr>
          <a:xfrm>
            <a:off x="933450" y="1695450"/>
            <a:ext cx="6153150" cy="1533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python_course.title = "Python Basic"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print(python_course.title)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print(django_course.title)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3AB3E09-1B50-4F69-8F8D-BEFA268ED27E}"/>
              </a:ext>
            </a:extLst>
          </p:cNvPr>
          <p:cNvSpPr>
            <a:spLocks noGrp="1"/>
          </p:cNvSpPr>
          <p:nvPr/>
        </p:nvSpPr>
        <p:spPr>
          <a:xfrm>
            <a:off x="7600950" y="1524000"/>
            <a:ext cx="3867150" cy="1781175"/>
          </a:xfrm>
          <a:prstGeom prst="roundRect">
            <a:avLst>
              <a:gd name="adj" fmla="val 5348"/>
            </a:avLst>
          </a:prstGeom>
          <a:solidFill>
            <a:srgbClr val="FFFFFF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0BE1FF-1D3A-49C0-AC87-10A4CE285C7D}"/>
              </a:ext>
            </a:extLst>
          </p:cNvPr>
          <p:cNvSpPr>
            <a:spLocks noGrp="1"/>
          </p:cNvSpPr>
          <p:nvPr/>
        </p:nvSpPr>
        <p:spPr>
          <a:xfrm>
            <a:off x="7600950" y="1524000"/>
            <a:ext cx="47625" cy="1781175"/>
          </a:xfrm>
          <a:prstGeom prst="rect">
            <a:avLst/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276676-B154-480B-BAB6-AD327E647AD8}"/>
              </a:ext>
            </a:extLst>
          </p:cNvPr>
          <p:cNvSpPr>
            <a:spLocks noGrp="1"/>
          </p:cNvSpPr>
          <p:nvPr/>
        </p:nvSpPr>
        <p:spPr>
          <a:xfrm>
            <a:off x="7829550" y="1704975"/>
            <a:ext cx="34099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Що означає self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0D84686-2FE3-48F8-BBEB-9F446D3010EA}"/>
              </a:ext>
            </a:extLst>
          </p:cNvPr>
          <p:cNvSpPr>
            <a:spLocks noGrp="1"/>
          </p:cNvSpPr>
          <p:nvPr/>
        </p:nvSpPr>
        <p:spPr>
          <a:xfrm>
            <a:off x="7829550" y="2238375"/>
            <a:ext cx="3409950" cy="3023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7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72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Посилається на екземпляр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C993F1-F38B-4C7B-94A6-F0B4C2035080}"/>
              </a:ext>
            </a:extLst>
          </p:cNvPr>
          <p:cNvSpPr>
            <a:spLocks noGrp="1"/>
          </p:cNvSpPr>
          <p:nvPr/>
        </p:nvSpPr>
        <p:spPr>
          <a:xfrm>
            <a:off x="7829550" y="2635949"/>
            <a:ext cx="3409950" cy="3023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7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72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цього виклику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D244DDC3-5D7D-4F08-BC67-A22FE585FE4E}"/>
              </a:ext>
            </a:extLst>
          </p:cNvPr>
          <p:cNvGraphicFramePr/>
          <p:nvPr/>
        </p:nvGraphicFramePr>
        <p:xfrm>
          <a:off x="723900" y="3667125"/>
          <a:ext cx="6572250" cy="1857375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6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Onest"/>
                          <a:ea typeface="Onest"/>
                          <a:cs typeface="Onest"/>
                        </a:rPr>
                        <a:t>Запис</a:t>
                      </a:r>
                    </a:p>
                  </a:txBody>
                  <a:tcPr>
                    <a:lnL w="9525">
                      <a:solidFill>
                        <a:srgbClr val="B9CDC6"/>
                      </a:solidFill>
                      <a:prstDash val="soli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>
                      <a:solidFill>
                        <a:srgbClr val="B9CDC6"/>
                      </a:solidFill>
                      <a:prstDash val="soli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1B6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Onest"/>
                          <a:ea typeface="Onest"/>
                          <a:cs typeface="Onest"/>
                        </a:rPr>
                        <a:t>Значення</a:t>
                      </a:r>
                    </a:p>
                  </a:txBody>
                  <a:tcPr>
                    <a:lnL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>
                      <a:solidFill>
                        <a:srgbClr val="B9CDC6"/>
                      </a:solidFill>
                      <a:prstDash val="soli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1B6C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title</a:t>
                      </a:r>
                    </a:p>
                  </a:txBody>
                  <a:tcPr>
                    <a:lnL w="9525">
                      <a:solidFill>
                        <a:srgbClr val="B9CDC6"/>
                      </a:solidFill>
                      <a:prstDash val="soli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Параметр методу</a:t>
                      </a:r>
                    </a:p>
                  </a:txBody>
                  <a:tcPr>
                    <a:lnL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self.title</a:t>
                      </a:r>
                    </a:p>
                  </a:txBody>
                  <a:tcPr>
                    <a:lnL w="9525">
                      <a:solidFill>
                        <a:srgbClr val="B9CDC6"/>
                      </a:solidFill>
                      <a:prstDash val="soli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E8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Атрибут екземпляра</a:t>
                      </a:r>
                    </a:p>
                  </a:txBody>
                  <a:tcPr>
                    <a:lnL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E8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06BED84-A806-4BB4-BA1F-EDA03BF2B938}"/>
              </a:ext>
            </a:extLst>
          </p:cNvPr>
          <p:cNvSpPr>
            <a:spLocks noGrp="1"/>
          </p:cNvSpPr>
          <p:nvPr/>
        </p:nvSpPr>
        <p:spPr>
          <a:xfrm>
            <a:off x="7600950" y="3667125"/>
            <a:ext cx="3867150" cy="1857375"/>
          </a:xfrm>
          <a:prstGeom prst="roundRect">
            <a:avLst>
              <a:gd name="adj" fmla="val 5128"/>
            </a:avLst>
          </a:prstGeom>
          <a:solidFill>
            <a:srgbClr val="E8F3ED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A74821-AA74-4F71-A828-412066A26C65}"/>
              </a:ext>
            </a:extLst>
          </p:cNvPr>
          <p:cNvSpPr>
            <a:spLocks noGrp="1"/>
          </p:cNvSpPr>
          <p:nvPr/>
        </p:nvSpPr>
        <p:spPr>
          <a:xfrm>
            <a:off x="7600950" y="3667125"/>
            <a:ext cx="47625" cy="1857375"/>
          </a:xfrm>
          <a:prstGeom prst="rect">
            <a:avLst/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F24D9FE-C17D-406A-B781-CC2C6DF037C1}"/>
              </a:ext>
            </a:extLst>
          </p:cNvPr>
          <p:cNvSpPr>
            <a:spLocks noGrp="1"/>
          </p:cNvSpPr>
          <p:nvPr/>
        </p:nvSpPr>
        <p:spPr>
          <a:xfrm>
            <a:off x="7829550" y="3848100"/>
            <a:ext cx="34099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Незалежний стан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F191D3-3B5B-4284-884A-25DE44F771B7}"/>
              </a:ext>
            </a:extLst>
          </p:cNvPr>
          <p:cNvSpPr>
            <a:spLocks noGrp="1"/>
          </p:cNvSpPr>
          <p:nvPr/>
        </p:nvSpPr>
        <p:spPr>
          <a:xfrm>
            <a:off x="7829550" y="4381500"/>
            <a:ext cx="3409950" cy="3154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Назва першого курсу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0865C0-A637-41C1-B371-7E91858F7141}"/>
              </a:ext>
            </a:extLst>
          </p:cNvPr>
          <p:cNvSpPr>
            <a:spLocks noGrp="1"/>
          </p:cNvSpPr>
          <p:nvPr/>
        </p:nvSpPr>
        <p:spPr>
          <a:xfrm>
            <a:off x="7829550" y="4792218"/>
            <a:ext cx="3409950" cy="3154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не змінює другий.</a:t>
            </a:r>
          </a:p>
        </p:txBody>
      </p:sp>
    </p:spTree>
    <p:extLst>
      <p:ext uri="{BB962C8B-B14F-4D97-AF65-F5344CB8AC3E}">
        <p14:creationId xmlns:p14="http://schemas.microsoft.com/office/powerpoint/2010/main" val="456581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D2AE6C1-F612-48E7-97CE-DDC82AEBFE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550" y="504825"/>
            <a:ext cx="514350" cy="5143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93190D-CD92-4E55-BFFB-10AEC1A50CE2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9763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192D3B"/>
                </a:solidFill>
                <a:latin typeface="Onest"/>
                <a:ea typeface="Onest"/>
                <a:cs typeface="Onest"/>
              </a:rPr>
              <a:t>Метод читає стан об'єкта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E0D9846-BA2B-4430-AF8D-009602521F45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pPr>
            <a:r>
              <a:rPr sz="1050" b="0">
                <a:solidFill>
                  <a:srgbClr val="566A78"/>
                </a:solidFill>
                <a:latin typeface="Onest"/>
                <a:ea typeface="Onest"/>
                <a:cs typeface="Onest"/>
              </a:rPr>
              <a:t>10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368661-4C36-4EF1-ACD4-A59B2C993BF6}"/>
              </a:ext>
            </a:extLst>
          </p:cNvPr>
          <p:cNvSpPr>
            <a:spLocks noGrp="1"/>
          </p:cNvSpPr>
          <p:nvPr/>
        </p:nvSpPr>
        <p:spPr>
          <a:xfrm>
            <a:off x="723900" y="1400175"/>
            <a:ext cx="10744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У Course після __init__ додайте метод: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DE4C55E-AF3C-44FF-9CB6-8E5FC9AFDBA3}"/>
              </a:ext>
            </a:extLst>
          </p:cNvPr>
          <p:cNvSpPr>
            <a:spLocks noGrp="1"/>
          </p:cNvSpPr>
          <p:nvPr/>
        </p:nvSpPr>
        <p:spPr>
          <a:xfrm>
            <a:off x="723900" y="1981200"/>
            <a:ext cx="10744200" cy="1200150"/>
          </a:xfrm>
          <a:prstGeom prst="roundRect">
            <a:avLst>
              <a:gd name="adj" fmla="val 7937"/>
            </a:avLst>
          </a:prstGeom>
          <a:solidFill>
            <a:srgbClr val="142C40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A054BD-66F0-424F-8F00-D4B83BE97B48}"/>
              </a:ext>
            </a:extLst>
          </p:cNvPr>
          <p:cNvSpPr>
            <a:spLocks noGrp="1"/>
          </p:cNvSpPr>
          <p:nvPr/>
        </p:nvSpPr>
        <p:spPr>
          <a:xfrm>
            <a:off x="933450" y="2152650"/>
            <a:ext cx="103251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def label(self):</a:t>
            </a:r>
          </a:p>
          <a:p>
            <a:pPr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 return f"Курс: {self.title}"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3BDC6A-6B47-4D1B-A61E-B1D34F40E7EB}"/>
              </a:ext>
            </a:extLst>
          </p:cNvPr>
          <p:cNvSpPr>
            <a:spLocks noGrp="1"/>
          </p:cNvSpPr>
          <p:nvPr/>
        </p:nvSpPr>
        <p:spPr>
          <a:xfrm>
            <a:off x="723900" y="3533775"/>
            <a:ext cx="107442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У кінці model.py: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C07AE6E-BDDB-43F8-8B65-E7FBE838FA8C}"/>
              </a:ext>
            </a:extLst>
          </p:cNvPr>
          <p:cNvSpPr>
            <a:spLocks noGrp="1"/>
          </p:cNvSpPr>
          <p:nvPr/>
        </p:nvSpPr>
        <p:spPr>
          <a:xfrm>
            <a:off x="723900" y="3990975"/>
            <a:ext cx="10744200" cy="828675"/>
          </a:xfrm>
          <a:prstGeom prst="roundRect">
            <a:avLst>
              <a:gd name="adj" fmla="val 11494"/>
            </a:avLst>
          </a:prstGeom>
          <a:solidFill>
            <a:srgbClr val="142C40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C78B00-3256-4630-9F50-A21F57FC4932}"/>
              </a:ext>
            </a:extLst>
          </p:cNvPr>
          <p:cNvSpPr>
            <a:spLocks noGrp="1"/>
          </p:cNvSpPr>
          <p:nvPr/>
        </p:nvSpPr>
        <p:spPr>
          <a:xfrm>
            <a:off x="933450" y="4162425"/>
            <a:ext cx="103251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print(python_course.label())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509F900-A6B2-4902-8AE8-A9AD87619595}"/>
              </a:ext>
            </a:extLst>
          </p:cNvPr>
          <p:cNvSpPr>
            <a:spLocks noGrp="1"/>
          </p:cNvSpPr>
          <p:nvPr/>
        </p:nvSpPr>
        <p:spPr>
          <a:xfrm>
            <a:off x="723900" y="5219700"/>
            <a:ext cx="10744200" cy="542925"/>
          </a:xfrm>
          <a:prstGeom prst="roundRect">
            <a:avLst>
              <a:gd name="adj" fmla="val 15152"/>
            </a:avLst>
          </a:prstGeom>
          <a:solidFill>
            <a:srgbClr val="E8F3ED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1D75D4-3EE4-4422-B4BB-6EB3FD044965}"/>
              </a:ext>
            </a:extLst>
          </p:cNvPr>
          <p:cNvSpPr>
            <a:spLocks noGrp="1"/>
          </p:cNvSpPr>
          <p:nvPr/>
        </p:nvSpPr>
        <p:spPr>
          <a:xfrm>
            <a:off x="933450" y="5362575"/>
            <a:ext cx="103251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00" b="0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B6C57"/>
                </a:solidFill>
                <a:latin typeface="Onest"/>
                <a:ea typeface="Onest"/>
                <a:cs typeface="Onest"/>
              </a:rPr>
              <a:t>Очікуємо новий рядок: Курс: Python Basic.</a:t>
            </a:r>
          </a:p>
        </p:txBody>
      </p:sp>
    </p:spTree>
    <p:extLst>
      <p:ext uri="{BB962C8B-B14F-4D97-AF65-F5344CB8AC3E}">
        <p14:creationId xmlns:p14="http://schemas.microsoft.com/office/powerpoint/2010/main" val="1042594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30E2CD9C-46C0-472F-A624-AC5F21D099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550" y="504825"/>
            <a:ext cx="514350" cy="5143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662E375-8E84-488E-89DF-5FB61F96827E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9763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192D3B"/>
                </a:solidFill>
                <a:latin typeface="Onest"/>
                <a:ea typeface="Onest"/>
                <a:cs typeface="Onest"/>
              </a:rPr>
              <a:t>Самостійно: створюємо Student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B6A099-04E4-45AD-B585-C1418B986C9F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pPr>
            <a:r>
              <a:rPr sz="1050" b="0">
                <a:solidFill>
                  <a:srgbClr val="566A78"/>
                </a:solidFill>
                <a:latin typeface="Onest"/>
                <a:ea typeface="Onest"/>
                <a:cs typeface="Onest"/>
              </a:rPr>
              <a:t>11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54EFBC-ECF6-47F5-B310-A5ACE2BDF9BB}"/>
              </a:ext>
            </a:extLst>
          </p:cNvPr>
          <p:cNvSpPr>
            <a:spLocks noGrp="1"/>
          </p:cNvSpPr>
          <p:nvPr/>
        </p:nvSpPr>
        <p:spPr>
          <a:xfrm>
            <a:off x="723900" y="1390650"/>
            <a:ext cx="10744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У model.py перед створенням об'єктів додайте Student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23C6A07-7E12-42FF-ABA5-528192C2F9F1}"/>
              </a:ext>
            </a:extLst>
          </p:cNvPr>
          <p:cNvSpPr>
            <a:spLocks noGrp="1"/>
          </p:cNvSpPr>
          <p:nvPr/>
        </p:nvSpPr>
        <p:spPr>
          <a:xfrm>
            <a:off x="723900" y="2066925"/>
            <a:ext cx="5238750" cy="2809875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3E1852-EE4C-4706-9CB8-587FE704407D}"/>
              </a:ext>
            </a:extLst>
          </p:cNvPr>
          <p:cNvSpPr>
            <a:spLocks noGrp="1"/>
          </p:cNvSpPr>
          <p:nvPr/>
        </p:nvSpPr>
        <p:spPr>
          <a:xfrm>
            <a:off x="723900" y="2066925"/>
            <a:ext cx="47625" cy="2809875"/>
          </a:xfrm>
          <a:prstGeom prst="rect">
            <a:avLst/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7F94B5-335E-4DC4-8591-8AD7893D802D}"/>
              </a:ext>
            </a:extLst>
          </p:cNvPr>
          <p:cNvSpPr>
            <a:spLocks noGrp="1"/>
          </p:cNvSpPr>
          <p:nvPr/>
        </p:nvSpPr>
        <p:spPr>
          <a:xfrm>
            <a:off x="952500" y="2247900"/>
            <a:ext cx="47815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Будова класу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BAB9CA9-41B6-4088-BD0A-3C5A247BE4A3}"/>
              </a:ext>
            </a:extLst>
          </p:cNvPr>
          <p:cNvSpPr>
            <a:spLocks noGrp="1"/>
          </p:cNvSpPr>
          <p:nvPr/>
        </p:nvSpPr>
        <p:spPr>
          <a:xfrm>
            <a:off x="952500" y="2781300"/>
            <a:ext cx="4781550" cy="3286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__init__ приймає name та email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727F53-8D0D-4C17-A1B4-64C5C08D919B}"/>
              </a:ext>
            </a:extLst>
          </p:cNvPr>
          <p:cNvSpPr>
            <a:spLocks noGrp="1"/>
          </p:cNvSpPr>
          <p:nvPr/>
        </p:nvSpPr>
        <p:spPr>
          <a:xfrm>
            <a:off x="952500" y="3205163"/>
            <a:ext cx="4781550" cy="3286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і зберігає їх.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399C26-F6CC-4D65-A786-7148A71BCB23}"/>
              </a:ext>
            </a:extLst>
          </p:cNvPr>
          <p:cNvSpPr>
            <a:spLocks noGrp="1"/>
          </p:cNvSpPr>
          <p:nvPr/>
        </p:nvSpPr>
        <p:spPr>
          <a:xfrm>
            <a:off x="952500" y="3629025"/>
            <a:ext cx="4781550" cy="3286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profile() повертає "Ім'я &lt;email&gt;".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6C23D8F-E756-42D0-9B34-1750D73331B3}"/>
              </a:ext>
            </a:extLst>
          </p:cNvPr>
          <p:cNvSpPr>
            <a:spLocks noGrp="1"/>
          </p:cNvSpPr>
          <p:nvPr/>
        </p:nvSpPr>
        <p:spPr>
          <a:xfrm>
            <a:off x="6229350" y="2066925"/>
            <a:ext cx="5238750" cy="2809875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9122B46-0637-481D-BD75-16EE7F4261A8}"/>
              </a:ext>
            </a:extLst>
          </p:cNvPr>
          <p:cNvSpPr>
            <a:spLocks noGrp="1"/>
          </p:cNvSpPr>
          <p:nvPr/>
        </p:nvSpPr>
        <p:spPr>
          <a:xfrm>
            <a:off x="6229350" y="2066925"/>
            <a:ext cx="47625" cy="2809875"/>
          </a:xfrm>
          <a:prstGeom prst="rect">
            <a:avLst/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CBB00FE-2775-4EC5-BA2C-23DAE9D37FD0}"/>
              </a:ext>
            </a:extLst>
          </p:cNvPr>
          <p:cNvSpPr>
            <a:spLocks noGrp="1"/>
          </p:cNvSpPr>
          <p:nvPr/>
        </p:nvSpPr>
        <p:spPr>
          <a:xfrm>
            <a:off x="6457950" y="2247900"/>
            <a:ext cx="47815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Два екземпляри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D1024EF-E0C2-4A83-932B-25215FE6215D}"/>
              </a:ext>
            </a:extLst>
          </p:cNvPr>
          <p:cNvSpPr>
            <a:spLocks noGrp="1"/>
          </p:cNvSpPr>
          <p:nvPr/>
        </p:nvSpPr>
        <p:spPr>
          <a:xfrm>
            <a:off x="6457950" y="2781300"/>
            <a:ext cx="4781550" cy="3286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Олена: olena@example.com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94855C5-8E69-466B-902A-B98FEC153526}"/>
              </a:ext>
            </a:extLst>
          </p:cNvPr>
          <p:cNvSpPr>
            <a:spLocks noGrp="1"/>
          </p:cNvSpPr>
          <p:nvPr/>
        </p:nvSpPr>
        <p:spPr>
          <a:xfrm>
            <a:off x="6457950" y="3205163"/>
            <a:ext cx="4781550" cy="3286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Іван: ivan@example.com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407FFF-7E62-449D-A92B-04A86155258D}"/>
              </a:ext>
            </a:extLst>
          </p:cNvPr>
          <p:cNvSpPr>
            <a:spLocks noGrp="1"/>
          </p:cNvSpPr>
          <p:nvPr/>
        </p:nvSpPr>
        <p:spPr>
          <a:xfrm>
            <a:off x="6457950" y="3629025"/>
            <a:ext cx="4781550" cy="3286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Надрукуйте обидва профілі.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63A6471-8137-44D9-92B6-738559AC47B5}"/>
              </a:ext>
            </a:extLst>
          </p:cNvPr>
          <p:cNvSpPr>
            <a:spLocks noGrp="1"/>
          </p:cNvSpPr>
          <p:nvPr/>
        </p:nvSpPr>
        <p:spPr>
          <a:xfrm>
            <a:off x="723900" y="5286375"/>
            <a:ext cx="10744200" cy="628650"/>
          </a:xfrm>
          <a:prstGeom prst="roundRect">
            <a:avLst>
              <a:gd name="adj" fmla="val 15152"/>
            </a:avLst>
          </a:prstGeom>
          <a:solidFill>
            <a:srgbClr val="E8F3ED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DD6622C-91EA-4349-BF0A-0FC76226870D}"/>
              </a:ext>
            </a:extLst>
          </p:cNvPr>
          <p:cNvSpPr>
            <a:spLocks noGrp="1"/>
          </p:cNvSpPr>
          <p:nvPr/>
        </p:nvSpPr>
        <p:spPr>
          <a:xfrm>
            <a:off x="933450" y="5429250"/>
            <a:ext cx="103251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00" b="0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lang="uk-UA" sz="1800" b="0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Д</a:t>
            </a:r>
            <a:r>
              <a:rPr sz="1800" b="0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ва</a:t>
            </a:r>
            <a:r>
              <a:rPr sz="1800" b="0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різні</a:t>
            </a:r>
            <a:r>
              <a:rPr sz="1800" b="0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профілі</a:t>
            </a:r>
            <a:r>
              <a:rPr sz="1800" b="0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 без </a:t>
            </a:r>
            <a:r>
              <a:rPr sz="1800" b="0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змін</a:t>
            </a:r>
            <a:r>
              <a:rPr sz="1800" b="0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класу</a:t>
            </a:r>
            <a:r>
              <a:rPr sz="1800" b="0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 Course.</a:t>
            </a:r>
          </a:p>
        </p:txBody>
      </p:sp>
    </p:spTree>
    <p:extLst>
      <p:ext uri="{BB962C8B-B14F-4D97-AF65-F5344CB8AC3E}">
        <p14:creationId xmlns:p14="http://schemas.microsoft.com/office/powerpoint/2010/main" val="392821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0CDCE763-22B9-4E0E-AE7C-F75A49B071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550" y="504825"/>
            <a:ext cx="514350" cy="5143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F87A78F-0389-48A2-AB0A-9EF1CD2159C9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9763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192D3B"/>
                </a:solidFill>
                <a:latin typeface="Onest"/>
                <a:ea typeface="Onest"/>
                <a:cs typeface="Onest"/>
              </a:rPr>
              <a:t>Атрибут класу та екземпляра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B98DD8-DB11-4FAD-912D-377251CD5BBC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pPr>
            <a:r>
              <a:rPr sz="1050" b="0">
                <a:solidFill>
                  <a:srgbClr val="566A78"/>
                </a:solidFill>
                <a:latin typeface="Onest"/>
                <a:ea typeface="Onest"/>
                <a:cs typeface="Onest"/>
              </a:rPr>
              <a:t>12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E32BBC-0C8E-4B19-8F01-96E29EE5A55A}"/>
              </a:ext>
            </a:extLst>
          </p:cNvPr>
          <p:cNvSpPr>
            <a:spLocks noGrp="1"/>
          </p:cNvSpPr>
          <p:nvPr/>
        </p:nvSpPr>
        <p:spPr>
          <a:xfrm>
            <a:off x="723900" y="1390650"/>
            <a:ext cx="10744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У Course перед __init__ додайте: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3C9C61F-15FD-42DC-BC8A-102135FF4B04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10744200" cy="762000"/>
          </a:xfrm>
          <a:prstGeom prst="roundRect">
            <a:avLst>
              <a:gd name="adj" fmla="val 12500"/>
            </a:avLst>
          </a:prstGeom>
          <a:solidFill>
            <a:srgbClr val="142C40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634431-9F83-4325-B387-C51B0BB60DB7}"/>
              </a:ext>
            </a:extLst>
          </p:cNvPr>
          <p:cNvSpPr>
            <a:spLocks noGrp="1"/>
          </p:cNvSpPr>
          <p:nvPr/>
        </p:nvSpPr>
        <p:spPr>
          <a:xfrm>
            <a:off x="933450" y="2114550"/>
            <a:ext cx="103251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category = "Навчання"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9021B6-A1AE-4A82-BFB1-8B09A230B2A0}"/>
              </a:ext>
            </a:extLst>
          </p:cNvPr>
          <p:cNvSpPr>
            <a:spLocks noGrp="1"/>
          </p:cNvSpPr>
          <p:nvPr/>
        </p:nvSpPr>
        <p:spPr>
          <a:xfrm>
            <a:off x="723900" y="3057525"/>
            <a:ext cx="5810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У кінці model.py: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102C4E1-D8C1-460D-84A3-F7EE26F3A628}"/>
              </a:ext>
            </a:extLst>
          </p:cNvPr>
          <p:cNvSpPr>
            <a:spLocks noGrp="1"/>
          </p:cNvSpPr>
          <p:nvPr/>
        </p:nvSpPr>
        <p:spPr>
          <a:xfrm>
            <a:off x="723900" y="3552825"/>
            <a:ext cx="5810250" cy="1581150"/>
          </a:xfrm>
          <a:prstGeom prst="roundRect">
            <a:avLst>
              <a:gd name="adj" fmla="val 6024"/>
            </a:avLst>
          </a:prstGeom>
          <a:solidFill>
            <a:srgbClr val="142C40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072797-446A-4D2B-9041-A81F52D5B595}"/>
              </a:ext>
            </a:extLst>
          </p:cNvPr>
          <p:cNvSpPr>
            <a:spLocks noGrp="1"/>
          </p:cNvSpPr>
          <p:nvPr/>
        </p:nvSpPr>
        <p:spPr>
          <a:xfrm>
            <a:off x="933450" y="3724275"/>
            <a:ext cx="539115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print(Course.category)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print(python_course.category)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print(django_course.category)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6BF66D9-944A-406E-8EB0-8270D87C2C8C}"/>
              </a:ext>
            </a:extLst>
          </p:cNvPr>
          <p:cNvGraphicFramePr/>
          <p:nvPr/>
        </p:nvGraphicFramePr>
        <p:xfrm>
          <a:off x="6877050" y="3057525"/>
          <a:ext cx="4591050" cy="207645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2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Onest"/>
                          <a:ea typeface="Onest"/>
                          <a:cs typeface="Onest"/>
                        </a:rPr>
                        <a:t>Атрибут</a:t>
                      </a:r>
                    </a:p>
                  </a:txBody>
                  <a:tcPr>
                    <a:lnL w="9525">
                      <a:solidFill>
                        <a:srgbClr val="B9CDC6"/>
                      </a:solidFill>
                      <a:prstDash val="soli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>
                      <a:solidFill>
                        <a:srgbClr val="B9CDC6"/>
                      </a:solidFill>
                      <a:prstDash val="soli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1B6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Onest"/>
                          <a:ea typeface="Onest"/>
                          <a:cs typeface="Onest"/>
                        </a:rPr>
                        <a:t>Де визначаємо</a:t>
                      </a:r>
                    </a:p>
                  </a:txBody>
                  <a:tcPr>
                    <a:lnL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>
                      <a:solidFill>
                        <a:srgbClr val="B9CDC6"/>
                      </a:solidFill>
                      <a:prstDash val="soli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1B6C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1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category</a:t>
                      </a:r>
                    </a:p>
                  </a:txBody>
                  <a:tcPr>
                    <a:lnL w="9525">
                      <a:solidFill>
                        <a:srgbClr val="B9CDC6"/>
                      </a:solidFill>
                      <a:prstDash val="soli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У тілі класу</a:t>
                      </a:r>
                    </a:p>
                  </a:txBody>
                  <a:tcPr>
                    <a:lnL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1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title</a:t>
                      </a:r>
                    </a:p>
                  </a:txBody>
                  <a:tcPr>
                    <a:lnL w="9525">
                      <a:solidFill>
                        <a:srgbClr val="B9CDC6"/>
                      </a:solidFill>
                      <a:prstDash val="soli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E8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У self.title</a:t>
                      </a:r>
                    </a:p>
                  </a:txBody>
                  <a:tcPr>
                    <a:lnL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E8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20CEF30-C57A-452C-81F4-C207E8310C56}"/>
              </a:ext>
            </a:extLst>
          </p:cNvPr>
          <p:cNvSpPr>
            <a:spLocks noGrp="1"/>
          </p:cNvSpPr>
          <p:nvPr/>
        </p:nvSpPr>
        <p:spPr>
          <a:xfrm>
            <a:off x="723900" y="5505450"/>
            <a:ext cx="10744200" cy="62865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3BDEF1-D93A-4317-8CCE-B805C0362B47}"/>
              </a:ext>
            </a:extLst>
          </p:cNvPr>
          <p:cNvSpPr>
            <a:spLocks noGrp="1"/>
          </p:cNvSpPr>
          <p:nvPr/>
        </p:nvSpPr>
        <p:spPr>
          <a:xfrm>
            <a:off x="933450" y="5648325"/>
            <a:ext cx="103251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00" b="0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B6C57"/>
                </a:solidFill>
                <a:latin typeface="Onest"/>
                <a:ea typeface="Onest"/>
                <a:cs typeface="Onest"/>
              </a:rPr>
              <a:t>Три нові рядки: Навчання. title належить екземпляру.</a:t>
            </a:r>
          </a:p>
        </p:txBody>
      </p:sp>
    </p:spTree>
    <p:extLst>
      <p:ext uri="{BB962C8B-B14F-4D97-AF65-F5344CB8AC3E}">
        <p14:creationId xmlns:p14="http://schemas.microsoft.com/office/powerpoint/2010/main" val="2108151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3A71CDA8-97FF-4F31-9FD3-5BB8536754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550" y="504825"/>
            <a:ext cx="514350" cy="5143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398E58D-4492-43FA-A8FE-FB9F861F00E2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9763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192D3B"/>
                </a:solidFill>
                <a:latin typeface="Onest"/>
                <a:ea typeface="Onest"/>
                <a:cs typeface="Onest"/>
              </a:rPr>
              <a:t>Коли список випадково спільний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D0365B-505B-4162-AFEA-AD0B40747220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pPr>
            <a:r>
              <a:rPr sz="1050" b="0">
                <a:solidFill>
                  <a:srgbClr val="566A78"/>
                </a:solidFill>
                <a:latin typeface="Onest"/>
                <a:ea typeface="Onest"/>
                <a:cs typeface="Onest"/>
              </a:rPr>
              <a:t>13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9AF2068-C84B-48A3-AD85-C2473043543B}"/>
              </a:ext>
            </a:extLst>
          </p:cNvPr>
          <p:cNvSpPr>
            <a:spLocks noGrp="1"/>
          </p:cNvSpPr>
          <p:nvPr/>
        </p:nvSpPr>
        <p:spPr>
          <a:xfrm>
            <a:off x="723900" y="1390650"/>
            <a:ext cx="10744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shared_state_demo.py: окрема повна програма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CDA0105-0EB8-40E0-B907-619DD038D2DC}"/>
              </a:ext>
            </a:extLst>
          </p:cNvPr>
          <p:cNvSpPr>
            <a:spLocks noGrp="1"/>
          </p:cNvSpPr>
          <p:nvPr/>
        </p:nvSpPr>
        <p:spPr>
          <a:xfrm>
            <a:off x="723900" y="1905000"/>
            <a:ext cx="10744200" cy="2917698"/>
          </a:xfrm>
          <a:prstGeom prst="roundRect">
            <a:avLst>
              <a:gd name="adj" fmla="val 3265"/>
            </a:avLst>
          </a:prstGeom>
          <a:solidFill>
            <a:srgbClr val="142C40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010128-8C49-4CDA-BB4D-A72CCFF02AEB}"/>
              </a:ext>
            </a:extLst>
          </p:cNvPr>
          <p:cNvSpPr>
            <a:spLocks noGrp="1"/>
          </p:cNvSpPr>
          <p:nvPr/>
        </p:nvSpPr>
        <p:spPr>
          <a:xfrm>
            <a:off x="933450" y="2076450"/>
            <a:ext cx="10325100" cy="267004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class BadCourse:</a:t>
            </a:r>
          </a:p>
          <a:p>
            <a:pPr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students = []</a:t>
            </a:r>
          </a:p>
          <a:p>
            <a:endParaRPr sz="1725" b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first = BadCourse()</a:t>
            </a:r>
          </a:p>
          <a:p>
            <a:pPr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second = BadCourse()</a:t>
            </a:r>
          </a:p>
          <a:p>
            <a:pPr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first.students.append("Олена")</a:t>
            </a:r>
          </a:p>
          <a:p>
            <a:pPr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print(first.students)</a:t>
            </a:r>
          </a:p>
          <a:p>
            <a:pPr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print(second.students)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1BFA1D3-F587-430B-AD85-F40D42E0819E}"/>
              </a:ext>
            </a:extLst>
          </p:cNvPr>
          <p:cNvSpPr>
            <a:spLocks noGrp="1"/>
          </p:cNvSpPr>
          <p:nvPr/>
        </p:nvSpPr>
        <p:spPr>
          <a:xfrm>
            <a:off x="723900" y="5391149"/>
            <a:ext cx="10744200" cy="619125"/>
          </a:xfrm>
          <a:prstGeom prst="roundRect">
            <a:avLst>
              <a:gd name="adj" fmla="val 13514"/>
            </a:avLst>
          </a:prstGeom>
          <a:solidFill>
            <a:srgbClr val="F4DFCA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19513A-4D26-41B8-B22A-28C1192A0A58}"/>
              </a:ext>
            </a:extLst>
          </p:cNvPr>
          <p:cNvSpPr>
            <a:spLocks noGrp="1"/>
          </p:cNvSpPr>
          <p:nvPr/>
        </p:nvSpPr>
        <p:spPr>
          <a:xfrm>
            <a:off x="933450" y="5534025"/>
            <a:ext cx="103251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83502C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00" b="0">
                <a:solidFill>
                  <a:srgbClr val="83502C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83502C"/>
                </a:solidFill>
                <a:latin typeface="Onest"/>
                <a:ea typeface="Onest"/>
                <a:cs typeface="Onest"/>
              </a:rPr>
              <a:t>Чому обидва рядки містять ['Олена']?</a:t>
            </a:r>
          </a:p>
        </p:txBody>
      </p:sp>
    </p:spTree>
    <p:extLst>
      <p:ext uri="{BB962C8B-B14F-4D97-AF65-F5344CB8AC3E}">
        <p14:creationId xmlns:p14="http://schemas.microsoft.com/office/powerpoint/2010/main" val="449243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383A681F-CAC3-4640-873A-87ADCE77FB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550" y="504825"/>
            <a:ext cx="514350" cy="5143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9E46078-7FD5-4D1C-863F-3BF6C0E69204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9763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192D3B"/>
                </a:solidFill>
                <a:latin typeface="Onest"/>
                <a:ea typeface="Onest"/>
                <a:cs typeface="Onest"/>
              </a:rPr>
              <a:t>Кожен курс має власний список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CF9000-A403-4755-8918-740419A07043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pPr>
            <a:r>
              <a:rPr sz="1050" b="0">
                <a:solidFill>
                  <a:srgbClr val="566A78"/>
                </a:solidFill>
                <a:latin typeface="Onest"/>
                <a:ea typeface="Onest"/>
                <a:cs typeface="Onest"/>
              </a:rPr>
              <a:t>14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235899-6AE7-4AC2-B365-174847F94AC7}"/>
              </a:ext>
            </a:extLst>
          </p:cNvPr>
          <p:cNvSpPr>
            <a:spLocks noGrp="1"/>
          </p:cNvSpPr>
          <p:nvPr/>
        </p:nvSpPr>
        <p:spPr>
          <a:xfrm>
            <a:off x="723900" y="1371600"/>
            <a:ext cx="10744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У Course.__init__ після self.title додайте: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9197B10-9D96-493F-A7E4-25C26374DC56}"/>
              </a:ext>
            </a:extLst>
          </p:cNvPr>
          <p:cNvSpPr>
            <a:spLocks noGrp="1"/>
          </p:cNvSpPr>
          <p:nvPr/>
        </p:nvSpPr>
        <p:spPr>
          <a:xfrm>
            <a:off x="723900" y="1876425"/>
            <a:ext cx="10744200" cy="752475"/>
          </a:xfrm>
          <a:prstGeom prst="roundRect">
            <a:avLst>
              <a:gd name="adj" fmla="val 12658"/>
            </a:avLst>
          </a:prstGeom>
          <a:solidFill>
            <a:srgbClr val="142C40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E04C99-CA34-4DED-94B8-A5EEC8E73A7A}"/>
              </a:ext>
            </a:extLst>
          </p:cNvPr>
          <p:cNvSpPr>
            <a:spLocks noGrp="1"/>
          </p:cNvSpPr>
          <p:nvPr/>
        </p:nvSpPr>
        <p:spPr>
          <a:xfrm>
            <a:off x="933450" y="2047875"/>
            <a:ext cx="103251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 self.students = []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0603FC-75D5-41C7-889A-6877E9267BF3}"/>
              </a:ext>
            </a:extLst>
          </p:cNvPr>
          <p:cNvSpPr>
            <a:spLocks noGrp="1"/>
          </p:cNvSpPr>
          <p:nvPr/>
        </p:nvSpPr>
        <p:spPr>
          <a:xfrm>
            <a:off x="723900" y="2943225"/>
            <a:ext cx="10744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У кінці model.py: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C14751C-3D49-4E0E-8734-4106550B5784}"/>
              </a:ext>
            </a:extLst>
          </p:cNvPr>
          <p:cNvSpPr>
            <a:spLocks noGrp="1"/>
          </p:cNvSpPr>
          <p:nvPr/>
        </p:nvSpPr>
        <p:spPr>
          <a:xfrm>
            <a:off x="723900" y="3467100"/>
            <a:ext cx="10744200" cy="1762125"/>
          </a:xfrm>
          <a:prstGeom prst="roundRect">
            <a:avLst>
              <a:gd name="adj" fmla="val 5405"/>
            </a:avLst>
          </a:prstGeom>
          <a:solidFill>
            <a:srgbClr val="142C40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802F82-1BB0-418A-BB23-433619E8969D}"/>
              </a:ext>
            </a:extLst>
          </p:cNvPr>
          <p:cNvSpPr>
            <a:spLocks noGrp="1"/>
          </p:cNvSpPr>
          <p:nvPr/>
        </p:nvSpPr>
        <p:spPr>
          <a:xfrm>
            <a:off x="933450" y="3638550"/>
            <a:ext cx="10325100" cy="1514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python_course.students.append(olena)</a:t>
            </a:r>
          </a:p>
          <a:p>
            <a:pPr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print(len(python_course.students))</a:t>
            </a:r>
          </a:p>
          <a:p>
            <a:pPr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print(len(django_course.students))</a:t>
            </a:r>
          </a:p>
          <a:p>
            <a:pPr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print(python_course.students[0].profile())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14A678C-F983-4EC9-91B9-EEEBB350D90F}"/>
              </a:ext>
            </a:extLst>
          </p:cNvPr>
          <p:cNvSpPr>
            <a:spLocks noGrp="1"/>
          </p:cNvSpPr>
          <p:nvPr/>
        </p:nvSpPr>
        <p:spPr>
          <a:xfrm>
            <a:off x="723900" y="5581650"/>
            <a:ext cx="10744200" cy="628650"/>
          </a:xfrm>
          <a:prstGeom prst="roundRect">
            <a:avLst>
              <a:gd name="adj" fmla="val 15152"/>
            </a:avLst>
          </a:prstGeom>
          <a:solidFill>
            <a:srgbClr val="E8F3ED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3160A4-DE1A-429D-AFF5-0E545E99E040}"/>
              </a:ext>
            </a:extLst>
          </p:cNvPr>
          <p:cNvSpPr>
            <a:spLocks noGrp="1"/>
          </p:cNvSpPr>
          <p:nvPr/>
        </p:nvSpPr>
        <p:spPr>
          <a:xfrm>
            <a:off x="933450" y="5724525"/>
            <a:ext cx="103251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00" b="0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800" b="0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1, 0, Олена &lt;</a:t>
            </a:r>
            <a:r>
              <a:rPr sz="1800" b="0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olena@example.com</a:t>
            </a:r>
            <a:r>
              <a:rPr sz="1800" b="0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&gt;.</a:t>
            </a:r>
          </a:p>
        </p:txBody>
      </p:sp>
    </p:spTree>
    <p:extLst>
      <p:ext uri="{BB962C8B-B14F-4D97-AF65-F5344CB8AC3E}">
        <p14:creationId xmlns:p14="http://schemas.microsoft.com/office/powerpoint/2010/main" val="499845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383A681F-CAC3-4640-873A-87ADCE77FB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550" y="504825"/>
            <a:ext cx="514350" cy="5143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3339106-D465-4BA4-A69C-57C4447676EC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9763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192D3B"/>
                </a:solidFill>
                <a:latin typeface="Onest"/>
                <a:ea typeface="Onest"/>
                <a:cs typeface="Onest"/>
              </a:rPr>
              <a:t>Об'єкти співпрацюють через зв'язок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421056-2F22-4649-AF7C-32B98E719666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pPr>
            <a:r>
              <a:rPr sz="1050" b="0">
                <a:solidFill>
                  <a:srgbClr val="566A78"/>
                </a:solidFill>
                <a:latin typeface="Onest"/>
                <a:ea typeface="Onest"/>
                <a:cs typeface="Onest"/>
              </a:rPr>
              <a:t>15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3FA276-AF6A-4DFF-AF89-378796871CFC}"/>
              </a:ext>
            </a:extLst>
          </p:cNvPr>
          <p:cNvSpPr>
            <a:spLocks noGrp="1"/>
          </p:cNvSpPr>
          <p:nvPr/>
        </p:nvSpPr>
        <p:spPr>
          <a:xfrm>
            <a:off x="723900" y="1381125"/>
            <a:ext cx="107442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2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2250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Курс зберігає посилання на об'єкти Student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3E31C02-9A6F-4EB6-928A-C68223402B62}"/>
              </a:ext>
            </a:extLst>
          </p:cNvPr>
          <p:cNvSpPr>
            <a:spLocks noGrp="1"/>
          </p:cNvSpPr>
          <p:nvPr/>
        </p:nvSpPr>
        <p:spPr>
          <a:xfrm>
            <a:off x="723900" y="2181225"/>
            <a:ext cx="5238750" cy="2724150"/>
          </a:xfrm>
          <a:prstGeom prst="roundRect">
            <a:avLst>
              <a:gd name="adj" fmla="val 3497"/>
            </a:avLst>
          </a:prstGeom>
          <a:solidFill>
            <a:srgbClr val="E8F3ED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FBC099-0A28-4553-927D-6AEF7F23D222}"/>
              </a:ext>
            </a:extLst>
          </p:cNvPr>
          <p:cNvSpPr>
            <a:spLocks noGrp="1"/>
          </p:cNvSpPr>
          <p:nvPr/>
        </p:nvSpPr>
        <p:spPr>
          <a:xfrm>
            <a:off x="723900" y="2181225"/>
            <a:ext cx="47625" cy="2724150"/>
          </a:xfrm>
          <a:prstGeom prst="rect">
            <a:avLst/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4FB798-E6E5-478E-B667-F52F31F9A8F0}"/>
              </a:ext>
            </a:extLst>
          </p:cNvPr>
          <p:cNvSpPr>
            <a:spLocks noGrp="1"/>
          </p:cNvSpPr>
          <p:nvPr/>
        </p:nvSpPr>
        <p:spPr>
          <a:xfrm>
            <a:off x="952500" y="2362200"/>
            <a:ext cx="47815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Список учасників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75F38A-2FDA-4351-8BC7-F2B4906F7418}"/>
              </a:ext>
            </a:extLst>
          </p:cNvPr>
          <p:cNvSpPr>
            <a:spLocks noGrp="1"/>
          </p:cNvSpPr>
          <p:nvPr/>
        </p:nvSpPr>
        <p:spPr>
          <a:xfrm>
            <a:off x="952500" y="2895600"/>
            <a:ext cx="4781550" cy="3417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95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Містить студентів,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ACDDFC-9745-47AA-9C6E-AC46A5FFA98C}"/>
              </a:ext>
            </a:extLst>
          </p:cNvPr>
          <p:cNvSpPr>
            <a:spLocks noGrp="1"/>
          </p:cNvSpPr>
          <p:nvPr/>
        </p:nvSpPr>
        <p:spPr>
          <a:xfrm>
            <a:off x="952500" y="3332607"/>
            <a:ext cx="4781550" cy="3417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95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а не лише їхні імена.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DF37EB-09AB-4FF1-9F36-BBEECAB155F0}"/>
              </a:ext>
            </a:extLst>
          </p:cNvPr>
          <p:cNvSpPr>
            <a:spLocks noGrp="1"/>
          </p:cNvSpPr>
          <p:nvPr/>
        </p:nvSpPr>
        <p:spPr>
          <a:xfrm>
            <a:off x="952500" y="3769614"/>
            <a:ext cx="4781550" cy="3417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95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Через учасника доступний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587DAE-A5EC-4E7B-9BF5-F0E4203C68C9}"/>
              </a:ext>
            </a:extLst>
          </p:cNvPr>
          <p:cNvSpPr>
            <a:spLocks noGrp="1"/>
          </p:cNvSpPr>
          <p:nvPr/>
        </p:nvSpPr>
        <p:spPr>
          <a:xfrm>
            <a:off x="952500" y="4206621"/>
            <a:ext cx="4781550" cy="3417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95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його profile().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B4AA3D1-06FE-4A81-9918-08C2CC253A6F}"/>
              </a:ext>
            </a:extLst>
          </p:cNvPr>
          <p:cNvSpPr>
            <a:spLocks noGrp="1"/>
          </p:cNvSpPr>
          <p:nvPr/>
        </p:nvSpPr>
        <p:spPr>
          <a:xfrm>
            <a:off x="6229350" y="2181225"/>
            <a:ext cx="5238750" cy="2724150"/>
          </a:xfrm>
          <a:prstGeom prst="roundRect">
            <a:avLst>
              <a:gd name="adj" fmla="val 3497"/>
            </a:avLst>
          </a:prstGeom>
          <a:solidFill>
            <a:srgbClr val="E7F5FA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093DA9-2F69-449E-AC1C-7252E9F72DFA}"/>
              </a:ext>
            </a:extLst>
          </p:cNvPr>
          <p:cNvSpPr>
            <a:spLocks noGrp="1"/>
          </p:cNvSpPr>
          <p:nvPr/>
        </p:nvSpPr>
        <p:spPr>
          <a:xfrm>
            <a:off x="6229350" y="2181225"/>
            <a:ext cx="47625" cy="2724150"/>
          </a:xfrm>
          <a:prstGeom prst="rect">
            <a:avLst/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A0F2FC-0D51-4DEE-805C-A3E7C601722B}"/>
              </a:ext>
            </a:extLst>
          </p:cNvPr>
          <p:cNvSpPr>
            <a:spLocks noGrp="1"/>
          </p:cNvSpPr>
          <p:nvPr/>
        </p:nvSpPr>
        <p:spPr>
          <a:xfrm>
            <a:off x="6457950" y="2362200"/>
            <a:ext cx="47815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Спільний студент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D4A308-90B8-4E80-86BF-4CABAD446AE0}"/>
              </a:ext>
            </a:extLst>
          </p:cNvPr>
          <p:cNvSpPr>
            <a:spLocks noGrp="1"/>
          </p:cNvSpPr>
          <p:nvPr/>
        </p:nvSpPr>
        <p:spPr>
          <a:xfrm>
            <a:off x="6457950" y="2895600"/>
            <a:ext cx="4781550" cy="3417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95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Один Student може бути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8B32FF4-116A-47DE-B6E7-83690A3F5998}"/>
              </a:ext>
            </a:extLst>
          </p:cNvPr>
          <p:cNvSpPr>
            <a:spLocks noGrp="1"/>
          </p:cNvSpPr>
          <p:nvPr/>
        </p:nvSpPr>
        <p:spPr>
          <a:xfrm>
            <a:off x="6457950" y="3332607"/>
            <a:ext cx="4781550" cy="3417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95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учасником двох курсів.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6052EE-3D14-4B94-8E7F-40EFF69D4C99}"/>
              </a:ext>
            </a:extLst>
          </p:cNvPr>
          <p:cNvSpPr>
            <a:spLocks noGrp="1"/>
          </p:cNvSpPr>
          <p:nvPr/>
        </p:nvSpPr>
        <p:spPr>
          <a:xfrm>
            <a:off x="6457950" y="3769614"/>
            <a:ext cx="4781550" cy="3417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95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Два окремі списки можуть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691180-1153-45EF-870B-6F2027C5ED18}"/>
              </a:ext>
            </a:extLst>
          </p:cNvPr>
          <p:cNvSpPr>
            <a:spLocks noGrp="1"/>
          </p:cNvSpPr>
          <p:nvPr/>
        </p:nvSpPr>
        <p:spPr>
          <a:xfrm>
            <a:off x="6457950" y="4206621"/>
            <a:ext cx="4781550" cy="3417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95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посилатися на нього.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47ECC503-ADC2-4689-8D77-1CF31C61193D}"/>
              </a:ext>
            </a:extLst>
          </p:cNvPr>
          <p:cNvSpPr>
            <a:spLocks noGrp="1"/>
          </p:cNvSpPr>
          <p:nvPr/>
        </p:nvSpPr>
        <p:spPr>
          <a:xfrm>
            <a:off x="723900" y="5324475"/>
            <a:ext cx="10744200" cy="628650"/>
          </a:xfrm>
          <a:prstGeom prst="roundRect">
            <a:avLst>
              <a:gd name="adj" fmla="val 13333"/>
            </a:avLst>
          </a:prstGeom>
          <a:solidFill>
            <a:srgbClr val="FBF3E8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88495F-0805-4D9A-A40C-EB37C862219A}"/>
              </a:ext>
            </a:extLst>
          </p:cNvPr>
          <p:cNvSpPr>
            <a:spLocks noGrp="1"/>
          </p:cNvSpPr>
          <p:nvPr/>
        </p:nvSpPr>
        <p:spPr>
          <a:xfrm>
            <a:off x="933450" y="5467350"/>
            <a:ext cx="103251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Окремі списки не означають копії всіх об'єктів.</a:t>
            </a:r>
          </a:p>
        </p:txBody>
      </p:sp>
    </p:spTree>
    <p:extLst>
      <p:ext uri="{BB962C8B-B14F-4D97-AF65-F5344CB8AC3E}">
        <p14:creationId xmlns:p14="http://schemas.microsoft.com/office/powerpoint/2010/main" val="4998451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D2AE6C1-F612-48E7-97CE-DDC82AEBFE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550" y="504825"/>
            <a:ext cx="514350" cy="5143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DB3014B-82F0-4B4C-AAEB-B9EBDAC0C289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9763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192D3B"/>
                </a:solidFill>
                <a:latin typeface="Onest"/>
                <a:ea typeface="Onest"/>
                <a:cs typeface="Onest"/>
              </a:rPr>
              <a:t>Записуємо студента методом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8AAD4B-9B84-4439-98EF-C31C41EFEDA4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pPr>
            <a:r>
              <a:rPr sz="1050" b="0">
                <a:solidFill>
                  <a:srgbClr val="566A78"/>
                </a:solidFill>
                <a:latin typeface="Onest"/>
                <a:ea typeface="Onest"/>
                <a:cs typeface="Onest"/>
              </a:rPr>
              <a:t>16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02196A-B736-4F58-9A4E-62A6E9C16FA9}"/>
              </a:ext>
            </a:extLst>
          </p:cNvPr>
          <p:cNvSpPr>
            <a:spLocks noGrp="1"/>
          </p:cNvSpPr>
          <p:nvPr/>
        </p:nvSpPr>
        <p:spPr>
          <a:xfrm>
            <a:off x="723900" y="1381125"/>
            <a:ext cx="10744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У Course після label додайте: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64EA4FA-CAB6-496E-AAA6-DAA22D653B0E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7239000" cy="3209925"/>
          </a:xfrm>
          <a:prstGeom prst="roundRect">
            <a:avLst>
              <a:gd name="adj" fmla="val 2967"/>
            </a:avLst>
          </a:prstGeom>
          <a:solidFill>
            <a:srgbClr val="142C40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4D2E48-C599-4E86-A12B-A26F34DC89EA}"/>
              </a:ext>
            </a:extLst>
          </p:cNvPr>
          <p:cNvSpPr>
            <a:spLocks noGrp="1"/>
          </p:cNvSpPr>
          <p:nvPr/>
        </p:nvSpPr>
        <p:spPr>
          <a:xfrm>
            <a:off x="933450" y="2114550"/>
            <a:ext cx="6819900" cy="2962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def enroll(self, student):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 if student in self.students: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     return False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 self.students.append(student)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 return True</a:t>
            </a:r>
          </a:p>
          <a:p>
            <a:endParaRPr sz="1650" b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def student_count(self):</a:t>
            </a:r>
          </a:p>
          <a:p>
            <a:pPr>
              <a:lnSpc>
                <a:spcPct val="105000"/>
              </a:lnSpc>
              <a:buNone/>
              <a:defRPr sz="165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650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 return len(self.students)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9ABF52D-1DEB-45F1-A934-4A145799821A}"/>
              </a:ext>
            </a:extLst>
          </p:cNvPr>
          <p:cNvSpPr>
            <a:spLocks noGrp="1"/>
          </p:cNvSpPr>
          <p:nvPr/>
        </p:nvSpPr>
        <p:spPr>
          <a:xfrm>
            <a:off x="8258175" y="1943100"/>
            <a:ext cx="3209925" cy="2381250"/>
          </a:xfrm>
          <a:prstGeom prst="roundRect">
            <a:avLst>
              <a:gd name="adj" fmla="val 4000"/>
            </a:avLst>
          </a:prstGeom>
          <a:solidFill>
            <a:srgbClr val="E8F3ED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3614B6-3010-4C70-9EE1-95E0F14373A3}"/>
              </a:ext>
            </a:extLst>
          </p:cNvPr>
          <p:cNvSpPr>
            <a:spLocks noGrp="1"/>
          </p:cNvSpPr>
          <p:nvPr/>
        </p:nvSpPr>
        <p:spPr>
          <a:xfrm>
            <a:off x="8258175" y="1943100"/>
            <a:ext cx="47625" cy="2381250"/>
          </a:xfrm>
          <a:prstGeom prst="rect">
            <a:avLst/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2C1B7A-98AB-4B4C-9E1C-3FE2AAC5991B}"/>
              </a:ext>
            </a:extLst>
          </p:cNvPr>
          <p:cNvSpPr>
            <a:spLocks noGrp="1"/>
          </p:cNvSpPr>
          <p:nvPr/>
        </p:nvSpPr>
        <p:spPr>
          <a:xfrm>
            <a:off x="8486775" y="2124075"/>
            <a:ext cx="27527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enroll(student)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1D61F5-5AA4-40A5-8EC7-9C36D17D7A40}"/>
              </a:ext>
            </a:extLst>
          </p:cNvPr>
          <p:cNvSpPr>
            <a:spLocks noGrp="1"/>
          </p:cNvSpPr>
          <p:nvPr/>
        </p:nvSpPr>
        <p:spPr>
          <a:xfrm>
            <a:off x="8486775" y="2657475"/>
            <a:ext cx="2752725" cy="28917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65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65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True: додали студента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475794-A030-4CDA-A7B4-A0566D3FD477}"/>
              </a:ext>
            </a:extLst>
          </p:cNvPr>
          <p:cNvSpPr>
            <a:spLocks noGrp="1"/>
          </p:cNvSpPr>
          <p:nvPr/>
        </p:nvSpPr>
        <p:spPr>
          <a:xfrm>
            <a:off x="8486775" y="3041904"/>
            <a:ext cx="2752725" cy="57835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65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65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False: той самий Student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666DF6-5548-4945-BA87-2570A5BF1B04}"/>
              </a:ext>
            </a:extLst>
          </p:cNvPr>
          <p:cNvSpPr>
            <a:spLocks noGrp="1"/>
          </p:cNvSpPr>
          <p:nvPr/>
        </p:nvSpPr>
        <p:spPr>
          <a:xfrm>
            <a:off x="8486775" y="3715512"/>
            <a:ext cx="2752725" cy="28917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65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65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уже є у списку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2E6E61-560E-4DFC-A4A6-58D4ECFC989A}"/>
              </a:ext>
            </a:extLst>
          </p:cNvPr>
          <p:cNvSpPr>
            <a:spLocks noGrp="1"/>
          </p:cNvSpPr>
          <p:nvPr/>
        </p:nvSpPr>
        <p:spPr>
          <a:xfrm>
            <a:off x="8448675" y="4543425"/>
            <a:ext cx="28289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6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6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650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student_count():</a:t>
            </a:r>
          </a:p>
          <a:p>
            <a:pPr>
              <a:lnSpc>
                <a:spcPct val="105000"/>
              </a:lnSpc>
              <a:buNone/>
              <a:defRPr sz="16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650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кількість учасників курсу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8893975-7997-4779-8E25-A9F1960D013C}"/>
              </a:ext>
            </a:extLst>
          </p:cNvPr>
          <p:cNvSpPr>
            <a:spLocks noGrp="1"/>
          </p:cNvSpPr>
          <p:nvPr/>
        </p:nvSpPr>
        <p:spPr>
          <a:xfrm>
            <a:off x="723900" y="5495925"/>
            <a:ext cx="10744200" cy="62865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379369-84E4-4FD7-96F4-00CF627E1426}"/>
              </a:ext>
            </a:extLst>
          </p:cNvPr>
          <p:cNvSpPr>
            <a:spLocks noGrp="1"/>
          </p:cNvSpPr>
          <p:nvPr/>
        </p:nvSpPr>
        <p:spPr>
          <a:xfrm>
            <a:off x="933450" y="5638800"/>
            <a:ext cx="103251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00" b="0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B6C57"/>
                </a:solidFill>
                <a:latin typeface="Onest"/>
                <a:ea typeface="Onest"/>
                <a:cs typeface="Onest"/>
              </a:rPr>
              <a:t>Повторний запис того самого Student повертає False.</a:t>
            </a:r>
          </a:p>
        </p:txBody>
      </p:sp>
    </p:spTree>
    <p:extLst>
      <p:ext uri="{BB962C8B-B14F-4D97-AF65-F5344CB8AC3E}">
        <p14:creationId xmlns:p14="http://schemas.microsoft.com/office/powerpoint/2010/main" val="1042594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C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6FBED9DA-7719-47C7-8D5A-9BFE09190A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550" y="504825"/>
            <a:ext cx="514350" cy="51435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D54A37A-A310-4839-ACF9-130126225843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91D6B5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050" b="0">
                <a:solidFill>
                  <a:srgbClr val="91D6B5"/>
                </a:solidFill>
                <a:latin typeface="Onest"/>
                <a:ea typeface="Onest"/>
                <a:cs typeface="Onest"/>
              </a:defRPr>
            </a:pPr>
            <a:r>
              <a:rPr sz="1050" b="0">
                <a:solidFill>
                  <a:srgbClr val="91D6B5"/>
                </a:solidFill>
                <a:latin typeface="Onest"/>
                <a:ea typeface="Onest"/>
                <a:cs typeface="Onest"/>
              </a:rPr>
              <a:t>17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D682A2-3625-4DF9-BFF1-B7E0B150CF61}"/>
              </a:ext>
            </a:extLst>
          </p:cNvPr>
          <p:cNvSpPr>
            <a:spLocks noGrp="1"/>
          </p:cNvSpPr>
          <p:nvPr/>
        </p:nvSpPr>
        <p:spPr>
          <a:xfrm>
            <a:off x="723900" y="1733387"/>
            <a:ext cx="5905500" cy="36804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FFFFFF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defRPr sz="2100" b="0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2100" b="0" dirty="0" err="1">
                <a:solidFill>
                  <a:srgbClr val="FFFFFF"/>
                </a:solidFill>
                <a:latin typeface="Onest"/>
                <a:ea typeface="Onest"/>
                <a:cs typeface="Onest"/>
              </a:rPr>
              <a:t>Чим</a:t>
            </a:r>
            <a:r>
              <a:rPr sz="2100" b="0" dirty="0">
                <a:solidFill>
                  <a:srgbClr val="FFFFFF"/>
                </a:solidFill>
                <a:latin typeface="Onest"/>
                <a:ea typeface="Onest"/>
                <a:cs typeface="Onest"/>
              </a:rPr>
              <a:t> Course </a:t>
            </a:r>
            <a:r>
              <a:rPr sz="2100" b="0" dirty="0" err="1">
                <a:solidFill>
                  <a:srgbClr val="FFFFFF"/>
                </a:solidFill>
                <a:latin typeface="Onest"/>
                <a:ea typeface="Onest"/>
                <a:cs typeface="Onest"/>
              </a:rPr>
              <a:t>відрізняється</a:t>
            </a:r>
            <a:r>
              <a:rPr lang="uk-UA" sz="2100" b="0" dirty="0">
                <a:solidFill>
                  <a:srgbClr val="FFFFFF"/>
                </a:solidFill>
                <a:latin typeface="Onest"/>
                <a:ea typeface="Onest"/>
                <a:cs typeface="Onest"/>
              </a:rPr>
              <a:t> </a:t>
            </a:r>
            <a:r>
              <a:rPr lang="ru-RU" sz="2100" dirty="0" err="1">
                <a:solidFill>
                  <a:srgbClr val="FFFFFF"/>
                </a:solidFill>
                <a:latin typeface="Onest"/>
                <a:ea typeface="Onest"/>
                <a:cs typeface="Onest"/>
              </a:rPr>
              <a:t>від</a:t>
            </a:r>
            <a:r>
              <a:rPr lang="ru-RU" sz="2100" dirty="0">
                <a:solidFill>
                  <a:srgbClr val="FFFFFF"/>
                </a:solidFill>
                <a:latin typeface="Onest"/>
                <a:ea typeface="Onest"/>
                <a:cs typeface="Onest"/>
              </a:rPr>
              <a:t> </a:t>
            </a:r>
            <a:r>
              <a:rPr lang="en-US" sz="2100" dirty="0">
                <a:solidFill>
                  <a:srgbClr val="FFFFFF"/>
                </a:solidFill>
                <a:latin typeface="Onest"/>
                <a:ea typeface="Onest"/>
                <a:cs typeface="Onest"/>
              </a:rPr>
              <a:t>Course("Python")?</a:t>
            </a:r>
          </a:p>
          <a:p>
            <a:pPr>
              <a:lnSpc>
                <a:spcPct val="105000"/>
              </a:lnSpc>
              <a:buNone/>
              <a:defRPr sz="2100" b="0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endParaRPr sz="2100" b="0" dirty="0">
              <a:solidFill>
                <a:srgbClr val="FFFFFF"/>
              </a:solidFill>
              <a:latin typeface="Onest"/>
              <a:ea typeface="Onest"/>
              <a:cs typeface="Ones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A0F7AA-BE9E-4188-ABE5-7956CD34451E}"/>
              </a:ext>
            </a:extLst>
          </p:cNvPr>
          <p:cNvSpPr>
            <a:spLocks noGrp="1"/>
          </p:cNvSpPr>
          <p:nvPr/>
        </p:nvSpPr>
        <p:spPr>
          <a:xfrm>
            <a:off x="723900" y="1760247"/>
            <a:ext cx="5905500" cy="36804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FFFFFF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100" b="0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endParaRPr sz="2100" b="0" dirty="0">
              <a:solidFill>
                <a:srgbClr val="FFFFFF"/>
              </a:solidFill>
              <a:latin typeface="Onest"/>
              <a:ea typeface="Onest"/>
              <a:cs typeface="Ones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714AF79-628C-4EC7-ACBC-A1BFA1CDB48F}"/>
              </a:ext>
            </a:extLst>
          </p:cNvPr>
          <p:cNvSpPr>
            <a:spLocks noGrp="1"/>
          </p:cNvSpPr>
          <p:nvPr/>
        </p:nvSpPr>
        <p:spPr>
          <a:xfrm>
            <a:off x="723900" y="2252118"/>
            <a:ext cx="5905500" cy="36804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FFFFFF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100" b="0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2100" b="0">
                <a:solidFill>
                  <a:srgbClr val="FFFFFF"/>
                </a:solidFill>
                <a:latin typeface="Onest"/>
                <a:ea typeface="Onest"/>
                <a:cs typeface="Onest"/>
              </a:rPr>
              <a:t>Де зберігається name після __init__?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65402F-1562-4F29-A5A0-E2D477BAD9E4}"/>
              </a:ext>
            </a:extLst>
          </p:cNvPr>
          <p:cNvSpPr>
            <a:spLocks noGrp="1"/>
          </p:cNvSpPr>
          <p:nvPr/>
        </p:nvSpPr>
        <p:spPr>
          <a:xfrm>
            <a:off x="723900" y="2786444"/>
            <a:ext cx="5905500" cy="36804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FFFFFF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100" b="0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2100" b="0" dirty="0" err="1">
                <a:solidFill>
                  <a:srgbClr val="FFFFFF"/>
                </a:solidFill>
                <a:latin typeface="Onest"/>
                <a:ea typeface="Onest"/>
                <a:cs typeface="Onest"/>
              </a:rPr>
              <a:t>Чому</a:t>
            </a:r>
            <a:r>
              <a:rPr sz="2100" b="0" dirty="0">
                <a:solidFill>
                  <a:srgbClr val="FFFFFF"/>
                </a:solidFill>
                <a:latin typeface="Onest"/>
                <a:ea typeface="Onest"/>
                <a:cs typeface="Onest"/>
              </a:rPr>
              <a:t> profile() </a:t>
            </a:r>
            <a:r>
              <a:rPr sz="2100" b="0" dirty="0" err="1">
                <a:solidFill>
                  <a:srgbClr val="FFFFFF"/>
                </a:solidFill>
                <a:latin typeface="Onest"/>
                <a:ea typeface="Onest"/>
                <a:cs typeface="Onest"/>
              </a:rPr>
              <a:t>потребує</a:t>
            </a:r>
            <a:r>
              <a:rPr sz="2100" b="0" dirty="0">
                <a:solidFill>
                  <a:srgbClr val="FFFFFF"/>
                </a:solidFill>
                <a:latin typeface="Onest"/>
                <a:ea typeface="Onest"/>
                <a:cs typeface="Onest"/>
              </a:rPr>
              <a:t> self?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65BAAB1-9918-4D84-9686-C0B7116A4370}"/>
              </a:ext>
            </a:extLst>
          </p:cNvPr>
          <p:cNvSpPr>
            <a:spLocks noGrp="1"/>
          </p:cNvSpPr>
          <p:nvPr/>
        </p:nvSpPr>
        <p:spPr>
          <a:xfrm>
            <a:off x="723900" y="5657850"/>
            <a:ext cx="107442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91D6B5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100" b="0">
                <a:solidFill>
                  <a:srgbClr val="91D6B5"/>
                </a:solidFill>
                <a:latin typeface="Onest"/>
                <a:ea typeface="Onest"/>
                <a:cs typeface="Onest"/>
              </a:defRPr>
            </a:pPr>
            <a:r>
              <a:rPr lang="uk-UA" sz="2100" dirty="0">
                <a:solidFill>
                  <a:srgbClr val="91D6B5"/>
                </a:solidFill>
                <a:latin typeface="Onest"/>
                <a:ea typeface="Onest"/>
                <a:cs typeface="Onest"/>
              </a:rPr>
              <a:t>Далі</a:t>
            </a:r>
            <a:r>
              <a:rPr sz="2100" b="0" dirty="0">
                <a:solidFill>
                  <a:srgbClr val="91D6B5"/>
                </a:solidFill>
                <a:latin typeface="Onest"/>
                <a:ea typeface="Onest"/>
                <a:cs typeface="Onest"/>
              </a:rPr>
              <a:t>: </a:t>
            </a:r>
            <a:r>
              <a:rPr sz="2100" b="0" dirty="0" err="1">
                <a:solidFill>
                  <a:srgbClr val="91D6B5"/>
                </a:solidFill>
                <a:latin typeface="Onest"/>
                <a:ea typeface="Onest"/>
                <a:cs typeface="Onest"/>
              </a:rPr>
              <a:t>сценарії</a:t>
            </a:r>
            <a:r>
              <a:rPr sz="2100" b="0" dirty="0">
                <a:solidFill>
                  <a:srgbClr val="91D6B5"/>
                </a:solidFill>
                <a:latin typeface="Onest"/>
                <a:ea typeface="Onest"/>
                <a:cs typeface="Onest"/>
              </a:rPr>
              <a:t> </a:t>
            </a:r>
            <a:r>
              <a:rPr sz="2100" b="0" dirty="0" err="1">
                <a:solidFill>
                  <a:srgbClr val="91D6B5"/>
                </a:solidFill>
                <a:latin typeface="Onest"/>
                <a:ea typeface="Onest"/>
                <a:cs typeface="Onest"/>
              </a:rPr>
              <a:t>запису</a:t>
            </a:r>
            <a:r>
              <a:rPr sz="2100" b="0" dirty="0">
                <a:solidFill>
                  <a:srgbClr val="91D6B5"/>
                </a:solidFill>
                <a:latin typeface="Onest"/>
                <a:ea typeface="Onest"/>
                <a:cs typeface="Onest"/>
              </a:rPr>
              <a:t> та </a:t>
            </a:r>
            <a:r>
              <a:rPr sz="2100" b="0" dirty="0" err="1">
                <a:solidFill>
                  <a:srgbClr val="91D6B5"/>
                </a:solidFill>
                <a:latin typeface="Onest"/>
                <a:ea typeface="Onest"/>
                <a:cs typeface="Onest"/>
              </a:rPr>
              <a:t>незалежність</a:t>
            </a:r>
            <a:r>
              <a:rPr sz="2100" b="0" dirty="0">
                <a:solidFill>
                  <a:srgbClr val="91D6B5"/>
                </a:solidFill>
                <a:latin typeface="Onest"/>
                <a:ea typeface="Onest"/>
                <a:cs typeface="Onest"/>
              </a:rPr>
              <a:t> </a:t>
            </a:r>
            <a:r>
              <a:rPr sz="2100" b="0" dirty="0" err="1">
                <a:solidFill>
                  <a:srgbClr val="91D6B5"/>
                </a:solidFill>
                <a:latin typeface="Onest"/>
                <a:ea typeface="Onest"/>
                <a:cs typeface="Onest"/>
              </a:rPr>
              <a:t>курсів</a:t>
            </a:r>
            <a:endParaRPr sz="2100" b="0" dirty="0">
              <a:solidFill>
                <a:srgbClr val="91D6B5"/>
              </a:solidFill>
              <a:latin typeface="Onest"/>
              <a:ea typeface="Onest"/>
              <a:cs typeface="Onest"/>
            </a:endParaRPr>
          </a:p>
        </p:txBody>
      </p:sp>
    </p:spTree>
    <p:extLst>
      <p:ext uri="{BB962C8B-B14F-4D97-AF65-F5344CB8AC3E}">
        <p14:creationId xmlns:p14="http://schemas.microsoft.com/office/powerpoint/2010/main" val="924175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6FBED9DA-7719-47C7-8D5A-9BFE09190A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550" y="504825"/>
            <a:ext cx="514350" cy="51435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48195EF-8D03-465F-BAD5-703CAB9A32C1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9763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192D3B"/>
                </a:solidFill>
                <a:latin typeface="Onest"/>
                <a:ea typeface="Onest"/>
                <a:cs typeface="Onest"/>
              </a:rPr>
              <a:t>Три сценарії для двох курсів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7010A3-29FC-46C0-B315-74DD30398263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pPr>
            <a:r>
              <a:rPr sz="1050" b="0">
                <a:solidFill>
                  <a:srgbClr val="566A78"/>
                </a:solidFill>
                <a:latin typeface="Onest"/>
                <a:ea typeface="Onest"/>
                <a:cs typeface="Onest"/>
              </a:rPr>
              <a:t>19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E9C63F-49B6-4B4A-8022-73C9C5B49E24}"/>
              </a:ext>
            </a:extLst>
          </p:cNvPr>
          <p:cNvSpPr>
            <a:spLocks noGrp="1"/>
          </p:cNvSpPr>
          <p:nvPr/>
        </p:nvSpPr>
        <p:spPr>
          <a:xfrm>
            <a:off x="723900" y="1390650"/>
            <a:ext cx="10744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Замініть весь блок створення об'єктів і print у model.py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23DFA35-4CCA-4BB1-81B7-195219DA7171}"/>
              </a:ext>
            </a:extLst>
          </p:cNvPr>
          <p:cNvSpPr>
            <a:spLocks noGrp="1"/>
          </p:cNvSpPr>
          <p:nvPr/>
        </p:nvSpPr>
        <p:spPr>
          <a:xfrm>
            <a:off x="723900" y="1981199"/>
            <a:ext cx="8143875" cy="3632791"/>
          </a:xfrm>
          <a:prstGeom prst="roundRect">
            <a:avLst>
              <a:gd name="adj" fmla="val 2882"/>
            </a:avLst>
          </a:prstGeom>
          <a:solidFill>
            <a:srgbClr val="142C40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30F8DEA-6A05-429E-AE6F-192E60F2F09A}"/>
              </a:ext>
            </a:extLst>
          </p:cNvPr>
          <p:cNvSpPr>
            <a:spLocks noGrp="1"/>
          </p:cNvSpPr>
          <p:nvPr/>
        </p:nvSpPr>
        <p:spPr>
          <a:xfrm>
            <a:off x="933450" y="2152650"/>
            <a:ext cx="7724775" cy="3057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olena</a:t>
            </a:r>
            <a:r>
              <a:rPr sz="1575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= Student("Олена", "</a:t>
            </a:r>
            <a:r>
              <a:rPr sz="1575" b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olena@example.com</a:t>
            </a:r>
            <a:r>
              <a:rPr sz="1575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")</a:t>
            </a:r>
          </a:p>
          <a:p>
            <a:pPr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ivan</a:t>
            </a:r>
            <a:r>
              <a:rPr sz="1575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= Student("</a:t>
            </a:r>
            <a:r>
              <a:rPr sz="1575" b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Іван</a:t>
            </a:r>
            <a:r>
              <a:rPr sz="1575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", "</a:t>
            </a:r>
            <a:r>
              <a:rPr sz="1575" b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ivan@example.com</a:t>
            </a:r>
            <a:r>
              <a:rPr sz="1575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")</a:t>
            </a:r>
            <a:endParaRPr lang="uk-UA" sz="1575" b="0" dirty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endParaRPr sz="1575" b="0" dirty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python_course</a:t>
            </a:r>
            <a:r>
              <a:rPr sz="1575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= Course("Python")</a:t>
            </a:r>
          </a:p>
          <a:p>
            <a:pPr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django_course</a:t>
            </a:r>
            <a:r>
              <a:rPr sz="1575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= Course("Django")</a:t>
            </a:r>
            <a:endParaRPr lang="uk-UA" sz="1575" b="0" dirty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endParaRPr sz="1575" b="0" dirty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print(</a:t>
            </a:r>
            <a:r>
              <a:rPr sz="1575" b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python_course.student_count</a:t>
            </a:r>
            <a:r>
              <a:rPr sz="1575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())</a:t>
            </a:r>
            <a:endParaRPr lang="uk-UA" sz="1575" b="0" dirty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endParaRPr sz="1575" b="0" dirty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print(</a:t>
            </a:r>
            <a:r>
              <a:rPr sz="1575" b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python_course.enroll</a:t>
            </a:r>
            <a:r>
              <a:rPr sz="1575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575" b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olena</a:t>
            </a:r>
            <a:r>
              <a:rPr sz="1575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))</a:t>
            </a:r>
          </a:p>
          <a:p>
            <a:pPr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print(</a:t>
            </a:r>
            <a:r>
              <a:rPr sz="1575" b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python_course.enroll</a:t>
            </a:r>
            <a:r>
              <a:rPr sz="1575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(</a:t>
            </a:r>
            <a:r>
              <a:rPr sz="1575" b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olena</a:t>
            </a:r>
            <a:r>
              <a:rPr sz="1575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))</a:t>
            </a:r>
            <a:endParaRPr lang="uk-UA" sz="1575" b="0" dirty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endParaRPr sz="1575" b="0" dirty="0">
              <a:solidFill>
                <a:srgbClr val="FFFFFF"/>
              </a:solidFill>
              <a:latin typeface="Courier New"/>
              <a:ea typeface="Courier New"/>
              <a:cs typeface="Courier New"/>
            </a:endParaRPr>
          </a:p>
          <a:p>
            <a:pPr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print(</a:t>
            </a:r>
            <a:r>
              <a:rPr sz="1575" b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python_course.student_count</a:t>
            </a:r>
            <a:r>
              <a:rPr sz="1575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())</a:t>
            </a:r>
          </a:p>
          <a:p>
            <a:pPr>
              <a:lnSpc>
                <a:spcPct val="105000"/>
              </a:lnSpc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75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print(</a:t>
            </a:r>
            <a:r>
              <a:rPr sz="1575" b="0" dirty="0" err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django_course.student_count</a:t>
            </a:r>
            <a:r>
              <a:rPr sz="1575" b="0" dirty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())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DC9E729-AD5A-464E-A5AA-1CD072857D32}"/>
              </a:ext>
            </a:extLst>
          </p:cNvPr>
          <p:cNvSpPr>
            <a:spLocks noGrp="1"/>
          </p:cNvSpPr>
          <p:nvPr/>
        </p:nvSpPr>
        <p:spPr>
          <a:xfrm>
            <a:off x="9172575" y="1981200"/>
            <a:ext cx="2295525" cy="3305175"/>
          </a:xfrm>
          <a:prstGeom prst="roundRect">
            <a:avLst>
              <a:gd name="adj" fmla="val 4149"/>
            </a:avLst>
          </a:prstGeom>
          <a:solidFill>
            <a:srgbClr val="E8F3ED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467333-EB8F-467C-AAD7-B6401EB54C1E}"/>
              </a:ext>
            </a:extLst>
          </p:cNvPr>
          <p:cNvSpPr>
            <a:spLocks noGrp="1"/>
          </p:cNvSpPr>
          <p:nvPr/>
        </p:nvSpPr>
        <p:spPr>
          <a:xfrm>
            <a:off x="9172575" y="1981200"/>
            <a:ext cx="47625" cy="3305175"/>
          </a:xfrm>
          <a:prstGeom prst="rect">
            <a:avLst/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E975DE-EB6E-4B45-B20C-0F46F4CE50EE}"/>
              </a:ext>
            </a:extLst>
          </p:cNvPr>
          <p:cNvSpPr>
            <a:spLocks noGrp="1"/>
          </p:cNvSpPr>
          <p:nvPr/>
        </p:nvSpPr>
        <p:spPr>
          <a:xfrm>
            <a:off x="9401175" y="2162175"/>
            <a:ext cx="18383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lang="uk-UA" sz="1950" b="1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В</a:t>
            </a:r>
            <a:r>
              <a:rPr sz="1950" b="1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ивід</a:t>
            </a:r>
            <a:endParaRPr sz="1950" b="1" dirty="0">
              <a:solidFill>
                <a:srgbClr val="1B6C57"/>
              </a:solidFill>
              <a:latin typeface="Onest"/>
              <a:ea typeface="Onest"/>
              <a:cs typeface="Ones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784C19-9D55-4645-913D-F2AAF519977A}"/>
              </a:ext>
            </a:extLst>
          </p:cNvPr>
          <p:cNvSpPr>
            <a:spLocks noGrp="1"/>
          </p:cNvSpPr>
          <p:nvPr/>
        </p:nvSpPr>
        <p:spPr>
          <a:xfrm>
            <a:off x="9401175" y="2695575"/>
            <a:ext cx="1838325" cy="35490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0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02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B9D122E-79E3-49F4-AB18-E504FF8FC5DF}"/>
              </a:ext>
            </a:extLst>
          </p:cNvPr>
          <p:cNvSpPr>
            <a:spLocks noGrp="1"/>
          </p:cNvSpPr>
          <p:nvPr/>
        </p:nvSpPr>
        <p:spPr>
          <a:xfrm>
            <a:off x="9401175" y="3145727"/>
            <a:ext cx="1838325" cy="35490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0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02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True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CC8EC38-D55C-40C7-B620-90AF5F7802EA}"/>
              </a:ext>
            </a:extLst>
          </p:cNvPr>
          <p:cNvSpPr>
            <a:spLocks noGrp="1"/>
          </p:cNvSpPr>
          <p:nvPr/>
        </p:nvSpPr>
        <p:spPr>
          <a:xfrm>
            <a:off x="9401175" y="3595878"/>
            <a:ext cx="1838325" cy="35490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0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02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False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2696A6-B50F-4460-85C0-BD3AF7EBA857}"/>
              </a:ext>
            </a:extLst>
          </p:cNvPr>
          <p:cNvSpPr>
            <a:spLocks noGrp="1"/>
          </p:cNvSpPr>
          <p:nvPr/>
        </p:nvSpPr>
        <p:spPr>
          <a:xfrm>
            <a:off x="9401175" y="4046029"/>
            <a:ext cx="1838325" cy="35490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0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02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50C370B-317D-4377-9914-4AC2CC7832B4}"/>
              </a:ext>
            </a:extLst>
          </p:cNvPr>
          <p:cNvSpPr>
            <a:spLocks noGrp="1"/>
          </p:cNvSpPr>
          <p:nvPr/>
        </p:nvSpPr>
        <p:spPr>
          <a:xfrm>
            <a:off x="9401175" y="4496181"/>
            <a:ext cx="1838325" cy="35490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0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02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0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0D4E4C-E6ED-40E5-9F39-98A6CF1ABB76}"/>
              </a:ext>
            </a:extLst>
          </p:cNvPr>
          <p:cNvSpPr>
            <a:spLocks noGrp="1"/>
          </p:cNvSpPr>
          <p:nvPr/>
        </p:nvSpPr>
        <p:spPr>
          <a:xfrm>
            <a:off x="714375" y="5881687"/>
            <a:ext cx="107442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875" b="1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Початковий</a:t>
            </a:r>
            <a:r>
              <a:rPr sz="1875" b="1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 </a:t>
            </a:r>
            <a:r>
              <a:rPr sz="1875" b="1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стан</a:t>
            </a:r>
            <a:r>
              <a:rPr sz="1875" b="1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, </a:t>
            </a:r>
            <a:r>
              <a:rPr sz="1875" b="1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звичайний</a:t>
            </a:r>
            <a:r>
              <a:rPr sz="1875" b="1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 </a:t>
            </a:r>
            <a:r>
              <a:rPr sz="1875" b="1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запис</a:t>
            </a:r>
            <a:r>
              <a:rPr sz="1875" b="1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, </a:t>
            </a:r>
            <a:r>
              <a:rPr sz="1875" b="1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повторний</a:t>
            </a:r>
            <a:r>
              <a:rPr sz="1875" b="1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 </a:t>
            </a:r>
            <a:r>
              <a:rPr sz="1875" b="1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запис</a:t>
            </a:r>
            <a:r>
              <a:rPr sz="1875" b="1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 і </a:t>
            </a:r>
            <a:r>
              <a:rPr sz="1875" b="1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незалежний</a:t>
            </a:r>
            <a:r>
              <a:rPr sz="1875" b="1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 курс</a:t>
            </a:r>
          </a:p>
        </p:txBody>
      </p:sp>
    </p:spTree>
    <p:extLst>
      <p:ext uri="{BB962C8B-B14F-4D97-AF65-F5344CB8AC3E}">
        <p14:creationId xmlns:p14="http://schemas.microsoft.com/office/powerpoint/2010/main" val="9241754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30E2CD9C-46C0-472F-A624-AC5F21D099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550" y="504825"/>
            <a:ext cx="514350" cy="5143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93A1E9F-7FE6-455B-AFE6-EA3623DE87B6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9763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192D3B"/>
                </a:solidFill>
                <a:latin typeface="Onest"/>
                <a:ea typeface="Onest"/>
                <a:cs typeface="Onest"/>
              </a:rPr>
              <a:t>Самостійно: інший курс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F1DE05-9304-4A66-9AE7-99BCE482B0E5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pPr>
            <a:r>
              <a:rPr sz="1050" b="0">
                <a:solidFill>
                  <a:srgbClr val="566A78"/>
                </a:solidFill>
                <a:latin typeface="Onest"/>
                <a:ea typeface="Onest"/>
                <a:cs typeface="Onest"/>
              </a:rPr>
              <a:t>20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D80721-91D8-43AB-9B52-6EDFE2F43D80}"/>
              </a:ext>
            </a:extLst>
          </p:cNvPr>
          <p:cNvSpPr>
            <a:spLocks noGrp="1"/>
          </p:cNvSpPr>
          <p:nvPr/>
        </p:nvSpPr>
        <p:spPr>
          <a:xfrm>
            <a:off x="723900" y="1390650"/>
            <a:ext cx="10744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Додайте в кінець model.py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D75C128-2CE3-4F28-938F-462D74A69B42}"/>
              </a:ext>
            </a:extLst>
          </p:cNvPr>
          <p:cNvSpPr>
            <a:spLocks noGrp="1"/>
          </p:cNvSpPr>
          <p:nvPr/>
        </p:nvSpPr>
        <p:spPr>
          <a:xfrm>
            <a:off x="723900" y="20764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227D7D-DAED-4B2E-B4A3-CF7F9769AD06}"/>
              </a:ext>
            </a:extLst>
          </p:cNvPr>
          <p:cNvSpPr>
            <a:spLocks noGrp="1"/>
          </p:cNvSpPr>
          <p:nvPr/>
        </p:nvSpPr>
        <p:spPr>
          <a:xfrm>
            <a:off x="843740" y="2163283"/>
            <a:ext cx="323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1500" b="1" dirty="0">
                <a:solidFill>
                  <a:srgbClr val="FFFFFF"/>
                </a:solidFill>
                <a:latin typeface="Onest"/>
                <a:ea typeface="Onest"/>
                <a:cs typeface="Onest"/>
              </a:rPr>
              <a:t>01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A8B1541-7251-43C3-A0D5-CFFC2B56089F}"/>
              </a:ext>
            </a:extLst>
          </p:cNvPr>
          <p:cNvSpPr>
            <a:spLocks noGrp="1"/>
          </p:cNvSpPr>
          <p:nvPr/>
        </p:nvSpPr>
        <p:spPr>
          <a:xfrm>
            <a:off x="1371600" y="2114550"/>
            <a:ext cx="9277350" cy="3286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Запишіть Івана на Django через enroll.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D55E044-7365-4E2F-800A-24B42653A75D}"/>
              </a:ext>
            </a:extLst>
          </p:cNvPr>
          <p:cNvSpPr>
            <a:spLocks noGrp="1"/>
          </p:cNvSpPr>
          <p:nvPr/>
        </p:nvSpPr>
        <p:spPr>
          <a:xfrm>
            <a:off x="723900" y="28194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B22839-9283-4904-AE3D-C4DE8AB69564}"/>
              </a:ext>
            </a:extLst>
          </p:cNvPr>
          <p:cNvSpPr>
            <a:spLocks noGrp="1"/>
          </p:cNvSpPr>
          <p:nvPr/>
        </p:nvSpPr>
        <p:spPr>
          <a:xfrm>
            <a:off x="843740" y="2906233"/>
            <a:ext cx="323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1500" b="1">
                <a:solidFill>
                  <a:srgbClr val="FFFFFF"/>
                </a:solidFill>
                <a:latin typeface="Onest"/>
                <a:ea typeface="Onest"/>
                <a:cs typeface="Onest"/>
              </a:rPr>
              <a:t>02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323E61-0594-4FF1-9718-E01ADFD8A0A1}"/>
              </a:ext>
            </a:extLst>
          </p:cNvPr>
          <p:cNvSpPr>
            <a:spLocks noGrp="1"/>
          </p:cNvSpPr>
          <p:nvPr/>
        </p:nvSpPr>
        <p:spPr>
          <a:xfrm>
            <a:off x="1371600" y="2857500"/>
            <a:ext cx="9277350" cy="3286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Повторіть той самий запис.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6C55769-C09D-453C-A610-F844D04FF217}"/>
              </a:ext>
            </a:extLst>
          </p:cNvPr>
          <p:cNvSpPr>
            <a:spLocks noGrp="1"/>
          </p:cNvSpPr>
          <p:nvPr/>
        </p:nvSpPr>
        <p:spPr>
          <a:xfrm>
            <a:off x="723900" y="35623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1870DA-987D-4EF9-9430-16D2C845A645}"/>
              </a:ext>
            </a:extLst>
          </p:cNvPr>
          <p:cNvSpPr>
            <a:spLocks noGrp="1"/>
          </p:cNvSpPr>
          <p:nvPr/>
        </p:nvSpPr>
        <p:spPr>
          <a:xfrm>
            <a:off x="843740" y="3649183"/>
            <a:ext cx="323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1500" b="1">
                <a:solidFill>
                  <a:srgbClr val="FFFFFF"/>
                </a:solidFill>
                <a:latin typeface="Onest"/>
                <a:ea typeface="Onest"/>
                <a:cs typeface="Onest"/>
              </a:rPr>
              <a:t>03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B2FC33E-A0B9-4A21-B7BC-787B5EFD6E2F}"/>
              </a:ext>
            </a:extLst>
          </p:cNvPr>
          <p:cNvSpPr>
            <a:spLocks noGrp="1"/>
          </p:cNvSpPr>
          <p:nvPr/>
        </p:nvSpPr>
        <p:spPr>
          <a:xfrm>
            <a:off x="1371600" y="3600450"/>
            <a:ext cx="9277350" cy="3286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Виведіть кількість учасників Python та Django.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E3AB8B4-9D0B-46A2-9774-216389999914}"/>
              </a:ext>
            </a:extLst>
          </p:cNvPr>
          <p:cNvSpPr>
            <a:spLocks noGrp="1"/>
          </p:cNvSpPr>
          <p:nvPr/>
        </p:nvSpPr>
        <p:spPr>
          <a:xfrm>
            <a:off x="723900" y="43053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A514E44-8979-4F60-A8D1-D6B0DF4CE04F}"/>
              </a:ext>
            </a:extLst>
          </p:cNvPr>
          <p:cNvSpPr>
            <a:spLocks noGrp="1"/>
          </p:cNvSpPr>
          <p:nvPr/>
        </p:nvSpPr>
        <p:spPr>
          <a:xfrm>
            <a:off x="843740" y="4392133"/>
            <a:ext cx="323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1500" b="1">
                <a:solidFill>
                  <a:srgbClr val="FFFFFF"/>
                </a:solidFill>
                <a:latin typeface="Onest"/>
                <a:ea typeface="Onest"/>
                <a:cs typeface="Onest"/>
              </a:rPr>
              <a:t>04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3DDCFD7-461B-47D9-8161-79D547334E4E}"/>
              </a:ext>
            </a:extLst>
          </p:cNvPr>
          <p:cNvSpPr>
            <a:spLocks noGrp="1"/>
          </p:cNvSpPr>
          <p:nvPr/>
        </p:nvSpPr>
        <p:spPr>
          <a:xfrm>
            <a:off x="1371600" y="4343400"/>
            <a:ext cx="9277350" cy="3286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Виведіть профіль першого учасника Django.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9FC355F-6C0C-4A1C-8A19-B0108AE81362}"/>
              </a:ext>
            </a:extLst>
          </p:cNvPr>
          <p:cNvSpPr>
            <a:spLocks noGrp="1"/>
          </p:cNvSpPr>
          <p:nvPr/>
        </p:nvSpPr>
        <p:spPr>
          <a:xfrm>
            <a:off x="723900" y="5448300"/>
            <a:ext cx="10744200" cy="628650"/>
          </a:xfrm>
          <a:prstGeom prst="roundRect">
            <a:avLst>
              <a:gd name="adj" fmla="val 15152"/>
            </a:avLst>
          </a:prstGeom>
          <a:solidFill>
            <a:srgbClr val="E8F3ED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E60975-3AA0-431C-9E70-83E7B9191074}"/>
              </a:ext>
            </a:extLst>
          </p:cNvPr>
          <p:cNvSpPr>
            <a:spLocks noGrp="1"/>
          </p:cNvSpPr>
          <p:nvPr/>
        </p:nvSpPr>
        <p:spPr>
          <a:xfrm>
            <a:off x="933450" y="5591175"/>
            <a:ext cx="103251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00" b="0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800" b="0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True, False, 1, 1, </a:t>
            </a:r>
            <a:r>
              <a:rPr sz="1800" b="0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Іван</a:t>
            </a:r>
            <a:r>
              <a:rPr sz="1800" b="0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 &lt;</a:t>
            </a:r>
            <a:r>
              <a:rPr sz="1800" b="0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ivan@example.com</a:t>
            </a:r>
            <a:r>
              <a:rPr sz="1800" b="0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&gt;.</a:t>
            </a:r>
          </a:p>
        </p:txBody>
      </p:sp>
    </p:spTree>
    <p:extLst>
      <p:ext uri="{BB962C8B-B14F-4D97-AF65-F5344CB8AC3E}">
        <p14:creationId xmlns:p14="http://schemas.microsoft.com/office/powerpoint/2010/main" val="392821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9FC15156-C3C2-41AD-AB51-2C4CE3AE2F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550" y="504825"/>
            <a:ext cx="514350" cy="51435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8E6C3F3-DE55-477D-A73C-2D30F85E02E8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9763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192D3B"/>
                </a:solidFill>
                <a:latin typeface="Onest"/>
                <a:ea typeface="Onest"/>
                <a:cs typeface="Onest"/>
              </a:rPr>
              <a:t>Метод може змінювати стан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2071AF-F274-443B-8C30-D4F1D3C7F167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pPr>
            <a:r>
              <a:rPr sz="1050" b="0">
                <a:solidFill>
                  <a:srgbClr val="566A78"/>
                </a:solidFill>
                <a:latin typeface="Onest"/>
                <a:ea typeface="Onest"/>
                <a:cs typeface="Onest"/>
              </a:rPr>
              <a:t>21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0395C6-592D-426A-B88E-C97EF6B417EE}"/>
              </a:ext>
            </a:extLst>
          </p:cNvPr>
          <p:cNvSpPr>
            <a:spLocks noGrp="1"/>
          </p:cNvSpPr>
          <p:nvPr/>
        </p:nvSpPr>
        <p:spPr>
          <a:xfrm>
            <a:off x="723900" y="1390650"/>
            <a:ext cx="10744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У Student після profile додайте: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1BA6006-2EE3-4660-9735-4738F4AE60E4}"/>
              </a:ext>
            </a:extLst>
          </p:cNvPr>
          <p:cNvSpPr>
            <a:spLocks noGrp="1"/>
          </p:cNvSpPr>
          <p:nvPr/>
        </p:nvSpPr>
        <p:spPr>
          <a:xfrm>
            <a:off x="723900" y="1924050"/>
            <a:ext cx="10744200" cy="1095375"/>
          </a:xfrm>
          <a:prstGeom prst="roundRect">
            <a:avLst>
              <a:gd name="adj" fmla="val 8696"/>
            </a:avLst>
          </a:prstGeom>
          <a:solidFill>
            <a:srgbClr val="142C40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D557D8-C1A0-468D-B737-C7AE46C50C9E}"/>
              </a:ext>
            </a:extLst>
          </p:cNvPr>
          <p:cNvSpPr>
            <a:spLocks noGrp="1"/>
          </p:cNvSpPr>
          <p:nvPr/>
        </p:nvSpPr>
        <p:spPr>
          <a:xfrm>
            <a:off x="933450" y="2095500"/>
            <a:ext cx="10325100" cy="847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def rename(self, new_name):</a:t>
            </a:r>
          </a:p>
          <a:p>
            <a:pPr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        self.name = new_name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2FAB13-4DF0-4F10-A1B3-F01799CCE6A3}"/>
              </a:ext>
            </a:extLst>
          </p:cNvPr>
          <p:cNvSpPr>
            <a:spLocks noGrp="1"/>
          </p:cNvSpPr>
          <p:nvPr/>
        </p:nvSpPr>
        <p:spPr>
          <a:xfrm>
            <a:off x="723900" y="3343275"/>
            <a:ext cx="107442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У кінці model.py: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BC73C36-274A-4472-9970-5E921771924D}"/>
              </a:ext>
            </a:extLst>
          </p:cNvPr>
          <p:cNvSpPr>
            <a:spLocks noGrp="1"/>
          </p:cNvSpPr>
          <p:nvPr/>
        </p:nvSpPr>
        <p:spPr>
          <a:xfrm>
            <a:off x="723900" y="3829050"/>
            <a:ext cx="10744200" cy="1381125"/>
          </a:xfrm>
          <a:prstGeom prst="roundRect">
            <a:avLst>
              <a:gd name="adj" fmla="val 6897"/>
            </a:avLst>
          </a:prstGeom>
          <a:solidFill>
            <a:srgbClr val="142C40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4A38E8-FD8F-4FEB-9399-4A15B7F9F3F7}"/>
              </a:ext>
            </a:extLst>
          </p:cNvPr>
          <p:cNvSpPr>
            <a:spLocks noGrp="1"/>
          </p:cNvSpPr>
          <p:nvPr/>
        </p:nvSpPr>
        <p:spPr>
          <a:xfrm>
            <a:off x="933450" y="4000500"/>
            <a:ext cx="10325100" cy="1133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defPPr>
          </a:lstStyle>
          <a:p>
            <a:pPr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olena.rename("Олена Коваль")</a:t>
            </a:r>
          </a:p>
          <a:p>
            <a:pPr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print(python_course.students[0].profile())</a:t>
            </a:r>
          </a:p>
          <a:p>
            <a:pPr>
              <a:lnSpc>
                <a:spcPct val="105000"/>
              </a:lnSpc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print(ivan.profile())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EB070EB-4476-42DB-B5FE-6647252F9B4B}"/>
              </a:ext>
            </a:extLst>
          </p:cNvPr>
          <p:cNvSpPr>
            <a:spLocks noGrp="1"/>
          </p:cNvSpPr>
          <p:nvPr/>
        </p:nvSpPr>
        <p:spPr>
          <a:xfrm>
            <a:off x="723900" y="5543550"/>
            <a:ext cx="10744200" cy="685800"/>
          </a:xfrm>
          <a:prstGeom prst="roundRect">
            <a:avLst>
              <a:gd name="adj" fmla="val 13889"/>
            </a:avLst>
          </a:prstGeom>
          <a:solidFill>
            <a:srgbClr val="E8F3ED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F3F3BD8-73F6-4EC9-A646-229B1188C6FC}"/>
              </a:ext>
            </a:extLst>
          </p:cNvPr>
          <p:cNvSpPr>
            <a:spLocks noGrp="1"/>
          </p:cNvSpPr>
          <p:nvPr/>
        </p:nvSpPr>
        <p:spPr>
          <a:xfrm>
            <a:off x="933450" y="5686425"/>
            <a:ext cx="103251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00" b="0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B6C57"/>
                </a:solidFill>
                <a:latin typeface="Onest"/>
                <a:ea typeface="Onest"/>
                <a:cs typeface="Onest"/>
              </a:rPr>
              <a:t>Очікуємо: Олена Коваль &lt;olena@example.com&gt;, Іван &lt;ivan@example.com&gt;.</a:t>
            </a:r>
          </a:p>
        </p:txBody>
      </p:sp>
    </p:spTree>
    <p:extLst>
      <p:ext uri="{BB962C8B-B14F-4D97-AF65-F5344CB8AC3E}">
        <p14:creationId xmlns:p14="http://schemas.microsoft.com/office/powerpoint/2010/main" val="12300594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0CDCE763-22B9-4E0E-AE7C-F75A49B071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550" y="504825"/>
            <a:ext cx="514350" cy="5143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774059A-3F02-499F-8BA7-C5116229EFCC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9763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lang="ru-RU" sz="2700" b="1" dirty="0" err="1">
                <a:solidFill>
                  <a:srgbClr val="192D3B"/>
                </a:solidFill>
                <a:latin typeface="Onest"/>
                <a:ea typeface="Onest"/>
                <a:cs typeface="Onest"/>
              </a:rPr>
              <a:t>Мозковий</a:t>
            </a:r>
            <a:r>
              <a:rPr lang="ru-RU" sz="2700" b="1" dirty="0">
                <a:solidFill>
                  <a:srgbClr val="192D3B"/>
                </a:solidFill>
                <a:latin typeface="Onest"/>
                <a:ea typeface="Onest"/>
                <a:cs typeface="Onest"/>
              </a:rPr>
              <a:t> штурм: г</a:t>
            </a:r>
            <a:r>
              <a:rPr sz="2700" b="1" dirty="0" err="1">
                <a:solidFill>
                  <a:srgbClr val="192D3B"/>
                </a:solidFill>
                <a:latin typeface="Onest"/>
                <a:ea typeface="Onest"/>
                <a:cs typeface="Onest"/>
              </a:rPr>
              <a:t>енеруємо</a:t>
            </a:r>
            <a:r>
              <a:rPr sz="2700" b="1" dirty="0">
                <a:solidFill>
                  <a:srgbClr val="192D3B"/>
                </a:solidFill>
                <a:latin typeface="Onest"/>
                <a:ea typeface="Onest"/>
                <a:cs typeface="Onest"/>
              </a:rPr>
              <a:t> </a:t>
            </a:r>
            <a:r>
              <a:rPr sz="2700" b="1" dirty="0" err="1">
                <a:solidFill>
                  <a:srgbClr val="192D3B"/>
                </a:solidFill>
                <a:latin typeface="Onest"/>
                <a:ea typeface="Onest"/>
                <a:cs typeface="Onest"/>
              </a:rPr>
              <a:t>ідеї</a:t>
            </a:r>
            <a:endParaRPr sz="2700" b="1" dirty="0">
              <a:solidFill>
                <a:srgbClr val="192D3B"/>
              </a:solidFill>
              <a:latin typeface="Onest"/>
              <a:ea typeface="Onest"/>
              <a:cs typeface="Ones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1A8A0B-4D57-429D-AE2A-68414EBD8ED3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pPr>
            <a:r>
              <a:rPr sz="1050" b="0">
                <a:solidFill>
                  <a:srgbClr val="566A78"/>
                </a:solidFill>
                <a:latin typeface="Onest"/>
                <a:ea typeface="Onest"/>
                <a:cs typeface="Onest"/>
              </a:rPr>
              <a:t>22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041CCC-D726-4A76-B6F4-CD868291D7B5}"/>
              </a:ext>
            </a:extLst>
          </p:cNvPr>
          <p:cNvSpPr>
            <a:spLocks noGrp="1"/>
          </p:cNvSpPr>
          <p:nvPr/>
        </p:nvSpPr>
        <p:spPr>
          <a:xfrm>
            <a:off x="723900" y="1381125"/>
            <a:ext cx="107442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0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02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Застосунок для студентського життя: навчання, справи та взаємодія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D2C1ABA-8F6D-430E-A89F-451AC9D9DEA4}"/>
              </a:ext>
            </a:extLst>
          </p:cNvPr>
          <p:cNvSpPr>
            <a:spLocks noGrp="1"/>
          </p:cNvSpPr>
          <p:nvPr/>
        </p:nvSpPr>
        <p:spPr>
          <a:xfrm>
            <a:off x="723900" y="2324100"/>
            <a:ext cx="3943350" cy="3486150"/>
          </a:xfrm>
          <a:prstGeom prst="roundRect">
            <a:avLst>
              <a:gd name="adj" fmla="val 2732"/>
            </a:avLst>
          </a:prstGeom>
          <a:solidFill>
            <a:srgbClr val="FFFFFF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BD82CF-9C93-4D5C-A71A-A8C8EC70895C}"/>
              </a:ext>
            </a:extLst>
          </p:cNvPr>
          <p:cNvSpPr>
            <a:spLocks noGrp="1"/>
          </p:cNvSpPr>
          <p:nvPr/>
        </p:nvSpPr>
        <p:spPr>
          <a:xfrm>
            <a:off x="723900" y="2324100"/>
            <a:ext cx="47625" cy="3486150"/>
          </a:xfrm>
          <a:prstGeom prst="rect">
            <a:avLst/>
          </a:prstGeom>
          <a:solidFill>
            <a:srgbClr val="BF7540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4E640F-AFBD-4CFB-B983-0331A1B2AE60}"/>
              </a:ext>
            </a:extLst>
          </p:cNvPr>
          <p:cNvSpPr>
            <a:spLocks noGrp="1"/>
          </p:cNvSpPr>
          <p:nvPr/>
        </p:nvSpPr>
        <p:spPr>
          <a:xfrm>
            <a:off x="952500" y="2505075"/>
            <a:ext cx="34861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BF7540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BF7540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BF7540"/>
                </a:solidFill>
                <a:latin typeface="Onest"/>
                <a:ea typeface="Onest"/>
                <a:cs typeface="Onest"/>
              </a:rPr>
              <a:t>Раунд 1: 7 хвилин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D719CF-CF55-4A61-8D01-2B0018F89546}"/>
              </a:ext>
            </a:extLst>
          </p:cNvPr>
          <p:cNvSpPr>
            <a:spLocks noGrp="1"/>
          </p:cNvSpPr>
          <p:nvPr/>
        </p:nvSpPr>
        <p:spPr>
          <a:xfrm>
            <a:off x="952500" y="3038475"/>
            <a:ext cx="3486150" cy="3023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7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72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2 хв самостійно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F2B544-370B-4F97-9529-F2C44798D5EE}"/>
              </a:ext>
            </a:extLst>
          </p:cNvPr>
          <p:cNvSpPr>
            <a:spLocks noGrp="1"/>
          </p:cNvSpPr>
          <p:nvPr/>
        </p:nvSpPr>
        <p:spPr>
          <a:xfrm>
            <a:off x="952500" y="3436049"/>
            <a:ext cx="3486150" cy="3023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7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72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5 хв разом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2E5C9E-DF6B-4FDB-A61D-F37B6F6E3465}"/>
              </a:ext>
            </a:extLst>
          </p:cNvPr>
          <p:cNvSpPr>
            <a:spLocks noGrp="1"/>
          </p:cNvSpPr>
          <p:nvPr/>
        </p:nvSpPr>
        <p:spPr>
          <a:xfrm>
            <a:off x="952500" y="3833622"/>
            <a:ext cx="3486150" cy="3023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7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72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Одна ідея - один стікер.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6C96C7-7FF6-4B79-A2A8-CC08BC9F81AD}"/>
              </a:ext>
            </a:extLst>
          </p:cNvPr>
          <p:cNvSpPr>
            <a:spLocks noGrp="1"/>
          </p:cNvSpPr>
          <p:nvPr/>
        </p:nvSpPr>
        <p:spPr>
          <a:xfrm>
            <a:off x="952500" y="4231196"/>
            <a:ext cx="3486150" cy="3023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7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72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Колонка вашої команди.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1959F2-1E48-4EA1-899A-4FC95B2749FB}"/>
              </a:ext>
            </a:extLst>
          </p:cNvPr>
          <p:cNvSpPr>
            <a:spLocks noGrp="1"/>
          </p:cNvSpPr>
          <p:nvPr/>
        </p:nvSpPr>
        <p:spPr>
          <a:xfrm>
            <a:off x="952500" y="4628769"/>
            <a:ext cx="3486150" cy="3023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7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endParaRPr sz="1725" b="0" dirty="0">
              <a:solidFill>
                <a:srgbClr val="192D3B"/>
              </a:solidFill>
              <a:latin typeface="Onest"/>
              <a:ea typeface="Onest"/>
              <a:cs typeface="Onest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17599A-37F2-499E-A723-CE6993E38F4E}"/>
              </a:ext>
            </a:extLst>
          </p:cNvPr>
          <p:cNvSpPr>
            <a:spLocks noGrp="1"/>
          </p:cNvSpPr>
          <p:nvPr/>
        </p:nvSpPr>
        <p:spPr>
          <a:xfrm>
            <a:off x="952500" y="5026343"/>
            <a:ext cx="3486150" cy="3023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7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725" b="0" dirty="0" err="1">
                <a:solidFill>
                  <a:srgbClr val="192D3B"/>
                </a:solidFill>
                <a:latin typeface="Onest"/>
                <a:ea typeface="Onest"/>
                <a:cs typeface="Onest"/>
              </a:rPr>
              <a:t>Орієнтир</a:t>
            </a:r>
            <a:r>
              <a:rPr sz="1725" b="0" dirty="0">
                <a:solidFill>
                  <a:srgbClr val="192D3B"/>
                </a:solidFill>
                <a:latin typeface="Onest"/>
                <a:ea typeface="Onest"/>
                <a:cs typeface="Onest"/>
              </a:rPr>
              <a:t>: </a:t>
            </a:r>
            <a:r>
              <a:rPr lang="uk-UA" sz="1725" dirty="0">
                <a:solidFill>
                  <a:srgbClr val="192D3B"/>
                </a:solidFill>
                <a:latin typeface="Onest"/>
                <a:ea typeface="Onest"/>
                <a:cs typeface="Onest"/>
              </a:rPr>
              <a:t>1</a:t>
            </a:r>
            <a:r>
              <a:rPr sz="1725" b="0" dirty="0">
                <a:solidFill>
                  <a:srgbClr val="192D3B"/>
                </a:solidFill>
                <a:latin typeface="Onest"/>
                <a:ea typeface="Onest"/>
                <a:cs typeface="Onest"/>
              </a:rPr>
              <a:t>0-</a:t>
            </a:r>
            <a:r>
              <a:rPr lang="uk-UA" sz="1725" b="0" dirty="0">
                <a:solidFill>
                  <a:srgbClr val="192D3B"/>
                </a:solidFill>
                <a:latin typeface="Onest"/>
                <a:ea typeface="Onest"/>
                <a:cs typeface="Onest"/>
              </a:rPr>
              <a:t>15</a:t>
            </a:r>
            <a:r>
              <a:rPr sz="1725" b="0" dirty="0">
                <a:solidFill>
                  <a:srgbClr val="192D3B"/>
                </a:solidFill>
                <a:latin typeface="Onest"/>
                <a:ea typeface="Onest"/>
                <a:cs typeface="Onest"/>
              </a:rPr>
              <a:t> </a:t>
            </a:r>
            <a:r>
              <a:rPr sz="1725" b="0" dirty="0" err="1">
                <a:solidFill>
                  <a:srgbClr val="192D3B"/>
                </a:solidFill>
                <a:latin typeface="Onest"/>
                <a:ea typeface="Onest"/>
                <a:cs typeface="Onest"/>
              </a:rPr>
              <a:t>стікерів</a:t>
            </a:r>
            <a:r>
              <a:rPr sz="1725" b="0" dirty="0">
                <a:solidFill>
                  <a:srgbClr val="192D3B"/>
                </a:solidFill>
                <a:latin typeface="Onest"/>
                <a:ea typeface="Onest"/>
                <a:cs typeface="Onest"/>
              </a:rPr>
              <a:t>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921186-C091-4E0B-B7EB-B8873037FEC4}"/>
              </a:ext>
            </a:extLst>
          </p:cNvPr>
          <p:cNvSpPr>
            <a:spLocks noGrp="1"/>
          </p:cNvSpPr>
          <p:nvPr/>
        </p:nvSpPr>
        <p:spPr>
          <a:xfrm>
            <a:off x="5067300" y="2343150"/>
            <a:ext cx="6400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1">
                <a:solidFill>
                  <a:srgbClr val="BF7540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100" b="1">
                <a:solidFill>
                  <a:srgbClr val="BF7540"/>
                </a:solidFill>
                <a:latin typeface="Onest"/>
                <a:ea typeface="Onest"/>
                <a:cs typeface="Onest"/>
              </a:defRPr>
            </a:pPr>
            <a:r>
              <a:rPr sz="2100" b="1">
                <a:solidFill>
                  <a:srgbClr val="BF7540"/>
                </a:solidFill>
                <a:latin typeface="Onest"/>
                <a:ea typeface="Onest"/>
                <a:cs typeface="Onest"/>
              </a:rPr>
              <a:t>Підказки для ідей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52E09C-8BEF-4A80-B1EE-D0FBFD1C689B}"/>
              </a:ext>
            </a:extLst>
          </p:cNvPr>
          <p:cNvSpPr>
            <a:spLocks noGrp="1"/>
          </p:cNvSpPr>
          <p:nvPr/>
        </p:nvSpPr>
        <p:spPr>
          <a:xfrm>
            <a:off x="5067300" y="2952750"/>
            <a:ext cx="6400800" cy="3154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Хто користуватиметься застосунком?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C9BA518-10F3-4BF2-BDD4-5ABB3F1C69BA}"/>
              </a:ext>
            </a:extLst>
          </p:cNvPr>
          <p:cNvSpPr>
            <a:spLocks noGrp="1"/>
          </p:cNvSpPr>
          <p:nvPr/>
        </p:nvSpPr>
        <p:spPr>
          <a:xfrm>
            <a:off x="5067300" y="3430143"/>
            <a:ext cx="6400800" cy="3154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Що створювати, зберігати, шукати або переглядати?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5486118-40B7-4FB5-AB27-F70C515C4292}"/>
              </a:ext>
            </a:extLst>
          </p:cNvPr>
          <p:cNvSpPr>
            <a:spLocks noGrp="1"/>
          </p:cNvSpPr>
          <p:nvPr/>
        </p:nvSpPr>
        <p:spPr>
          <a:xfrm>
            <a:off x="5067300" y="3907536"/>
            <a:ext cx="6400800" cy="3154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На що записатися і чим обмінюватися?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3CB1A8-6EBF-4744-A56E-F88D6C56E618}"/>
              </a:ext>
            </a:extLst>
          </p:cNvPr>
          <p:cNvSpPr>
            <a:spLocks noGrp="1"/>
          </p:cNvSpPr>
          <p:nvPr/>
        </p:nvSpPr>
        <p:spPr>
          <a:xfrm>
            <a:off x="5067300" y="4384929"/>
            <a:ext cx="6400800" cy="3154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Що бронювати, нагадувати або відстежувати?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C0E5EC-4F7D-4762-8848-8ED4360A960A}"/>
              </a:ext>
            </a:extLst>
          </p:cNvPr>
          <p:cNvSpPr>
            <a:spLocks noGrp="1"/>
          </p:cNvSpPr>
          <p:nvPr/>
        </p:nvSpPr>
        <p:spPr>
          <a:xfrm>
            <a:off x="5067300" y="4862322"/>
            <a:ext cx="6400800" cy="3154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Які події можуть відбуватися?</a:t>
            </a:r>
          </a:p>
        </p:txBody>
      </p:sp>
    </p:spTree>
    <p:extLst>
      <p:ext uri="{BB962C8B-B14F-4D97-AF65-F5344CB8AC3E}">
        <p14:creationId xmlns:p14="http://schemas.microsoft.com/office/powerpoint/2010/main" val="21081516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ABC66D8E-3FA8-4949-B778-BB0BA6776D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550" y="504825"/>
            <a:ext cx="514350" cy="5143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D81B53C-B6F8-4F4F-8153-AB5CAC43EF3A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9763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192D3B"/>
                </a:solidFill>
                <a:latin typeface="Onest"/>
                <a:ea typeface="Onest"/>
                <a:cs typeface="Onest"/>
              </a:rPr>
              <a:t>Раунд 2: знаходимо потенційні класи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A2B6B1-48F5-4BB1-9DD8-E90CCD42CCD8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pPr>
            <a:r>
              <a:rPr sz="1050" b="0">
                <a:solidFill>
                  <a:srgbClr val="566A78"/>
                </a:solidFill>
                <a:latin typeface="Onest"/>
                <a:ea typeface="Onest"/>
                <a:cs typeface="Onest"/>
              </a:rPr>
              <a:t>23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DAFC2E-7929-4FCA-9E74-4829AC8E2BB6}"/>
              </a:ext>
            </a:extLst>
          </p:cNvPr>
          <p:cNvSpPr>
            <a:spLocks noGrp="1"/>
          </p:cNvSpPr>
          <p:nvPr/>
        </p:nvSpPr>
        <p:spPr>
          <a:xfrm>
            <a:off x="723900" y="1381125"/>
            <a:ext cx="1074420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0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025" b="0" dirty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Згрупуйте </a:t>
            </a:r>
            <a:r>
              <a:rPr sz="2025" b="0" dirty="0" err="1">
                <a:solidFill>
                  <a:srgbClr val="192D3B"/>
                </a:solidFill>
                <a:latin typeface="Onest"/>
                <a:ea typeface="Onest"/>
                <a:cs typeface="Onest"/>
              </a:rPr>
              <a:t>стікери</a:t>
            </a:r>
            <a:r>
              <a:rPr sz="2025" b="0" dirty="0">
                <a:solidFill>
                  <a:srgbClr val="192D3B"/>
                </a:solidFill>
                <a:latin typeface="Onest"/>
                <a:ea typeface="Onest"/>
                <a:cs typeface="Onest"/>
              </a:rPr>
              <a:t> та </a:t>
            </a:r>
            <a:r>
              <a:rPr sz="2025" b="0" dirty="0" err="1">
                <a:solidFill>
                  <a:srgbClr val="192D3B"/>
                </a:solidFill>
                <a:latin typeface="Onest"/>
                <a:ea typeface="Onest"/>
                <a:cs typeface="Onest"/>
              </a:rPr>
              <a:t>виберіть</a:t>
            </a:r>
            <a:r>
              <a:rPr sz="2025" b="0" dirty="0">
                <a:solidFill>
                  <a:srgbClr val="192D3B"/>
                </a:solidFill>
                <a:latin typeface="Onest"/>
                <a:ea typeface="Onest"/>
                <a:cs typeface="Onest"/>
              </a:rPr>
              <a:t> 3 </a:t>
            </a:r>
            <a:r>
              <a:rPr sz="2025" b="0" dirty="0" err="1">
                <a:solidFill>
                  <a:srgbClr val="192D3B"/>
                </a:solidFill>
                <a:latin typeface="Onest"/>
                <a:ea typeface="Onest"/>
                <a:cs typeface="Onest"/>
              </a:rPr>
              <a:t>потенційні</a:t>
            </a:r>
            <a:r>
              <a:rPr sz="2025" b="0" dirty="0">
                <a:solidFill>
                  <a:srgbClr val="192D3B"/>
                </a:solidFill>
                <a:latin typeface="Onest"/>
                <a:ea typeface="Onest"/>
                <a:cs typeface="Onest"/>
              </a:rPr>
              <a:t> </a:t>
            </a:r>
            <a:r>
              <a:rPr sz="2025" b="0" dirty="0" err="1">
                <a:solidFill>
                  <a:srgbClr val="192D3B"/>
                </a:solidFill>
                <a:latin typeface="Onest"/>
                <a:ea typeface="Onest"/>
                <a:cs typeface="Onest"/>
              </a:rPr>
              <a:t>класи</a:t>
            </a:r>
            <a:endParaRPr sz="2025" b="0" dirty="0">
              <a:solidFill>
                <a:srgbClr val="192D3B"/>
              </a:solidFill>
              <a:latin typeface="Onest"/>
              <a:ea typeface="Onest"/>
              <a:cs typeface="Onest"/>
            </a:endParaRP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886C64D6-C297-4E60-80F1-5C838A038493}"/>
              </a:ext>
            </a:extLst>
          </p:cNvPr>
          <p:cNvGraphicFramePr/>
          <p:nvPr/>
        </p:nvGraphicFramePr>
        <p:xfrm>
          <a:off x="723900" y="2324100"/>
          <a:ext cx="10744200" cy="2647952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19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Onest"/>
                          <a:ea typeface="Onest"/>
                          <a:cs typeface="Onest"/>
                        </a:rPr>
                        <a:t>Для кожної сутності</a:t>
                      </a:r>
                    </a:p>
                  </a:txBody>
                  <a:tcPr>
                    <a:lnL w="9525">
                      <a:solidFill>
                        <a:srgbClr val="B9CDC6"/>
                      </a:solidFill>
                      <a:prstDash val="soli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>
                      <a:solidFill>
                        <a:srgbClr val="B9CDC6"/>
                      </a:solidFill>
                      <a:prstDash val="soli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1B6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Onest"/>
                          <a:ea typeface="Onest"/>
                          <a:cs typeface="Onest"/>
                        </a:rPr>
                        <a:t>Що потрібно записати</a:t>
                      </a:r>
                    </a:p>
                  </a:txBody>
                  <a:tcPr>
                    <a:lnL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>
                      <a:solidFill>
                        <a:srgbClr val="B9CDC6"/>
                      </a:solidFill>
                      <a:prstDash val="soli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1B6C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9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3-5 атрибутів</a:t>
                      </a:r>
                    </a:p>
                  </a:txBody>
                  <a:tcPr>
                    <a:lnL w="9525">
                      <a:solidFill>
                        <a:srgbClr val="B9CDC6"/>
                      </a:solidFill>
                      <a:prstDash val="soli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Що об'єкт знає про себе</a:t>
                      </a:r>
                    </a:p>
                  </a:txBody>
                  <a:tcPr>
                    <a:lnL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19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2-3 методи</a:t>
                      </a:r>
                    </a:p>
                  </a:txBody>
                  <a:tcPr>
                    <a:lnL w="9525">
                      <a:solidFill>
                        <a:srgbClr val="B9CDC6"/>
                      </a:solidFill>
                      <a:prstDash val="soli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E8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Що об'єкт може робити</a:t>
                      </a:r>
                    </a:p>
                  </a:txBody>
                  <a:tcPr>
                    <a:lnL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E8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19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2 конкретні об'єкти</a:t>
                      </a:r>
                    </a:p>
                  </a:txBody>
                  <a:tcPr>
                    <a:lnL w="9525">
                      <a:solidFill>
                        <a:srgbClr val="B9CDC6"/>
                      </a:solidFill>
                      <a:prstDash val="soli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Приклади з різними значеннями атрибутів</a:t>
                      </a:r>
                    </a:p>
                  </a:txBody>
                  <a:tcPr>
                    <a:lnL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10343E29-668A-4F3B-9F1C-F18F98776EA1}"/>
              </a:ext>
            </a:extLst>
          </p:cNvPr>
          <p:cNvSpPr>
            <a:spLocks noGrp="1"/>
          </p:cNvSpPr>
          <p:nvPr/>
        </p:nvSpPr>
        <p:spPr>
          <a:xfrm>
            <a:off x="723900" y="5276850"/>
            <a:ext cx="10744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B6C57"/>
                </a:solidFill>
                <a:latin typeface="Onest"/>
                <a:ea typeface="Onest"/>
                <a:cs typeface="Onest"/>
              </a:rPr>
              <a:t>Позначки: "Клас", "Атрибут", "Метод", "Об'єкт"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7297386-4C3C-4F2B-B68C-C6240C71BD87}"/>
              </a:ext>
            </a:extLst>
          </p:cNvPr>
          <p:cNvSpPr>
            <a:spLocks noGrp="1"/>
          </p:cNvSpPr>
          <p:nvPr/>
        </p:nvSpPr>
        <p:spPr>
          <a:xfrm>
            <a:off x="723900" y="5810250"/>
            <a:ext cx="10744200" cy="523875"/>
          </a:xfrm>
          <a:prstGeom prst="roundRect">
            <a:avLst>
              <a:gd name="adj" fmla="val 18182"/>
            </a:avLst>
          </a:prstGeom>
          <a:solidFill>
            <a:srgbClr val="E8F3ED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5717C2-52DA-4DF4-AEDC-572DAAE38E85}"/>
              </a:ext>
            </a:extLst>
          </p:cNvPr>
          <p:cNvSpPr>
            <a:spLocks noGrp="1"/>
          </p:cNvSpPr>
          <p:nvPr/>
        </p:nvSpPr>
        <p:spPr>
          <a:xfrm>
            <a:off x="933450" y="5953125"/>
            <a:ext cx="103251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00" b="0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lang="uk-UA" sz="1800" b="0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Т</a:t>
            </a:r>
            <a:r>
              <a:rPr sz="1800" b="0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ри</a:t>
            </a:r>
            <a:r>
              <a:rPr sz="1800" b="0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картки</a:t>
            </a:r>
            <a:r>
              <a:rPr sz="1800" b="0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класів</a:t>
            </a:r>
            <a:r>
              <a:rPr sz="1800" b="0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із</a:t>
            </a:r>
            <a:r>
              <a:rPr sz="1800" b="0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конкретними</a:t>
            </a:r>
            <a:r>
              <a:rPr sz="1800" b="0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прикладами</a:t>
            </a:r>
            <a:r>
              <a:rPr sz="1800" b="0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01573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383A681F-CAC3-4640-873A-87ADCE77FB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550" y="504825"/>
            <a:ext cx="514350" cy="5143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0269150-1F2E-47C4-8057-C19D03A57D19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9763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192D3B"/>
                </a:solidFill>
                <a:latin typeface="Onest"/>
                <a:ea typeface="Onest"/>
                <a:cs typeface="Onest"/>
              </a:rPr>
              <a:t>Раунд 3: зв'язуємо об'єкти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17DC4C-6B86-423F-9DE3-496EA251CBD9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pPr>
            <a:r>
              <a:rPr sz="1050" b="0">
                <a:solidFill>
                  <a:srgbClr val="566A78"/>
                </a:solidFill>
                <a:latin typeface="Onest"/>
                <a:ea typeface="Onest"/>
                <a:cs typeface="Onest"/>
              </a:rPr>
              <a:t>24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82630B-7E2C-4B78-8618-A28F991AB2BE}"/>
              </a:ext>
            </a:extLst>
          </p:cNvPr>
          <p:cNvSpPr>
            <a:spLocks noGrp="1"/>
          </p:cNvSpPr>
          <p:nvPr/>
        </p:nvSpPr>
        <p:spPr>
          <a:xfrm>
            <a:off x="723900" y="1390650"/>
            <a:ext cx="107442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1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100" b="0" dirty="0" err="1">
                <a:solidFill>
                  <a:srgbClr val="192D3B"/>
                </a:solidFill>
                <a:latin typeface="Onest"/>
                <a:ea typeface="Onest"/>
                <a:cs typeface="Onest"/>
              </a:rPr>
              <a:t>Придумайте</a:t>
            </a:r>
            <a:r>
              <a:rPr sz="2100" b="0" dirty="0">
                <a:solidFill>
                  <a:srgbClr val="192D3B"/>
                </a:solidFill>
                <a:latin typeface="Onest"/>
                <a:ea typeface="Onest"/>
                <a:cs typeface="Onest"/>
              </a:rPr>
              <a:t> 3 </a:t>
            </a:r>
            <a:r>
              <a:rPr sz="2100" b="0" dirty="0" err="1">
                <a:solidFill>
                  <a:srgbClr val="192D3B"/>
                </a:solidFill>
                <a:latin typeface="Onest"/>
                <a:ea typeface="Onest"/>
                <a:cs typeface="Onest"/>
              </a:rPr>
              <a:t>сценарії</a:t>
            </a:r>
            <a:r>
              <a:rPr sz="2100" b="0" dirty="0">
                <a:solidFill>
                  <a:srgbClr val="192D3B"/>
                </a:solidFill>
                <a:latin typeface="Onest"/>
                <a:ea typeface="Onest"/>
                <a:cs typeface="Onest"/>
              </a:rPr>
              <a:t> </a:t>
            </a:r>
            <a:r>
              <a:rPr sz="2100" b="0" dirty="0" err="1">
                <a:solidFill>
                  <a:srgbClr val="192D3B"/>
                </a:solidFill>
                <a:latin typeface="Onest"/>
                <a:ea typeface="Onest"/>
                <a:cs typeface="Onest"/>
              </a:rPr>
              <a:t>взаємодії</a:t>
            </a:r>
            <a:r>
              <a:rPr sz="2100" b="0" dirty="0">
                <a:solidFill>
                  <a:srgbClr val="192D3B"/>
                </a:solidFill>
                <a:latin typeface="Onest"/>
                <a:ea typeface="Onest"/>
                <a:cs typeface="Onest"/>
              </a:rPr>
              <a:t> </a:t>
            </a:r>
            <a:r>
              <a:rPr sz="2100" b="0" dirty="0" err="1">
                <a:solidFill>
                  <a:srgbClr val="192D3B"/>
                </a:solidFill>
                <a:latin typeface="Onest"/>
                <a:ea typeface="Onest"/>
                <a:cs typeface="Onest"/>
              </a:rPr>
              <a:t>об'єктів</a:t>
            </a:r>
            <a:endParaRPr sz="2100" b="0" dirty="0">
              <a:solidFill>
                <a:srgbClr val="192D3B"/>
              </a:solidFill>
              <a:latin typeface="Onest"/>
              <a:ea typeface="Onest"/>
              <a:cs typeface="Onest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0F3B397-8DC1-4FA1-A030-2CB23C3FD29F}"/>
              </a:ext>
            </a:extLst>
          </p:cNvPr>
          <p:cNvGraphicFramePr/>
          <p:nvPr/>
        </p:nvGraphicFramePr>
        <p:xfrm>
          <a:off x="723900" y="2314575"/>
          <a:ext cx="10744200" cy="3028950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1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Onest"/>
                          <a:ea typeface="Onest"/>
                          <a:cs typeface="Onest"/>
                        </a:rPr>
                        <a:t>Частина сценарію</a:t>
                      </a:r>
                    </a:p>
                  </a:txBody>
                  <a:tcPr>
                    <a:lnL w="9525">
                      <a:solidFill>
                        <a:srgbClr val="B9CDC6"/>
                      </a:solidFill>
                      <a:prstDash val="soli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>
                      <a:solidFill>
                        <a:srgbClr val="B9CDC6"/>
                      </a:solidFill>
                      <a:prstDash val="soli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1B6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Onest"/>
                          <a:ea typeface="Onest"/>
                          <a:cs typeface="Onest"/>
                        </a:rPr>
                        <a:t>Питання</a:t>
                      </a:r>
                    </a:p>
                  </a:txBody>
                  <a:tcPr>
                    <a:lnL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>
                      <a:solidFill>
                        <a:srgbClr val="B9CDC6"/>
                      </a:solidFill>
                      <a:prstDash val="soli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1B6C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Учасники</a:t>
                      </a:r>
                    </a:p>
                  </a:txBody>
                  <a:tcPr>
                    <a:lnL w="9525">
                      <a:solidFill>
                        <a:srgbClr val="B9CDC6"/>
                      </a:solidFill>
                      <a:prstDash val="soli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Які об'єкти беруть участь?</a:t>
                      </a:r>
                    </a:p>
                  </a:txBody>
                  <a:tcPr>
                    <a:lnL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Дія</a:t>
                      </a:r>
                    </a:p>
                  </a:txBody>
                  <a:tcPr>
                    <a:lnL w="9525">
                      <a:solidFill>
                        <a:srgbClr val="B9CDC6"/>
                      </a:solidFill>
                      <a:prstDash val="soli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E8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Який метод викликається?</a:t>
                      </a:r>
                    </a:p>
                  </a:txBody>
                  <a:tcPr>
                    <a:lnL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E8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Зміна стану</a:t>
                      </a:r>
                    </a:p>
                  </a:txBody>
                  <a:tcPr>
                    <a:lnL w="9525">
                      <a:solidFill>
                        <a:srgbClr val="B9CDC6"/>
                      </a:solidFill>
                      <a:prstDash val="soli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Чий стан змінюється і як саме?</a:t>
                      </a:r>
                    </a:p>
                  </a:txBody>
                  <a:tcPr>
                    <a:lnL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Перешкода</a:t>
                      </a:r>
                    </a:p>
                  </a:txBody>
                  <a:tcPr>
                    <a:lnL w="9525">
                      <a:solidFill>
                        <a:srgbClr val="B9CDC6"/>
                      </a:solidFill>
                      <a:prstDash val="soli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E8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Що може завадити виконанню дії?</a:t>
                      </a:r>
                    </a:p>
                  </a:txBody>
                  <a:tcPr>
                    <a:lnL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E8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D3FD00D-1CCE-4D4E-AE24-868DE63B0F59}"/>
              </a:ext>
            </a:extLst>
          </p:cNvPr>
          <p:cNvSpPr>
            <a:spLocks noGrp="1"/>
          </p:cNvSpPr>
          <p:nvPr/>
        </p:nvSpPr>
        <p:spPr>
          <a:xfrm>
            <a:off x="723900" y="5734050"/>
            <a:ext cx="10744200" cy="571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699B8D-F3AE-4530-9AE9-17ACB9B904BE}"/>
              </a:ext>
            </a:extLst>
          </p:cNvPr>
          <p:cNvSpPr>
            <a:spLocks noGrp="1"/>
          </p:cNvSpPr>
          <p:nvPr/>
        </p:nvSpPr>
        <p:spPr>
          <a:xfrm>
            <a:off x="933450" y="5876925"/>
            <a:ext cx="103251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00" b="0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lang="uk-UA" sz="1800" b="0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Є</a:t>
            </a:r>
            <a:r>
              <a:rPr sz="1800" b="0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початкові</a:t>
            </a:r>
            <a:r>
              <a:rPr sz="1800" b="0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 дані, </a:t>
            </a:r>
            <a:r>
              <a:rPr sz="1800" b="0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дія</a:t>
            </a:r>
            <a:r>
              <a:rPr sz="1800" b="0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 та </a:t>
            </a:r>
            <a:r>
              <a:rPr sz="1800" b="0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перевірний</a:t>
            </a:r>
            <a:r>
              <a:rPr sz="1800" b="0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результат</a:t>
            </a:r>
            <a:r>
              <a:rPr sz="1800" b="0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98451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6FBED9DA-7719-47C7-8D5A-9BFE09190A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550" y="504825"/>
            <a:ext cx="514350" cy="51435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4CA81D4-1B68-4187-A384-8599F81E7986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9763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192D3B"/>
                </a:solidFill>
                <a:latin typeface="Onest"/>
                <a:ea typeface="Onest"/>
                <a:cs typeface="Onest"/>
              </a:rPr>
              <a:t>Раунд 4: обираємо модель для коду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1AA679-F82F-48E4-8F2E-6FA02F296ADC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pPr>
            <a:r>
              <a:rPr sz="1050" b="0">
                <a:solidFill>
                  <a:srgbClr val="566A78"/>
                </a:solidFill>
                <a:latin typeface="Onest"/>
                <a:ea typeface="Onest"/>
                <a:cs typeface="Onest"/>
              </a:rPr>
              <a:t>25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17B0FF7-D670-4F98-9F3B-20924B16E9DD}"/>
              </a:ext>
            </a:extLst>
          </p:cNvPr>
          <p:cNvSpPr>
            <a:spLocks noGrp="1"/>
          </p:cNvSpPr>
          <p:nvPr/>
        </p:nvSpPr>
        <p:spPr>
          <a:xfrm>
            <a:off x="723900" y="1400175"/>
            <a:ext cx="10744200" cy="78105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DC7237-3326-4F78-B7EE-A669EE5D5271}"/>
              </a:ext>
            </a:extLst>
          </p:cNvPr>
          <p:cNvSpPr>
            <a:spLocks noGrp="1"/>
          </p:cNvSpPr>
          <p:nvPr/>
        </p:nvSpPr>
        <p:spPr>
          <a:xfrm>
            <a:off x="933450" y="1543050"/>
            <a:ext cx="103251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00" b="0" dirty="0" err="1">
                <a:solidFill>
                  <a:srgbClr val="192D3B"/>
                </a:solidFill>
                <a:latin typeface="Onest"/>
                <a:ea typeface="Onest"/>
                <a:cs typeface="Onest"/>
              </a:rPr>
              <a:t>Виберіть</a:t>
            </a:r>
            <a:r>
              <a:rPr sz="1800" b="0" dirty="0">
                <a:solidFill>
                  <a:srgbClr val="192D3B"/>
                </a:solidFill>
                <a:latin typeface="Onest"/>
                <a:ea typeface="Onest"/>
                <a:cs typeface="Onest"/>
              </a:rPr>
              <a:t> 2 </a:t>
            </a:r>
            <a:r>
              <a:rPr sz="1800" b="0" dirty="0" err="1">
                <a:solidFill>
                  <a:srgbClr val="192D3B"/>
                </a:solidFill>
                <a:latin typeface="Onest"/>
                <a:ea typeface="Onest"/>
                <a:cs typeface="Onest"/>
              </a:rPr>
              <a:t>пов'язані</a:t>
            </a:r>
            <a:r>
              <a:rPr sz="1800" b="0" dirty="0">
                <a:solidFill>
                  <a:srgbClr val="192D3B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92D3B"/>
                </a:solidFill>
                <a:latin typeface="Onest"/>
                <a:ea typeface="Onest"/>
                <a:cs typeface="Onest"/>
              </a:rPr>
              <a:t>класи</a:t>
            </a:r>
            <a:r>
              <a:rPr sz="1800" b="0" dirty="0">
                <a:solidFill>
                  <a:srgbClr val="192D3B"/>
                </a:solidFill>
                <a:latin typeface="Onest"/>
                <a:ea typeface="Onest"/>
                <a:cs typeface="Onest"/>
              </a:rPr>
              <a:t> та </a:t>
            </a:r>
            <a:r>
              <a:rPr sz="1800" b="0" dirty="0" err="1">
                <a:solidFill>
                  <a:srgbClr val="192D3B"/>
                </a:solidFill>
                <a:latin typeface="Onest"/>
                <a:ea typeface="Onest"/>
                <a:cs typeface="Onest"/>
              </a:rPr>
              <a:t>один</a:t>
            </a:r>
            <a:r>
              <a:rPr sz="1800" b="0" dirty="0">
                <a:solidFill>
                  <a:srgbClr val="192D3B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92D3B"/>
                </a:solidFill>
                <a:latin typeface="Onest"/>
                <a:ea typeface="Onest"/>
                <a:cs typeface="Onest"/>
              </a:rPr>
              <a:t>сценарій</a:t>
            </a:r>
            <a:r>
              <a:rPr sz="1800" b="0" dirty="0">
                <a:solidFill>
                  <a:srgbClr val="192D3B"/>
                </a:solidFill>
                <a:latin typeface="Onest"/>
                <a:ea typeface="Onest"/>
                <a:cs typeface="Onest"/>
              </a:rPr>
              <a:t> для Python.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5936003-689E-48F3-9775-FE9118A25796}"/>
              </a:ext>
            </a:extLst>
          </p:cNvPr>
          <p:cNvSpPr>
            <a:spLocks noGrp="1"/>
          </p:cNvSpPr>
          <p:nvPr/>
        </p:nvSpPr>
        <p:spPr>
          <a:xfrm>
            <a:off x="723900" y="25717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002804-8949-48BF-BC16-A80BA9655CDB}"/>
              </a:ext>
            </a:extLst>
          </p:cNvPr>
          <p:cNvSpPr>
            <a:spLocks noGrp="1"/>
          </p:cNvSpPr>
          <p:nvPr/>
        </p:nvSpPr>
        <p:spPr>
          <a:xfrm>
            <a:off x="833107" y="2647950"/>
            <a:ext cx="323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1500" b="1" dirty="0">
                <a:solidFill>
                  <a:srgbClr val="FFFFFF"/>
                </a:solidFill>
                <a:latin typeface="Onest"/>
                <a:ea typeface="Onest"/>
                <a:cs typeface="Onest"/>
              </a:rPr>
              <a:t>01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C1E3F2-B0C2-4980-9A0B-5CDC000B3960}"/>
              </a:ext>
            </a:extLst>
          </p:cNvPr>
          <p:cNvSpPr>
            <a:spLocks noGrp="1"/>
          </p:cNvSpPr>
          <p:nvPr/>
        </p:nvSpPr>
        <p:spPr>
          <a:xfrm>
            <a:off x="1371600" y="2609850"/>
            <a:ext cx="9277350" cy="3286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Позначте мінімальні атрибути й методи для цього сценарію.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9E10B8D-987D-49A4-941E-9707FB91430A}"/>
              </a:ext>
            </a:extLst>
          </p:cNvPr>
          <p:cNvSpPr>
            <a:spLocks noGrp="1"/>
          </p:cNvSpPr>
          <p:nvPr/>
        </p:nvSpPr>
        <p:spPr>
          <a:xfrm>
            <a:off x="723900" y="32004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E8795B3-A028-44AC-A7D3-7D3687B92FCD}"/>
              </a:ext>
            </a:extLst>
          </p:cNvPr>
          <p:cNvSpPr>
            <a:spLocks noGrp="1"/>
          </p:cNvSpPr>
          <p:nvPr/>
        </p:nvSpPr>
        <p:spPr>
          <a:xfrm>
            <a:off x="833107" y="3276600"/>
            <a:ext cx="323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1500" b="1">
                <a:solidFill>
                  <a:srgbClr val="FFFFFF"/>
                </a:solidFill>
                <a:latin typeface="Onest"/>
                <a:ea typeface="Onest"/>
                <a:cs typeface="Onest"/>
              </a:rPr>
              <a:t>02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91AF4C4-967E-4166-8ACE-D2B8F1AEC57C}"/>
              </a:ext>
            </a:extLst>
          </p:cNvPr>
          <p:cNvSpPr>
            <a:spLocks noGrp="1"/>
          </p:cNvSpPr>
          <p:nvPr/>
        </p:nvSpPr>
        <p:spPr>
          <a:xfrm>
            <a:off x="1371600" y="3238500"/>
            <a:ext cx="9277350" cy="3286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Вкажіть початковий стан і очікуваний результат.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415F1A28-BD66-4DCE-A426-DF9941E82355}"/>
              </a:ext>
            </a:extLst>
          </p:cNvPr>
          <p:cNvSpPr>
            <a:spLocks noGrp="1"/>
          </p:cNvSpPr>
          <p:nvPr/>
        </p:nvSpPr>
        <p:spPr>
          <a:xfrm>
            <a:off x="723900" y="38290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04C17A-5153-4753-B89E-C66412EF9D38}"/>
              </a:ext>
            </a:extLst>
          </p:cNvPr>
          <p:cNvSpPr>
            <a:spLocks noGrp="1"/>
          </p:cNvSpPr>
          <p:nvPr/>
        </p:nvSpPr>
        <p:spPr>
          <a:xfrm>
            <a:off x="833107" y="3905250"/>
            <a:ext cx="3238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1500" b="1" dirty="0">
                <a:solidFill>
                  <a:srgbClr val="FFFFFF"/>
                </a:solidFill>
                <a:latin typeface="Onest"/>
                <a:ea typeface="Onest"/>
                <a:cs typeface="Onest"/>
              </a:rPr>
              <a:t>03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27C42F9-A72F-4E44-AF43-5907F3341C01}"/>
              </a:ext>
            </a:extLst>
          </p:cNvPr>
          <p:cNvSpPr>
            <a:spLocks noGrp="1"/>
          </p:cNvSpPr>
          <p:nvPr/>
        </p:nvSpPr>
        <p:spPr>
          <a:xfrm>
            <a:off x="1371600" y="3867150"/>
            <a:ext cx="9277350" cy="3286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Підготуйте коротке пояснення вибору.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52615328-D780-4BF7-A05C-3163D8AB57C7}"/>
              </a:ext>
            </a:extLst>
          </p:cNvPr>
          <p:cNvSpPr>
            <a:spLocks noGrp="1"/>
          </p:cNvSpPr>
          <p:nvPr/>
        </p:nvSpPr>
        <p:spPr>
          <a:xfrm>
            <a:off x="723900" y="5010150"/>
            <a:ext cx="5238750" cy="11906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95171F-6E0E-4117-AE03-2BD782342116}"/>
              </a:ext>
            </a:extLst>
          </p:cNvPr>
          <p:cNvSpPr>
            <a:spLocks noGrp="1"/>
          </p:cNvSpPr>
          <p:nvPr/>
        </p:nvSpPr>
        <p:spPr>
          <a:xfrm>
            <a:off x="723900" y="5010150"/>
            <a:ext cx="47625" cy="1190625"/>
          </a:xfrm>
          <a:prstGeom prst="rect">
            <a:avLst/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9546829-C5B6-48F0-8530-21FBE4462297}"/>
              </a:ext>
            </a:extLst>
          </p:cNvPr>
          <p:cNvSpPr>
            <a:spLocks noGrp="1"/>
          </p:cNvSpPr>
          <p:nvPr/>
        </p:nvSpPr>
        <p:spPr>
          <a:xfrm>
            <a:off x="952500" y="5191125"/>
            <a:ext cx="47815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Рішення команди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A4DC94F-7AAC-45E7-808F-22A6CC25D561}"/>
              </a:ext>
            </a:extLst>
          </p:cNvPr>
          <p:cNvSpPr>
            <a:spLocks noGrp="1"/>
          </p:cNvSpPr>
          <p:nvPr/>
        </p:nvSpPr>
        <p:spPr>
          <a:xfrm>
            <a:off x="952500" y="5724525"/>
            <a:ext cx="4781550" cy="3154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0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Збережіть у domain.md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F30BFC3D-9DC1-45AC-BF64-571183D30363}"/>
              </a:ext>
            </a:extLst>
          </p:cNvPr>
          <p:cNvSpPr>
            <a:spLocks noGrp="1"/>
          </p:cNvSpPr>
          <p:nvPr/>
        </p:nvSpPr>
        <p:spPr>
          <a:xfrm>
            <a:off x="6229350" y="5010150"/>
            <a:ext cx="5238750" cy="119062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6E97EE8-6217-4DDD-AD98-A53A788CD902}"/>
              </a:ext>
            </a:extLst>
          </p:cNvPr>
          <p:cNvSpPr>
            <a:spLocks noGrp="1"/>
          </p:cNvSpPr>
          <p:nvPr/>
        </p:nvSpPr>
        <p:spPr>
          <a:xfrm>
            <a:off x="6229350" y="5010150"/>
            <a:ext cx="47625" cy="1190625"/>
          </a:xfrm>
          <a:prstGeom prst="rect">
            <a:avLst/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71E5AE7-CDDB-4F89-968E-9176E521D610}"/>
              </a:ext>
            </a:extLst>
          </p:cNvPr>
          <p:cNvSpPr>
            <a:spLocks noGrp="1"/>
          </p:cNvSpPr>
          <p:nvPr/>
        </p:nvSpPr>
        <p:spPr>
          <a:xfrm>
            <a:off x="6457950" y="5191125"/>
            <a:ext cx="47815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Наступний крок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BA14812-E65B-430E-952F-D3B2F8028A63}"/>
              </a:ext>
            </a:extLst>
          </p:cNvPr>
          <p:cNvSpPr>
            <a:spLocks noGrp="1"/>
          </p:cNvSpPr>
          <p:nvPr/>
        </p:nvSpPr>
        <p:spPr>
          <a:xfrm>
            <a:off x="6457950" y="5724525"/>
            <a:ext cx="4781550" cy="30232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7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72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72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Кожен самостійно пише project_model.py</a:t>
            </a:r>
          </a:p>
        </p:txBody>
      </p:sp>
    </p:spTree>
    <p:extLst>
      <p:ext uri="{BB962C8B-B14F-4D97-AF65-F5344CB8AC3E}">
        <p14:creationId xmlns:p14="http://schemas.microsoft.com/office/powerpoint/2010/main" val="9241754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0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3A71CDA8-97FF-4F31-9FD3-5BB8536754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550" y="504825"/>
            <a:ext cx="514350" cy="5143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899CFBA-9369-4520-9317-F6A646920A1A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9763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192D3B"/>
                </a:solidFill>
                <a:latin typeface="Onest"/>
                <a:ea typeface="Onest"/>
                <a:cs typeface="Onest"/>
              </a:rPr>
              <a:t>Самостійно: від ідеї до класів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4B9AE-E436-4A28-B96F-A9F61A04445B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pPr>
            <a:r>
              <a:rPr sz="1050" b="0">
                <a:solidFill>
                  <a:srgbClr val="566A78"/>
                </a:solidFill>
                <a:latin typeface="Onest"/>
                <a:ea typeface="Onest"/>
                <a:cs typeface="Onest"/>
              </a:rPr>
              <a:t>26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7C2890-DDB8-4647-80A1-62CD7610FF8F}"/>
              </a:ext>
            </a:extLst>
          </p:cNvPr>
          <p:cNvSpPr>
            <a:spLocks noGrp="1"/>
          </p:cNvSpPr>
          <p:nvPr/>
        </p:nvSpPr>
        <p:spPr>
          <a:xfrm>
            <a:off x="723900" y="1381125"/>
            <a:ext cx="107442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10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2100" b="1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Використайте </a:t>
            </a:r>
            <a:r>
              <a:rPr sz="2100" b="1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результат</a:t>
            </a:r>
            <a:r>
              <a:rPr sz="2100" b="1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 </a:t>
            </a:r>
            <a:r>
              <a:rPr sz="2100" b="1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штурму</a:t>
            </a:r>
            <a:r>
              <a:rPr sz="2100" b="1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 </a:t>
            </a:r>
            <a:r>
              <a:rPr sz="2100" b="1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своєї</a:t>
            </a:r>
            <a:r>
              <a:rPr sz="2100" b="1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 </a:t>
            </a:r>
            <a:r>
              <a:rPr sz="2100" b="1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команди</a:t>
            </a:r>
            <a:endParaRPr sz="2100" b="1" dirty="0">
              <a:solidFill>
                <a:srgbClr val="1B6C57"/>
              </a:solidFill>
              <a:latin typeface="Onest"/>
              <a:ea typeface="Onest"/>
              <a:cs typeface="Onest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3B110D9-9970-4B46-AF84-337591CD984C}"/>
              </a:ext>
            </a:extLst>
          </p:cNvPr>
          <p:cNvSpPr>
            <a:spLocks noGrp="1"/>
          </p:cNvSpPr>
          <p:nvPr/>
        </p:nvSpPr>
        <p:spPr>
          <a:xfrm>
            <a:off x="723900" y="2352675"/>
            <a:ext cx="5238750" cy="283845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F8AFB2-52FB-4BF2-93CE-FEFDB13EF2E5}"/>
              </a:ext>
            </a:extLst>
          </p:cNvPr>
          <p:cNvSpPr>
            <a:spLocks noGrp="1"/>
          </p:cNvSpPr>
          <p:nvPr/>
        </p:nvSpPr>
        <p:spPr>
          <a:xfrm>
            <a:off x="723900" y="2352675"/>
            <a:ext cx="47625" cy="2838450"/>
          </a:xfrm>
          <a:prstGeom prst="rect">
            <a:avLst/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2F64F7-D51C-49F2-814A-CBC736B9F9C6}"/>
              </a:ext>
            </a:extLst>
          </p:cNvPr>
          <p:cNvSpPr>
            <a:spLocks noGrp="1"/>
          </p:cNvSpPr>
          <p:nvPr/>
        </p:nvSpPr>
        <p:spPr>
          <a:xfrm>
            <a:off x="952500" y="2533650"/>
            <a:ext cx="47815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Особиста реалізація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8814E0-52C9-47A8-A63F-11873B450B40}"/>
              </a:ext>
            </a:extLst>
          </p:cNvPr>
          <p:cNvSpPr>
            <a:spLocks noGrp="1"/>
          </p:cNvSpPr>
          <p:nvPr/>
        </p:nvSpPr>
        <p:spPr>
          <a:xfrm>
            <a:off x="952500" y="3067050"/>
            <a:ext cx="4781550" cy="3286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Два пов'язані класи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5F739C-E22F-4AB4-8112-53765EE6BAC9}"/>
              </a:ext>
            </a:extLst>
          </p:cNvPr>
          <p:cNvSpPr>
            <a:spLocks noGrp="1"/>
          </p:cNvSpPr>
          <p:nvPr/>
        </p:nvSpPr>
        <p:spPr>
          <a:xfrm>
            <a:off x="952500" y="3490913"/>
            <a:ext cx="4781550" cy="3286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у project_model.py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B6D4F27-07E4-47B0-B3BB-2FA69668969B}"/>
              </a:ext>
            </a:extLst>
          </p:cNvPr>
          <p:cNvSpPr>
            <a:spLocks noGrp="1"/>
          </p:cNvSpPr>
          <p:nvPr/>
        </p:nvSpPr>
        <p:spPr>
          <a:xfrm>
            <a:off x="952500" y="3914775"/>
            <a:ext cx="4781550" cy="3286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__init__, атрибути та методи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499A19-C462-40AE-9CD3-387C2C1AEF33}"/>
              </a:ext>
            </a:extLst>
          </p:cNvPr>
          <p:cNvSpPr>
            <a:spLocks noGrp="1"/>
          </p:cNvSpPr>
          <p:nvPr/>
        </p:nvSpPr>
        <p:spPr>
          <a:xfrm>
            <a:off x="952500" y="4338638"/>
            <a:ext cx="4781550" cy="3286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Конкретні об'єкти й сценарій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A76D25A-9C69-43A1-AE86-03AED66673E8}"/>
              </a:ext>
            </a:extLst>
          </p:cNvPr>
          <p:cNvSpPr>
            <a:spLocks noGrp="1"/>
          </p:cNvSpPr>
          <p:nvPr/>
        </p:nvSpPr>
        <p:spPr>
          <a:xfrm>
            <a:off x="6229350" y="2352675"/>
            <a:ext cx="5238750" cy="283845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70E9F0-6B4D-4F96-A716-468CB8306C03}"/>
              </a:ext>
            </a:extLst>
          </p:cNvPr>
          <p:cNvSpPr>
            <a:spLocks noGrp="1"/>
          </p:cNvSpPr>
          <p:nvPr/>
        </p:nvSpPr>
        <p:spPr>
          <a:xfrm>
            <a:off x="6229350" y="2352675"/>
            <a:ext cx="47625" cy="2838450"/>
          </a:xfrm>
          <a:prstGeom prst="rect">
            <a:avLst/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9764810-E1F5-411A-8E87-E270F2C199FA}"/>
              </a:ext>
            </a:extLst>
          </p:cNvPr>
          <p:cNvSpPr>
            <a:spLocks noGrp="1"/>
          </p:cNvSpPr>
          <p:nvPr/>
        </p:nvSpPr>
        <p:spPr>
          <a:xfrm>
            <a:off x="6457950" y="2533650"/>
            <a:ext cx="47815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Перевірки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B09603-0188-4B54-A03F-56EE8B7CB5A4}"/>
              </a:ext>
            </a:extLst>
          </p:cNvPr>
          <p:cNvSpPr>
            <a:spLocks noGrp="1"/>
          </p:cNvSpPr>
          <p:nvPr/>
        </p:nvSpPr>
        <p:spPr>
          <a:xfrm>
            <a:off x="6457950" y="3067050"/>
            <a:ext cx="4781550" cy="3286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Початковий стан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E5E5CAE-68F1-4651-B20C-A5FA0908113D}"/>
              </a:ext>
            </a:extLst>
          </p:cNvPr>
          <p:cNvSpPr>
            <a:spLocks noGrp="1"/>
          </p:cNvSpPr>
          <p:nvPr/>
        </p:nvSpPr>
        <p:spPr>
          <a:xfrm>
            <a:off x="6457950" y="3490913"/>
            <a:ext cx="4781550" cy="3286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Звичайна дія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9F47D4-915F-4913-A71A-CCB345EEFC57}"/>
              </a:ext>
            </a:extLst>
          </p:cNvPr>
          <p:cNvSpPr>
            <a:spLocks noGrp="1"/>
          </p:cNvSpPr>
          <p:nvPr/>
        </p:nvSpPr>
        <p:spPr>
          <a:xfrm>
            <a:off x="6457950" y="3914775"/>
            <a:ext cx="4781550" cy="3286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Граничний випадок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AABB6F-3DDC-45AB-9933-6E7F26287816}"/>
              </a:ext>
            </a:extLst>
          </p:cNvPr>
          <p:cNvSpPr>
            <a:spLocks noGrp="1"/>
          </p:cNvSpPr>
          <p:nvPr/>
        </p:nvSpPr>
        <p:spPr>
          <a:xfrm>
            <a:off x="6457950" y="4338638"/>
            <a:ext cx="4781550" cy="3286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Незалежність стану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BA6D761-A749-4155-8319-DAC01AAC22BC}"/>
              </a:ext>
            </a:extLst>
          </p:cNvPr>
          <p:cNvSpPr>
            <a:spLocks noGrp="1"/>
          </p:cNvSpPr>
          <p:nvPr/>
        </p:nvSpPr>
        <p:spPr>
          <a:xfrm>
            <a:off x="6457950" y="4762500"/>
            <a:ext cx="4781550" cy="32861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двох екземплярів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AFC2E156-29A4-454A-9745-76110EB54BD0}"/>
              </a:ext>
            </a:extLst>
          </p:cNvPr>
          <p:cNvSpPr>
            <a:spLocks noGrp="1"/>
          </p:cNvSpPr>
          <p:nvPr/>
        </p:nvSpPr>
        <p:spPr>
          <a:xfrm>
            <a:off x="723900" y="5600700"/>
            <a:ext cx="10744200" cy="619125"/>
          </a:xfrm>
          <a:prstGeom prst="roundRect">
            <a:avLst>
              <a:gd name="adj" fmla="val 15385"/>
            </a:avLst>
          </a:prstGeom>
          <a:solidFill>
            <a:srgbClr val="E8F3ED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693D63E-1C7D-4360-B917-8B4C7CF25C1D}"/>
              </a:ext>
            </a:extLst>
          </p:cNvPr>
          <p:cNvSpPr>
            <a:spLocks noGrp="1"/>
          </p:cNvSpPr>
          <p:nvPr/>
        </p:nvSpPr>
        <p:spPr>
          <a:xfrm>
            <a:off x="933450" y="5743575"/>
            <a:ext cx="103251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00" b="0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lang="uk-UA" sz="1800" b="0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О</a:t>
            </a:r>
            <a:r>
              <a:rPr sz="1800" b="0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собистий</a:t>
            </a:r>
            <a:r>
              <a:rPr sz="1800" b="0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 файл, </a:t>
            </a:r>
            <a:r>
              <a:rPr sz="1800" b="0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вивід</a:t>
            </a:r>
            <a:r>
              <a:rPr sz="1800" b="0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 і </a:t>
            </a:r>
            <a:r>
              <a:rPr sz="1800" b="0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пояснення</a:t>
            </a:r>
            <a:r>
              <a:rPr sz="1800" b="0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власного</a:t>
            </a:r>
            <a:r>
              <a:rPr sz="1800" b="0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 </a:t>
            </a:r>
            <a:r>
              <a:rPr sz="1800" b="0" dirty="0" err="1">
                <a:solidFill>
                  <a:srgbClr val="1B6C57"/>
                </a:solidFill>
                <a:latin typeface="Onest"/>
                <a:ea typeface="Onest"/>
                <a:cs typeface="Onest"/>
              </a:rPr>
              <a:t>рішення</a:t>
            </a:r>
            <a:r>
              <a:rPr sz="1800" b="0" dirty="0">
                <a:solidFill>
                  <a:srgbClr val="1B6C57"/>
                </a:solidFill>
                <a:latin typeface="Onest"/>
                <a:ea typeface="Onest"/>
                <a:cs typeface="Ones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492433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C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phic 16">
            <a:extLst>
              <a:ext uri="{FF2B5EF4-FFF2-40B4-BE49-F238E27FC236}">
                <a16:creationId xmlns:a16="http://schemas.microsoft.com/office/drawing/2014/main" id="{6FBED9DA-7719-47C7-8D5A-9BFE09190A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550" y="504825"/>
            <a:ext cx="514350" cy="51435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FAB9295-D6E0-49F7-A873-6D98FB16098A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9763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700" b="1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FFFFFF"/>
                </a:solidFill>
                <a:latin typeface="Onest"/>
                <a:ea typeface="Onest"/>
                <a:cs typeface="Onest"/>
              </a:rPr>
              <a:t>Зберігаємо результат і називаємо користь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207876-FCC1-4802-A13E-8C2925B0FB63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91D6B5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050" b="0">
                <a:solidFill>
                  <a:srgbClr val="91D6B5"/>
                </a:solidFill>
                <a:latin typeface="Onest"/>
                <a:ea typeface="Onest"/>
                <a:cs typeface="Onest"/>
              </a:defRPr>
            </a:pPr>
            <a:r>
              <a:rPr sz="1050" b="0">
                <a:solidFill>
                  <a:srgbClr val="91D6B5"/>
                </a:solidFill>
                <a:latin typeface="Onest"/>
                <a:ea typeface="Onest"/>
                <a:cs typeface="Onest"/>
              </a:rPr>
              <a:t>27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6A9F55-EAA7-4D77-BDC1-08EE309430CB}"/>
              </a:ext>
            </a:extLst>
          </p:cNvPr>
          <p:cNvSpPr>
            <a:spLocks noGrp="1"/>
          </p:cNvSpPr>
          <p:nvPr/>
        </p:nvSpPr>
        <p:spPr>
          <a:xfrm>
            <a:off x="723900" y="1390650"/>
            <a:ext cx="107442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1">
                <a:solidFill>
                  <a:srgbClr val="91D6B5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100" b="1">
                <a:solidFill>
                  <a:srgbClr val="91D6B5"/>
                </a:solidFill>
                <a:latin typeface="Onest"/>
                <a:ea typeface="Onest"/>
                <a:cs typeface="Onest"/>
              </a:defRPr>
            </a:pPr>
            <a:r>
              <a:rPr sz="2100" b="1">
                <a:solidFill>
                  <a:srgbClr val="91D6B5"/>
                </a:solidFill>
                <a:latin typeface="Onest"/>
                <a:ea typeface="Onest"/>
                <a:cs typeface="Onest"/>
              </a:rPr>
              <a:t>Збережіть результати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6091AE5-2A34-4E67-8226-DE8BC7E7F4A0}"/>
              </a:ext>
            </a:extLst>
          </p:cNvPr>
          <p:cNvSpPr>
            <a:spLocks noGrp="1"/>
          </p:cNvSpPr>
          <p:nvPr/>
        </p:nvSpPr>
        <p:spPr>
          <a:xfrm>
            <a:off x="723900" y="2085975"/>
            <a:ext cx="3390900" cy="72390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4C90517-EE8D-420F-BF17-5E194C6582F6}"/>
              </a:ext>
            </a:extLst>
          </p:cNvPr>
          <p:cNvSpPr>
            <a:spLocks noGrp="1"/>
          </p:cNvSpPr>
          <p:nvPr/>
        </p:nvSpPr>
        <p:spPr>
          <a:xfrm>
            <a:off x="914400" y="2305050"/>
            <a:ext cx="3009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domain.md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89B9037-4B57-41B9-85B9-9F7F57AFBFB2}"/>
              </a:ext>
            </a:extLst>
          </p:cNvPr>
          <p:cNvSpPr>
            <a:spLocks noGrp="1"/>
          </p:cNvSpPr>
          <p:nvPr/>
        </p:nvSpPr>
        <p:spPr>
          <a:xfrm>
            <a:off x="4400550" y="2085975"/>
            <a:ext cx="3390900" cy="723900"/>
          </a:xfrm>
          <a:prstGeom prst="roundRect">
            <a:avLst>
              <a:gd name="adj" fmla="val 13158"/>
            </a:avLst>
          </a:prstGeom>
          <a:solidFill>
            <a:srgbClr val="E8F3ED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971A86-0BBB-46E0-817D-86238E566146}"/>
              </a:ext>
            </a:extLst>
          </p:cNvPr>
          <p:cNvSpPr>
            <a:spLocks noGrp="1"/>
          </p:cNvSpPr>
          <p:nvPr/>
        </p:nvSpPr>
        <p:spPr>
          <a:xfrm>
            <a:off x="4591050" y="2305050"/>
            <a:ext cx="3009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model.py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9FA8708-1D01-48FC-BC00-F802292FCA65}"/>
              </a:ext>
            </a:extLst>
          </p:cNvPr>
          <p:cNvSpPr>
            <a:spLocks noGrp="1"/>
          </p:cNvSpPr>
          <p:nvPr/>
        </p:nvSpPr>
        <p:spPr>
          <a:xfrm>
            <a:off x="8077200" y="2085975"/>
            <a:ext cx="3390900" cy="723900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57BFB59-8A93-4735-8823-78462775D16B}"/>
              </a:ext>
            </a:extLst>
          </p:cNvPr>
          <p:cNvSpPr>
            <a:spLocks noGrp="1"/>
          </p:cNvSpPr>
          <p:nvPr/>
        </p:nvSpPr>
        <p:spPr>
          <a:xfrm>
            <a:off x="8267700" y="2305050"/>
            <a:ext cx="3009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project_model.py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35F55B-BE6D-4EFA-9333-BB5B8ADD1437}"/>
              </a:ext>
            </a:extLst>
          </p:cNvPr>
          <p:cNvSpPr>
            <a:spLocks noGrp="1"/>
          </p:cNvSpPr>
          <p:nvPr/>
        </p:nvSpPr>
        <p:spPr>
          <a:xfrm>
            <a:off x="723900" y="3333750"/>
            <a:ext cx="10744200" cy="3811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0">
                <a:solidFill>
                  <a:srgbClr val="FFFFFF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175" b="0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2175" b="0">
                <a:solidFill>
                  <a:srgbClr val="FFFFFF"/>
                </a:solidFill>
                <a:latin typeface="Onest"/>
                <a:ea typeface="Onest"/>
                <a:cs typeface="Onest"/>
              </a:rPr>
              <a:t>Який стан тепер належить конкретному об'єкту?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CEEEC55-70E1-4A73-9788-A264362C011C}"/>
              </a:ext>
            </a:extLst>
          </p:cNvPr>
          <p:cNvSpPr>
            <a:spLocks noGrp="1"/>
          </p:cNvSpPr>
          <p:nvPr/>
        </p:nvSpPr>
        <p:spPr>
          <a:xfrm>
            <a:off x="723900" y="3943541"/>
            <a:ext cx="10744200" cy="3811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0">
                <a:solidFill>
                  <a:srgbClr val="FFFFFF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175" b="0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2175" b="0">
                <a:solidFill>
                  <a:srgbClr val="FFFFFF"/>
                </a:solidFill>
                <a:latin typeface="Onest"/>
                <a:ea typeface="Onest"/>
                <a:cs typeface="Onest"/>
              </a:rPr>
              <a:t>Яка перевірка виявила б спільний список?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21C6C8A-8A9B-4604-804E-05812CCFC8B9}"/>
              </a:ext>
            </a:extLst>
          </p:cNvPr>
          <p:cNvSpPr>
            <a:spLocks noGrp="1"/>
          </p:cNvSpPr>
          <p:nvPr/>
        </p:nvSpPr>
        <p:spPr>
          <a:xfrm>
            <a:off x="723900" y="4553331"/>
            <a:ext cx="10744200" cy="3811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0">
                <a:solidFill>
                  <a:srgbClr val="FFFFFF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175" b="0">
                <a:solidFill>
                  <a:srgbClr val="FFFFFF"/>
                </a:solidFill>
                <a:latin typeface="Onest"/>
                <a:ea typeface="Onest"/>
                <a:cs typeface="Onest"/>
              </a:defRPr>
            </a:pPr>
            <a:r>
              <a:rPr sz="2175" b="0">
                <a:solidFill>
                  <a:srgbClr val="FFFFFF"/>
                </a:solidFill>
                <a:latin typeface="Onest"/>
                <a:ea typeface="Onest"/>
                <a:cs typeface="Onest"/>
              </a:rPr>
              <a:t>Де ця модель стане частиною вашого проєкту?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B91E6D9-E44B-48C4-ADCB-7EF099E5A49B}"/>
              </a:ext>
            </a:extLst>
          </p:cNvPr>
          <p:cNvSpPr>
            <a:spLocks noGrp="1"/>
          </p:cNvSpPr>
          <p:nvPr/>
        </p:nvSpPr>
        <p:spPr>
          <a:xfrm>
            <a:off x="723900" y="5676900"/>
            <a:ext cx="107442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1">
                <a:solidFill>
                  <a:srgbClr val="91D6B5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100" b="1">
                <a:solidFill>
                  <a:srgbClr val="91D6B5"/>
                </a:solidFill>
                <a:latin typeface="Onest"/>
                <a:ea typeface="Onest"/>
                <a:cs typeface="Onest"/>
              </a:defRPr>
            </a:pPr>
            <a:r>
              <a:rPr sz="2100" b="1">
                <a:solidFill>
                  <a:srgbClr val="91D6B5"/>
                </a:solidFill>
                <a:latin typeface="Onest"/>
                <a:ea typeface="Onest"/>
                <a:cs typeface="Onest"/>
              </a:rPr>
              <a:t>Далі: контроль зміни стану, інкапсуляція та властивості</a:t>
            </a:r>
          </a:p>
        </p:txBody>
      </p:sp>
    </p:spTree>
    <p:extLst>
      <p:ext uri="{BB962C8B-B14F-4D97-AF65-F5344CB8AC3E}">
        <p14:creationId xmlns:p14="http://schemas.microsoft.com/office/powerpoint/2010/main" val="9241754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2"/>
          <a:srcRect l="1001" r="1000"/>
          <a:stretch>
            <a:fillRect/>
          </a:stretch>
        </p:blipFill>
        <p:spPr>
          <a:xfrm>
            <a:off x="-190529" y="-236292"/>
            <a:ext cx="12502692" cy="7176332"/>
          </a:xfrm>
          <a:prstGeom prst="roundRect">
            <a:avLst>
              <a:gd name="adj" fmla="val 1770"/>
            </a:avLst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15C14058-B179-4155-A597-700376F9E4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550" y="504825"/>
            <a:ext cx="514350" cy="5143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357C0D0-BED8-4404-8215-F767A865BCC3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9763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700" b="1" dirty="0" err="1">
                <a:solidFill>
                  <a:srgbClr val="192D3B"/>
                </a:solidFill>
                <a:latin typeface="Onest"/>
                <a:ea typeface="Onest"/>
                <a:cs typeface="Onest"/>
              </a:rPr>
              <a:t>Домашнє</a:t>
            </a:r>
            <a:r>
              <a:rPr lang="uk-UA" sz="2700" b="1" dirty="0">
                <a:solidFill>
                  <a:srgbClr val="192D3B"/>
                </a:solidFill>
                <a:latin typeface="Onest"/>
                <a:ea typeface="Onest"/>
                <a:cs typeface="Onest"/>
              </a:rPr>
              <a:t> завдання</a:t>
            </a:r>
            <a:r>
              <a:rPr sz="2700" b="1" dirty="0">
                <a:solidFill>
                  <a:srgbClr val="192D3B"/>
                </a:solidFill>
                <a:latin typeface="Onest"/>
                <a:ea typeface="Onest"/>
                <a:cs typeface="Onest"/>
              </a:rPr>
              <a:t>: </a:t>
            </a:r>
            <a:r>
              <a:rPr sz="2700" b="1" dirty="0" err="1">
                <a:solidFill>
                  <a:srgbClr val="192D3B"/>
                </a:solidFill>
                <a:latin typeface="Onest"/>
                <a:ea typeface="Onest"/>
                <a:cs typeface="Onest"/>
              </a:rPr>
              <a:t>модель</a:t>
            </a:r>
            <a:r>
              <a:rPr sz="2700" b="1" dirty="0">
                <a:solidFill>
                  <a:srgbClr val="192D3B"/>
                </a:solidFill>
                <a:latin typeface="Onest"/>
                <a:ea typeface="Onest"/>
                <a:cs typeface="Onest"/>
              </a:rPr>
              <a:t> </a:t>
            </a:r>
            <a:r>
              <a:rPr sz="2700" b="1" dirty="0" err="1">
                <a:solidFill>
                  <a:srgbClr val="192D3B"/>
                </a:solidFill>
                <a:latin typeface="Onest"/>
                <a:ea typeface="Onest"/>
                <a:cs typeface="Onest"/>
              </a:rPr>
              <a:t>власного</a:t>
            </a:r>
            <a:r>
              <a:rPr sz="2700" b="1" dirty="0">
                <a:solidFill>
                  <a:srgbClr val="192D3B"/>
                </a:solidFill>
                <a:latin typeface="Onest"/>
                <a:ea typeface="Onest"/>
                <a:cs typeface="Onest"/>
              </a:rPr>
              <a:t> </a:t>
            </a:r>
            <a:r>
              <a:rPr sz="2700" b="1" dirty="0" err="1">
                <a:solidFill>
                  <a:srgbClr val="192D3B"/>
                </a:solidFill>
                <a:latin typeface="Onest"/>
                <a:ea typeface="Onest"/>
                <a:cs typeface="Onest"/>
              </a:rPr>
              <a:t>проєкту</a:t>
            </a:r>
            <a:endParaRPr sz="2700" b="1" dirty="0">
              <a:solidFill>
                <a:srgbClr val="192D3B"/>
              </a:solidFill>
              <a:latin typeface="Onest"/>
              <a:ea typeface="Onest"/>
              <a:cs typeface="Ones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BD3021D-CC1B-4EEB-9BDC-3CE6C8D1B1CB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pPr>
            <a:r>
              <a:rPr sz="1050" b="0">
                <a:solidFill>
                  <a:srgbClr val="566A78"/>
                </a:solidFill>
                <a:latin typeface="Onest"/>
                <a:ea typeface="Onest"/>
                <a:cs typeface="Onest"/>
              </a:rPr>
              <a:t>28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46B32F4-CB3D-4AC1-B5DF-38306F85008B}"/>
              </a:ext>
            </a:extLst>
          </p:cNvPr>
          <p:cNvGraphicFramePr/>
          <p:nvPr/>
        </p:nvGraphicFramePr>
        <p:xfrm>
          <a:off x="723900" y="1428750"/>
          <a:ext cx="10744200" cy="3238500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9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Onest"/>
                          <a:ea typeface="Onest"/>
                          <a:cs typeface="Onest"/>
                        </a:rPr>
                        <a:t>Частина роботи</a:t>
                      </a:r>
                    </a:p>
                  </a:txBody>
                  <a:tcPr>
                    <a:lnL w="9525">
                      <a:solidFill>
                        <a:srgbClr val="B9CDC6"/>
                      </a:solidFill>
                      <a:prstDash val="soli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>
                      <a:solidFill>
                        <a:srgbClr val="B9CDC6"/>
                      </a:solidFill>
                      <a:prstDash val="soli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1B6C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Onest"/>
                          <a:ea typeface="Onest"/>
                          <a:cs typeface="Onest"/>
                        </a:rPr>
                        <a:t>Що має бути готово</a:t>
                      </a:r>
                    </a:p>
                  </a:txBody>
                  <a:tcPr>
                    <a:lnL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>
                      <a:solidFill>
                        <a:srgbClr val="B9CDC6"/>
                      </a:solidFill>
                      <a:prstDash val="soli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1B6C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Класи</a:t>
                      </a:r>
                    </a:p>
                  </a:txBody>
                  <a:tcPr>
                    <a:lnL w="9525">
                      <a:solidFill>
                        <a:srgbClr val="B9CDC6"/>
                      </a:solidFill>
                      <a:prstDash val="soli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Два класи власної предметної області</a:t>
                      </a:r>
                    </a:p>
                    <a:p>
                      <a:r>
                        <a:rPr sz="1800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з __init__ та методами</a:t>
                      </a:r>
                    </a:p>
                  </a:txBody>
                  <a:tcPr>
                    <a:lnL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Взаємодія</a:t>
                      </a:r>
                    </a:p>
                  </a:txBody>
                  <a:tcPr>
                    <a:lnL w="9525">
                      <a:solidFill>
                        <a:srgbClr val="B9CDC6"/>
                      </a:solidFill>
                      <a:prstDash val="soli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E8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Зв'язані об'єкти та три сценарії:</a:t>
                      </a:r>
                    </a:p>
                    <a:p>
                      <a:r>
                        <a:rPr sz="1800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початковий стан, звичайна дія, граничний випадок</a:t>
                      </a:r>
                    </a:p>
                  </a:txBody>
                  <a:tcPr>
                    <a:lnL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E8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9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Перевірка</a:t>
                      </a:r>
                    </a:p>
                  </a:txBody>
                  <a:tcPr>
                    <a:lnL w="9525">
                      <a:solidFill>
                        <a:srgbClr val="B9CDC6"/>
                      </a:solidFill>
                      <a:prstDash val="soli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92D3B"/>
                          </a:solidFill>
                          <a:latin typeface="Onest"/>
                          <a:ea typeface="Onest"/>
                          <a:cs typeface="Onest"/>
                        </a:rPr>
                        <a:t>Незалежність стану двох екземплярів</a:t>
                      </a:r>
                    </a:p>
                  </a:txBody>
                  <a:tcPr>
                    <a:lnL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B9CDC6"/>
                      </a:solidFill>
                      <a:prstDash val="solid"/>
                    </a:lnR>
                    <a:lnT w="9525" cap="flat" cmpd="sng" algn="ctr">
                      <a:solidFill>
                        <a:srgbClr val="B9CD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B9CDC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CB03AF8A-01B0-4A39-8F62-DDF8AA2387A9}"/>
              </a:ext>
            </a:extLst>
          </p:cNvPr>
          <p:cNvSpPr>
            <a:spLocks noGrp="1"/>
          </p:cNvSpPr>
          <p:nvPr/>
        </p:nvSpPr>
        <p:spPr>
          <a:xfrm>
            <a:off x="723900" y="4962525"/>
            <a:ext cx="107442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 dirty="0" err="1">
                <a:solidFill>
                  <a:srgbClr val="192D3B"/>
                </a:solidFill>
                <a:latin typeface="Onest"/>
                <a:ea typeface="Onest"/>
                <a:cs typeface="Onest"/>
              </a:rPr>
              <a:t>Зда</a:t>
            </a:r>
            <a:r>
              <a:rPr lang="uk-UA" sz="1875" b="0" dirty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ти </a:t>
            </a:r>
            <a:r>
              <a:rPr sz="1875" b="0" dirty="0">
                <a:solidFill>
                  <a:srgbClr val="192D3B"/>
                </a:solidFill>
                <a:latin typeface="Onest"/>
                <a:ea typeface="Onest"/>
                <a:cs typeface="Onest"/>
              </a:rPr>
              <a:t>Python-файл</a:t>
            </a:r>
            <a:r>
              <a:rPr lang="uk-UA" sz="1875" b="0" dirty="0">
                <a:solidFill>
                  <a:srgbClr val="192D3B"/>
                </a:solidFill>
                <a:latin typeface="Onest"/>
                <a:ea typeface="Onest"/>
                <a:cs typeface="Onest"/>
              </a:rPr>
              <a:t> з рішенням</a:t>
            </a:r>
            <a:r>
              <a:rPr sz="1875" b="0" dirty="0">
                <a:solidFill>
                  <a:srgbClr val="192D3B"/>
                </a:solidFill>
                <a:latin typeface="Onest"/>
                <a:ea typeface="Onest"/>
                <a:cs typeface="Ones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87319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2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3A71CDA8-97FF-4F31-9FD3-5BB8536754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550" y="504825"/>
            <a:ext cx="514350" cy="5143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4D101F2-71E4-48D5-B5F0-4A26166D15D5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9763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192D3B"/>
                </a:solidFill>
                <a:latin typeface="Onest"/>
                <a:ea typeface="Onest"/>
                <a:cs typeface="Onest"/>
              </a:rPr>
              <a:t>Резерв: третій незалежний об'єкт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B07408-C082-49D5-97D8-4C7CC0071D94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pPr>
            <a:r>
              <a:rPr sz="1050" b="0">
                <a:solidFill>
                  <a:srgbClr val="566A78"/>
                </a:solidFill>
                <a:latin typeface="Onest"/>
                <a:ea typeface="Onest"/>
                <a:cs typeface="Onest"/>
              </a:rPr>
              <a:t>30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3FAD5B-3EB3-4754-AFAB-397E9ED756DD}"/>
              </a:ext>
            </a:extLst>
          </p:cNvPr>
          <p:cNvSpPr>
            <a:spLocks noGrp="1"/>
          </p:cNvSpPr>
          <p:nvPr/>
        </p:nvSpPr>
        <p:spPr>
          <a:xfrm>
            <a:off x="723900" y="1409700"/>
            <a:ext cx="10744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875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Необов'язкове завдання для власної моделі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18798A4-408C-4FB7-BAE8-0BDC9AADBE3A}"/>
              </a:ext>
            </a:extLst>
          </p:cNvPr>
          <p:cNvSpPr>
            <a:spLocks noGrp="1"/>
          </p:cNvSpPr>
          <p:nvPr/>
        </p:nvSpPr>
        <p:spPr>
          <a:xfrm>
            <a:off x="723900" y="2114550"/>
            <a:ext cx="10744200" cy="2133600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E5A899-BC01-46F6-B12F-2DCA295998AF}"/>
              </a:ext>
            </a:extLst>
          </p:cNvPr>
          <p:cNvSpPr>
            <a:spLocks noGrp="1"/>
          </p:cNvSpPr>
          <p:nvPr/>
        </p:nvSpPr>
        <p:spPr>
          <a:xfrm>
            <a:off x="723900" y="2114550"/>
            <a:ext cx="47625" cy="2133600"/>
          </a:xfrm>
          <a:prstGeom prst="rect">
            <a:avLst/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A2F0CF-55E5-4237-AE5E-E676C9894FE2}"/>
              </a:ext>
            </a:extLst>
          </p:cNvPr>
          <p:cNvSpPr>
            <a:spLocks noGrp="1"/>
          </p:cNvSpPr>
          <p:nvPr/>
        </p:nvSpPr>
        <p:spPr>
          <a:xfrm>
            <a:off x="952500" y="2295525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Завдання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BBA84B0-E229-4593-A31B-ED3B53C6B525}"/>
              </a:ext>
            </a:extLst>
          </p:cNvPr>
          <p:cNvSpPr>
            <a:spLocks noGrp="1"/>
          </p:cNvSpPr>
          <p:nvPr/>
        </p:nvSpPr>
        <p:spPr>
          <a:xfrm>
            <a:off x="952500" y="2828925"/>
            <a:ext cx="10287000" cy="110413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1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10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Створіть третій об'єкт класу-контейнера своєї моделі. Виконайте дію лише для нього й перевірте, що два попередні об'єкти не змінили стан.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E24DD04-0F55-46A1-A84C-77A332AB06F5}"/>
              </a:ext>
            </a:extLst>
          </p:cNvPr>
          <p:cNvSpPr>
            <a:spLocks noGrp="1"/>
          </p:cNvSpPr>
          <p:nvPr/>
        </p:nvSpPr>
        <p:spPr>
          <a:xfrm>
            <a:off x="723900" y="4572000"/>
            <a:ext cx="10744200" cy="1438275"/>
          </a:xfrm>
          <a:prstGeom prst="roundRect">
            <a:avLst>
              <a:gd name="adj" fmla="val 6623"/>
            </a:avLst>
          </a:prstGeom>
          <a:solidFill>
            <a:srgbClr val="E8F3ED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EA6AD03-8067-4189-B9E7-A23832E4A1C4}"/>
              </a:ext>
            </a:extLst>
          </p:cNvPr>
          <p:cNvSpPr>
            <a:spLocks noGrp="1"/>
          </p:cNvSpPr>
          <p:nvPr/>
        </p:nvSpPr>
        <p:spPr>
          <a:xfrm>
            <a:off x="723900" y="4572000"/>
            <a:ext cx="47625" cy="1438275"/>
          </a:xfrm>
          <a:prstGeom prst="rect">
            <a:avLst/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3823F1-A2FE-4E72-9821-49F6F8951070}"/>
              </a:ext>
            </a:extLst>
          </p:cNvPr>
          <p:cNvSpPr>
            <a:spLocks noGrp="1"/>
          </p:cNvSpPr>
          <p:nvPr/>
        </p:nvSpPr>
        <p:spPr>
          <a:xfrm>
            <a:off x="952500" y="4752975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Критерій готовності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407A78-5DA5-48D4-9141-0BDFA2D0EB5B}"/>
              </a:ext>
            </a:extLst>
          </p:cNvPr>
          <p:cNvSpPr>
            <a:spLocks noGrp="1"/>
          </p:cNvSpPr>
          <p:nvPr/>
        </p:nvSpPr>
        <p:spPr>
          <a:xfrm>
            <a:off x="952500" y="5286375"/>
            <a:ext cx="1028700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Готово, якщо очікуваний і фактичний результат узгоджуються та ви пояснюєте причину.</a:t>
            </a:r>
          </a:p>
        </p:txBody>
      </p:sp>
    </p:spTree>
    <p:extLst>
      <p:ext uri="{BB962C8B-B14F-4D97-AF65-F5344CB8AC3E}">
        <p14:creationId xmlns:p14="http://schemas.microsoft.com/office/powerpoint/2010/main" val="4492433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2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383A681F-CAC3-4640-873A-87ADCE77FB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550" y="504825"/>
            <a:ext cx="514350" cy="5143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81C7C75-7B33-451D-90FC-17325C14D93D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9763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192D3B"/>
                </a:solidFill>
                <a:latin typeface="Onest"/>
                <a:ea typeface="Onest"/>
                <a:cs typeface="Onest"/>
              </a:rPr>
              <a:t>Резерв: посилання чи копія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6D8D88-E004-482D-A694-665A9340BFA4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pPr>
            <a:r>
              <a:rPr sz="1050" b="0">
                <a:solidFill>
                  <a:srgbClr val="566A78"/>
                </a:solidFill>
                <a:latin typeface="Onest"/>
                <a:ea typeface="Onest"/>
                <a:cs typeface="Onest"/>
              </a:rPr>
              <a:t>31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7C7A6C-42CC-4D0B-A5A8-CEAE62B55329}"/>
              </a:ext>
            </a:extLst>
          </p:cNvPr>
          <p:cNvSpPr>
            <a:spLocks noGrp="1"/>
          </p:cNvSpPr>
          <p:nvPr/>
        </p:nvSpPr>
        <p:spPr>
          <a:xfrm>
            <a:off x="723900" y="1409700"/>
            <a:ext cx="10744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875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Необов'язкове завдання для власної моделі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E560307-CE29-4C7B-8F12-F01C0B981061}"/>
              </a:ext>
            </a:extLst>
          </p:cNvPr>
          <p:cNvSpPr>
            <a:spLocks noGrp="1"/>
          </p:cNvSpPr>
          <p:nvPr/>
        </p:nvSpPr>
        <p:spPr>
          <a:xfrm>
            <a:off x="723900" y="2114550"/>
            <a:ext cx="10744200" cy="2133600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9614056-1C6F-443D-A131-272556163228}"/>
              </a:ext>
            </a:extLst>
          </p:cNvPr>
          <p:cNvSpPr>
            <a:spLocks noGrp="1"/>
          </p:cNvSpPr>
          <p:nvPr/>
        </p:nvSpPr>
        <p:spPr>
          <a:xfrm>
            <a:off x="723900" y="2114550"/>
            <a:ext cx="47625" cy="2133600"/>
          </a:xfrm>
          <a:prstGeom prst="rect">
            <a:avLst/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A8E71F-D18A-4B64-B390-D79AA35EA0B5}"/>
              </a:ext>
            </a:extLst>
          </p:cNvPr>
          <p:cNvSpPr>
            <a:spLocks noGrp="1"/>
          </p:cNvSpPr>
          <p:nvPr/>
        </p:nvSpPr>
        <p:spPr>
          <a:xfrm>
            <a:off x="952500" y="2295525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Завдання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E9BEE1-9C4A-46D5-9BEB-EFF2F0FC6A21}"/>
              </a:ext>
            </a:extLst>
          </p:cNvPr>
          <p:cNvSpPr>
            <a:spLocks noGrp="1"/>
          </p:cNvSpPr>
          <p:nvPr/>
        </p:nvSpPr>
        <p:spPr>
          <a:xfrm>
            <a:off x="952500" y="2828925"/>
            <a:ext cx="10287000" cy="110413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1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10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Додайте один об'єкт до двох незалежних контейнерів своєї моделі. Змініть його атрибут і прочитайте через обидва контейнери. Поясніть результат.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4810694-74D6-40FC-91C1-1A60002A0A7B}"/>
              </a:ext>
            </a:extLst>
          </p:cNvPr>
          <p:cNvSpPr>
            <a:spLocks noGrp="1"/>
          </p:cNvSpPr>
          <p:nvPr/>
        </p:nvSpPr>
        <p:spPr>
          <a:xfrm>
            <a:off x="723900" y="4572000"/>
            <a:ext cx="10744200" cy="1438275"/>
          </a:xfrm>
          <a:prstGeom prst="roundRect">
            <a:avLst>
              <a:gd name="adj" fmla="val 6623"/>
            </a:avLst>
          </a:prstGeom>
          <a:solidFill>
            <a:srgbClr val="E8F3ED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B110F8-426C-408D-BFF3-B7E759F6CE94}"/>
              </a:ext>
            </a:extLst>
          </p:cNvPr>
          <p:cNvSpPr>
            <a:spLocks noGrp="1"/>
          </p:cNvSpPr>
          <p:nvPr/>
        </p:nvSpPr>
        <p:spPr>
          <a:xfrm>
            <a:off x="723900" y="4572000"/>
            <a:ext cx="47625" cy="1438275"/>
          </a:xfrm>
          <a:prstGeom prst="rect">
            <a:avLst/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D91D6A-21B5-4012-B374-8A9C1AA7234A}"/>
              </a:ext>
            </a:extLst>
          </p:cNvPr>
          <p:cNvSpPr>
            <a:spLocks noGrp="1"/>
          </p:cNvSpPr>
          <p:nvPr/>
        </p:nvSpPr>
        <p:spPr>
          <a:xfrm>
            <a:off x="952500" y="4752975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Критерій готовності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1E8319-7FF8-4AD5-B612-4B6A810231BB}"/>
              </a:ext>
            </a:extLst>
          </p:cNvPr>
          <p:cNvSpPr>
            <a:spLocks noGrp="1"/>
          </p:cNvSpPr>
          <p:nvPr/>
        </p:nvSpPr>
        <p:spPr>
          <a:xfrm>
            <a:off x="952500" y="5286375"/>
            <a:ext cx="1028700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Готово, якщо очікуваний і фактичний результат узгоджуються та ви пояснюєте причину.</a:t>
            </a:r>
          </a:p>
        </p:txBody>
      </p:sp>
    </p:spTree>
    <p:extLst>
      <p:ext uri="{BB962C8B-B14F-4D97-AF65-F5344CB8AC3E}">
        <p14:creationId xmlns:p14="http://schemas.microsoft.com/office/powerpoint/2010/main" val="4998451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2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3A71CDA8-97FF-4F31-9FD3-5BB8536754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550" y="504825"/>
            <a:ext cx="514350" cy="5143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64CAE0C-95B0-4E0D-8E00-7389B241BA6E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9763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192D3B"/>
                </a:solidFill>
                <a:latin typeface="Onest"/>
                <a:ea typeface="Onest"/>
                <a:cs typeface="Onest"/>
              </a:rPr>
              <a:t>Резерв: відновіть повернення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66B2DD-06DB-414F-9022-FD2479914569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pPr>
            <a:r>
              <a:rPr sz="1050" b="0">
                <a:solidFill>
                  <a:srgbClr val="566A78"/>
                </a:solidFill>
                <a:latin typeface="Onest"/>
                <a:ea typeface="Onest"/>
                <a:cs typeface="Onest"/>
              </a:rPr>
              <a:t>32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979B87-2BC0-4642-B5A5-784D57619137}"/>
              </a:ext>
            </a:extLst>
          </p:cNvPr>
          <p:cNvSpPr>
            <a:spLocks noGrp="1"/>
          </p:cNvSpPr>
          <p:nvPr/>
        </p:nvSpPr>
        <p:spPr>
          <a:xfrm>
            <a:off x="723900" y="1409700"/>
            <a:ext cx="10744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875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Необов'язкове завдання для власної моделі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F0DBCA0-472F-439B-8353-1D15D9E8D909}"/>
              </a:ext>
            </a:extLst>
          </p:cNvPr>
          <p:cNvSpPr>
            <a:spLocks noGrp="1"/>
          </p:cNvSpPr>
          <p:nvPr/>
        </p:nvSpPr>
        <p:spPr>
          <a:xfrm>
            <a:off x="723900" y="2114550"/>
            <a:ext cx="10744200" cy="2133600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79943A-94B3-4125-9D4B-40F965868F8B}"/>
              </a:ext>
            </a:extLst>
          </p:cNvPr>
          <p:cNvSpPr>
            <a:spLocks noGrp="1"/>
          </p:cNvSpPr>
          <p:nvPr/>
        </p:nvSpPr>
        <p:spPr>
          <a:xfrm>
            <a:off x="723900" y="2114550"/>
            <a:ext cx="47625" cy="2133600"/>
          </a:xfrm>
          <a:prstGeom prst="rect">
            <a:avLst/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43ECA1-9364-4B12-8E67-D2F2896CC0A7}"/>
              </a:ext>
            </a:extLst>
          </p:cNvPr>
          <p:cNvSpPr>
            <a:spLocks noGrp="1"/>
          </p:cNvSpPr>
          <p:nvPr/>
        </p:nvSpPr>
        <p:spPr>
          <a:xfrm>
            <a:off x="952500" y="2295525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Завдання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B5CD82-358C-42F8-87ED-7AAE0E36DDFC}"/>
              </a:ext>
            </a:extLst>
          </p:cNvPr>
          <p:cNvSpPr>
            <a:spLocks noGrp="1"/>
          </p:cNvSpPr>
          <p:nvPr/>
        </p:nvSpPr>
        <p:spPr>
          <a:xfrm>
            <a:off x="952500" y="2828925"/>
            <a:ext cx="10287000" cy="7360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1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10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У копії свого файлу приберіть return із методу, який повертав значення. Передбачте результат, запустіть і відновіть return.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099DF73-DAA7-41DB-92F6-FDDCA1B0AED9}"/>
              </a:ext>
            </a:extLst>
          </p:cNvPr>
          <p:cNvSpPr>
            <a:spLocks noGrp="1"/>
          </p:cNvSpPr>
          <p:nvPr/>
        </p:nvSpPr>
        <p:spPr>
          <a:xfrm>
            <a:off x="723900" y="4572000"/>
            <a:ext cx="10744200" cy="1438275"/>
          </a:xfrm>
          <a:prstGeom prst="roundRect">
            <a:avLst>
              <a:gd name="adj" fmla="val 6623"/>
            </a:avLst>
          </a:prstGeom>
          <a:solidFill>
            <a:srgbClr val="E8F3ED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9F7440-5FD5-4745-BDC8-C15D1BAD4B68}"/>
              </a:ext>
            </a:extLst>
          </p:cNvPr>
          <p:cNvSpPr>
            <a:spLocks noGrp="1"/>
          </p:cNvSpPr>
          <p:nvPr/>
        </p:nvSpPr>
        <p:spPr>
          <a:xfrm>
            <a:off x="723900" y="4572000"/>
            <a:ext cx="47625" cy="1438275"/>
          </a:xfrm>
          <a:prstGeom prst="rect">
            <a:avLst/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CBFF146-B6A6-4FEE-8E12-5E3B99A09072}"/>
              </a:ext>
            </a:extLst>
          </p:cNvPr>
          <p:cNvSpPr>
            <a:spLocks noGrp="1"/>
          </p:cNvSpPr>
          <p:nvPr/>
        </p:nvSpPr>
        <p:spPr>
          <a:xfrm>
            <a:off x="952500" y="4752975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Критерій готовності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E1977D3-0018-4952-B2C0-C41B98862F35}"/>
              </a:ext>
            </a:extLst>
          </p:cNvPr>
          <p:cNvSpPr>
            <a:spLocks noGrp="1"/>
          </p:cNvSpPr>
          <p:nvPr/>
        </p:nvSpPr>
        <p:spPr>
          <a:xfrm>
            <a:off x="952500" y="5286375"/>
            <a:ext cx="1028700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Готово, якщо очікуваний і фактичний результат узгоджуються та ви пояснюєте причину.</a:t>
            </a:r>
          </a:p>
        </p:txBody>
      </p:sp>
    </p:spTree>
    <p:extLst>
      <p:ext uri="{BB962C8B-B14F-4D97-AF65-F5344CB8AC3E}">
        <p14:creationId xmlns:p14="http://schemas.microsoft.com/office/powerpoint/2010/main" val="4492433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2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ABC66D8E-3FA8-4949-B778-BB0BA6776D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877550" y="504825"/>
            <a:ext cx="514350" cy="5143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20ED17-3941-484F-BF31-F8268263741A}"/>
              </a:ext>
            </a:extLst>
          </p:cNvPr>
          <p:cNvSpPr>
            <a:spLocks noGrp="1"/>
          </p:cNvSpPr>
          <p:nvPr/>
        </p:nvSpPr>
        <p:spPr>
          <a:xfrm>
            <a:off x="723900" y="552450"/>
            <a:ext cx="9763125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700" b="1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700" b="1">
                <a:solidFill>
                  <a:srgbClr val="192D3B"/>
                </a:solidFill>
                <a:latin typeface="Onest"/>
                <a:ea typeface="Onest"/>
                <a:cs typeface="Onest"/>
              </a:rPr>
              <a:t>Резерв: два схожі об'єкти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2D0FE3-820A-41E9-9833-4FCCFE759391}"/>
              </a:ext>
            </a:extLst>
          </p:cNvPr>
          <p:cNvSpPr>
            <a:spLocks noGrp="1"/>
          </p:cNvSpPr>
          <p:nvPr/>
        </p:nvSpPr>
        <p:spPr>
          <a:xfrm>
            <a:off x="11001375" y="6429375"/>
            <a:ext cx="4762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050" b="0">
                <a:solidFill>
                  <a:srgbClr val="566A78"/>
                </a:solidFill>
                <a:latin typeface="Onest"/>
                <a:ea typeface="Onest"/>
                <a:cs typeface="Onest"/>
              </a:defRPr>
            </a:pPr>
            <a:r>
              <a:rPr sz="1050" b="0">
                <a:solidFill>
                  <a:srgbClr val="566A78"/>
                </a:solidFill>
                <a:latin typeface="Onest"/>
                <a:ea typeface="Onest"/>
                <a:cs typeface="Onest"/>
              </a:rPr>
              <a:t>33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8BF5DF-B422-4948-B685-9917CEF73430}"/>
              </a:ext>
            </a:extLst>
          </p:cNvPr>
          <p:cNvSpPr>
            <a:spLocks noGrp="1"/>
          </p:cNvSpPr>
          <p:nvPr/>
        </p:nvSpPr>
        <p:spPr>
          <a:xfrm>
            <a:off x="723900" y="1409700"/>
            <a:ext cx="107442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875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Необов'язкове завдання для власної моделі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60BE175-EB24-45C0-83D5-4B50D9514CF2}"/>
              </a:ext>
            </a:extLst>
          </p:cNvPr>
          <p:cNvSpPr>
            <a:spLocks noGrp="1"/>
          </p:cNvSpPr>
          <p:nvPr/>
        </p:nvSpPr>
        <p:spPr>
          <a:xfrm>
            <a:off x="723900" y="2114550"/>
            <a:ext cx="10744200" cy="2133600"/>
          </a:xfrm>
          <a:prstGeom prst="roundRect">
            <a:avLst>
              <a:gd name="adj" fmla="val 4464"/>
            </a:avLst>
          </a:prstGeom>
          <a:solidFill>
            <a:srgbClr val="FFFFFF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26F20C-7F45-4E59-B751-527B272EB693}"/>
              </a:ext>
            </a:extLst>
          </p:cNvPr>
          <p:cNvSpPr>
            <a:spLocks noGrp="1"/>
          </p:cNvSpPr>
          <p:nvPr/>
        </p:nvSpPr>
        <p:spPr>
          <a:xfrm>
            <a:off x="723900" y="2114550"/>
            <a:ext cx="47625" cy="2133600"/>
          </a:xfrm>
          <a:prstGeom prst="rect">
            <a:avLst/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86FF11-509A-4150-AD3A-9B20F3659EA4}"/>
              </a:ext>
            </a:extLst>
          </p:cNvPr>
          <p:cNvSpPr>
            <a:spLocks noGrp="1"/>
          </p:cNvSpPr>
          <p:nvPr/>
        </p:nvSpPr>
        <p:spPr>
          <a:xfrm>
            <a:off x="952500" y="2295525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Завдання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C171B26-60F1-44B1-AC2C-83673EB66487}"/>
              </a:ext>
            </a:extLst>
          </p:cNvPr>
          <p:cNvSpPr>
            <a:spLocks noGrp="1"/>
          </p:cNvSpPr>
          <p:nvPr/>
        </p:nvSpPr>
        <p:spPr>
          <a:xfrm>
            <a:off x="952500" y="2828925"/>
            <a:ext cx="10287000" cy="110413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2100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2100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Створіть два різні об'єкти з однаковими значеннями атрибутів. Передбачте, чи відхилить ваша перевірка повтору другий об'єкт, і перевірте прогноз.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D7FC4E5-A3E9-4044-BD7C-3AC4717AC5DE}"/>
              </a:ext>
            </a:extLst>
          </p:cNvPr>
          <p:cNvSpPr>
            <a:spLocks noGrp="1"/>
          </p:cNvSpPr>
          <p:nvPr/>
        </p:nvSpPr>
        <p:spPr>
          <a:xfrm>
            <a:off x="723900" y="4572000"/>
            <a:ext cx="10744200" cy="1438275"/>
          </a:xfrm>
          <a:prstGeom prst="roundRect">
            <a:avLst>
              <a:gd name="adj" fmla="val 6623"/>
            </a:avLst>
          </a:prstGeom>
          <a:solidFill>
            <a:srgbClr val="E8F3ED"/>
          </a:solidFill>
          <a:ln w="12383">
            <a:solidFill>
              <a:srgbClr val="B9CDC6"/>
            </a:solidFill>
          </a:ln>
        </p:spPr>
        <p:txBody>
          <a:bodyPr/>
          <a:lstStyle/>
          <a:p>
            <a:endParaRPr lang="en-UA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E1A5026-9109-4C44-BA02-9201D3E6C462}"/>
              </a:ext>
            </a:extLst>
          </p:cNvPr>
          <p:cNvSpPr>
            <a:spLocks noGrp="1"/>
          </p:cNvSpPr>
          <p:nvPr/>
        </p:nvSpPr>
        <p:spPr>
          <a:xfrm>
            <a:off x="723900" y="4572000"/>
            <a:ext cx="47625" cy="1438275"/>
          </a:xfrm>
          <a:prstGeom prst="rect">
            <a:avLst/>
          </a:prstGeom>
          <a:solidFill>
            <a:srgbClr val="1B6C57"/>
          </a:solidFill>
          <a:ln w="0">
            <a:noFill/>
          </a:ln>
        </p:spPr>
        <p:txBody>
          <a:bodyPr/>
          <a:lstStyle/>
          <a:p>
            <a:endParaRPr lang="en-UA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45DB82-DE6F-4048-84A8-733D04C902AC}"/>
              </a:ext>
            </a:extLst>
          </p:cNvPr>
          <p:cNvSpPr>
            <a:spLocks noGrp="1"/>
          </p:cNvSpPr>
          <p:nvPr/>
        </p:nvSpPr>
        <p:spPr>
          <a:xfrm>
            <a:off x="952500" y="4752975"/>
            <a:ext cx="10287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950" b="1">
                <a:solidFill>
                  <a:srgbClr val="1B6C57"/>
                </a:solidFill>
                <a:latin typeface="Onest"/>
                <a:ea typeface="Onest"/>
                <a:cs typeface="Onest"/>
              </a:defRPr>
            </a:pPr>
            <a:r>
              <a:rPr sz="1950" b="1">
                <a:solidFill>
                  <a:srgbClr val="1B6C57"/>
                </a:solidFill>
                <a:latin typeface="Onest"/>
                <a:ea typeface="Onest"/>
                <a:cs typeface="Onest"/>
              </a:rPr>
              <a:t>Критерій готовності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BB79EF-FC4F-4E5B-AC71-EC040F33AD41}"/>
              </a:ext>
            </a:extLst>
          </p:cNvPr>
          <p:cNvSpPr>
            <a:spLocks noGrp="1"/>
          </p:cNvSpPr>
          <p:nvPr/>
        </p:nvSpPr>
        <p:spPr>
          <a:xfrm>
            <a:off x="952500" y="5286375"/>
            <a:ext cx="1028700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defPPr>
          </a:lstStyle>
          <a:p>
            <a:pPr>
              <a:lnSpc>
                <a:spcPct val="105000"/>
              </a:lnSpc>
              <a:buNone/>
              <a:defRPr sz="1875" b="0">
                <a:solidFill>
                  <a:srgbClr val="192D3B"/>
                </a:solidFill>
                <a:latin typeface="Onest"/>
                <a:ea typeface="Onest"/>
                <a:cs typeface="Onest"/>
              </a:defRPr>
            </a:pPr>
            <a:r>
              <a:rPr sz="1875" b="0">
                <a:solidFill>
                  <a:srgbClr val="192D3B"/>
                </a:solidFill>
                <a:latin typeface="Onest"/>
                <a:ea typeface="Onest"/>
                <a:cs typeface="Onest"/>
              </a:rPr>
              <a:t>Готово, якщо очікуваний і фактичний результат узгоджуються та ви пояснюєте причину.</a:t>
            </a:r>
          </a:p>
        </p:txBody>
      </p:sp>
    </p:spTree>
    <p:extLst>
      <p:ext uri="{BB962C8B-B14F-4D97-AF65-F5344CB8AC3E}">
        <p14:creationId xmlns:p14="http://schemas.microsoft.com/office/powerpoint/2010/main" val="104015738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5240</Words>
  <Application>Microsoft Macintosh PowerPoint</Application>
  <DocSecurity>0</DocSecurity>
  <PresentationFormat>Widescreen</PresentationFormat>
  <Paragraphs>517</Paragraphs>
  <Slides>32</Slides>
  <Notes>31</Notes>
  <HiddenSlides>4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Aptos</vt:lpstr>
      <vt:lpstr>Courier New</vt:lpstr>
      <vt:lpstr>Onest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Дмитро Штефан</cp:lastModifiedBy>
  <cp:revision>2</cp:revision>
  <dcterms:created xsi:type="dcterms:W3CDTF">2026-10-18T15:02:19Z</dcterms:created>
  <dcterms:modified xsi:type="dcterms:W3CDTF">2026-10-18T15:34:32Z</dcterms:modified>
</cp:coreProperties>
</file>